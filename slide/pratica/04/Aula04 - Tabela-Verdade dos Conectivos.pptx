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92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Recapitular rápido: na aula passada vimos o que é proposição. Hoje aprendemos a combiná-las formalmente.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Avisar que hoje tem tabela-verdade de verdade (trocadilho) — vale caderno aberto.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roteiro visual da aula inteira — voltar a este slide mentalmente a cada novo conectivo.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com o not do Python / o ! do C# — mesma tabela, sintaxe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um formulário só é válido se TODAS as validações passarem — cada validação é uma proposição, o AND geral é a conjunção.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do 'ou exclusivo' do dia a dia ('café ou chá' costuma significar só um) — o ∨ lógico é inclusivo.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tabela que mais gera confusão. Dar tempo para a turma digerir antes de seguir para o exemplo em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colunas de badge são p, q e o resultado p→q, na ordem — reforçar que a seta central lembra a implicação.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as duas últimas linhas do → com o ↔: a diferença entre implicação e equivalência está exatamente aí.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bicondicional é o conectivo da 'coerência' — as duas linhas F são justamente onde afirmação e realidade se contradizem.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Guardar este slide como referência — vale voltar a ele sempre que surgir dúvida sobre algum conectivo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a turma traga mais um exemplo de cada linha, tirado da própria fala do dia a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Convidar a turma a trazer uma frase própria e traduzir juntos,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analogia direta com PEMDAS/aritmética — a ideia de precedência já é familiar, só troca os símbolos.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Chamar atenção para a linha do → : é literalmente a mesma fórmula (¬p ∨ q) que veremos no Exercício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de verdade no VS Code, se possível — ver as 4 linhas de saída batendo com a tabela-verdade do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cada exercício tem gabarito no slide seguinte — resolver antes de virar 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tempo para preencher as duas últimas colunas antes de revelar o gabarito.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equivalência é o motivo pelo qual Python/C# não precisam de um operador →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Lembrar a ordem: ¬ primeiro, depois ∧, depois ∨ — igual ao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(¬p ∧ q) ∨ r = (F ∧ F) ∨ V = F ∨ V = V — mesma resposta, ordem visível de cara.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 ao 'e' e ao 'se... então' na mesma frase — dois conectivos combinados.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'estudo e durmo bem' vira uma única proposição composta (p ∧ q) antes de entrar na condicional.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gabarito está no próximo slide — deixar a turma tentar antes de revelar.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colunas finais são idênticas nas 4 linhas — prova de que bicondicional_v2 é uma implementação correta.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as tabelas de hoje são a ferramenta; a próxima aula é onde a gente aplica em problemas maiores.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Rosen segue como livro-texto principal; Lipschutz/Lipson (Schaum) tem muitos exercícios resolvidos, bom para reforço.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Materiais de apoio — o canal Ferretto é especialmente bom para quem quer mais repetição via exercícios.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lembrando que a próxima aula é só prática — sem conectivo novo, só aplicação do que já vimos.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BBB2-5703-EA1F-A9A3-509458B47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5DF96-E62B-45A9-B0FD-6B0299E54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60A6C-923E-24A0-2C48-B160047F0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lembrando que a próxima aula é só prática — sem conectivo novo, só aplicação do que já vimos.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DAF55-F8B0-3123-E3AB-0CA3E4A54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98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results?search_query=prof+ferretto+l%C3%B3gica+conectivos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www.youtube.com/results?search_query=conectivos+l%C3%B3gicos+tabela+verdade+explica%C3%A7%C3%A3o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docs.python.org/3/library/stdtypes.html#comparisons" TargetMode="External"/><Relationship Id="rId4" Type="http://schemas.openxmlformats.org/officeDocument/2006/relationships/hyperlink" Target="https://docs.python.org/3/reference/expressions.html#boolean-operations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692640" y="-320040"/>
            <a:ext cx="26517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04</a:t>
            </a:r>
            <a:endParaRPr lang="pt-BR" sz="64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3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Proposições lógicas e tabela-verdade dos conectivos</a:t>
            </a:r>
            <a:endParaRPr lang="pt-BR" sz="23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conectivos, cinco regras — o vocabulário que transforma intuição em cálculo.</a:t>
            </a:r>
            <a:endParaRPr lang="pt-BR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   ∧   ∨   →   ↔</a:t>
            </a:r>
            <a:endParaRPr lang="pt-BR" sz="2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ROTEIRO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8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pt-BR" sz="3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2082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47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conectivos</a:t>
            </a:r>
            <a:endParaRPr lang="pt-BR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1508760" y="21854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Negação, conjunção, disjunção, condicional e bicondicional.</a:t>
            </a:r>
            <a:endParaRPr lang="pt-BR" sz="135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2990088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1363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962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Tabela-verdade de cada um</a:t>
            </a:r>
            <a:endParaRPr lang="pt-BR" sz="1800" noProof="0" dirty="0"/>
          </a:p>
        </p:txBody>
      </p:sp>
      <p:sp>
        <p:nvSpPr>
          <p:cNvPr id="11" name="Text 7"/>
          <p:cNvSpPr/>
          <p:nvPr/>
        </p:nvSpPr>
        <p:spPr>
          <a:xfrm>
            <a:off x="1508760" y="33009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lógico resultante para toda combinação possível.</a:t>
            </a:r>
            <a:endParaRPr lang="pt-BR" sz="135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4105656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2519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078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entre conectivos</a:t>
            </a:r>
            <a:endParaRPr lang="pt-BR" sz="1800" noProof="0" dirty="0"/>
          </a:p>
        </p:txBody>
      </p:sp>
      <p:sp>
        <p:nvSpPr>
          <p:cNvPr id="15" name="Text 10"/>
          <p:cNvSpPr/>
          <p:nvPr/>
        </p:nvSpPr>
        <p:spPr>
          <a:xfrm>
            <a:off x="1508760" y="44165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conectivo é avaliado primeiro — igual em aritmética.</a:t>
            </a:r>
            <a:endParaRPr lang="pt-BR" sz="1350" noProof="0" dirty="0"/>
          </a:p>
        </p:txBody>
      </p:sp>
      <p:sp>
        <p:nvSpPr>
          <p:cNvPr id="16" name="Shape 11"/>
          <p:cNvSpPr/>
          <p:nvPr/>
        </p:nvSpPr>
        <p:spPr>
          <a:xfrm>
            <a:off x="640080" y="5221224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3675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5193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isso vira código</a:t>
            </a:r>
            <a:endParaRPr lang="pt-BR" sz="1800" noProof="0" dirty="0"/>
          </a:p>
        </p:txBody>
      </p:sp>
      <p:sp>
        <p:nvSpPr>
          <p:cNvPr id="19" name="Text 13"/>
          <p:cNvSpPr/>
          <p:nvPr/>
        </p:nvSpPr>
        <p:spPr>
          <a:xfrm>
            <a:off x="1508760" y="5532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conectivos, agora em C# e Python.</a:t>
            </a:r>
            <a:endParaRPr lang="pt-BR" sz="1350" noProof="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DE HOJE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conectivos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conectivo combina o valor lógico de uma ou duas proposições para produzir um novo valor lógico.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627736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27736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pt-BR" sz="4000" noProof="0" dirty="0"/>
          </a:p>
        </p:txBody>
      </p:sp>
      <p:sp>
        <p:nvSpPr>
          <p:cNvPr id="7" name="Text 5"/>
          <p:cNvSpPr/>
          <p:nvPr/>
        </p:nvSpPr>
        <p:spPr>
          <a:xfrm>
            <a:off x="719176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Negação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19176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“não”</a:t>
            </a:r>
            <a:endParaRPr lang="pt-BR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2858872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2858872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∧</a:t>
            </a:r>
            <a:endParaRPr lang="pt-BR" sz="4000" noProof="0" dirty="0"/>
          </a:p>
        </p:txBody>
      </p:sp>
      <p:sp>
        <p:nvSpPr>
          <p:cNvPr id="11" name="Text 9"/>
          <p:cNvSpPr/>
          <p:nvPr/>
        </p:nvSpPr>
        <p:spPr>
          <a:xfrm>
            <a:off x="2950312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Conjunção</a:t>
            </a:r>
            <a:endParaRPr lang="pt-BR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2950312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“e”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5090008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090008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∨</a:t>
            </a:r>
            <a:endParaRPr lang="pt-BR" sz="4000" noProof="0" dirty="0"/>
          </a:p>
        </p:txBody>
      </p:sp>
      <p:sp>
        <p:nvSpPr>
          <p:cNvPr id="15" name="Text 13"/>
          <p:cNvSpPr/>
          <p:nvPr/>
        </p:nvSpPr>
        <p:spPr>
          <a:xfrm>
            <a:off x="5181448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</a:t>
            </a:r>
            <a:endParaRPr lang="pt-BR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5181448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“ou”</a:t>
            </a:r>
            <a:endParaRPr lang="pt-BR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7321144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321144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pt-BR" sz="4000" noProof="0" dirty="0"/>
          </a:p>
        </p:txBody>
      </p:sp>
      <p:sp>
        <p:nvSpPr>
          <p:cNvPr id="19" name="Text 17"/>
          <p:cNvSpPr/>
          <p:nvPr/>
        </p:nvSpPr>
        <p:spPr>
          <a:xfrm>
            <a:off x="7412584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</a:t>
            </a:r>
            <a:endParaRPr lang="pt-BR" sz="1250" noProof="0" dirty="0"/>
          </a:p>
        </p:txBody>
      </p:sp>
      <p:sp>
        <p:nvSpPr>
          <p:cNvPr id="20" name="Text 18"/>
          <p:cNvSpPr/>
          <p:nvPr/>
        </p:nvSpPr>
        <p:spPr>
          <a:xfrm>
            <a:off x="7412584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“se... então”</a:t>
            </a:r>
            <a:endParaRPr lang="pt-BR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9552280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9552280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pt-BR" sz="4000" noProof="0" dirty="0"/>
          </a:p>
        </p:txBody>
      </p:sp>
      <p:sp>
        <p:nvSpPr>
          <p:cNvPr id="23" name="Text 21"/>
          <p:cNvSpPr/>
          <p:nvPr/>
        </p:nvSpPr>
        <p:spPr>
          <a:xfrm>
            <a:off x="964372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Bicondicional</a:t>
            </a:r>
            <a:endParaRPr lang="pt-BR" sz="1250" noProof="0" dirty="0"/>
          </a:p>
        </p:txBody>
      </p:sp>
      <p:sp>
        <p:nvSpPr>
          <p:cNvPr id="24" name="Text 22"/>
          <p:cNvSpPr/>
          <p:nvPr/>
        </p:nvSpPr>
        <p:spPr>
          <a:xfrm>
            <a:off x="964372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 somente se”</a:t>
            </a:r>
            <a:endParaRPr lang="pt-BR" sz="1150" noProof="0" dirty="0"/>
          </a:p>
        </p:txBody>
      </p:sp>
      <p:sp>
        <p:nvSpPr>
          <p:cNvPr id="25" name="Text 23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ver a tabela-verdade de cada um, um por um.</a:t>
            </a:r>
            <a:endParaRPr lang="pt-BR" sz="1250" noProof="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 1 DE 5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Negação  </a:t>
            </a:r>
            <a:r>
              <a:rPr lang="pt-BR" sz="32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pt-BR" sz="16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o valor lógico da proposição: “não p”.</a:t>
            </a:r>
            <a:endParaRPr lang="pt-BR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</a:t>
            </a: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“estudei”   </a:t>
            </a:r>
            <a:r>
              <a:rPr lang="pt-BR" sz="13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¬p: </a:t>
            </a: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“não estudei”</a:t>
            </a:r>
            <a:endParaRPr lang="pt-B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único conectivo unário — atua sobre uma única proposição, não duas.</a:t>
            </a:r>
            <a:endParaRPr lang="pt-BR" sz="13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973582"/>
              </p:ext>
            </p:extLst>
          </p:nvPr>
        </p:nvGraphicFramePr>
        <p:xfrm>
          <a:off x="6583680" y="214884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20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20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20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20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20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20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20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20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 2 DE 5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Conjunção  </a:t>
            </a:r>
            <a:r>
              <a:rPr lang="pt-BR" sz="32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∧</a:t>
            </a:r>
            <a:r>
              <a:rPr lang="pt-BR" sz="3200" b="1" noProof="0" dirty="0">
                <a:solidFill>
                  <a:srgbClr val="6B6B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(e)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pt-BR" sz="16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é verdadeira quando as duas proposições são verdadeiras.</a:t>
            </a:r>
            <a:endParaRPr lang="pt-BR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∧ q: </a:t>
            </a: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“estudei e dormi bem”</a:t>
            </a:r>
            <a:endParaRPr lang="pt-B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uma parte falsa para a conjunção toda falhar — pense em pré-requisitos que precisam ser todos cumpridos.</a:t>
            </a:r>
            <a:endParaRPr lang="pt-BR" sz="13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079773"/>
              </p:ext>
            </p:extLst>
          </p:nvPr>
        </p:nvGraphicFramePr>
        <p:xfrm>
          <a:off x="6583680" y="173736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∧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 3 DE 5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Disjunção  </a:t>
            </a:r>
            <a:r>
              <a:rPr lang="pt-BR" sz="32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∨</a:t>
            </a:r>
            <a:r>
              <a:rPr lang="pt-BR" sz="3200" b="1" noProof="0" dirty="0">
                <a:solidFill>
                  <a:srgbClr val="6B6B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(ou)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pt-BR" sz="16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verdadeira quando pelo menos uma das proposições é verdadeira.</a:t>
            </a:r>
            <a:endParaRPr lang="pt-BR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∨ q: </a:t>
            </a: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“estudei ou dormi bem”</a:t>
            </a:r>
            <a:endParaRPr lang="pt-B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é falsa quando as duas partes são falsas — é a versão “inclusiva” do ou, aceita as duas ao mesmo tempo.</a:t>
            </a:r>
            <a:endParaRPr lang="pt-BR" sz="13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265870"/>
              </p:ext>
            </p:extLst>
          </p:nvPr>
        </p:nvGraphicFramePr>
        <p:xfrm>
          <a:off x="6583680" y="173736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∨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 4 DE 5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Condicional  </a:t>
            </a:r>
            <a:r>
              <a:rPr lang="pt-BR" sz="3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r>
              <a:rPr lang="pt-BR" sz="3000" b="1" noProof="0" dirty="0">
                <a:solidFill>
                  <a:srgbClr val="6B6B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(se... então)</a:t>
            </a:r>
            <a:endParaRPr lang="pt-BR" sz="30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136164"/>
              </p:ext>
            </p:extLst>
          </p:nvPr>
        </p:nvGraphicFramePr>
        <p:xfrm>
          <a:off x="640080" y="173736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→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691640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3"/>
          <p:cNvSpPr/>
          <p:nvPr/>
        </p:nvSpPr>
        <p:spPr>
          <a:xfrm>
            <a:off x="6382512" y="1920240"/>
            <a:ext cx="502920" cy="50292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020824"/>
            <a:ext cx="301752" cy="301752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7040880" y="1965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contraintuitivo</a:t>
            </a:r>
            <a:endParaRPr lang="pt-BR" sz="1600" noProof="0" dirty="0"/>
          </a:p>
        </p:txBody>
      </p:sp>
      <p:sp>
        <p:nvSpPr>
          <p:cNvPr id="9" name="Text 5"/>
          <p:cNvSpPr/>
          <p:nvPr/>
        </p:nvSpPr>
        <p:spPr>
          <a:xfrm>
            <a:off x="6382512" y="26060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50" noProof="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p então q” só é falsa quando p é verdadeira e a promessa não se cumpre (q falsa). Se p já é falsa, o condicional é sempre verdadeiro.</a:t>
            </a:r>
            <a:endParaRPr lang="pt-BR" sz="1350" noProof="0" dirty="0"/>
          </a:p>
        </p:txBody>
      </p:sp>
      <p:sp>
        <p:nvSpPr>
          <p:cNvPr id="10" name="Shape 6"/>
          <p:cNvSpPr/>
          <p:nvPr/>
        </p:nvSpPr>
        <p:spPr>
          <a:xfrm>
            <a:off x="6382512" y="37947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7"/>
          <p:cNvSpPr/>
          <p:nvPr/>
        </p:nvSpPr>
        <p:spPr>
          <a:xfrm>
            <a:off x="65836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vacuamente verdadeiro</a:t>
            </a:r>
            <a:endParaRPr lang="pt-BR" sz="1300" noProof="0" dirty="0"/>
          </a:p>
        </p:txBody>
      </p:sp>
      <p:sp>
        <p:nvSpPr>
          <p:cNvPr id="12" name="Text 8"/>
          <p:cNvSpPr/>
          <p:nvPr/>
        </p:nvSpPr>
        <p:spPr>
          <a:xfrm>
            <a:off x="6583680" y="434340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50" i="1" noProof="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fosse rico, compraria um avião” não é mentira só porque eu não sou rico — a promessa nunca foi testada.</a:t>
            </a:r>
            <a:endParaRPr lang="pt-BR" sz="1250" noProof="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 4 DE 5 · EM CONTEXTO</a:t>
            </a:r>
            <a:endParaRPr lang="pt-BR" sz="12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chove, a rua fica molhada”</a:t>
            </a:r>
            <a:endParaRPr lang="pt-BR" sz="26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“chove”     q: “a rua fica molhada”     fórmula: p → q</a:t>
            </a:r>
            <a:endParaRPr lang="pt-BR" sz="1300" noProof="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5"/>
          <p:cNvSpPr/>
          <p:nvPr/>
        </p:nvSpPr>
        <p:spPr>
          <a:xfrm>
            <a:off x="868680" y="2253996"/>
            <a:ext cx="493776" cy="493776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868680" y="22539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10" name="Shape 7"/>
          <p:cNvSpPr/>
          <p:nvPr/>
        </p:nvSpPr>
        <p:spPr>
          <a:xfrm>
            <a:off x="1508760" y="2253996"/>
            <a:ext cx="493776" cy="493776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1508760" y="22539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372868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60320" y="2253996"/>
            <a:ext cx="493776" cy="493776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0"/>
          <p:cNvSpPr/>
          <p:nvPr/>
        </p:nvSpPr>
        <p:spPr>
          <a:xfrm>
            <a:off x="2560320" y="22539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15" name="Text 11"/>
          <p:cNvSpPr/>
          <p:nvPr/>
        </p:nvSpPr>
        <p:spPr>
          <a:xfrm>
            <a:off x="3291840" y="2103120"/>
            <a:ext cx="40233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Chove e a rua molha</a:t>
            </a:r>
            <a:endParaRPr lang="pt-BR" sz="1300" noProof="0" dirty="0"/>
          </a:p>
        </p:txBody>
      </p:sp>
      <p:sp>
        <p:nvSpPr>
          <p:cNvPr id="16" name="Text 12"/>
          <p:cNvSpPr/>
          <p:nvPr/>
        </p:nvSpPr>
        <p:spPr>
          <a:xfrm>
            <a:off x="7452360" y="2103120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2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promessa se cumpriu.</a:t>
            </a:r>
            <a:endParaRPr lang="pt-BR" sz="1200" noProof="0" dirty="0"/>
          </a:p>
        </p:txBody>
      </p:sp>
      <p:sp>
        <p:nvSpPr>
          <p:cNvPr id="17" name="Shape 13"/>
          <p:cNvSpPr/>
          <p:nvPr/>
        </p:nvSpPr>
        <p:spPr>
          <a:xfrm>
            <a:off x="640080" y="3063240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4"/>
          <p:cNvSpPr/>
          <p:nvPr/>
        </p:nvSpPr>
        <p:spPr>
          <a:xfrm>
            <a:off x="868680" y="3214116"/>
            <a:ext cx="493776" cy="493776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5"/>
          <p:cNvSpPr/>
          <p:nvPr/>
        </p:nvSpPr>
        <p:spPr>
          <a:xfrm>
            <a:off x="868680" y="32141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20" name="Shape 16"/>
          <p:cNvSpPr/>
          <p:nvPr/>
        </p:nvSpPr>
        <p:spPr>
          <a:xfrm>
            <a:off x="1508760" y="3214116"/>
            <a:ext cx="493776" cy="49377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7"/>
          <p:cNvSpPr/>
          <p:nvPr/>
        </p:nvSpPr>
        <p:spPr>
          <a:xfrm>
            <a:off x="1508760" y="32141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pt-BR" sz="1500" noProof="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332988"/>
            <a:ext cx="256032" cy="25603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2560320" y="3214116"/>
            <a:ext cx="493776" cy="49377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19"/>
          <p:cNvSpPr/>
          <p:nvPr/>
        </p:nvSpPr>
        <p:spPr>
          <a:xfrm>
            <a:off x="2560320" y="32141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pt-BR" sz="1500" noProof="0" dirty="0"/>
          </a:p>
        </p:txBody>
      </p:sp>
      <p:sp>
        <p:nvSpPr>
          <p:cNvPr id="25" name="Text 20"/>
          <p:cNvSpPr/>
          <p:nvPr/>
        </p:nvSpPr>
        <p:spPr>
          <a:xfrm>
            <a:off x="3291840" y="3063240"/>
            <a:ext cx="40233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Chove e a rua não molha</a:t>
            </a:r>
            <a:endParaRPr lang="pt-BR" sz="1300" noProof="0" dirty="0"/>
          </a:p>
        </p:txBody>
      </p:sp>
      <p:sp>
        <p:nvSpPr>
          <p:cNvPr id="26" name="Text 21"/>
          <p:cNvSpPr/>
          <p:nvPr/>
        </p:nvSpPr>
        <p:spPr>
          <a:xfrm>
            <a:off x="7452360" y="3063240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2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promessa foi quebrada.</a:t>
            </a:r>
            <a:endParaRPr lang="pt-BR" sz="1200" noProof="0" dirty="0"/>
          </a:p>
        </p:txBody>
      </p:sp>
      <p:sp>
        <p:nvSpPr>
          <p:cNvPr id="27" name="Shape 22"/>
          <p:cNvSpPr/>
          <p:nvPr/>
        </p:nvSpPr>
        <p:spPr>
          <a:xfrm>
            <a:off x="640080" y="4023360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Shape 23"/>
          <p:cNvSpPr/>
          <p:nvPr/>
        </p:nvSpPr>
        <p:spPr>
          <a:xfrm>
            <a:off x="868680" y="4174236"/>
            <a:ext cx="493776" cy="49377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4"/>
          <p:cNvSpPr/>
          <p:nvPr/>
        </p:nvSpPr>
        <p:spPr>
          <a:xfrm>
            <a:off x="868680" y="41742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pt-BR" sz="1500" noProof="0" dirty="0"/>
          </a:p>
        </p:txBody>
      </p:sp>
      <p:sp>
        <p:nvSpPr>
          <p:cNvPr id="30" name="Shape 25"/>
          <p:cNvSpPr/>
          <p:nvPr/>
        </p:nvSpPr>
        <p:spPr>
          <a:xfrm>
            <a:off x="1508760" y="4174236"/>
            <a:ext cx="493776" cy="493776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26"/>
          <p:cNvSpPr/>
          <p:nvPr/>
        </p:nvSpPr>
        <p:spPr>
          <a:xfrm>
            <a:off x="1508760" y="41742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4293108"/>
            <a:ext cx="256032" cy="25603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2560320" y="4174236"/>
            <a:ext cx="493776" cy="493776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4" name="Text 28"/>
          <p:cNvSpPr/>
          <p:nvPr/>
        </p:nvSpPr>
        <p:spPr>
          <a:xfrm>
            <a:off x="2560320" y="41742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35" name="Text 29"/>
          <p:cNvSpPr/>
          <p:nvPr/>
        </p:nvSpPr>
        <p:spPr>
          <a:xfrm>
            <a:off x="3291840" y="4023360"/>
            <a:ext cx="40233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chove, mas a rua molha (ex.: lavaram a calçada)</a:t>
            </a:r>
            <a:endParaRPr lang="pt-BR" sz="1300" noProof="0" dirty="0"/>
          </a:p>
        </p:txBody>
      </p:sp>
      <p:sp>
        <p:nvSpPr>
          <p:cNvPr id="36" name="Text 30"/>
          <p:cNvSpPr/>
          <p:nvPr/>
        </p:nvSpPr>
        <p:spPr>
          <a:xfrm>
            <a:off x="7452360" y="4023360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2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implicação só fala do que acontece quando chove.</a:t>
            </a:r>
            <a:endParaRPr lang="pt-BR" sz="1200" noProof="0" dirty="0"/>
          </a:p>
        </p:txBody>
      </p:sp>
      <p:sp>
        <p:nvSpPr>
          <p:cNvPr id="37" name="Shape 31"/>
          <p:cNvSpPr/>
          <p:nvPr/>
        </p:nvSpPr>
        <p:spPr>
          <a:xfrm>
            <a:off x="640080" y="4983480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8" name="Shape 32"/>
          <p:cNvSpPr/>
          <p:nvPr/>
        </p:nvSpPr>
        <p:spPr>
          <a:xfrm>
            <a:off x="868680" y="5134356"/>
            <a:ext cx="493776" cy="49377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9" name="Text 33"/>
          <p:cNvSpPr/>
          <p:nvPr/>
        </p:nvSpPr>
        <p:spPr>
          <a:xfrm>
            <a:off x="868680" y="51343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pt-BR" sz="1500" noProof="0" dirty="0"/>
          </a:p>
        </p:txBody>
      </p:sp>
      <p:sp>
        <p:nvSpPr>
          <p:cNvPr id="40" name="Shape 34"/>
          <p:cNvSpPr/>
          <p:nvPr/>
        </p:nvSpPr>
        <p:spPr>
          <a:xfrm>
            <a:off x="1508760" y="5134356"/>
            <a:ext cx="493776" cy="493776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1" name="Text 35"/>
          <p:cNvSpPr/>
          <p:nvPr/>
        </p:nvSpPr>
        <p:spPr>
          <a:xfrm>
            <a:off x="1508760" y="51343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pt-BR" sz="1500" noProof="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5253228"/>
            <a:ext cx="256032" cy="256032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2560320" y="5134356"/>
            <a:ext cx="493776" cy="493776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4" name="Text 37"/>
          <p:cNvSpPr/>
          <p:nvPr/>
        </p:nvSpPr>
        <p:spPr>
          <a:xfrm>
            <a:off x="2560320" y="51343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45" name="Text 38"/>
          <p:cNvSpPr/>
          <p:nvPr/>
        </p:nvSpPr>
        <p:spPr>
          <a:xfrm>
            <a:off x="3291840" y="4983480"/>
            <a:ext cx="40233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chove e a rua não molha</a:t>
            </a:r>
            <a:endParaRPr lang="pt-BR" sz="1300" noProof="0" dirty="0"/>
          </a:p>
        </p:txBody>
      </p:sp>
      <p:sp>
        <p:nvSpPr>
          <p:cNvPr id="46" name="Text 39"/>
          <p:cNvSpPr/>
          <p:nvPr/>
        </p:nvSpPr>
        <p:spPr>
          <a:xfrm>
            <a:off x="7452360" y="4983480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2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Verdadeira, vacuamente.</a:t>
            </a:r>
            <a:endParaRPr lang="pt-BR" sz="1200" noProof="0" dirty="0"/>
          </a:p>
        </p:txBody>
      </p:sp>
      <p:sp>
        <p:nvSpPr>
          <p:cNvPr id="47" name="Text 4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 5 DE 5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Bicondicional  </a:t>
            </a:r>
            <a:r>
              <a:rPr lang="pt-BR" sz="32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 somente se”</a:t>
            </a:r>
            <a:endParaRPr lang="pt-BR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pt-BR" sz="16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verdadeira quando as duas proposições têm o mesmo valor lógico — ambas verdadeiras ou ambas falsas.</a:t>
            </a:r>
            <a:endParaRPr lang="pt-BR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↔ q: </a:t>
            </a: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“aprovado se e somente se nota ≥ 6”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uma via de mão dupla: p → q E q → p, ao mesmo tempo.</a:t>
            </a:r>
            <a:endParaRPr lang="pt-BR" sz="13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818944"/>
              </p:ext>
            </p:extLst>
          </p:nvPr>
        </p:nvGraphicFramePr>
        <p:xfrm>
          <a:off x="6583680" y="173736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↔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6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 5 DE 5 · EM CONTEXTO</a:t>
            </a:r>
            <a:endParaRPr lang="pt-BR" sz="12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pt-BR" sz="21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“Está frio se e somente se a temperatura está abaixo de 15°C”</a:t>
            </a:r>
            <a:endParaRPr lang="pt-BR" sz="21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“está frio”     q: “temperatura &lt; 15°C”</a:t>
            </a:r>
            <a:endParaRPr lang="pt-BR" sz="1300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508796"/>
              </p:ext>
            </p:extLst>
          </p:nvPr>
        </p:nvGraphicFramePr>
        <p:xfrm>
          <a:off x="640080" y="219456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↔ q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pt-BR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Consistente: está frio e a temperatura confirma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Contradição: “está frio”, mas a temperatura diz que não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Contradição: a temperatura diz frio, mas você diz que não está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50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Consistente: nem está frio, nem a temperatura indica frio</a:t>
                      </a:r>
                      <a:endParaRPr lang="pt-BR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tabelas, de uma vez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mestra: todas as combinações de p e q, e o resultado de cada conectivo.</a:t>
            </a:r>
            <a:endParaRPr lang="pt-BR" sz="135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365764"/>
              </p:ext>
            </p:extLst>
          </p:nvPr>
        </p:nvGraphicFramePr>
        <p:xfrm>
          <a:off x="640080" y="205740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∧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∨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→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↔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8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8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notícia: ¬p só depende de p — por isso repete o mesmo valor nas duas linhas em que q muda.</a:t>
            </a:r>
            <a:endParaRPr lang="pt-BR" sz="1250" noProof="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TEXTO PARA O SÍMBOLO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Reconhecendo conectivos em português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sempre a palavra do conectivo aparece de forma óbvia.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68680" y="21214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∧</a:t>
            </a:r>
            <a:endParaRPr lang="pt-BR" sz="2200" noProof="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</a:t>
            </a:r>
            <a:endParaRPr lang="pt-BR" sz="1350" noProof="0" dirty="0"/>
          </a:p>
        </p:txBody>
      </p:sp>
      <p:sp>
        <p:nvSpPr>
          <p:cNvPr id="9" name="Text 7"/>
          <p:cNvSpPr/>
          <p:nvPr/>
        </p:nvSpPr>
        <p:spPr>
          <a:xfrm>
            <a:off x="4023360" y="210312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“e”, “mas”, “porém”, “apesar de”, vírgula entre duas afirmações</a:t>
            </a:r>
            <a:endParaRPr lang="pt-BR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868680" y="28346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∨</a:t>
            </a:r>
            <a:endParaRPr lang="pt-BR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1600200" y="281635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(ou)</a:t>
            </a:r>
            <a:endParaRPr lang="pt-BR" sz="1350" noProof="0" dirty="0"/>
          </a:p>
        </p:txBody>
      </p:sp>
      <p:sp>
        <p:nvSpPr>
          <p:cNvPr id="14" name="Text 12"/>
          <p:cNvSpPr/>
          <p:nvPr/>
        </p:nvSpPr>
        <p:spPr>
          <a:xfrm>
            <a:off x="4023360" y="281635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“ou”, “ou então”</a:t>
            </a:r>
            <a:endParaRPr lang="pt-BR" sz="125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868680" y="3547872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86868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pt-BR" sz="2200" noProof="0" dirty="0"/>
          </a:p>
        </p:txBody>
      </p:sp>
      <p:sp>
        <p:nvSpPr>
          <p:cNvPr id="18" name="Text 16"/>
          <p:cNvSpPr/>
          <p:nvPr/>
        </p:nvSpPr>
        <p:spPr>
          <a:xfrm>
            <a:off x="1600200" y="352958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(se...então)</a:t>
            </a:r>
            <a:endParaRPr lang="pt-BR" sz="1350" noProof="0" dirty="0"/>
          </a:p>
        </p:txBody>
      </p:sp>
      <p:sp>
        <p:nvSpPr>
          <p:cNvPr id="19" name="Text 17"/>
          <p:cNvSpPr/>
          <p:nvPr/>
        </p:nvSpPr>
        <p:spPr>
          <a:xfrm>
            <a:off x="4023360" y="3529584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“se... então”, “quando”, “desde que”</a:t>
            </a:r>
            <a:endParaRPr lang="pt-BR" sz="1250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868680" y="4261104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868680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↔</a:t>
            </a:r>
            <a:endParaRPr lang="pt-BR" sz="2200" noProof="0" dirty="0"/>
          </a:p>
        </p:txBody>
      </p:sp>
      <p:sp>
        <p:nvSpPr>
          <p:cNvPr id="23" name="Text 21"/>
          <p:cNvSpPr/>
          <p:nvPr/>
        </p:nvSpPr>
        <p:spPr>
          <a:xfrm>
            <a:off x="1600200" y="424281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 e somente se)</a:t>
            </a:r>
            <a:endParaRPr lang="pt-BR" sz="1350" noProof="0" dirty="0"/>
          </a:p>
        </p:txBody>
      </p:sp>
      <p:sp>
        <p:nvSpPr>
          <p:cNvPr id="24" name="Text 22"/>
          <p:cNvSpPr/>
          <p:nvPr/>
        </p:nvSpPr>
        <p:spPr>
          <a:xfrm>
            <a:off x="4023360" y="4242816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 somente se”, “é equivalente a”, “exatamente quando”</a:t>
            </a:r>
            <a:endParaRPr lang="pt-BR" sz="1250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4956048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868680" y="4974336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868680" y="4974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</a:t>
            </a:r>
            <a:endParaRPr lang="pt-BR" sz="2200" noProof="0" dirty="0"/>
          </a:p>
        </p:txBody>
      </p:sp>
      <p:sp>
        <p:nvSpPr>
          <p:cNvPr id="28" name="Text 26"/>
          <p:cNvSpPr/>
          <p:nvPr/>
        </p:nvSpPr>
        <p:spPr>
          <a:xfrm>
            <a:off x="1600200" y="495604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(não)</a:t>
            </a:r>
            <a:endParaRPr lang="pt-BR" sz="1350" noProof="0" dirty="0"/>
          </a:p>
        </p:txBody>
      </p:sp>
      <p:sp>
        <p:nvSpPr>
          <p:cNvPr id="29" name="Text 27"/>
          <p:cNvSpPr/>
          <p:nvPr/>
        </p:nvSpPr>
        <p:spPr>
          <a:xfrm>
            <a:off x="4023360" y="4956048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“não”, “nunca”, prefixos como “in-”, “</a:t>
            </a:r>
            <a:r>
              <a:rPr lang="pt-BR" sz="1250" i="1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-”, “</a:t>
            </a:r>
            <a:r>
              <a:rPr lang="pt-BR" sz="1250" i="1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</a:t>
            </a: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-”</a:t>
            </a:r>
            <a:endParaRPr lang="pt-BR" sz="1250" noProof="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TEXTO PARA O SÍMBOLO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Traduzindo frases reais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601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“Estou cansado, mas vou estudar.”</a:t>
            </a:r>
            <a:endParaRPr lang="pt-BR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“mas” aqui funciona como “e”.</a:t>
            </a:r>
            <a:endParaRPr lang="pt-B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7589520" y="214884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141B41"/>
          </a:solidFill>
          <a:ln w="16510">
            <a:solidFill>
              <a:srgbClr val="2FE6C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7589520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∧ q</a:t>
            </a:r>
            <a:endParaRPr lang="pt-BR" sz="15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96012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“Desde que você tenha o crachá, pode entrar.”</a:t>
            </a:r>
            <a:endParaRPr lang="pt-BR" sz="1500" noProof="0" dirty="0"/>
          </a:p>
        </p:txBody>
      </p:sp>
      <p:sp>
        <p:nvSpPr>
          <p:cNvPr id="11" name="Text 9"/>
          <p:cNvSpPr/>
          <p:nvPr/>
        </p:nvSpPr>
        <p:spPr>
          <a:xfrm>
            <a:off x="960120" y="4160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“desde que” introduz uma condicional.</a:t>
            </a:r>
            <a:endParaRPr lang="pt-B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7589520" y="370332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141B41"/>
          </a:solidFill>
          <a:ln w="16510">
            <a:solidFill>
              <a:srgbClr val="2FE6C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58952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crachá → entrada</a:t>
            </a:r>
            <a:endParaRPr lang="pt-BR" sz="1500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960120" y="5120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“Você aprova exatamente quando tira nota ≥ 6.”</a:t>
            </a:r>
            <a:endParaRPr lang="pt-BR" sz="1500" noProof="0" dirty="0"/>
          </a:p>
        </p:txBody>
      </p:sp>
      <p:sp>
        <p:nvSpPr>
          <p:cNvPr id="16" name="Text 14"/>
          <p:cNvSpPr/>
          <p:nvPr/>
        </p:nvSpPr>
        <p:spPr>
          <a:xfrm>
            <a:off x="960120" y="5715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“exatamente quando” marca o bicondicional.</a:t>
            </a:r>
            <a:endParaRPr lang="pt-B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7589520" y="525780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141B41"/>
          </a:solidFill>
          <a:ln w="16510">
            <a:solidFill>
              <a:srgbClr val="2FE6C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589520" y="5257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 ↔ (nota ≥ 6)</a:t>
            </a:r>
            <a:endParaRPr lang="pt-BR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DE AVALIAÇÃO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Precedência dos conectivos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× tem prioridade sobre + na aritmética, os conectivos têm uma ordem de avaliação.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1203808" y="2286000"/>
            <a:ext cx="1371600" cy="13716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203808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pt-BR" sz="3600" noProof="0" dirty="0"/>
          </a:p>
        </p:txBody>
      </p:sp>
      <p:sp>
        <p:nvSpPr>
          <p:cNvPr id="7" name="Text 5"/>
          <p:cNvSpPr/>
          <p:nvPr/>
        </p:nvSpPr>
        <p:spPr>
          <a:xfrm>
            <a:off x="97520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975208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forte</a:t>
            </a:r>
            <a:endParaRPr lang="pt-BR" sz="1050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152" y="2788920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68650" y="2347722"/>
            <a:ext cx="1248156" cy="124815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3368650" y="2347722"/>
            <a:ext cx="1248156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366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∧</a:t>
            </a:r>
            <a:endParaRPr lang="pt-BR" sz="3366" noProof="0" dirty="0"/>
          </a:p>
        </p:txBody>
      </p:sp>
      <p:sp>
        <p:nvSpPr>
          <p:cNvPr id="12" name="Text 9"/>
          <p:cNvSpPr/>
          <p:nvPr/>
        </p:nvSpPr>
        <p:spPr>
          <a:xfrm>
            <a:off x="307832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</a:t>
            </a:r>
            <a:endParaRPr lang="pt-BR" sz="1300" noProof="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272" y="2788920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533492" y="2409444"/>
            <a:ext cx="1124712" cy="112471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1"/>
          <p:cNvSpPr/>
          <p:nvPr/>
        </p:nvSpPr>
        <p:spPr>
          <a:xfrm>
            <a:off x="5533492" y="2409444"/>
            <a:ext cx="11247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132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∨</a:t>
            </a:r>
            <a:endParaRPr lang="pt-BR" sz="3132" noProof="0" dirty="0"/>
          </a:p>
        </p:txBody>
      </p:sp>
      <p:sp>
        <p:nvSpPr>
          <p:cNvPr id="16" name="Text 12"/>
          <p:cNvSpPr/>
          <p:nvPr/>
        </p:nvSpPr>
        <p:spPr>
          <a:xfrm>
            <a:off x="518144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</a:t>
            </a:r>
            <a:endParaRPr lang="pt-BR" sz="1300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392" y="2788920"/>
            <a:ext cx="256032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698334" y="2471166"/>
            <a:ext cx="1001268" cy="100126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4"/>
          <p:cNvSpPr/>
          <p:nvPr/>
        </p:nvSpPr>
        <p:spPr>
          <a:xfrm>
            <a:off x="7698334" y="2471166"/>
            <a:ext cx="1001268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898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pt-BR" sz="2898" noProof="0" dirty="0"/>
          </a:p>
        </p:txBody>
      </p:sp>
      <p:sp>
        <p:nvSpPr>
          <p:cNvPr id="20" name="Text 15"/>
          <p:cNvSpPr/>
          <p:nvPr/>
        </p:nvSpPr>
        <p:spPr>
          <a:xfrm>
            <a:off x="728456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</a:t>
            </a:r>
            <a:endParaRPr lang="pt-BR" sz="1300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512" y="2788920"/>
            <a:ext cx="256032" cy="25603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863176" y="2532888"/>
            <a:ext cx="877824" cy="877824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17"/>
          <p:cNvSpPr/>
          <p:nvPr/>
        </p:nvSpPr>
        <p:spPr>
          <a:xfrm>
            <a:off x="9863176" y="253288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664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pt-BR" sz="2664" noProof="0" dirty="0"/>
          </a:p>
        </p:txBody>
      </p:sp>
      <p:sp>
        <p:nvSpPr>
          <p:cNvPr id="24" name="Text 18"/>
          <p:cNvSpPr/>
          <p:nvPr/>
        </p:nvSpPr>
        <p:spPr>
          <a:xfrm>
            <a:off x="938768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5º</a:t>
            </a:r>
            <a:endParaRPr lang="pt-BR" sz="1300" noProof="0" dirty="0"/>
          </a:p>
        </p:txBody>
      </p:sp>
      <p:sp>
        <p:nvSpPr>
          <p:cNvPr id="25" name="Text 19"/>
          <p:cNvSpPr/>
          <p:nvPr/>
        </p:nvSpPr>
        <p:spPr>
          <a:xfrm>
            <a:off x="9387688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fraco</a:t>
            </a:r>
            <a:endParaRPr lang="pt-BR" sz="1050" noProof="0" dirty="0"/>
          </a:p>
        </p:txBody>
      </p:sp>
      <p:sp>
        <p:nvSpPr>
          <p:cNvPr id="26" name="Shape 20"/>
          <p:cNvSpPr/>
          <p:nvPr/>
        </p:nvSpPr>
        <p:spPr>
          <a:xfrm>
            <a:off x="2194560" y="4754880"/>
            <a:ext cx="7772400" cy="868680"/>
          </a:xfrm>
          <a:prstGeom prst="roundRect">
            <a:avLst>
              <a:gd name="adj" fmla="val 12632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1"/>
          <p:cNvSpPr/>
          <p:nvPr/>
        </p:nvSpPr>
        <p:spPr>
          <a:xfrm>
            <a:off x="2468880" y="47548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pt-BR" sz="1300" b="1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use parênteses: eles deixam a fórmula legível para qualquer leitor — inclusive você mesmo, duas semanas depois.</a:t>
            </a:r>
            <a:endParaRPr lang="pt-BR" sz="1300" noProof="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SINTAXES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Conectivos em código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símbolos que você acabou de ver, na sintaxe de cada linguagem.</a:t>
            </a:r>
            <a:endParaRPr lang="pt-BR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</a:t>
            </a:r>
            <a:endParaRPr lang="pt-B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3931920" y="1819656"/>
            <a:ext cx="347472" cy="34747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189280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70832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pt-BR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7589520" y="1819656"/>
            <a:ext cx="347472" cy="34747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8928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28432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pt-BR" sz="120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2331720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9"/>
          <p:cNvSpPr/>
          <p:nvPr/>
        </p:nvSpPr>
        <p:spPr>
          <a:xfrm>
            <a:off x="868680" y="23317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¬p</a:t>
            </a:r>
            <a:endParaRPr lang="pt-BR" sz="1500" noProof="0" dirty="0"/>
          </a:p>
        </p:txBody>
      </p:sp>
      <p:sp>
        <p:nvSpPr>
          <p:cNvPr id="14" name="Text 10"/>
          <p:cNvSpPr/>
          <p:nvPr/>
        </p:nvSpPr>
        <p:spPr>
          <a:xfrm>
            <a:off x="3931920" y="233172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endParaRPr lang="pt-BR" sz="1300" noProof="0" dirty="0"/>
          </a:p>
        </p:txBody>
      </p:sp>
      <p:sp>
        <p:nvSpPr>
          <p:cNvPr id="15" name="Text 11"/>
          <p:cNvSpPr/>
          <p:nvPr/>
        </p:nvSpPr>
        <p:spPr>
          <a:xfrm>
            <a:off x="7589520" y="23317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</a:t>
            </a:r>
            <a:endParaRPr lang="pt-BR" sz="1300" noProof="0" dirty="0"/>
          </a:p>
        </p:txBody>
      </p:sp>
      <p:sp>
        <p:nvSpPr>
          <p:cNvPr id="16" name="Shape 12"/>
          <p:cNvSpPr/>
          <p:nvPr/>
        </p:nvSpPr>
        <p:spPr>
          <a:xfrm>
            <a:off x="640080" y="2935224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3"/>
          <p:cNvSpPr/>
          <p:nvPr/>
        </p:nvSpPr>
        <p:spPr>
          <a:xfrm>
            <a:off x="868680" y="29352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∧ q</a:t>
            </a:r>
            <a:endParaRPr lang="pt-BR" sz="1500" noProof="0" dirty="0"/>
          </a:p>
        </p:txBody>
      </p:sp>
      <p:sp>
        <p:nvSpPr>
          <p:cNvPr id="18" name="Text 14"/>
          <p:cNvSpPr/>
          <p:nvPr/>
        </p:nvSpPr>
        <p:spPr>
          <a:xfrm>
            <a:off x="3931920" y="293522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pt-BR" sz="13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endParaRPr lang="pt-BR" sz="1300" noProof="0" dirty="0"/>
          </a:p>
        </p:txBody>
      </p:sp>
      <p:sp>
        <p:nvSpPr>
          <p:cNvPr id="19" name="Text 15"/>
          <p:cNvSpPr/>
          <p:nvPr/>
        </p:nvSpPr>
        <p:spPr>
          <a:xfrm>
            <a:off x="7589520" y="293522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&amp;&amp; q</a:t>
            </a:r>
            <a:endParaRPr lang="pt-BR" sz="1300" noProof="0" dirty="0"/>
          </a:p>
        </p:txBody>
      </p:sp>
      <p:sp>
        <p:nvSpPr>
          <p:cNvPr id="20" name="Shape 16"/>
          <p:cNvSpPr/>
          <p:nvPr/>
        </p:nvSpPr>
        <p:spPr>
          <a:xfrm>
            <a:off x="640080" y="3538728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7"/>
          <p:cNvSpPr/>
          <p:nvPr/>
        </p:nvSpPr>
        <p:spPr>
          <a:xfrm>
            <a:off x="868680" y="35387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∨ q</a:t>
            </a:r>
            <a:endParaRPr lang="pt-BR" sz="1500" noProof="0" dirty="0"/>
          </a:p>
        </p:txBody>
      </p:sp>
      <p:sp>
        <p:nvSpPr>
          <p:cNvPr id="22" name="Text 18"/>
          <p:cNvSpPr/>
          <p:nvPr/>
        </p:nvSpPr>
        <p:spPr>
          <a:xfrm>
            <a:off x="3931920" y="35387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pt-BR" sz="13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endParaRPr lang="pt-BR" sz="1300" noProof="0" dirty="0"/>
          </a:p>
        </p:txBody>
      </p:sp>
      <p:sp>
        <p:nvSpPr>
          <p:cNvPr id="23" name="Text 19"/>
          <p:cNvSpPr/>
          <p:nvPr/>
        </p:nvSpPr>
        <p:spPr>
          <a:xfrm>
            <a:off x="7589520" y="35387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|| q</a:t>
            </a:r>
            <a:endParaRPr lang="pt-BR" sz="1300" noProof="0" dirty="0"/>
          </a:p>
        </p:txBody>
      </p:sp>
      <p:sp>
        <p:nvSpPr>
          <p:cNvPr id="24" name="Shape 20"/>
          <p:cNvSpPr/>
          <p:nvPr/>
        </p:nvSpPr>
        <p:spPr>
          <a:xfrm>
            <a:off x="640080" y="4142232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1"/>
          <p:cNvSpPr/>
          <p:nvPr/>
        </p:nvSpPr>
        <p:spPr>
          <a:xfrm>
            <a:off x="868680" y="41422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→ q</a:t>
            </a:r>
            <a:endParaRPr lang="pt-BR" sz="1500" noProof="0" dirty="0"/>
          </a:p>
        </p:txBody>
      </p:sp>
      <p:sp>
        <p:nvSpPr>
          <p:cNvPr id="26" name="Text 22"/>
          <p:cNvSpPr/>
          <p:nvPr/>
        </p:nvSpPr>
        <p:spPr>
          <a:xfrm>
            <a:off x="3931920" y="414223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3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p) </a:t>
            </a:r>
            <a:r>
              <a:rPr lang="pt-BR" sz="13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endParaRPr lang="pt-BR" sz="1300" noProof="0" dirty="0"/>
          </a:p>
        </p:txBody>
      </p:sp>
      <p:sp>
        <p:nvSpPr>
          <p:cNvPr id="27" name="Text 23"/>
          <p:cNvSpPr/>
          <p:nvPr/>
        </p:nvSpPr>
        <p:spPr>
          <a:xfrm>
            <a:off x="7589520" y="41422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(!p) || q</a:t>
            </a:r>
            <a:endParaRPr lang="pt-BR" sz="1300" noProof="0" dirty="0"/>
          </a:p>
        </p:txBody>
      </p:sp>
      <p:sp>
        <p:nvSpPr>
          <p:cNvPr id="28" name="Shape 24"/>
          <p:cNvSpPr/>
          <p:nvPr/>
        </p:nvSpPr>
        <p:spPr>
          <a:xfrm>
            <a:off x="640080" y="4745736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5"/>
          <p:cNvSpPr/>
          <p:nvPr/>
        </p:nvSpPr>
        <p:spPr>
          <a:xfrm>
            <a:off x="868680" y="474573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↔ q</a:t>
            </a:r>
            <a:endParaRPr lang="pt-BR" sz="1500" noProof="0" dirty="0"/>
          </a:p>
        </p:txBody>
      </p:sp>
      <p:sp>
        <p:nvSpPr>
          <p:cNvPr id="30" name="Text 26"/>
          <p:cNvSpPr/>
          <p:nvPr/>
        </p:nvSpPr>
        <p:spPr>
          <a:xfrm>
            <a:off x="3931920" y="474573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== q</a:t>
            </a:r>
            <a:endParaRPr lang="pt-BR" sz="1300" noProof="0" dirty="0"/>
          </a:p>
        </p:txBody>
      </p:sp>
      <p:sp>
        <p:nvSpPr>
          <p:cNvPr id="31" name="Text 27"/>
          <p:cNvSpPr/>
          <p:nvPr/>
        </p:nvSpPr>
        <p:spPr>
          <a:xfrm>
            <a:off x="7589520" y="474573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== q</a:t>
            </a:r>
            <a:endParaRPr lang="pt-BR" sz="1300" noProof="0" dirty="0"/>
          </a:p>
        </p:txBody>
      </p:sp>
      <p:sp>
        <p:nvSpPr>
          <p:cNvPr id="32" name="Text 28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 C# não têm operador nativo para → e ↔ — nós os construímos a partir dos operadores existentes.</a:t>
            </a:r>
            <a:endParaRPr lang="pt-BR" sz="1200" noProof="0" dirty="0"/>
          </a:p>
        </p:txBody>
      </p:sp>
      <p:sp>
        <p:nvSpPr>
          <p:cNvPr id="33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Implementando → e ↔</a:t>
            </a:r>
            <a:endParaRPr lang="pt-B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funções que faltavam, testadas para as quatro combinações de p e q.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80660" cy="3749040"/>
          </a:xfrm>
          <a:prstGeom prst="roundRect">
            <a:avLst>
              <a:gd name="adj" fmla="val 3415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96112" y="22311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1097280" y="22311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1298448" y="22311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1554480" y="21717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 err="1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Conectivos.cs</a:t>
            </a:r>
            <a:endParaRPr lang="pt-BR" sz="1050" noProof="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15798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72491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pt-BR" sz="11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1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1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Implica(</a:t>
            </a:r>
            <a:r>
              <a:rPr lang="pt-BR" sz="11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p, </a:t>
            </a:r>
            <a:r>
              <a:rPr lang="pt-BR" sz="11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q) =&gt; !p || q;</a:t>
            </a:r>
            <a:endParaRPr lang="pt-BR" sz="1100" noProof="0" dirty="0"/>
          </a:p>
        </p:txBody>
      </p:sp>
      <p:sp>
        <p:nvSpPr>
          <p:cNvPr id="12" name="Text 9"/>
          <p:cNvSpPr/>
          <p:nvPr/>
        </p:nvSpPr>
        <p:spPr>
          <a:xfrm>
            <a:off x="932688" y="303580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pt-BR" sz="11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1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1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Bicondicional(</a:t>
            </a:r>
            <a:r>
              <a:rPr lang="pt-BR" sz="11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p, </a:t>
            </a:r>
            <a:r>
              <a:rPr lang="pt-BR" sz="11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q) =&gt; p == q;</a:t>
            </a:r>
            <a:endParaRPr lang="pt-BR" sz="1100" noProof="0" dirty="0"/>
          </a:p>
        </p:txBody>
      </p:sp>
      <p:sp>
        <p:nvSpPr>
          <p:cNvPr id="13" name="Text 10"/>
          <p:cNvSpPr/>
          <p:nvPr/>
        </p:nvSpPr>
        <p:spPr>
          <a:xfrm>
            <a:off x="932688" y="334670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100" noProof="0" dirty="0"/>
          </a:p>
        </p:txBody>
      </p:sp>
      <p:sp>
        <p:nvSpPr>
          <p:cNvPr id="14" name="Text 11"/>
          <p:cNvSpPr/>
          <p:nvPr/>
        </p:nvSpPr>
        <p:spPr>
          <a:xfrm>
            <a:off x="932688" y="365760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pt-BR" sz="11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p in new[] { </a:t>
            </a:r>
            <a:r>
              <a:rPr lang="pt-BR" sz="11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false })</a:t>
            </a:r>
            <a:endParaRPr lang="pt-BR" sz="1100" noProof="0" dirty="0"/>
          </a:p>
        </p:txBody>
      </p:sp>
      <p:sp>
        <p:nvSpPr>
          <p:cNvPr id="15" name="Text 12"/>
          <p:cNvSpPr/>
          <p:nvPr/>
        </p:nvSpPr>
        <p:spPr>
          <a:xfrm>
            <a:off x="932688" y="396849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pt-BR" sz="11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q in new[] { </a:t>
            </a:r>
            <a:r>
              <a:rPr lang="pt-BR" sz="11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false })</a:t>
            </a:r>
            <a:endParaRPr lang="pt-BR" sz="1100" noProof="0" dirty="0"/>
          </a:p>
        </p:txBody>
      </p:sp>
      <p:sp>
        <p:nvSpPr>
          <p:cNvPr id="16" name="Text 13"/>
          <p:cNvSpPr/>
          <p:nvPr/>
        </p:nvSpPr>
        <p:spPr>
          <a:xfrm>
            <a:off x="932688" y="427939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pt-BR" sz="1100" noProof="0" dirty="0"/>
          </a:p>
        </p:txBody>
      </p:sp>
      <p:sp>
        <p:nvSpPr>
          <p:cNvPr id="17" name="Text 14"/>
          <p:cNvSpPr/>
          <p:nvPr/>
        </p:nvSpPr>
        <p:spPr>
          <a:xfrm>
            <a:off x="932688" y="459028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1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pt-BR" sz="1100" noProof="0" dirty="0"/>
          </a:p>
        </p:txBody>
      </p:sp>
      <p:sp>
        <p:nvSpPr>
          <p:cNvPr id="18" name="Text 15"/>
          <p:cNvSpPr/>
          <p:nvPr/>
        </p:nvSpPr>
        <p:spPr>
          <a:xfrm>
            <a:off x="932688" y="490118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$"{p} {q} {Implica(</a:t>
            </a:r>
            <a:r>
              <a:rPr lang="pt-BR" sz="11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p,q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 {Bicondicional(</a:t>
            </a:r>
            <a:r>
              <a:rPr lang="pt-BR" sz="11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p,q</a:t>
            </a: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)}");</a:t>
            </a:r>
            <a:endParaRPr lang="pt-BR" sz="1100" noProof="0" dirty="0"/>
          </a:p>
        </p:txBody>
      </p:sp>
      <p:sp>
        <p:nvSpPr>
          <p:cNvPr id="19" name="Text 16"/>
          <p:cNvSpPr/>
          <p:nvPr/>
        </p:nvSpPr>
        <p:spPr>
          <a:xfrm>
            <a:off x="932688" y="521208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pt-BR" sz="1100" noProof="0" dirty="0"/>
          </a:p>
        </p:txBody>
      </p:sp>
      <p:sp>
        <p:nvSpPr>
          <p:cNvPr id="20" name="Shape 17"/>
          <p:cNvSpPr/>
          <p:nvPr/>
        </p:nvSpPr>
        <p:spPr>
          <a:xfrm>
            <a:off x="6240780" y="2011680"/>
            <a:ext cx="5280660" cy="3749040"/>
          </a:xfrm>
          <a:prstGeom prst="roundRect">
            <a:avLst>
              <a:gd name="adj" fmla="val 3415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8"/>
          <p:cNvSpPr/>
          <p:nvPr/>
        </p:nvSpPr>
        <p:spPr>
          <a:xfrm>
            <a:off x="6496812" y="22311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19"/>
          <p:cNvSpPr/>
          <p:nvPr/>
        </p:nvSpPr>
        <p:spPr>
          <a:xfrm>
            <a:off x="6697980" y="22311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Shape 20"/>
          <p:cNvSpPr/>
          <p:nvPr/>
        </p:nvSpPr>
        <p:spPr>
          <a:xfrm>
            <a:off x="6899148" y="22311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1"/>
          <p:cNvSpPr/>
          <p:nvPr/>
        </p:nvSpPr>
        <p:spPr>
          <a:xfrm>
            <a:off x="7155180" y="21717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conectivos.py</a:t>
            </a:r>
            <a:endParaRPr lang="pt-BR" sz="1050" noProof="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157984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533388" y="272491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pt-BR" sz="10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implica(p, q):</a:t>
            </a:r>
            <a:endParaRPr lang="pt-BR" sz="1050" noProof="0" dirty="0"/>
          </a:p>
        </p:txBody>
      </p:sp>
      <p:sp>
        <p:nvSpPr>
          <p:cNvPr id="27" name="Text 23"/>
          <p:cNvSpPr/>
          <p:nvPr/>
        </p:nvSpPr>
        <p:spPr>
          <a:xfrm>
            <a:off x="6533388" y="303580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5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pt-BR" sz="10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pt-BR" sz="10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p) </a:t>
            </a:r>
            <a:r>
              <a:rPr lang="pt-BR" sz="10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pt-BR" sz="10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pt-BR" sz="1050" noProof="0" dirty="0"/>
          </a:p>
        </p:txBody>
      </p:sp>
      <p:sp>
        <p:nvSpPr>
          <p:cNvPr id="28" name="Text 24"/>
          <p:cNvSpPr/>
          <p:nvPr/>
        </p:nvSpPr>
        <p:spPr>
          <a:xfrm>
            <a:off x="6533388" y="334670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50" noProof="0" dirty="0"/>
          </a:p>
        </p:txBody>
      </p:sp>
      <p:sp>
        <p:nvSpPr>
          <p:cNvPr id="29" name="Text 25"/>
          <p:cNvSpPr/>
          <p:nvPr/>
        </p:nvSpPr>
        <p:spPr>
          <a:xfrm>
            <a:off x="6533388" y="365760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pt-BR" sz="10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bicondicional(p, q):</a:t>
            </a:r>
            <a:endParaRPr lang="pt-BR" sz="1050" noProof="0" dirty="0"/>
          </a:p>
        </p:txBody>
      </p:sp>
      <p:sp>
        <p:nvSpPr>
          <p:cNvPr id="30" name="Text 26"/>
          <p:cNvSpPr/>
          <p:nvPr/>
        </p:nvSpPr>
        <p:spPr>
          <a:xfrm>
            <a:off x="6533388" y="396849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05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== q</a:t>
            </a:r>
            <a:endParaRPr lang="pt-BR" sz="1050" noProof="0" dirty="0"/>
          </a:p>
        </p:txBody>
      </p:sp>
      <p:sp>
        <p:nvSpPr>
          <p:cNvPr id="31" name="Text 27"/>
          <p:cNvSpPr/>
          <p:nvPr/>
        </p:nvSpPr>
        <p:spPr>
          <a:xfrm>
            <a:off x="6533388" y="427939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050" noProof="0" dirty="0"/>
          </a:p>
        </p:txBody>
      </p:sp>
      <p:sp>
        <p:nvSpPr>
          <p:cNvPr id="32" name="Text 28"/>
          <p:cNvSpPr/>
          <p:nvPr/>
        </p:nvSpPr>
        <p:spPr>
          <a:xfrm>
            <a:off x="6533388" y="459028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pt-BR" sz="10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5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False):</a:t>
            </a:r>
            <a:endParaRPr lang="pt-BR" sz="1050" noProof="0" dirty="0"/>
          </a:p>
        </p:txBody>
      </p:sp>
      <p:sp>
        <p:nvSpPr>
          <p:cNvPr id="33" name="Text 29"/>
          <p:cNvSpPr/>
          <p:nvPr/>
        </p:nvSpPr>
        <p:spPr>
          <a:xfrm>
            <a:off x="6533388" y="490118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</a:t>
            </a:r>
            <a:r>
              <a:rPr lang="pt-BR" sz="10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05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False):</a:t>
            </a:r>
            <a:endParaRPr lang="pt-BR" sz="1050" noProof="0" dirty="0"/>
          </a:p>
        </p:txBody>
      </p:sp>
      <p:sp>
        <p:nvSpPr>
          <p:cNvPr id="34" name="Text 30"/>
          <p:cNvSpPr/>
          <p:nvPr/>
        </p:nvSpPr>
        <p:spPr>
          <a:xfrm>
            <a:off x="6533388" y="521208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print(p, q, implica(p, q), bicondicional(p, q))</a:t>
            </a:r>
            <a:endParaRPr lang="pt-BR" sz="1050" noProof="0" dirty="0"/>
          </a:p>
        </p:txBody>
      </p:sp>
      <p:sp>
        <p:nvSpPr>
          <p:cNvPr id="35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743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de praticar</a:t>
            </a:r>
            <a:endParaRPr lang="pt-BR" sz="4000" noProof="0" dirty="0"/>
          </a:p>
        </p:txBody>
      </p:sp>
      <p:sp>
        <p:nvSpPr>
          <p:cNvPr id="7" name="Text 4"/>
          <p:cNvSpPr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50" i="1" noProof="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exercícios: tabela-verdade, precedência, tradução e um desafio de código.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Tabela-verdade</a:t>
            </a:r>
            <a:endParaRPr lang="pt-BR" sz="2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4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a tabela-verdade completa de p → q. Compare com a tabela de ¬p ∨ q. O que você percebe?</a:t>
            </a:r>
            <a:endParaRPr lang="pt-BR" sz="1400" noProof="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714909"/>
              </p:ext>
            </p:extLst>
          </p:nvPr>
        </p:nvGraphicFramePr>
        <p:xfrm>
          <a:off x="2651760" y="2468880"/>
          <a:ext cx="68580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→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¬p ∨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i="1" noProof="0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i="1" noProof="0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i="1" noProof="0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i="1" noProof="0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i="1" noProof="0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i="1" noProof="0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i="1" noProof="0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i="1" noProof="0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1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Tabela-verdade</a:t>
            </a:r>
            <a:endParaRPr lang="pt-BR" sz="2400" noProof="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624372"/>
              </p:ext>
            </p:extLst>
          </p:nvPr>
        </p:nvGraphicFramePr>
        <p:xfrm>
          <a:off x="2651760" y="1828800"/>
          <a:ext cx="6858000" cy="9144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→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¬p ∨ 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7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7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463040" y="5074920"/>
            <a:ext cx="9235440" cy="914400"/>
          </a:xfrm>
          <a:prstGeom prst="roundRect">
            <a:avLst>
              <a:gd name="adj" fmla="val 120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4"/>
          <p:cNvSpPr/>
          <p:nvPr/>
        </p:nvSpPr>
        <p:spPr>
          <a:xfrm>
            <a:off x="1783080" y="5074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b="1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Percebeu? As colunas p → q e ¬p ∨ q são idênticas — são logicamente equivalentes. É exatamente por isso que implementamos → em código como (</a:t>
            </a:r>
            <a:r>
              <a:rPr lang="pt-BR" sz="1300" b="1" i="1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pt-BR" sz="1300" b="1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p) </a:t>
            </a:r>
            <a:r>
              <a:rPr lang="pt-BR" sz="1300" b="1" i="1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pt-BR" sz="1300" b="1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q.</a:t>
            </a:r>
            <a:endParaRPr lang="pt-BR" sz="1300" noProof="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Precedência</a:t>
            </a:r>
            <a:endParaRPr lang="pt-BR" sz="2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4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usar parênteses adicionais, avalie a fórmula abaixo. Depois reescreva-a usando parênteses para deixar a ordem explícita.</a:t>
            </a:r>
            <a:endParaRPr lang="pt-BR" sz="1400" noProof="0" dirty="0"/>
          </a:p>
        </p:txBody>
      </p:sp>
      <p:sp>
        <p:nvSpPr>
          <p:cNvPr id="7" name="Shape 4"/>
          <p:cNvSpPr/>
          <p:nvPr/>
        </p:nvSpPr>
        <p:spPr>
          <a:xfrm>
            <a:off x="3566160" y="2514600"/>
            <a:ext cx="5029200" cy="960120"/>
          </a:xfrm>
          <a:prstGeom prst="roundRect">
            <a:avLst>
              <a:gd name="adj" fmla="val 11429"/>
            </a:avLst>
          </a:prstGeom>
          <a:solidFill>
            <a:srgbClr val="EDEAF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3566160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¬p ∧ q ∨ r</a:t>
            </a:r>
            <a:endParaRPr lang="pt-BR" sz="30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pt-BR" sz="1100" noProof="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</a:t>
            </a:r>
            <a:r>
              <a:rPr lang="pt-BR" sz="1600" b="1" noProof="0" dirty="0">
                <a:solidFill>
                  <a:srgbClr val="1E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pt-BR" sz="1600" noProof="0" dirty="0"/>
          </a:p>
        </p:txBody>
      </p:sp>
      <p:sp>
        <p:nvSpPr>
          <p:cNvPr id="12" name="Shape 9"/>
          <p:cNvSpPr/>
          <p:nvPr/>
        </p:nvSpPr>
        <p:spPr>
          <a:xfrm>
            <a:off x="2651760" y="411480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2651760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</a:t>
            </a:r>
            <a:r>
              <a:rPr lang="pt-BR" sz="1600" b="1" noProof="0" dirty="0">
                <a:solidFill>
                  <a:srgbClr val="A8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pt-BR" sz="1600" noProof="0" dirty="0"/>
          </a:p>
        </p:txBody>
      </p:sp>
      <p:sp>
        <p:nvSpPr>
          <p:cNvPr id="14" name="Shape 11"/>
          <p:cNvSpPr/>
          <p:nvPr/>
        </p:nvSpPr>
        <p:spPr>
          <a:xfrm>
            <a:off x="4663440" y="411480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4663440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</a:t>
            </a:r>
            <a:r>
              <a:rPr lang="pt-BR" sz="1600" b="1" noProof="0" dirty="0">
                <a:solidFill>
                  <a:srgbClr val="1E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pt-BR" sz="1600" noProof="0" dirty="0"/>
          </a:p>
        </p:txBody>
      </p:sp>
      <p:sp>
        <p:nvSpPr>
          <p:cNvPr id="16" name="Shape 13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868680" y="50292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 fórmula com parênteses explícitos:</a:t>
            </a:r>
            <a:endParaRPr lang="pt-BR" sz="1250" noProof="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2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Precedência</a:t>
            </a:r>
            <a:endParaRPr lang="pt-BR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4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600" noProof="0" dirty="0"/>
          </a:p>
        </p:txBody>
      </p:sp>
      <p:sp>
        <p:nvSpPr>
          <p:cNvPr id="9" name="Text 6"/>
          <p:cNvSpPr/>
          <p:nvPr/>
        </p:nvSpPr>
        <p:spPr>
          <a:xfrm>
            <a:off x="160020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¬p</a:t>
            </a:r>
            <a:endParaRPr lang="pt-BR" sz="1700" noProof="0" dirty="0"/>
          </a:p>
        </p:txBody>
      </p:sp>
      <p:sp>
        <p:nvSpPr>
          <p:cNvPr id="10" name="Text 7"/>
          <p:cNvSpPr/>
          <p:nvPr/>
        </p:nvSpPr>
        <p:spPr>
          <a:xfrm>
            <a:off x="3931920" y="17830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¬V = F   (negação primeiro)</a:t>
            </a:r>
            <a:endParaRPr lang="pt-BR" sz="1350" noProof="0" dirty="0"/>
          </a:p>
        </p:txBody>
      </p:sp>
      <p:sp>
        <p:nvSpPr>
          <p:cNvPr id="11" name="Shape 8"/>
          <p:cNvSpPr/>
          <p:nvPr/>
        </p:nvSpPr>
        <p:spPr>
          <a:xfrm>
            <a:off x="640080" y="26974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9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8686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600" noProof="0" dirty="0"/>
          </a:p>
        </p:txBody>
      </p:sp>
      <p:sp>
        <p:nvSpPr>
          <p:cNvPr id="14" name="Text 11"/>
          <p:cNvSpPr/>
          <p:nvPr/>
        </p:nvSpPr>
        <p:spPr>
          <a:xfrm>
            <a:off x="160020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∧ q</a:t>
            </a:r>
            <a:endParaRPr lang="pt-BR" sz="1700" noProof="0" dirty="0"/>
          </a:p>
        </p:txBody>
      </p:sp>
      <p:sp>
        <p:nvSpPr>
          <p:cNvPr id="15" name="Text 12"/>
          <p:cNvSpPr/>
          <p:nvPr/>
        </p:nvSpPr>
        <p:spPr>
          <a:xfrm>
            <a:off x="3931920" y="2697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∧ F = F   (conjunção antes da disjunção)</a:t>
            </a:r>
            <a:endParaRPr lang="pt-BR" sz="1350" noProof="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4"/>
          <p:cNvSpPr/>
          <p:nvPr/>
        </p:nvSpPr>
        <p:spPr>
          <a:xfrm>
            <a:off x="868680" y="3749040"/>
            <a:ext cx="502920" cy="50292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8686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600" noProof="0" dirty="0"/>
          </a:p>
        </p:txBody>
      </p:sp>
      <p:sp>
        <p:nvSpPr>
          <p:cNvPr id="19" name="Text 16"/>
          <p:cNvSpPr/>
          <p:nvPr/>
        </p:nvSpPr>
        <p:spPr>
          <a:xfrm>
            <a:off x="160020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∨ r</a:t>
            </a:r>
            <a:endParaRPr lang="pt-BR" sz="1700" noProof="0" dirty="0"/>
          </a:p>
        </p:txBody>
      </p:sp>
      <p:sp>
        <p:nvSpPr>
          <p:cNvPr id="20" name="Text 17"/>
          <p:cNvSpPr/>
          <p:nvPr/>
        </p:nvSpPr>
        <p:spPr>
          <a:xfrm>
            <a:off x="3931920" y="36118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∨ V = V   (disjunção por último)</a:t>
            </a:r>
            <a:endParaRPr lang="pt-BR" sz="1350" noProof="0" dirty="0"/>
          </a:p>
        </p:txBody>
      </p:sp>
      <p:sp>
        <p:nvSpPr>
          <p:cNvPr id="21" name="Shape 18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19"/>
          <p:cNvSpPr/>
          <p:nvPr/>
        </p:nvSpPr>
        <p:spPr>
          <a:xfrm>
            <a:off x="868680" y="46177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C7C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Resultado: </a:t>
            </a:r>
            <a:r>
              <a:rPr lang="pt-BR" sz="1600" b="1" noProof="0" dirty="0">
                <a:solidFill>
                  <a:srgbClr val="3EB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pt-BR" sz="1600" noProof="0" dirty="0">
                <a:solidFill>
                  <a:srgbClr val="C7C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Com parênteses explícitos: </a:t>
            </a:r>
            <a:r>
              <a:rPr lang="pt-BR" sz="16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(¬p ∧ q) ∨ r</a:t>
            </a:r>
            <a:endParaRPr lang="pt-BR" sz="1600" noProof="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Traduzindo</a:t>
            </a:r>
            <a:endParaRPr lang="pt-BR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1737360" y="1783080"/>
            <a:ext cx="8686800" cy="960120"/>
          </a:xfrm>
          <a:prstGeom prst="roundRect">
            <a:avLst>
              <a:gd name="adj" fmla="val 1142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1737360" y="178308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i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estudo e durmo bem, então passo na prova.”</a:t>
            </a:r>
            <a:endParaRPr lang="pt-BR" sz="20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p, q, r e o(s) conectivo(s) usado(s).</a:t>
            </a:r>
            <a:endParaRPr lang="pt-BR" sz="1400" noProof="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868680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</a:t>
            </a:r>
            <a:endParaRPr lang="pt-BR" sz="1600" noProof="0" dirty="0"/>
          </a:p>
        </p:txBody>
      </p:sp>
      <p:sp>
        <p:nvSpPr>
          <p:cNvPr id="11" name="Text 8"/>
          <p:cNvSpPr/>
          <p:nvPr/>
        </p:nvSpPr>
        <p:spPr>
          <a:xfrm>
            <a:off x="868680" y="4206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pt-BR" sz="1300" noProof="0" dirty="0"/>
          </a:p>
        </p:txBody>
      </p:sp>
      <p:sp>
        <p:nvSpPr>
          <p:cNvPr id="12" name="Shape 9"/>
          <p:cNvSpPr/>
          <p:nvPr/>
        </p:nvSpPr>
        <p:spPr>
          <a:xfrm>
            <a:off x="4361688" y="35204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4590288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</a:t>
            </a:r>
            <a:endParaRPr lang="pt-BR" sz="1600" noProof="0" dirty="0"/>
          </a:p>
        </p:txBody>
      </p:sp>
      <p:sp>
        <p:nvSpPr>
          <p:cNvPr id="14" name="Text 11"/>
          <p:cNvSpPr/>
          <p:nvPr/>
        </p:nvSpPr>
        <p:spPr>
          <a:xfrm>
            <a:off x="4590288" y="4206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pt-BR" sz="1300" noProof="0" dirty="0"/>
          </a:p>
        </p:txBody>
      </p:sp>
      <p:sp>
        <p:nvSpPr>
          <p:cNvPr id="15" name="Shape 12"/>
          <p:cNvSpPr/>
          <p:nvPr/>
        </p:nvSpPr>
        <p:spPr>
          <a:xfrm>
            <a:off x="8083296" y="35204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8311896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</a:t>
            </a:r>
            <a:endParaRPr lang="pt-BR" sz="1600" noProof="0" dirty="0"/>
          </a:p>
        </p:txBody>
      </p:sp>
      <p:sp>
        <p:nvSpPr>
          <p:cNvPr id="17" name="Text 14"/>
          <p:cNvSpPr/>
          <p:nvPr/>
        </p:nvSpPr>
        <p:spPr>
          <a:xfrm>
            <a:off x="8311896" y="4206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pt-BR" sz="1300" noProof="0" dirty="0"/>
          </a:p>
        </p:txBody>
      </p:sp>
      <p:sp>
        <p:nvSpPr>
          <p:cNvPr id="18" name="Shape 15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6"/>
          <p:cNvSpPr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com conectivos:</a:t>
            </a:r>
            <a:endParaRPr lang="pt-BR" sz="1300" noProof="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3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Traduzindo</a:t>
            </a:r>
            <a:endParaRPr lang="pt-BR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pt-BR" sz="2800" noProof="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“estudo”</a:t>
            </a:r>
            <a:endParaRPr lang="pt-BR" sz="1400" noProof="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4590288" y="2103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pt-BR" sz="2800" noProof="0" dirty="0"/>
          </a:p>
        </p:txBody>
      </p:sp>
      <p:sp>
        <p:nvSpPr>
          <p:cNvPr id="11" name="Text 8"/>
          <p:cNvSpPr/>
          <p:nvPr/>
        </p:nvSpPr>
        <p:spPr>
          <a:xfrm>
            <a:off x="4590288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“durmo bem”</a:t>
            </a:r>
            <a:endParaRPr lang="pt-BR" sz="1400" noProof="0" dirty="0"/>
          </a:p>
        </p:txBody>
      </p:sp>
      <p:sp>
        <p:nvSpPr>
          <p:cNvPr id="12" name="Shape 9"/>
          <p:cNvSpPr/>
          <p:nvPr/>
        </p:nvSpPr>
        <p:spPr>
          <a:xfrm>
            <a:off x="8083296" y="19202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8311896" y="2103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pt-BR" sz="2800" noProof="0" dirty="0"/>
          </a:p>
        </p:txBody>
      </p:sp>
      <p:sp>
        <p:nvSpPr>
          <p:cNvPr id="14" name="Text 11"/>
          <p:cNvSpPr/>
          <p:nvPr/>
        </p:nvSpPr>
        <p:spPr>
          <a:xfrm>
            <a:off x="8311896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“passo na prova”</a:t>
            </a:r>
            <a:endParaRPr lang="pt-BR" sz="1400" noProof="0" dirty="0"/>
          </a:p>
        </p:txBody>
      </p:sp>
      <p:sp>
        <p:nvSpPr>
          <p:cNvPr id="15" name="Shape 12"/>
          <p:cNvSpPr/>
          <p:nvPr/>
        </p:nvSpPr>
        <p:spPr>
          <a:xfrm>
            <a:off x="640080" y="379476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868680" y="3794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 ∧ q) → r</a:t>
            </a:r>
            <a:endParaRPr lang="pt-BR" sz="2800" noProof="0" dirty="0"/>
          </a:p>
        </p:txBody>
      </p:sp>
      <p:sp>
        <p:nvSpPr>
          <p:cNvPr id="17" name="Text 14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Conectivos usados: ∧ (conjunção) e → (condicional).</a:t>
            </a:r>
            <a:endParaRPr lang="pt-BR" sz="1300" noProof="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8961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DESAFIO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Bicondicional, na mão</a:t>
            </a:r>
            <a:endParaRPr lang="pt-BR" sz="2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4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bicondicional_v2(p, q) usando apenas </a:t>
            </a:r>
            <a:r>
              <a:rPr lang="pt-BR" sz="1400" noProof="0" dirty="0" err="1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pt-BR" sz="14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400" noProof="0" dirty="0" err="1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pt-BR" sz="14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pt-BR" sz="1400" noProof="0" dirty="0" err="1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pt-BR" sz="14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(sem usar ==). Teste contra o bicondicional da aula para as 4 combinações de p e q.</a:t>
            </a:r>
            <a:endParaRPr lang="pt-BR" sz="1400" noProof="0" dirty="0"/>
          </a:p>
        </p:txBody>
      </p:sp>
      <p:sp>
        <p:nvSpPr>
          <p:cNvPr id="7" name="Shape 4"/>
          <p:cNvSpPr/>
          <p:nvPr/>
        </p:nvSpPr>
        <p:spPr>
          <a:xfrm>
            <a:off x="2194560" y="2514600"/>
            <a:ext cx="7772400" cy="914400"/>
          </a:xfrm>
          <a:prstGeom prst="roundRect">
            <a:avLst>
              <a:gd name="adj" fmla="val 12000"/>
            </a:avLst>
          </a:prstGeom>
          <a:solidFill>
            <a:srgbClr val="232C63"/>
          </a:solidFill>
          <a:ln w="12700">
            <a:solidFill>
              <a:srgbClr val="4B529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2468880" y="25146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pt-BR" sz="135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 ↔ q é verdadeira quando (p e q) ou (nem p, nem q)</a:t>
            </a:r>
            <a:endParaRPr lang="pt-BR" sz="1350" noProof="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896112" y="396849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1097280" y="396849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9"/>
          <p:cNvSpPr/>
          <p:nvPr/>
        </p:nvSpPr>
        <p:spPr>
          <a:xfrm>
            <a:off x="1298448" y="396849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155448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bicondicional_v2.py</a:t>
            </a:r>
            <a:endParaRPr lang="pt-BR" sz="1050" noProof="0" dirty="0"/>
          </a:p>
        </p:txBody>
      </p:sp>
      <p:sp>
        <p:nvSpPr>
          <p:cNvPr id="14" name="Text 11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pt-BR" sz="15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5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bicondicional_v2(p, q):</a:t>
            </a:r>
            <a:endParaRPr lang="pt-BR" sz="1500" noProof="0" dirty="0"/>
          </a:p>
        </p:txBody>
      </p:sp>
      <p:sp>
        <p:nvSpPr>
          <p:cNvPr id="15" name="Text 12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500" noProof="0" dirty="0" err="1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BR" sz="15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____________________________________________</a:t>
            </a:r>
            <a:endParaRPr lang="pt-BR" sz="1500" noProof="0" dirty="0"/>
          </a:p>
        </p:txBody>
      </p:sp>
      <p:sp>
        <p:nvSpPr>
          <p:cNvPr id="16" name="Text 13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escreva as 4 combinações de p e q e confira se o resultado é igual ao bicondicional(p, q).</a:t>
            </a:r>
            <a:endParaRPr lang="pt-BR" sz="1250" noProof="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4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Bicondicional, na mão</a:t>
            </a:r>
            <a:endParaRPr lang="pt-BR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9032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4"/>
          <p:cNvSpPr/>
          <p:nvPr/>
        </p:nvSpPr>
        <p:spPr>
          <a:xfrm>
            <a:off x="896112" y="19568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5"/>
          <p:cNvSpPr/>
          <p:nvPr/>
        </p:nvSpPr>
        <p:spPr>
          <a:xfrm>
            <a:off x="1097280" y="19568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1298448" y="19568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1554480" y="189738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bicondicional_v2.py</a:t>
            </a:r>
            <a:endParaRPr lang="pt-BR" sz="1050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8836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4231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pt-BR" sz="14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4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bicondicional_v2(p, q):</a:t>
            </a:r>
            <a:endParaRPr lang="pt-BR" sz="1400" noProof="0" dirty="0"/>
          </a:p>
        </p:txBody>
      </p:sp>
      <p:sp>
        <p:nvSpPr>
          <p:cNvPr id="13" name="Text 9"/>
          <p:cNvSpPr/>
          <p:nvPr/>
        </p:nvSpPr>
        <p:spPr>
          <a:xfrm>
            <a:off x="932688" y="2807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4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BR" sz="14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 </a:t>
            </a:r>
            <a:r>
              <a:rPr lang="pt-BR" sz="14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4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4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q) </a:t>
            </a:r>
            <a:r>
              <a:rPr lang="pt-BR" sz="14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pt-BR" sz="14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4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4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pt-BR" sz="14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4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pt-BR" sz="14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4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4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pt-BR" sz="14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4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q)</a:t>
            </a:r>
            <a:endParaRPr lang="pt-BR" sz="1400" noProof="0" dirty="0"/>
          </a:p>
        </p:txBody>
      </p:sp>
      <p:sp>
        <p:nvSpPr>
          <p:cNvPr id="14" name="Text 10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i="1" noProof="0" dirty="0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Equivalente em C#:  </a:t>
            </a:r>
            <a:r>
              <a:rPr lang="pt-BR" sz="1150" i="1" noProof="0" dirty="0" err="1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pt-BR" sz="1150" i="1" noProof="0" dirty="0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150" i="1" noProof="0" dirty="0" err="1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150" i="1" noProof="0" dirty="0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BicondicionalV2(</a:t>
            </a:r>
            <a:r>
              <a:rPr lang="pt-BR" sz="1150" i="1" noProof="0" dirty="0" err="1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150" i="1" noProof="0" dirty="0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p, </a:t>
            </a:r>
            <a:r>
              <a:rPr lang="pt-BR" sz="1150" i="1" noProof="0" dirty="0" err="1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150" i="1" noProof="0" dirty="0">
                <a:solidFill>
                  <a:srgbClr val="AEB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q) =&gt; (p &amp;&amp; q) || (!p &amp;&amp; !q);</a:t>
            </a:r>
            <a:endParaRPr lang="pt-BR" sz="1150" noProof="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563196"/>
              </p:ext>
            </p:extLst>
          </p:nvPr>
        </p:nvGraphicFramePr>
        <p:xfrm>
          <a:off x="2651760" y="3886200"/>
          <a:ext cx="6858000" cy="9144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bicondicional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bicondicional_v2</a:t>
                      </a:r>
                      <a:endParaRPr lang="pt-BR" sz="15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noProof="0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pt-BR" sz="14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DE ROTA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no semestre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2423160" y="3502152"/>
            <a:ext cx="7315200" cy="36576"/>
          </a:xfrm>
          <a:prstGeom prst="rect">
            <a:avLst/>
          </a:prstGeom>
          <a:solidFill>
            <a:srgbClr val="DAD5F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1691640" y="3108960"/>
            <a:ext cx="822960" cy="822960"/>
          </a:xfrm>
          <a:prstGeom prst="ellipse">
            <a:avLst/>
          </a:prstGeom>
          <a:solidFill>
            <a:srgbClr val="B8AE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46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</a:t>
            </a:r>
            <a:endParaRPr lang="pt-BR" sz="1400" noProof="0" dirty="0"/>
          </a:p>
        </p:txBody>
      </p:sp>
      <p:sp>
        <p:nvSpPr>
          <p:cNvPr id="8" name="Text 5"/>
          <p:cNvSpPr/>
          <p:nvPr/>
        </p:nvSpPr>
        <p:spPr>
          <a:xfrm>
            <a:off x="100584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Lógica</a:t>
            </a:r>
            <a:endParaRPr lang="pt-BR" sz="1150" noProof="0" dirty="0"/>
          </a:p>
        </p:txBody>
      </p:sp>
      <p:sp>
        <p:nvSpPr>
          <p:cNvPr id="9" name="Shape 6"/>
          <p:cNvSpPr/>
          <p:nvPr/>
        </p:nvSpPr>
        <p:spPr>
          <a:xfrm>
            <a:off x="5367528" y="22860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5367528" y="2286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 kern="0" spc="50" noProof="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</a:t>
            </a:r>
            <a:endParaRPr lang="pt-BR" sz="950" noProof="0" dirty="0"/>
          </a:p>
        </p:txBody>
      </p:sp>
      <p:sp>
        <p:nvSpPr>
          <p:cNvPr id="11" name="Shape 8"/>
          <p:cNvSpPr/>
          <p:nvPr/>
        </p:nvSpPr>
        <p:spPr>
          <a:xfrm>
            <a:off x="5504688" y="2926080"/>
            <a:ext cx="1188720" cy="118872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136392"/>
            <a:ext cx="768096" cy="7680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01768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</a:t>
            </a:r>
            <a:endParaRPr lang="pt-BR" sz="1550" noProof="0" dirty="0"/>
          </a:p>
        </p:txBody>
      </p:sp>
      <p:sp>
        <p:nvSpPr>
          <p:cNvPr id="14" name="Text 10"/>
          <p:cNvSpPr/>
          <p:nvPr/>
        </p:nvSpPr>
        <p:spPr>
          <a:xfrm>
            <a:off x="4727448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Tabela-verdade dos conectivos</a:t>
            </a:r>
            <a:endParaRPr lang="pt-BR" sz="1150" noProof="0" dirty="0"/>
          </a:p>
        </p:txBody>
      </p:sp>
      <p:sp>
        <p:nvSpPr>
          <p:cNvPr id="15" name="Shape 11"/>
          <p:cNvSpPr/>
          <p:nvPr/>
        </p:nvSpPr>
        <p:spPr>
          <a:xfrm>
            <a:off x="9189720" y="31089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3319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</a:t>
            </a:r>
            <a:endParaRPr lang="pt-BR" sz="1400" noProof="0" dirty="0"/>
          </a:p>
        </p:txBody>
      </p:sp>
      <p:sp>
        <p:nvSpPr>
          <p:cNvPr id="18" name="Text 13"/>
          <p:cNvSpPr/>
          <p:nvPr/>
        </p:nvSpPr>
        <p:spPr>
          <a:xfrm>
            <a:off x="8046720" y="4389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0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das tabelas-verdade em exercícios</a:t>
            </a:r>
            <a:endParaRPr lang="pt-BR" sz="1050" noProof="0" dirty="0"/>
          </a:p>
        </p:txBody>
      </p:sp>
      <p:sp>
        <p:nvSpPr>
          <p:cNvPr id="19" name="Text 1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dominar os cinco conectivos, é hora de combiná-los em exercícios mais longos.</a:t>
            </a:r>
            <a:endParaRPr lang="pt-BR" sz="1250" noProof="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— teoria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96112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5973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986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 H.</a:t>
            </a:r>
            <a:endParaRPr lang="pt-BR" sz="1450" noProof="0" dirty="0"/>
          </a:p>
        </p:txBody>
      </p:sp>
      <p:sp>
        <p:nvSpPr>
          <p:cNvPr id="9" name="Text 6"/>
          <p:cNvSpPr/>
          <p:nvPr/>
        </p:nvSpPr>
        <p:spPr>
          <a:xfrm>
            <a:off x="896112" y="35204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 e suas Aplicações. 7. ed. AMGH/McGraw-Hill — cap. Lógica Proposicional (conectivos e tabelas-verdade).</a:t>
            </a:r>
            <a:endParaRPr lang="pt-BR" sz="1200" noProof="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4636008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45973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8986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GERSTING, J. L.</a:t>
            </a:r>
            <a:endParaRPr lang="pt-BR" sz="1450" noProof="0" dirty="0"/>
          </a:p>
        </p:txBody>
      </p:sp>
      <p:sp>
        <p:nvSpPr>
          <p:cNvPr id="14" name="Text 10"/>
          <p:cNvSpPr/>
          <p:nvPr/>
        </p:nvSpPr>
        <p:spPr>
          <a:xfrm>
            <a:off x="4636008" y="35204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Matemáticos para a Ciência da Computação. LTC — cap. Lógica.</a:t>
            </a:r>
            <a:endParaRPr lang="pt-BR" sz="1200" noProof="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8375904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597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28986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LIPSCHUTZ, S.; LIPSON, M.</a:t>
            </a:r>
            <a:endParaRPr lang="pt-BR" sz="1450" noProof="0" dirty="0"/>
          </a:p>
        </p:txBody>
      </p:sp>
      <p:sp>
        <p:nvSpPr>
          <p:cNvPr id="19" name="Text 14"/>
          <p:cNvSpPr/>
          <p:nvPr/>
        </p:nvSpPr>
        <p:spPr>
          <a:xfrm>
            <a:off x="8375904" y="35204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 (Coleção </a:t>
            </a:r>
            <a:r>
              <a:rPr lang="pt-BR" sz="12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Schaum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Bookman — cap. Lógica Proposicional.</a:t>
            </a:r>
            <a:endParaRPr lang="pt-BR" sz="1200" noProof="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vídeos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operações booleanas</a:t>
            </a:r>
            <a:endParaRPr lang="pt-BR" sz="1550" noProof="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Operações booleanas (</a:t>
            </a:r>
            <a:r>
              <a:rPr lang="pt-BR" sz="1250" u="sng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250" u="sng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</a:t>
            </a: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250" u="sng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</a:t>
            </a: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pt-BR" sz="12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docs.python.org</a:t>
            </a:r>
            <a:endParaRPr lang="pt-BR" sz="1250" noProof="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Operadores de comparação (==)</a:t>
            </a:r>
            <a:r>
              <a:rPr lang="pt-BR" sz="12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docs.python.org</a:t>
            </a:r>
            <a:endParaRPr lang="pt-BR" sz="1250" noProof="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20939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pt-BR" sz="1550" noProof="0" dirty="0"/>
          </a:p>
        </p:txBody>
      </p:sp>
      <p:sp>
        <p:nvSpPr>
          <p:cNvPr id="13" name="Text 9"/>
          <p:cNvSpPr/>
          <p:nvPr/>
        </p:nvSpPr>
        <p:spPr>
          <a:xfrm>
            <a:off x="651967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Conectivos lógicos e tabelas-verdade</a:t>
            </a:r>
            <a:r>
              <a:rPr lang="pt-BR" sz="12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explicação passo a passo.</a:t>
            </a:r>
            <a:endParaRPr lang="pt-BR" sz="1250" noProof="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Canal Prof. </a:t>
            </a:r>
            <a:r>
              <a:rPr lang="pt-BR" sz="1250" u="sng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Ferretto</a:t>
            </a:r>
            <a:r>
              <a:rPr lang="pt-BR" sz="12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lógica matemática com muitos exercícios resolvidos.</a:t>
            </a:r>
            <a:endParaRPr lang="pt-BR" sz="1250" noProof="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19786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pt-B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das tabelas-verdade em exercícios</a:t>
            </a:r>
            <a:endParaRPr lang="pt-BR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praticar combinando</a:t>
            </a:r>
            <a:endParaRPr lang="pt-BR" sz="3200" noProof="0" dirty="0"/>
          </a:p>
          <a:p>
            <a:pPr marL="0" indent="0">
              <a:lnSpc>
                <a:spcPts val="3800"/>
              </a:lnSpc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conectivos em exercícios mais longos.</a:t>
            </a:r>
            <a:endParaRPr lang="pt-BR" sz="32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o slide das “cinco tabelas juntas” — ele vai ser sua cola pessoal.</a:t>
            </a:r>
            <a:endParaRPr lang="pt-BR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04</a:t>
            </a:r>
            <a:endParaRPr lang="pt-BR" sz="115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10E43-3944-88DF-EB14-E970289F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C6079A-D5E6-7725-9E93-14D42AFCFB45}"/>
              </a:ext>
            </a:extLst>
          </p:cNvPr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70DC673-5ED5-85A6-58D7-16E074AD16D1}"/>
              </a:ext>
            </a:extLst>
          </p:cNvPr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618DC3-2B29-06F4-1311-FFAA10366479}"/>
              </a:ext>
            </a:extLst>
          </p:cNvPr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0FC1E73-3950-A553-E45E-1EF2C79FC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197864"/>
            <a:ext cx="484632" cy="48463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6740C03-C630-39FC-DDDF-D1958399434F}"/>
              </a:ext>
            </a:extLst>
          </p:cNvPr>
          <p:cNvSpPr/>
          <p:nvPr/>
        </p:nvSpPr>
        <p:spPr>
          <a:xfrm>
            <a:off x="160020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pt-BR" sz="13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7383AAF-9BDF-A41D-8D95-FB8A0DB069D8}"/>
              </a:ext>
            </a:extLst>
          </p:cNvPr>
          <p:cNvSpPr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das tabelas-verdade em exercícios</a:t>
            </a:r>
            <a:endParaRPr lang="pt-BR" sz="16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8B0AF8C-DD39-1EC4-217E-28B3E0A6512D}"/>
              </a:ext>
            </a:extLst>
          </p:cNvPr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Duvidas?</a:t>
            </a:r>
            <a:endParaRPr lang="pt-BR" sz="32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7253292-28EF-CB35-3F9A-0651F62E9172}"/>
              </a:ext>
            </a:extLst>
          </p:cNvPr>
          <p:cNvSpPr/>
          <p:nvPr/>
        </p:nvSpPr>
        <p:spPr>
          <a:xfrm>
            <a:off x="64008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daniel.h.paiva@ulife.com.br</a:t>
            </a:r>
            <a:endParaRPr lang="pt-BR" sz="160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581286E-0A81-3662-20A1-E37B90F722A5}"/>
              </a:ext>
            </a:extLst>
          </p:cNvPr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04</a:t>
            </a:r>
            <a:endParaRPr lang="pt-BR" sz="1150" noProof="0" dirty="0"/>
          </a:p>
        </p:txBody>
      </p:sp>
    </p:spTree>
    <p:extLst>
      <p:ext uri="{BB962C8B-B14F-4D97-AF65-F5344CB8AC3E}">
        <p14:creationId xmlns:p14="http://schemas.microsoft.com/office/powerpoint/2010/main" val="196201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2775</Words>
  <Application>Microsoft Office PowerPoint</Application>
  <PresentationFormat>Widescreen</PresentationFormat>
  <Paragraphs>550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</cp:lastModifiedBy>
  <cp:revision>2</cp:revision>
  <dcterms:created xsi:type="dcterms:W3CDTF">2026-08-04T21:24:39Z</dcterms:created>
  <dcterms:modified xsi:type="dcterms:W3CDTF">2026-08-30T19:36:59Z</dcterms:modified>
</cp:coreProperties>
</file>