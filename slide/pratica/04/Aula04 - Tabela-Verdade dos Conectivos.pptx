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Recapitular rápido: na aula passada vimos o que é proposição. Hoje aprendemos a combiná-las formalmente.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Avisar que hoje tem tabela-verdade de verdade (trocadilho) — vale caderno aberto.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é o roteiro visual da aula inteira — voltar a este slide mentalmente a cada novo conectivo.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Comparar com o not do Python / o ! do C# — mesma tabela, sintaxe diferente.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Analogia: um formulário só é válido se TODAS as validações passarem — cada validação é uma proposição, o AND geral é a conjunção.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Diferenciar do 'ou exclusivo' do dia a dia ('café ou chá' costuma significar só um) — o ∨ lógico é inclusivo.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é a tabela que mais gera confusão. Dar tempo para a turma digerir antes de seguir para o exemplo em contexto.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três colunas de badge são p, q e o resultado p→q, na ordem — reforçar que a seta central lembra a implicação.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Comparar as duas últimas linhas do → com o ↔: a diferença entre implicação e equivalência está exatamente aí.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bicondicional é o conectivo da 'coerência' — as duas linhas F são justamente onde afirmação e realidade se contradizem.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Guardar este slide como referência — vale voltar a ele sempre que surgir dúvida sobre algum conectivo específico.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Pedir que a turma traga mais um exemplo de cada linha, tirado da própria fala do dia a dia.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Convidar a turma a trazer uma frase própria e traduzir juntos, em voz alta.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Fazer analogia direta com PEMDAS/aritmética — a ideia de precedência já é familiar, só troca os símbolos.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Chamar atenção para a linha do → : é literalmente a mesma fórmula (¬p ∨ q) que veremos no Exercício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Rodar de verdade no VS Code, se possível — ver as 4 linhas de saída batendo com a tabela-verdade do slide 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Reforçar: cada exercício tem gabarito no slide seguinte — resolver antes de virar a página.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Dar tempo para preencher as duas últimas colunas antes de revelar o gabarito.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equivalência é o motivo pelo qual Python/C# não precisam de um operador → separado.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Lembrar a ordem: ¬ primeiro, depois ∧, depois ∨ — igual ao slide 14.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(¬p ∧ q) ∨ r = (F ∧ F) ∨ V = F ∨ V = V — mesma resposta, ordem visível de cara.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Atenção ao 'e' e ao 'se... então' na mesma frase — dois conectivos combinados.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Reforçar que 'estudo e durmo bem' vira uma única proposição composta (p ∧ q) antes de entrar na condicional.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gabarito está no próximo slide — deixar a turma tentar antes de revelar.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duas colunas finais são idênticas nas 4 linhas — prova de que bicondicional_v2 é uma implementação correta.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Reforçar: as tabelas de hoje são a ferramenta; a próxima aula é onde a gente aplica em problemas maiores.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Rosen segue como livro-texto principal; Lipschutz/Lipson (Schaum) tem muitos exercícios resolvidos, bom para reforço.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Materiais de apoio — o canal Ferretto é especialmente bom para quem quer mais repetição via exercícios.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Fechar lembrando que a próxima aula é só prática — sem conectivo novo, só aplicação do que já vimos.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python.org/3/reference/expressions.html#boolean-operations" TargetMode="External"/><Relationship Id="rId3" Type="http://schemas.openxmlformats.org/officeDocument/2006/relationships/hyperlink" Target="https://docs.python.org/3/library/stdtypes.html#comparisons" TargetMode="External"/><Relationship Id="rId5" Type="http://schemas.openxmlformats.org/officeDocument/2006/relationships/hyperlink" Target="https://www.youtube.com/results?search_query=conectivos+l%C3%B3gicos+tabela+verdade+explica%C3%A7%C3%A3o" TargetMode="External"/><Relationship Id="rId6" Type="http://schemas.openxmlformats.org/officeDocument/2006/relationships/hyperlink" Target="https://www.youtube.com/results?search_query=prof+ferretto+l%C3%B3gica+conectivos" TargetMode="External"/><Relationship Id="rId1" Type="http://schemas.openxmlformats.org/officeDocument/2006/relationships/image" Target="../media/image-28-1.png"/><Relationship Id="rId4" Type="http://schemas.openxmlformats.org/officeDocument/2006/relationships/image" Target="../media/image-28-2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B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2377440"/>
            <a:ext cx="5669280" cy="5669280"/>
          </a:xfrm>
          <a:prstGeom prst="ellipse">
            <a:avLst/>
          </a:prstGeom>
          <a:ln w="19050">
            <a:solidFill>
              <a:srgbClr val="2FE6C7">
                <a:alpha val="4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463040" y="4663440"/>
            <a:ext cx="3108960" cy="3108960"/>
          </a:xfrm>
          <a:prstGeom prst="ellipse">
            <a:avLst/>
          </a:prstGeom>
          <a:ln w="19050">
            <a:solidFill>
              <a:srgbClr val="6C4BC1">
                <a:alpha val="60000"/>
              </a:srgbClr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alphaModFix amt="22000"/>
          </a:blip>
          <a:stretch>
            <a:fillRect/>
          </a:stretch>
        </p:blipFill>
        <p:spPr>
          <a:xfrm>
            <a:off x="9692640" y="-320040"/>
            <a:ext cx="2651760" cy="26517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10515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2FE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MATEMÁTICA COMPUTACIONAL APLICADA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94360" y="2331720"/>
            <a:ext cx="9144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Aula 04</a:t>
            </a:r>
            <a:endParaRPr lang="en-US" sz="6400" dirty="0"/>
          </a:p>
        </p:txBody>
      </p:sp>
      <p:sp>
        <p:nvSpPr>
          <p:cNvPr id="7" name="Text 4"/>
          <p:cNvSpPr/>
          <p:nvPr/>
        </p:nvSpPr>
        <p:spPr>
          <a:xfrm>
            <a:off x="640080" y="35204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CBC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Proposições lógicas e tabela-verdade dos conectivos</a:t>
            </a:r>
            <a:endParaRPr lang="en-US" sz="2300" dirty="0"/>
          </a:p>
        </p:txBody>
      </p:sp>
      <p:sp>
        <p:nvSpPr>
          <p:cNvPr id="8" name="Text 5"/>
          <p:cNvSpPr/>
          <p:nvPr/>
        </p:nvSpPr>
        <p:spPr>
          <a:xfrm>
            <a:off x="640080" y="4343400"/>
            <a:ext cx="8778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E9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conectivos, cinco regras — o vocabulário que transforma intuição em cálculo.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9436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6F76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¬   ∧   ∨   →   ↔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04 · ROTEIRO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7315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Nesta aula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621792" cy="621792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" y="2020824"/>
            <a:ext cx="329184" cy="32918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508760" y="1847088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cinco conectivos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1508760" y="2185416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Negação, conjunção, disjunção, condicional e bicondicional.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40080" y="2990088"/>
            <a:ext cx="621792" cy="621792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" y="3136392"/>
            <a:ext cx="329184" cy="32918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508760" y="2962656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Tabela-verdade de cada um</a:t>
            </a:r>
            <a:endParaRPr lang="en-US" sz="1800" dirty="0"/>
          </a:p>
        </p:txBody>
      </p:sp>
      <p:sp>
        <p:nvSpPr>
          <p:cNvPr id="11" name="Text 7"/>
          <p:cNvSpPr/>
          <p:nvPr/>
        </p:nvSpPr>
        <p:spPr>
          <a:xfrm>
            <a:off x="1508760" y="3300984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valor lógico resultante para toda combinação possível.</a:t>
            </a:r>
            <a:endParaRPr lang="en-US" sz="1350" dirty="0"/>
          </a:p>
        </p:txBody>
      </p:sp>
      <p:sp>
        <p:nvSpPr>
          <p:cNvPr id="12" name="Shape 8"/>
          <p:cNvSpPr/>
          <p:nvPr/>
        </p:nvSpPr>
        <p:spPr>
          <a:xfrm>
            <a:off x="640080" y="4105656"/>
            <a:ext cx="621792" cy="621792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" y="4251960"/>
            <a:ext cx="329184" cy="32918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508760" y="4078224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Precedência entre conectivos</a:t>
            </a:r>
            <a:endParaRPr lang="en-US" sz="1800" dirty="0"/>
          </a:p>
        </p:txBody>
      </p:sp>
      <p:sp>
        <p:nvSpPr>
          <p:cNvPr id="15" name="Text 10"/>
          <p:cNvSpPr/>
          <p:nvPr/>
        </p:nvSpPr>
        <p:spPr>
          <a:xfrm>
            <a:off x="1508760" y="4416552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conectivo é avaliado primeiro — igual em aritmética.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40080" y="5221224"/>
            <a:ext cx="621792" cy="621792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6384" y="5367528"/>
            <a:ext cx="329184" cy="329184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508760" y="5193792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isso vira código</a:t>
            </a:r>
            <a:endParaRPr lang="en-US" sz="1800" dirty="0"/>
          </a:p>
        </p:txBody>
      </p:sp>
      <p:sp>
        <p:nvSpPr>
          <p:cNvPr id="19" name="Text 13"/>
          <p:cNvSpPr/>
          <p:nvPr/>
        </p:nvSpPr>
        <p:spPr>
          <a:xfrm>
            <a:off x="1508760" y="5532120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mesmos conectivos, agora em C# e Python.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MENU DE HOJE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cinco conectivos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444752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conectivo combina o valor lógico de uma ou duas proposições para produzir um novo valor lógico.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27736" y="2286000"/>
            <a:ext cx="2011680" cy="2377440"/>
          </a:xfrm>
          <a:prstGeom prst="roundRect">
            <a:avLst>
              <a:gd name="adj" fmla="val 5455"/>
            </a:avLst>
          </a:prstGeom>
          <a:solidFill>
            <a:srgbClr val="F3F1FB"/>
          </a:solidFill>
          <a:ln/>
        </p:spPr>
      </p:sp>
      <p:sp>
        <p:nvSpPr>
          <p:cNvPr id="6" name="Text 4"/>
          <p:cNvSpPr/>
          <p:nvPr/>
        </p:nvSpPr>
        <p:spPr>
          <a:xfrm>
            <a:off x="627736" y="246888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6C4BC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¬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719176" y="34290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Negação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19176" y="397764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150" i="1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“não”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858872" y="2286000"/>
            <a:ext cx="2011680" cy="2377440"/>
          </a:xfrm>
          <a:prstGeom prst="roundRect">
            <a:avLst>
              <a:gd name="adj" fmla="val 5455"/>
            </a:avLst>
          </a:prstGeom>
          <a:solidFill>
            <a:srgbClr val="F3F1FB"/>
          </a:solidFill>
          <a:ln/>
        </p:spPr>
      </p:sp>
      <p:sp>
        <p:nvSpPr>
          <p:cNvPr id="10" name="Text 8"/>
          <p:cNvSpPr/>
          <p:nvPr/>
        </p:nvSpPr>
        <p:spPr>
          <a:xfrm>
            <a:off x="2858872" y="246888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6C4BC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∧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2950312" y="34290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Conjunção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2950312" y="397764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150" i="1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“e”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90008" y="2286000"/>
            <a:ext cx="2011680" cy="2377440"/>
          </a:xfrm>
          <a:prstGeom prst="roundRect">
            <a:avLst>
              <a:gd name="adj" fmla="val 5455"/>
            </a:avLst>
          </a:prstGeom>
          <a:solidFill>
            <a:srgbClr val="F3F1FB"/>
          </a:solidFill>
          <a:ln/>
        </p:spPr>
      </p:sp>
      <p:sp>
        <p:nvSpPr>
          <p:cNvPr id="14" name="Text 12"/>
          <p:cNvSpPr/>
          <p:nvPr/>
        </p:nvSpPr>
        <p:spPr>
          <a:xfrm>
            <a:off x="5090008" y="246888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6C4BC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∨</a:t>
            </a:r>
            <a:endParaRPr lang="en-US" sz="4000" dirty="0"/>
          </a:p>
        </p:txBody>
      </p:sp>
      <p:sp>
        <p:nvSpPr>
          <p:cNvPr id="15" name="Text 13"/>
          <p:cNvSpPr/>
          <p:nvPr/>
        </p:nvSpPr>
        <p:spPr>
          <a:xfrm>
            <a:off x="5181448" y="34290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Disjunção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181448" y="397764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150" i="1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“ou”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7321144" y="2286000"/>
            <a:ext cx="2011680" cy="2377440"/>
          </a:xfrm>
          <a:prstGeom prst="roundRect">
            <a:avLst>
              <a:gd name="adj" fmla="val 5455"/>
            </a:avLst>
          </a:prstGeom>
          <a:solidFill>
            <a:srgbClr val="F3F1FB"/>
          </a:solidFill>
          <a:ln/>
        </p:spPr>
      </p:sp>
      <p:sp>
        <p:nvSpPr>
          <p:cNvPr id="18" name="Text 16"/>
          <p:cNvSpPr/>
          <p:nvPr/>
        </p:nvSpPr>
        <p:spPr>
          <a:xfrm>
            <a:off x="7321144" y="246888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6C4BC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→</a:t>
            </a:r>
            <a:endParaRPr lang="en-US" sz="4000" dirty="0"/>
          </a:p>
        </p:txBody>
      </p:sp>
      <p:sp>
        <p:nvSpPr>
          <p:cNvPr id="19" name="Text 17"/>
          <p:cNvSpPr/>
          <p:nvPr/>
        </p:nvSpPr>
        <p:spPr>
          <a:xfrm>
            <a:off x="7412584" y="34290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Condicional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7412584" y="397764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150" i="1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“se... então”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9552280" y="2286000"/>
            <a:ext cx="2011680" cy="2377440"/>
          </a:xfrm>
          <a:prstGeom prst="roundRect">
            <a:avLst>
              <a:gd name="adj" fmla="val 5455"/>
            </a:avLst>
          </a:prstGeom>
          <a:solidFill>
            <a:srgbClr val="F3F1FB"/>
          </a:solidFill>
          <a:ln/>
        </p:spPr>
      </p:sp>
      <p:sp>
        <p:nvSpPr>
          <p:cNvPr id="22" name="Text 20"/>
          <p:cNvSpPr/>
          <p:nvPr/>
        </p:nvSpPr>
        <p:spPr>
          <a:xfrm>
            <a:off x="9552280" y="246888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6C4BC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↔</a:t>
            </a:r>
            <a:endParaRPr lang="en-US" sz="4000" dirty="0"/>
          </a:p>
        </p:txBody>
      </p:sp>
      <p:sp>
        <p:nvSpPr>
          <p:cNvPr id="23" name="Text 21"/>
          <p:cNvSpPr/>
          <p:nvPr/>
        </p:nvSpPr>
        <p:spPr>
          <a:xfrm>
            <a:off x="9643720" y="34290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Bicondicional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9643720" y="397764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150" i="1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“se e somente se”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40080" y="49834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Vamos ver a tabela-verdade de cada um, um por um.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CONECTIVO 1 DE 5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5486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Negação  </a:t>
            </a:r>
            <a:pPr indent="0" marL="0">
              <a:buNone/>
            </a:pPr>
            <a:r>
              <a:rPr lang="en-US" sz="3200" b="1" dirty="0">
                <a:solidFill>
                  <a:srgbClr val="6C4BC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¬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Inverte o valor lógico da proposição: “não p”.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514600"/>
            <a:ext cx="5120640" cy="777240"/>
          </a:xfrm>
          <a:prstGeom prst="roundRect">
            <a:avLst>
              <a:gd name="adj" fmla="val 11765"/>
            </a:avLst>
          </a:prstGeom>
          <a:solidFill>
            <a:srgbClr val="F3F1FB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514600"/>
            <a:ext cx="4754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BC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p: </a:t>
            </a:r>
            <a:pPr indent="0" marL="0">
              <a:buNone/>
            </a:pPr>
            <a:r>
              <a:rPr lang="en-US" sz="1300" dirty="0">
                <a:solidFill>
                  <a:srgbClr val="1B1B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“estudei”   </a:t>
            </a:r>
            <a:pPr indent="0" marL="0">
              <a:buNone/>
            </a:pPr>
            <a:r>
              <a:rPr lang="en-US" sz="1300" b="1" dirty="0">
                <a:solidFill>
                  <a:srgbClr val="6C4BC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¬p: </a:t>
            </a:r>
            <a:pPr indent="0" marL="0">
              <a:buNone/>
            </a:pPr>
            <a:r>
              <a:rPr lang="en-US" sz="1300" dirty="0">
                <a:solidFill>
                  <a:srgbClr val="1B1B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“não estudei”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3657600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i="1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o único conectivo unário — atua sobre uma única proposição, não duas.</a:t>
            </a:r>
            <a:endParaRPr lang="en-US" sz="1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0" y="2148840"/>
          <a:ext cx="402336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01168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¬p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</a:t>
                      </a:r>
                      <a:endParaRPr lang="en-US" sz="2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</a:t>
                      </a:r>
                      <a:endParaRPr lang="en-US" sz="2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</a:t>
                      </a:r>
                      <a:endParaRPr lang="en-US" sz="2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</a:t>
                      </a:r>
                      <a:endParaRPr lang="en-US" sz="2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CONECTIVO 2 DE 5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7315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Conjunção  </a:t>
            </a:r>
            <a:pPr indent="0" marL="0">
              <a:buNone/>
            </a:pPr>
            <a:r>
              <a:rPr lang="en-US" sz="3200" b="1" dirty="0">
                <a:solidFill>
                  <a:srgbClr val="6C4BC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∧</a:t>
            </a:r>
            <a:pPr indent="0" marL="0">
              <a:buNone/>
            </a:pPr>
            <a:r>
              <a:rPr lang="en-US" sz="3200" b="1" dirty="0">
                <a:solidFill>
                  <a:srgbClr val="6B6B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(e)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Só é verdadeira quando as duas proposições são verdadeiras.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514600"/>
            <a:ext cx="5120640" cy="594360"/>
          </a:xfrm>
          <a:prstGeom prst="roundRect">
            <a:avLst>
              <a:gd name="adj" fmla="val 15385"/>
            </a:avLst>
          </a:prstGeom>
          <a:solidFill>
            <a:srgbClr val="F3F1FB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514600"/>
            <a:ext cx="4754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BC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 ∧ q: </a:t>
            </a:r>
            <a:pPr indent="0" marL="0">
              <a:buNone/>
            </a:pPr>
            <a:r>
              <a:rPr lang="en-US" sz="1300" dirty="0">
                <a:solidFill>
                  <a:srgbClr val="1B1B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“estudei e dormi bem”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338328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i="1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Basta uma parte falsa para a conjunção toda falhar — pense em pré-requisitos que precisam ser todos cumpridos.</a:t>
            </a:r>
            <a:endParaRPr lang="en-US" sz="1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0" y="1737360"/>
          <a:ext cx="493776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645920"/>
                <a:gridCol w="164592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 ∧ q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CONECTIVO 3 DE 5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7315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Disjunção  </a:t>
            </a:r>
            <a:pPr indent="0" marL="0">
              <a:buNone/>
            </a:pPr>
            <a:r>
              <a:rPr lang="en-US" sz="3200" b="1" dirty="0">
                <a:solidFill>
                  <a:srgbClr val="6C4BC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∨</a:t>
            </a:r>
            <a:pPr indent="0" marL="0">
              <a:buNone/>
            </a:pPr>
            <a:r>
              <a:rPr lang="en-US" sz="3200" b="1" dirty="0">
                <a:solidFill>
                  <a:srgbClr val="6B6B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(ou)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verdadeira quando pelo menos uma das proposições é verdadeira.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514600"/>
            <a:ext cx="5120640" cy="594360"/>
          </a:xfrm>
          <a:prstGeom prst="roundRect">
            <a:avLst>
              <a:gd name="adj" fmla="val 15385"/>
            </a:avLst>
          </a:prstGeom>
          <a:solidFill>
            <a:srgbClr val="F3F1FB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514600"/>
            <a:ext cx="4754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BC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 ∨ q: </a:t>
            </a:r>
            <a:pPr indent="0" marL="0">
              <a:buNone/>
            </a:pPr>
            <a:r>
              <a:rPr lang="en-US" sz="1300" dirty="0">
                <a:solidFill>
                  <a:srgbClr val="1B1B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“estudei ou dormi bem”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338328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i="1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Só é falsa quando as duas partes são falsas — é a versão “inclusiva” do ou, aceita as duas ao mesmo tempo.</a:t>
            </a:r>
            <a:endParaRPr lang="en-US" sz="1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0" y="1737360"/>
          <a:ext cx="493776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645920"/>
                <a:gridCol w="164592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 ∨ q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CONECTIVO 4 DE 5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9144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Condicional  </a:t>
            </a:r>
            <a:pPr indent="0" marL="0">
              <a:buNone/>
            </a:pPr>
            <a:r>
              <a:rPr lang="en-US" sz="3000" b="1" dirty="0">
                <a:solidFill>
                  <a:srgbClr val="6C4BC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→</a:t>
            </a:r>
            <a:pPr indent="0" marL="0">
              <a:buNone/>
            </a:pPr>
            <a:r>
              <a:rPr lang="en-US" sz="3000" b="1" dirty="0">
                <a:solidFill>
                  <a:srgbClr val="6B6B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(se... então)</a:t>
            </a:r>
            <a:endParaRPr lang="en-US" sz="3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37360"/>
          <a:ext cx="493776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645920"/>
                <a:gridCol w="164592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 → q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126480" y="1691640"/>
            <a:ext cx="5440680" cy="4114800"/>
          </a:xfrm>
          <a:prstGeom prst="roundRect">
            <a:avLst>
              <a:gd name="adj" fmla="val 2667"/>
            </a:avLst>
          </a:prstGeom>
          <a:solidFill>
            <a:srgbClr val="141B41"/>
          </a:solidFill>
          <a:ln/>
        </p:spPr>
      </p:sp>
      <p:sp>
        <p:nvSpPr>
          <p:cNvPr id="6" name="Shape 3"/>
          <p:cNvSpPr/>
          <p:nvPr/>
        </p:nvSpPr>
        <p:spPr>
          <a:xfrm>
            <a:off x="6382512" y="1920240"/>
            <a:ext cx="502920" cy="502920"/>
          </a:xfrm>
          <a:prstGeom prst="ellipse">
            <a:avLst/>
          </a:prstGeom>
          <a:solidFill>
            <a:srgbClr val="2FE6C7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83096" y="2020824"/>
            <a:ext cx="301752" cy="30175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7040880" y="196596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mais contraintuitivo</a:t>
            </a:r>
            <a:endParaRPr lang="en-US" sz="1600" dirty="0"/>
          </a:p>
        </p:txBody>
      </p:sp>
      <p:sp>
        <p:nvSpPr>
          <p:cNvPr id="9" name="Text 5"/>
          <p:cNvSpPr/>
          <p:nvPr/>
        </p:nvSpPr>
        <p:spPr>
          <a:xfrm>
            <a:off x="6382512" y="2606040"/>
            <a:ext cx="4937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E4D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“Se p então q” só é falsa quando p é verdadeira e a promessa não se cumpre (q falsa). Se p já é falsa, o condicional é sempre verdadeiro.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6382512" y="3794760"/>
            <a:ext cx="4937760" cy="1828800"/>
          </a:xfrm>
          <a:prstGeom prst="roundRect">
            <a:avLst>
              <a:gd name="adj" fmla="val 5000"/>
            </a:avLst>
          </a:prstGeom>
          <a:solidFill>
            <a:srgbClr val="232C63"/>
          </a:solidFill>
          <a:ln/>
        </p:spPr>
      </p:sp>
      <p:sp>
        <p:nvSpPr>
          <p:cNvPr id="11" name="Text 7"/>
          <p:cNvSpPr/>
          <p:nvPr/>
        </p:nvSpPr>
        <p:spPr>
          <a:xfrm>
            <a:off x="6583680" y="39776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E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vacuamente verdadeiro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6583680" y="4343400"/>
            <a:ext cx="4526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i="1" dirty="0">
                <a:solidFill>
                  <a:srgbClr val="C7CB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“Se eu fosse rico, compraria um avião” não é mentira só porque eu não sou rico — a promessa nunca foi testada.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CONECTIVO 4 DE 5 · EM CONTEXTO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640080" y="777240"/>
            <a:ext cx="548640" cy="548640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" y="923544"/>
            <a:ext cx="256032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417320" y="82296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“Se chove, a rua fica molhada”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640080" y="1536192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C4BC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p: “chove”     q: “a rua fica molhada”     fórmula: p → q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640080" y="2103120"/>
            <a:ext cx="10881360" cy="795528"/>
          </a:xfrm>
          <a:prstGeom prst="roundRect">
            <a:avLst>
              <a:gd name="adj" fmla="val 11494"/>
            </a:avLst>
          </a:prstGeom>
          <a:solidFill>
            <a:srgbClr val="F3F1FB"/>
          </a:solidFill>
          <a:ln/>
        </p:spPr>
      </p:sp>
      <p:sp>
        <p:nvSpPr>
          <p:cNvPr id="8" name="Shape 5"/>
          <p:cNvSpPr/>
          <p:nvPr/>
        </p:nvSpPr>
        <p:spPr>
          <a:xfrm>
            <a:off x="868680" y="2253996"/>
            <a:ext cx="493776" cy="493776"/>
          </a:xfrm>
          <a:prstGeom prst="ellipse">
            <a:avLst/>
          </a:prstGeom>
          <a:solidFill>
            <a:srgbClr val="3EBD59"/>
          </a:solidFill>
          <a:ln/>
        </p:spPr>
      </p:sp>
      <p:sp>
        <p:nvSpPr>
          <p:cNvPr id="9" name="Text 6"/>
          <p:cNvSpPr/>
          <p:nvPr/>
        </p:nvSpPr>
        <p:spPr>
          <a:xfrm>
            <a:off x="868680" y="2253996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1508760" y="2253996"/>
            <a:ext cx="493776" cy="493776"/>
          </a:xfrm>
          <a:prstGeom prst="ellipse">
            <a:avLst/>
          </a:prstGeom>
          <a:solidFill>
            <a:srgbClr val="3EBD59"/>
          </a:solidFill>
          <a:ln/>
        </p:spPr>
      </p:sp>
      <p:sp>
        <p:nvSpPr>
          <p:cNvPr id="11" name="Text 8"/>
          <p:cNvSpPr/>
          <p:nvPr/>
        </p:nvSpPr>
        <p:spPr>
          <a:xfrm>
            <a:off x="1508760" y="2253996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</a:t>
            </a:r>
            <a:endParaRPr lang="en-US" sz="1500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8840" y="2372868"/>
            <a:ext cx="256032" cy="256032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2560320" y="2253996"/>
            <a:ext cx="493776" cy="493776"/>
          </a:xfrm>
          <a:prstGeom prst="ellipse">
            <a:avLst/>
          </a:prstGeom>
          <a:solidFill>
            <a:srgbClr val="3EBD59"/>
          </a:solidFill>
          <a:ln/>
        </p:spPr>
      </p:sp>
      <p:sp>
        <p:nvSpPr>
          <p:cNvPr id="14" name="Text 10"/>
          <p:cNvSpPr/>
          <p:nvPr/>
        </p:nvSpPr>
        <p:spPr>
          <a:xfrm>
            <a:off x="2560320" y="2253996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</a:t>
            </a:r>
            <a:endParaRPr lang="en-US" sz="1500" dirty="0"/>
          </a:p>
        </p:txBody>
      </p:sp>
      <p:sp>
        <p:nvSpPr>
          <p:cNvPr id="15" name="Text 11"/>
          <p:cNvSpPr/>
          <p:nvPr/>
        </p:nvSpPr>
        <p:spPr>
          <a:xfrm>
            <a:off x="3291840" y="2103120"/>
            <a:ext cx="40233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Chove e a rua molha</a:t>
            </a:r>
            <a:endParaRPr lang="en-US" sz="1300" dirty="0"/>
          </a:p>
        </p:txBody>
      </p:sp>
      <p:sp>
        <p:nvSpPr>
          <p:cNvPr id="16" name="Text 12"/>
          <p:cNvSpPr/>
          <p:nvPr/>
        </p:nvSpPr>
        <p:spPr>
          <a:xfrm>
            <a:off x="7452360" y="2103120"/>
            <a:ext cx="393192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i="1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promessa se cumpriu.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640080" y="3063240"/>
            <a:ext cx="10881360" cy="795528"/>
          </a:xfrm>
          <a:prstGeom prst="roundRect">
            <a:avLst>
              <a:gd name="adj" fmla="val 11494"/>
            </a:avLst>
          </a:prstGeom>
          <a:solidFill>
            <a:srgbClr val="F3F1FB"/>
          </a:solidFill>
          <a:ln/>
        </p:spPr>
      </p:sp>
      <p:sp>
        <p:nvSpPr>
          <p:cNvPr id="18" name="Shape 14"/>
          <p:cNvSpPr/>
          <p:nvPr/>
        </p:nvSpPr>
        <p:spPr>
          <a:xfrm>
            <a:off x="868680" y="3214116"/>
            <a:ext cx="493776" cy="493776"/>
          </a:xfrm>
          <a:prstGeom prst="ellipse">
            <a:avLst/>
          </a:prstGeom>
          <a:solidFill>
            <a:srgbClr val="3EBD59"/>
          </a:solidFill>
          <a:ln/>
        </p:spPr>
      </p:sp>
      <p:sp>
        <p:nvSpPr>
          <p:cNvPr id="19" name="Text 15"/>
          <p:cNvSpPr/>
          <p:nvPr/>
        </p:nvSpPr>
        <p:spPr>
          <a:xfrm>
            <a:off x="868680" y="3214116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</a:t>
            </a:r>
            <a:endParaRPr lang="en-US" sz="1500" dirty="0"/>
          </a:p>
        </p:txBody>
      </p:sp>
      <p:sp>
        <p:nvSpPr>
          <p:cNvPr id="20" name="Shape 16"/>
          <p:cNvSpPr/>
          <p:nvPr/>
        </p:nvSpPr>
        <p:spPr>
          <a:xfrm>
            <a:off x="1508760" y="3214116"/>
            <a:ext cx="493776" cy="493776"/>
          </a:xfrm>
          <a:prstGeom prst="ellipse">
            <a:avLst/>
          </a:prstGeom>
          <a:solidFill>
            <a:srgbClr val="E5533D"/>
          </a:solidFill>
          <a:ln/>
        </p:spPr>
      </p:sp>
      <p:sp>
        <p:nvSpPr>
          <p:cNvPr id="21" name="Text 17"/>
          <p:cNvSpPr/>
          <p:nvPr/>
        </p:nvSpPr>
        <p:spPr>
          <a:xfrm>
            <a:off x="1508760" y="3214116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1500" dirty="0"/>
          </a:p>
        </p:txBody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332988"/>
            <a:ext cx="256032" cy="256032"/>
          </a:xfrm>
          <a:prstGeom prst="rect">
            <a:avLst/>
          </a:prstGeom>
        </p:spPr>
      </p:pic>
      <p:sp>
        <p:nvSpPr>
          <p:cNvPr id="23" name="Shape 18"/>
          <p:cNvSpPr/>
          <p:nvPr/>
        </p:nvSpPr>
        <p:spPr>
          <a:xfrm>
            <a:off x="2560320" y="3214116"/>
            <a:ext cx="493776" cy="493776"/>
          </a:xfrm>
          <a:prstGeom prst="ellipse">
            <a:avLst/>
          </a:prstGeom>
          <a:solidFill>
            <a:srgbClr val="E5533D"/>
          </a:solidFill>
          <a:ln/>
        </p:spPr>
      </p:sp>
      <p:sp>
        <p:nvSpPr>
          <p:cNvPr id="24" name="Text 19"/>
          <p:cNvSpPr/>
          <p:nvPr/>
        </p:nvSpPr>
        <p:spPr>
          <a:xfrm>
            <a:off x="2560320" y="3214116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1500" dirty="0"/>
          </a:p>
        </p:txBody>
      </p:sp>
      <p:sp>
        <p:nvSpPr>
          <p:cNvPr id="25" name="Text 20"/>
          <p:cNvSpPr/>
          <p:nvPr/>
        </p:nvSpPr>
        <p:spPr>
          <a:xfrm>
            <a:off x="3291840" y="3063240"/>
            <a:ext cx="40233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Chove e a rua não molha</a:t>
            </a:r>
            <a:endParaRPr lang="en-US" sz="1300" dirty="0"/>
          </a:p>
        </p:txBody>
      </p:sp>
      <p:sp>
        <p:nvSpPr>
          <p:cNvPr id="26" name="Text 21"/>
          <p:cNvSpPr/>
          <p:nvPr/>
        </p:nvSpPr>
        <p:spPr>
          <a:xfrm>
            <a:off x="7452360" y="3063240"/>
            <a:ext cx="393192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i="1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promessa foi quebrada.</a:t>
            </a:r>
            <a:endParaRPr lang="en-US" sz="1200" dirty="0"/>
          </a:p>
        </p:txBody>
      </p:sp>
      <p:sp>
        <p:nvSpPr>
          <p:cNvPr id="27" name="Shape 22"/>
          <p:cNvSpPr/>
          <p:nvPr/>
        </p:nvSpPr>
        <p:spPr>
          <a:xfrm>
            <a:off x="640080" y="4023360"/>
            <a:ext cx="10881360" cy="795528"/>
          </a:xfrm>
          <a:prstGeom prst="roundRect">
            <a:avLst>
              <a:gd name="adj" fmla="val 11494"/>
            </a:avLst>
          </a:prstGeom>
          <a:solidFill>
            <a:srgbClr val="F3F1FB"/>
          </a:solidFill>
          <a:ln/>
        </p:spPr>
      </p:sp>
      <p:sp>
        <p:nvSpPr>
          <p:cNvPr id="28" name="Shape 23"/>
          <p:cNvSpPr/>
          <p:nvPr/>
        </p:nvSpPr>
        <p:spPr>
          <a:xfrm>
            <a:off x="868680" y="4174236"/>
            <a:ext cx="493776" cy="493776"/>
          </a:xfrm>
          <a:prstGeom prst="ellipse">
            <a:avLst/>
          </a:prstGeom>
          <a:solidFill>
            <a:srgbClr val="E5533D"/>
          </a:solidFill>
          <a:ln/>
        </p:spPr>
      </p:sp>
      <p:sp>
        <p:nvSpPr>
          <p:cNvPr id="29" name="Text 24"/>
          <p:cNvSpPr/>
          <p:nvPr/>
        </p:nvSpPr>
        <p:spPr>
          <a:xfrm>
            <a:off x="868680" y="4174236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1508760" y="4174236"/>
            <a:ext cx="493776" cy="493776"/>
          </a:xfrm>
          <a:prstGeom prst="ellipse">
            <a:avLst/>
          </a:prstGeom>
          <a:solidFill>
            <a:srgbClr val="3EBD59"/>
          </a:solidFill>
          <a:ln/>
        </p:spPr>
      </p:sp>
      <p:sp>
        <p:nvSpPr>
          <p:cNvPr id="31" name="Text 26"/>
          <p:cNvSpPr/>
          <p:nvPr/>
        </p:nvSpPr>
        <p:spPr>
          <a:xfrm>
            <a:off x="1508760" y="4174236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</a:t>
            </a:r>
            <a:endParaRPr lang="en-US" sz="1500" dirty="0"/>
          </a:p>
        </p:txBody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48840" y="4293108"/>
            <a:ext cx="256032" cy="256032"/>
          </a:xfrm>
          <a:prstGeom prst="rect">
            <a:avLst/>
          </a:prstGeom>
        </p:spPr>
      </p:pic>
      <p:sp>
        <p:nvSpPr>
          <p:cNvPr id="33" name="Shape 27"/>
          <p:cNvSpPr/>
          <p:nvPr/>
        </p:nvSpPr>
        <p:spPr>
          <a:xfrm>
            <a:off x="2560320" y="4174236"/>
            <a:ext cx="493776" cy="493776"/>
          </a:xfrm>
          <a:prstGeom prst="ellipse">
            <a:avLst/>
          </a:prstGeom>
          <a:solidFill>
            <a:srgbClr val="3EBD59"/>
          </a:solidFill>
          <a:ln/>
        </p:spPr>
      </p:sp>
      <p:sp>
        <p:nvSpPr>
          <p:cNvPr id="34" name="Text 28"/>
          <p:cNvSpPr/>
          <p:nvPr/>
        </p:nvSpPr>
        <p:spPr>
          <a:xfrm>
            <a:off x="2560320" y="4174236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</a:t>
            </a:r>
            <a:endParaRPr lang="en-US" sz="1500" dirty="0"/>
          </a:p>
        </p:txBody>
      </p:sp>
      <p:sp>
        <p:nvSpPr>
          <p:cNvPr id="35" name="Text 29"/>
          <p:cNvSpPr/>
          <p:nvPr/>
        </p:nvSpPr>
        <p:spPr>
          <a:xfrm>
            <a:off x="3291840" y="4023360"/>
            <a:ext cx="40233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chove, mas a rua molha (ex.: lavaram a calçada)</a:t>
            </a:r>
            <a:endParaRPr lang="en-US" sz="1300" dirty="0"/>
          </a:p>
        </p:txBody>
      </p:sp>
      <p:sp>
        <p:nvSpPr>
          <p:cNvPr id="36" name="Text 30"/>
          <p:cNvSpPr/>
          <p:nvPr/>
        </p:nvSpPr>
        <p:spPr>
          <a:xfrm>
            <a:off x="7452360" y="4023360"/>
            <a:ext cx="393192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i="1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implicação só fala do que acontece quando chove.</a:t>
            </a:r>
            <a:endParaRPr lang="en-US" sz="1200" dirty="0"/>
          </a:p>
        </p:txBody>
      </p:sp>
      <p:sp>
        <p:nvSpPr>
          <p:cNvPr id="37" name="Shape 31"/>
          <p:cNvSpPr/>
          <p:nvPr/>
        </p:nvSpPr>
        <p:spPr>
          <a:xfrm>
            <a:off x="640080" y="4983480"/>
            <a:ext cx="10881360" cy="795528"/>
          </a:xfrm>
          <a:prstGeom prst="roundRect">
            <a:avLst>
              <a:gd name="adj" fmla="val 11494"/>
            </a:avLst>
          </a:prstGeom>
          <a:solidFill>
            <a:srgbClr val="F3F1FB"/>
          </a:solidFill>
          <a:ln/>
        </p:spPr>
      </p:sp>
      <p:sp>
        <p:nvSpPr>
          <p:cNvPr id="38" name="Shape 32"/>
          <p:cNvSpPr/>
          <p:nvPr/>
        </p:nvSpPr>
        <p:spPr>
          <a:xfrm>
            <a:off x="868680" y="5134356"/>
            <a:ext cx="493776" cy="493776"/>
          </a:xfrm>
          <a:prstGeom prst="ellipse">
            <a:avLst/>
          </a:prstGeom>
          <a:solidFill>
            <a:srgbClr val="E5533D"/>
          </a:solidFill>
          <a:ln/>
        </p:spPr>
      </p:sp>
      <p:sp>
        <p:nvSpPr>
          <p:cNvPr id="39" name="Text 33"/>
          <p:cNvSpPr/>
          <p:nvPr/>
        </p:nvSpPr>
        <p:spPr>
          <a:xfrm>
            <a:off x="868680" y="5134356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1500" dirty="0"/>
          </a:p>
        </p:txBody>
      </p:sp>
      <p:sp>
        <p:nvSpPr>
          <p:cNvPr id="40" name="Shape 34"/>
          <p:cNvSpPr/>
          <p:nvPr/>
        </p:nvSpPr>
        <p:spPr>
          <a:xfrm>
            <a:off x="1508760" y="5134356"/>
            <a:ext cx="493776" cy="493776"/>
          </a:xfrm>
          <a:prstGeom prst="ellipse">
            <a:avLst/>
          </a:prstGeom>
          <a:solidFill>
            <a:srgbClr val="E5533D"/>
          </a:solidFill>
          <a:ln/>
        </p:spPr>
      </p:sp>
      <p:sp>
        <p:nvSpPr>
          <p:cNvPr id="41" name="Text 35"/>
          <p:cNvSpPr/>
          <p:nvPr/>
        </p:nvSpPr>
        <p:spPr>
          <a:xfrm>
            <a:off x="1508760" y="5134356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1500" dirty="0"/>
          </a:p>
        </p:txBody>
      </p:sp>
      <p:pic>
        <p:nvPicPr>
          <p:cNvPr id="4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48840" y="5253228"/>
            <a:ext cx="256032" cy="256032"/>
          </a:xfrm>
          <a:prstGeom prst="rect">
            <a:avLst/>
          </a:prstGeom>
        </p:spPr>
      </p:pic>
      <p:sp>
        <p:nvSpPr>
          <p:cNvPr id="43" name="Shape 36"/>
          <p:cNvSpPr/>
          <p:nvPr/>
        </p:nvSpPr>
        <p:spPr>
          <a:xfrm>
            <a:off x="2560320" y="5134356"/>
            <a:ext cx="493776" cy="493776"/>
          </a:xfrm>
          <a:prstGeom prst="ellipse">
            <a:avLst/>
          </a:prstGeom>
          <a:solidFill>
            <a:srgbClr val="3EBD59"/>
          </a:solidFill>
          <a:ln/>
        </p:spPr>
      </p:sp>
      <p:sp>
        <p:nvSpPr>
          <p:cNvPr id="44" name="Text 37"/>
          <p:cNvSpPr/>
          <p:nvPr/>
        </p:nvSpPr>
        <p:spPr>
          <a:xfrm>
            <a:off x="2560320" y="5134356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</a:t>
            </a:r>
            <a:endParaRPr lang="en-US" sz="1500" dirty="0"/>
          </a:p>
        </p:txBody>
      </p:sp>
      <p:sp>
        <p:nvSpPr>
          <p:cNvPr id="45" name="Text 38"/>
          <p:cNvSpPr/>
          <p:nvPr/>
        </p:nvSpPr>
        <p:spPr>
          <a:xfrm>
            <a:off x="3291840" y="4983480"/>
            <a:ext cx="40233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chove e a rua não molha</a:t>
            </a:r>
            <a:endParaRPr lang="en-US" sz="1300" dirty="0"/>
          </a:p>
        </p:txBody>
      </p:sp>
      <p:sp>
        <p:nvSpPr>
          <p:cNvPr id="46" name="Text 39"/>
          <p:cNvSpPr/>
          <p:nvPr/>
        </p:nvSpPr>
        <p:spPr>
          <a:xfrm>
            <a:off x="7452360" y="4983480"/>
            <a:ext cx="393192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i="1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Verdadeira, vacuamente.</a:t>
            </a:r>
            <a:endParaRPr lang="en-US" sz="1200" dirty="0"/>
          </a:p>
        </p:txBody>
      </p:sp>
      <p:sp>
        <p:nvSpPr>
          <p:cNvPr id="47" name="Text 40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CONECTIVO 5 DE 5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7315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Bicondicional  </a:t>
            </a:r>
            <a:pPr indent="0" marL="0">
              <a:buNone/>
            </a:pPr>
            <a:r>
              <a:rPr lang="en-US" sz="3200" b="1" dirty="0">
                <a:solidFill>
                  <a:srgbClr val="6C4BC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↔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44475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“se e somente se”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40080" y="192024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verdadeira quando as duas proposições têm o mesmo valor lógico — ambas verdadeiras ou ambas falsas.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880360"/>
            <a:ext cx="5120640" cy="594360"/>
          </a:xfrm>
          <a:prstGeom prst="roundRect">
            <a:avLst>
              <a:gd name="adj" fmla="val 15385"/>
            </a:avLst>
          </a:prstGeom>
          <a:solidFill>
            <a:srgbClr val="F3F1FB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880360"/>
            <a:ext cx="4754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C4BC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 ↔ q: </a:t>
            </a:r>
            <a:pPr indent="0" marL="0">
              <a:buNone/>
            </a:pPr>
            <a:r>
              <a:rPr lang="en-US" sz="1250" dirty="0">
                <a:solidFill>
                  <a:srgbClr val="1B1B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“aprovado se e somente se nota ≥ 6”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640080" y="374904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i="1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como uma via de mão dupla: p → q E q → p, ao mesmo tempo.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0" y="1737360"/>
          <a:ext cx="493776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645920"/>
                <a:gridCol w="164592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 ↔ q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CONECTIVO 5 DE 5 · EM CONTEXTO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640080" y="777240"/>
            <a:ext cx="548640" cy="548640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" y="923544"/>
            <a:ext cx="256032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417320" y="77724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0"/>
              </a:lnSpc>
              <a:buNone/>
            </a:pPr>
            <a:r>
              <a:rPr lang="en-US" sz="21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“Está frio se e somente se a temperatura está abaixo de 15°C”</a:t>
            </a:r>
            <a:endParaRPr lang="en-US" sz="2100" dirty="0"/>
          </a:p>
        </p:txBody>
      </p:sp>
      <p:sp>
        <p:nvSpPr>
          <p:cNvPr id="6" name="Text 3"/>
          <p:cNvSpPr/>
          <p:nvPr/>
        </p:nvSpPr>
        <p:spPr>
          <a:xfrm>
            <a:off x="640080" y="16916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C4BC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p: “está frio”     q: “temperatura &lt; 15°C”</a:t>
            </a:r>
            <a:endParaRPr lang="en-US" sz="1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194560"/>
          <a:ext cx="1088136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914400"/>
                <a:gridCol w="1097280"/>
                <a:gridCol w="795528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 ↔ q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Interpretação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Consistente: está frio e a temperatura confirma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B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Contradição: “está frio”, mas a temperatura diz que não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B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Contradição: a temperatura diz frio, mas você diz que não está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B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Consistente: nem está frio, nem a temperatura indica frio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B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JUNTANDO TUDO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cinco tabelas, de uma vez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444752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tabela mestra: todas as combinações de p e q, e o resultado de cada conectivo.</a:t>
            </a:r>
            <a:endParaRPr lang="en-US" sz="13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057400"/>
          <a:ext cx="1088136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554480"/>
                <a:gridCol w="1554480"/>
                <a:gridCol w="1554480"/>
                <a:gridCol w="1554480"/>
                <a:gridCol w="1554480"/>
                <a:gridCol w="1554480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¬p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 ∧ q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 ∨ q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 → q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 ↔ q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40080" y="53492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 notícia: ¬p só depende de p — por isso repete o mesmo valor nas duas linhas em que q muda.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TEXTO PARA O SÍMBOLO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Reconhecendo conectivos em português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40080" y="14630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Nem sempre a palavra do conectivo aparece de forma óbvia.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03120"/>
            <a:ext cx="10881360" cy="585216"/>
          </a:xfrm>
          <a:prstGeom prst="roundRect">
            <a:avLst>
              <a:gd name="adj" fmla="val 15625"/>
            </a:avLst>
          </a:prstGeom>
          <a:solidFill>
            <a:srgbClr val="F3F1FB"/>
          </a:solidFill>
          <a:ln/>
        </p:spPr>
      </p:sp>
      <p:sp>
        <p:nvSpPr>
          <p:cNvPr id="6" name="Shape 4"/>
          <p:cNvSpPr/>
          <p:nvPr/>
        </p:nvSpPr>
        <p:spPr>
          <a:xfrm>
            <a:off x="868680" y="2121408"/>
            <a:ext cx="548640" cy="548640"/>
          </a:xfrm>
          <a:prstGeom prst="ellipse">
            <a:avLst/>
          </a:prstGeom>
          <a:solidFill>
            <a:srgbClr val="6C4BC1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21214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∧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600200" y="2103120"/>
            <a:ext cx="2331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(e)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4023360" y="2103120"/>
            <a:ext cx="7315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“e”, “mas”, “porém”, “apesar de”, vírgula entre duas afirmações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40080" y="2816352"/>
            <a:ext cx="10881360" cy="585216"/>
          </a:xfrm>
          <a:prstGeom prst="roundRect">
            <a:avLst>
              <a:gd name="adj" fmla="val 15625"/>
            </a:avLst>
          </a:prstGeom>
          <a:solidFill>
            <a:srgbClr val="F3F1FB"/>
          </a:solidFill>
          <a:ln/>
        </p:spPr>
      </p:sp>
      <p:sp>
        <p:nvSpPr>
          <p:cNvPr id="11" name="Shape 9"/>
          <p:cNvSpPr/>
          <p:nvPr/>
        </p:nvSpPr>
        <p:spPr>
          <a:xfrm>
            <a:off x="868680" y="2834640"/>
            <a:ext cx="548640" cy="548640"/>
          </a:xfrm>
          <a:prstGeom prst="ellipse">
            <a:avLst/>
          </a:prstGeom>
          <a:solidFill>
            <a:srgbClr val="6C4BC1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2834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∨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1600200" y="2816352"/>
            <a:ext cx="2331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(ou)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4023360" y="2816352"/>
            <a:ext cx="7315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“ou”, “ou então”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529584"/>
            <a:ext cx="10881360" cy="585216"/>
          </a:xfrm>
          <a:prstGeom prst="roundRect">
            <a:avLst>
              <a:gd name="adj" fmla="val 15625"/>
            </a:avLst>
          </a:prstGeom>
          <a:solidFill>
            <a:srgbClr val="F3F1FB"/>
          </a:solidFill>
          <a:ln/>
        </p:spPr>
      </p:sp>
      <p:sp>
        <p:nvSpPr>
          <p:cNvPr id="16" name="Shape 14"/>
          <p:cNvSpPr/>
          <p:nvPr/>
        </p:nvSpPr>
        <p:spPr>
          <a:xfrm>
            <a:off x="868680" y="3547872"/>
            <a:ext cx="548640" cy="548640"/>
          </a:xfrm>
          <a:prstGeom prst="ellipse">
            <a:avLst/>
          </a:prstGeom>
          <a:solidFill>
            <a:srgbClr val="6C4BC1"/>
          </a:solidFill>
          <a:ln/>
        </p:spPr>
      </p:sp>
      <p:sp>
        <p:nvSpPr>
          <p:cNvPr id="17" name="Text 15"/>
          <p:cNvSpPr/>
          <p:nvPr/>
        </p:nvSpPr>
        <p:spPr>
          <a:xfrm>
            <a:off x="868680" y="354787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1600200" y="3529584"/>
            <a:ext cx="2331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(se...então)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4023360" y="3529584"/>
            <a:ext cx="7315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“se... então”, “quando”, “desde que”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40080" y="4242816"/>
            <a:ext cx="10881360" cy="585216"/>
          </a:xfrm>
          <a:prstGeom prst="roundRect">
            <a:avLst>
              <a:gd name="adj" fmla="val 15625"/>
            </a:avLst>
          </a:prstGeom>
          <a:solidFill>
            <a:srgbClr val="F3F1FB"/>
          </a:solidFill>
          <a:ln/>
        </p:spPr>
      </p:sp>
      <p:sp>
        <p:nvSpPr>
          <p:cNvPr id="21" name="Shape 19"/>
          <p:cNvSpPr/>
          <p:nvPr/>
        </p:nvSpPr>
        <p:spPr>
          <a:xfrm>
            <a:off x="868680" y="4261104"/>
            <a:ext cx="548640" cy="548640"/>
          </a:xfrm>
          <a:prstGeom prst="ellipse">
            <a:avLst/>
          </a:prstGeom>
          <a:solidFill>
            <a:srgbClr val="6C4BC1"/>
          </a:solidFill>
          <a:ln/>
        </p:spPr>
      </p:sp>
      <p:sp>
        <p:nvSpPr>
          <p:cNvPr id="22" name="Text 20"/>
          <p:cNvSpPr/>
          <p:nvPr/>
        </p:nvSpPr>
        <p:spPr>
          <a:xfrm>
            <a:off x="868680" y="426110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↔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600200" y="4242816"/>
            <a:ext cx="2331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(se e somente se)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4023360" y="4242816"/>
            <a:ext cx="7315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“se e somente se”, “é equivalente a”, “exatamente quando”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40080" y="4956048"/>
            <a:ext cx="10881360" cy="585216"/>
          </a:xfrm>
          <a:prstGeom prst="roundRect">
            <a:avLst>
              <a:gd name="adj" fmla="val 15625"/>
            </a:avLst>
          </a:prstGeom>
          <a:solidFill>
            <a:srgbClr val="F3F1FB"/>
          </a:solidFill>
          <a:ln/>
        </p:spPr>
      </p:sp>
      <p:sp>
        <p:nvSpPr>
          <p:cNvPr id="26" name="Shape 24"/>
          <p:cNvSpPr/>
          <p:nvPr/>
        </p:nvSpPr>
        <p:spPr>
          <a:xfrm>
            <a:off x="868680" y="4974336"/>
            <a:ext cx="548640" cy="548640"/>
          </a:xfrm>
          <a:prstGeom prst="ellipse">
            <a:avLst/>
          </a:prstGeom>
          <a:solidFill>
            <a:srgbClr val="6C4BC1"/>
          </a:solidFill>
          <a:ln/>
        </p:spPr>
      </p:sp>
      <p:sp>
        <p:nvSpPr>
          <p:cNvPr id="27" name="Text 25"/>
          <p:cNvSpPr/>
          <p:nvPr/>
        </p:nvSpPr>
        <p:spPr>
          <a:xfrm>
            <a:off x="868680" y="497433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¬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1600200" y="4956048"/>
            <a:ext cx="2331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(não)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4023360" y="4956048"/>
            <a:ext cx="7315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“não”, “nunca”, prefixos como “in-”, “im-”, “des-”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1B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2FE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TEXTO PARA O SÍMBOLO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9144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Traduzindo frases reais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10881360" cy="1325880"/>
          </a:xfrm>
          <a:prstGeom prst="roundRect">
            <a:avLst>
              <a:gd name="adj" fmla="val 8276"/>
            </a:avLst>
          </a:prstGeom>
          <a:solidFill>
            <a:srgbClr val="232C63"/>
          </a:solidFill>
          <a:ln/>
        </p:spPr>
      </p:sp>
      <p:sp>
        <p:nvSpPr>
          <p:cNvPr id="5" name="Text 3"/>
          <p:cNvSpPr/>
          <p:nvPr/>
        </p:nvSpPr>
        <p:spPr>
          <a:xfrm>
            <a:off x="960120" y="201168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“Estou cansado, mas vou estudar.”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60120" y="260604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AEB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“mas” aqui funciona como “e”.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589520" y="2148840"/>
            <a:ext cx="3657600" cy="685800"/>
          </a:xfrm>
          <a:prstGeom prst="roundRect">
            <a:avLst>
              <a:gd name="adj" fmla="val 13333"/>
            </a:avLst>
          </a:prstGeom>
          <a:solidFill>
            <a:srgbClr val="141B41"/>
          </a:solidFill>
          <a:ln w="16510">
            <a:solidFill>
              <a:srgbClr val="2FE6C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589520" y="214884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 ∧ q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3383280"/>
            <a:ext cx="10881360" cy="1325880"/>
          </a:xfrm>
          <a:prstGeom prst="roundRect">
            <a:avLst>
              <a:gd name="adj" fmla="val 8276"/>
            </a:avLst>
          </a:prstGeom>
          <a:solidFill>
            <a:srgbClr val="232C63"/>
          </a:solidFill>
          <a:ln/>
        </p:spPr>
      </p:sp>
      <p:sp>
        <p:nvSpPr>
          <p:cNvPr id="10" name="Text 8"/>
          <p:cNvSpPr/>
          <p:nvPr/>
        </p:nvSpPr>
        <p:spPr>
          <a:xfrm>
            <a:off x="960120" y="356616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“Desde que você tenha o crachá, pode entrar.”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60120" y="41605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AEB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“desde que” introduz uma condicional.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589520" y="3703320"/>
            <a:ext cx="3657600" cy="685800"/>
          </a:xfrm>
          <a:prstGeom prst="roundRect">
            <a:avLst>
              <a:gd name="adj" fmla="val 13333"/>
            </a:avLst>
          </a:prstGeom>
          <a:solidFill>
            <a:srgbClr val="141B41"/>
          </a:solidFill>
          <a:ln w="16510">
            <a:solidFill>
              <a:srgbClr val="2FE6C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589520" y="370332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crachá → entrada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40080" y="4937760"/>
            <a:ext cx="10881360" cy="1325880"/>
          </a:xfrm>
          <a:prstGeom prst="roundRect">
            <a:avLst>
              <a:gd name="adj" fmla="val 8276"/>
            </a:avLst>
          </a:prstGeom>
          <a:solidFill>
            <a:srgbClr val="232C63"/>
          </a:solidFill>
          <a:ln/>
        </p:spPr>
      </p:sp>
      <p:sp>
        <p:nvSpPr>
          <p:cNvPr id="15" name="Text 13"/>
          <p:cNvSpPr/>
          <p:nvPr/>
        </p:nvSpPr>
        <p:spPr>
          <a:xfrm>
            <a:off x="960120" y="512064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“Você aprova exatamente quando tira nota ≥ 6.”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960120" y="571500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AEB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“exatamente quando” marca o bicondicional.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589520" y="5257800"/>
            <a:ext cx="3657600" cy="685800"/>
          </a:xfrm>
          <a:prstGeom prst="roundRect">
            <a:avLst>
              <a:gd name="adj" fmla="val 13333"/>
            </a:avLst>
          </a:prstGeom>
          <a:solidFill>
            <a:srgbClr val="141B41"/>
          </a:solidFill>
          <a:ln w="16510">
            <a:solidFill>
              <a:srgbClr val="2FE6C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589520" y="525780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aprovado ↔ (nota ≥ 6)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ORDEM DE AVALIAÇÃO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Precedência dos conectivos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4630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Assim como × tem prioridade sobre + na aritmética, os conectivos têm uma ordem de avaliação.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1203808" y="2286000"/>
            <a:ext cx="1371600" cy="1371600"/>
          </a:xfrm>
          <a:prstGeom prst="ellipse">
            <a:avLst/>
          </a:prstGeom>
          <a:solidFill>
            <a:srgbClr val="6C4BC1"/>
          </a:solidFill>
          <a:ln/>
        </p:spPr>
      </p:sp>
      <p:sp>
        <p:nvSpPr>
          <p:cNvPr id="6" name="Text 4"/>
          <p:cNvSpPr/>
          <p:nvPr/>
        </p:nvSpPr>
        <p:spPr>
          <a:xfrm>
            <a:off x="1203808" y="228600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¬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975208" y="37490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1º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75208" y="4069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 forte</a:t>
            </a:r>
            <a:endParaRPr lang="en-US" sz="105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13152" y="2788920"/>
            <a:ext cx="256032" cy="256032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3368650" y="2347722"/>
            <a:ext cx="1248156" cy="1248156"/>
          </a:xfrm>
          <a:prstGeom prst="ellipse">
            <a:avLst/>
          </a:prstGeom>
          <a:solidFill>
            <a:srgbClr val="6C4BC1"/>
          </a:solidFill>
          <a:ln/>
        </p:spPr>
      </p:sp>
      <p:sp>
        <p:nvSpPr>
          <p:cNvPr id="11" name="Text 8"/>
          <p:cNvSpPr/>
          <p:nvPr/>
        </p:nvSpPr>
        <p:spPr>
          <a:xfrm>
            <a:off x="3368650" y="2347722"/>
            <a:ext cx="1248156" cy="1248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66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∧</a:t>
            </a:r>
            <a:endParaRPr lang="en-US" sz="3366" dirty="0"/>
          </a:p>
        </p:txBody>
      </p:sp>
      <p:sp>
        <p:nvSpPr>
          <p:cNvPr id="12" name="Text 9"/>
          <p:cNvSpPr/>
          <p:nvPr/>
        </p:nvSpPr>
        <p:spPr>
          <a:xfrm>
            <a:off x="3078328" y="37490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2º</a:t>
            </a:r>
            <a:endParaRPr lang="en-US" sz="13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6272" y="2788920"/>
            <a:ext cx="256032" cy="256032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5533492" y="2409444"/>
            <a:ext cx="1124712" cy="1124712"/>
          </a:xfrm>
          <a:prstGeom prst="ellipse">
            <a:avLst/>
          </a:prstGeom>
          <a:solidFill>
            <a:srgbClr val="6C4BC1"/>
          </a:solidFill>
          <a:ln/>
        </p:spPr>
      </p:sp>
      <p:sp>
        <p:nvSpPr>
          <p:cNvPr id="15" name="Text 11"/>
          <p:cNvSpPr/>
          <p:nvPr/>
        </p:nvSpPr>
        <p:spPr>
          <a:xfrm>
            <a:off x="5533492" y="2409444"/>
            <a:ext cx="1124712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32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∨</a:t>
            </a:r>
            <a:endParaRPr lang="en-US" sz="3132" dirty="0"/>
          </a:p>
        </p:txBody>
      </p:sp>
      <p:sp>
        <p:nvSpPr>
          <p:cNvPr id="16" name="Text 12"/>
          <p:cNvSpPr/>
          <p:nvPr/>
        </p:nvSpPr>
        <p:spPr>
          <a:xfrm>
            <a:off x="5181448" y="37490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3º</a:t>
            </a:r>
            <a:endParaRPr lang="en-US" sz="1300" dirty="0"/>
          </a:p>
        </p:txBody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9392" y="2788920"/>
            <a:ext cx="256032" cy="256032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7698334" y="2471166"/>
            <a:ext cx="1001268" cy="1001268"/>
          </a:xfrm>
          <a:prstGeom prst="ellipse">
            <a:avLst/>
          </a:prstGeom>
          <a:solidFill>
            <a:srgbClr val="6C4BC1"/>
          </a:solidFill>
          <a:ln/>
        </p:spPr>
      </p:sp>
      <p:sp>
        <p:nvSpPr>
          <p:cNvPr id="19" name="Text 14"/>
          <p:cNvSpPr/>
          <p:nvPr/>
        </p:nvSpPr>
        <p:spPr>
          <a:xfrm>
            <a:off x="7698334" y="2471166"/>
            <a:ext cx="1001268" cy="100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98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→</a:t>
            </a:r>
            <a:endParaRPr lang="en-US" sz="2898" dirty="0"/>
          </a:p>
        </p:txBody>
      </p:sp>
      <p:sp>
        <p:nvSpPr>
          <p:cNvPr id="20" name="Text 15"/>
          <p:cNvSpPr/>
          <p:nvPr/>
        </p:nvSpPr>
        <p:spPr>
          <a:xfrm>
            <a:off x="7284568" y="37490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4º</a:t>
            </a:r>
            <a:endParaRPr lang="en-US" sz="1300" dirty="0"/>
          </a:p>
        </p:txBody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2512" y="2788920"/>
            <a:ext cx="256032" cy="256032"/>
          </a:xfrm>
          <a:prstGeom prst="rect">
            <a:avLst/>
          </a:prstGeom>
        </p:spPr>
      </p:pic>
      <p:sp>
        <p:nvSpPr>
          <p:cNvPr id="22" name="Shape 16"/>
          <p:cNvSpPr/>
          <p:nvPr/>
        </p:nvSpPr>
        <p:spPr>
          <a:xfrm>
            <a:off x="9863176" y="2532888"/>
            <a:ext cx="877824" cy="877824"/>
          </a:xfrm>
          <a:prstGeom prst="ellipse">
            <a:avLst/>
          </a:prstGeom>
          <a:solidFill>
            <a:srgbClr val="6C4BC1"/>
          </a:solidFill>
          <a:ln/>
        </p:spPr>
      </p:sp>
      <p:sp>
        <p:nvSpPr>
          <p:cNvPr id="23" name="Text 17"/>
          <p:cNvSpPr/>
          <p:nvPr/>
        </p:nvSpPr>
        <p:spPr>
          <a:xfrm>
            <a:off x="9863176" y="2532888"/>
            <a:ext cx="877824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64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↔</a:t>
            </a:r>
            <a:endParaRPr lang="en-US" sz="2664" dirty="0"/>
          </a:p>
        </p:txBody>
      </p:sp>
      <p:sp>
        <p:nvSpPr>
          <p:cNvPr id="24" name="Text 18"/>
          <p:cNvSpPr/>
          <p:nvPr/>
        </p:nvSpPr>
        <p:spPr>
          <a:xfrm>
            <a:off x="9387688" y="37490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5º</a:t>
            </a:r>
            <a:endParaRPr lang="en-US" sz="1300" dirty="0"/>
          </a:p>
        </p:txBody>
      </p:sp>
      <p:sp>
        <p:nvSpPr>
          <p:cNvPr id="25" name="Text 19"/>
          <p:cNvSpPr/>
          <p:nvPr/>
        </p:nvSpPr>
        <p:spPr>
          <a:xfrm>
            <a:off x="9387688" y="4069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 fraco</a:t>
            </a:r>
            <a:endParaRPr lang="en-US" sz="1050" dirty="0"/>
          </a:p>
        </p:txBody>
      </p:sp>
      <p:sp>
        <p:nvSpPr>
          <p:cNvPr id="26" name="Shape 20"/>
          <p:cNvSpPr/>
          <p:nvPr/>
        </p:nvSpPr>
        <p:spPr>
          <a:xfrm>
            <a:off x="2194560" y="4754880"/>
            <a:ext cx="7772400" cy="868680"/>
          </a:xfrm>
          <a:prstGeom prst="roundRect">
            <a:avLst>
              <a:gd name="adj" fmla="val 12632"/>
            </a:avLst>
          </a:prstGeom>
          <a:solidFill>
            <a:srgbClr val="F3F1FB"/>
          </a:solidFill>
          <a:ln/>
        </p:spPr>
      </p:sp>
      <p:sp>
        <p:nvSpPr>
          <p:cNvPr id="27" name="Text 21"/>
          <p:cNvSpPr/>
          <p:nvPr/>
        </p:nvSpPr>
        <p:spPr>
          <a:xfrm>
            <a:off x="2468880" y="4754880"/>
            <a:ext cx="7223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300" b="1" i="1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dúvida, use parênteses: eles deixam a fórmula legível para qualquer leitor — inclusive você mesmo, duas semanas depois.</a:t>
            </a:r>
            <a:endParaRPr lang="en-US" sz="1300" dirty="0"/>
          </a:p>
        </p:txBody>
      </p:sp>
      <p:sp>
        <p:nvSpPr>
          <p:cNvPr id="28" name="Text 22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COMPARANDO SINTAXES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Conectivos em código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444752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símbolos que você acabou de ver, na sintaxe de cada linguagem.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68680" y="1874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SÍMBOLO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931920" y="1819656"/>
            <a:ext cx="347472" cy="347472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05072" y="1892808"/>
            <a:ext cx="201168" cy="20116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370832" y="18745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7589520" y="1819656"/>
            <a:ext cx="347472" cy="347472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2672" y="1892808"/>
            <a:ext cx="201168" cy="20116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8028432" y="18745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C#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640080" y="2331720"/>
            <a:ext cx="10881360" cy="512064"/>
          </a:xfrm>
          <a:prstGeom prst="roundRect">
            <a:avLst>
              <a:gd name="adj" fmla="val 14286"/>
            </a:avLst>
          </a:prstGeom>
          <a:solidFill>
            <a:srgbClr val="F3F1FB"/>
          </a:solidFill>
          <a:ln/>
        </p:spPr>
      </p:sp>
      <p:sp>
        <p:nvSpPr>
          <p:cNvPr id="13" name="Text 9"/>
          <p:cNvSpPr/>
          <p:nvPr/>
        </p:nvSpPr>
        <p:spPr>
          <a:xfrm>
            <a:off x="868680" y="2331720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B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¬p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3931920" y="2331720"/>
            <a:ext cx="3246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B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 p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7589520" y="2331720"/>
            <a:ext cx="3566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B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!p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2935224"/>
            <a:ext cx="10881360" cy="512064"/>
          </a:xfrm>
          <a:prstGeom prst="roundRect">
            <a:avLst>
              <a:gd name="adj" fmla="val 14286"/>
            </a:avLst>
          </a:prstGeom>
          <a:solidFill>
            <a:srgbClr val="F3F1FB"/>
          </a:solidFill>
          <a:ln/>
        </p:spPr>
      </p:sp>
      <p:sp>
        <p:nvSpPr>
          <p:cNvPr id="17" name="Text 13"/>
          <p:cNvSpPr/>
          <p:nvPr/>
        </p:nvSpPr>
        <p:spPr>
          <a:xfrm>
            <a:off x="868680" y="2935224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B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 ∧ q</a:t>
            </a:r>
            <a:endParaRPr lang="en-US" sz="1500" dirty="0"/>
          </a:p>
        </p:txBody>
      </p:sp>
      <p:sp>
        <p:nvSpPr>
          <p:cNvPr id="18" name="Text 14"/>
          <p:cNvSpPr/>
          <p:nvPr/>
        </p:nvSpPr>
        <p:spPr>
          <a:xfrm>
            <a:off x="3931920" y="2935224"/>
            <a:ext cx="3246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B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 and q</a:t>
            </a:r>
            <a:endParaRPr lang="en-US" sz="1300" dirty="0"/>
          </a:p>
        </p:txBody>
      </p:sp>
      <p:sp>
        <p:nvSpPr>
          <p:cNvPr id="19" name="Text 15"/>
          <p:cNvSpPr/>
          <p:nvPr/>
        </p:nvSpPr>
        <p:spPr>
          <a:xfrm>
            <a:off x="7589520" y="2935224"/>
            <a:ext cx="3566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B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 &amp;&amp; q</a:t>
            </a:r>
            <a:endParaRPr lang="en-US" sz="1300" dirty="0"/>
          </a:p>
        </p:txBody>
      </p:sp>
      <p:sp>
        <p:nvSpPr>
          <p:cNvPr id="20" name="Shape 16"/>
          <p:cNvSpPr/>
          <p:nvPr/>
        </p:nvSpPr>
        <p:spPr>
          <a:xfrm>
            <a:off x="640080" y="3538728"/>
            <a:ext cx="10881360" cy="512064"/>
          </a:xfrm>
          <a:prstGeom prst="roundRect">
            <a:avLst>
              <a:gd name="adj" fmla="val 14286"/>
            </a:avLst>
          </a:prstGeom>
          <a:solidFill>
            <a:srgbClr val="F3F1FB"/>
          </a:solidFill>
          <a:ln/>
        </p:spPr>
      </p:sp>
      <p:sp>
        <p:nvSpPr>
          <p:cNvPr id="21" name="Text 17"/>
          <p:cNvSpPr/>
          <p:nvPr/>
        </p:nvSpPr>
        <p:spPr>
          <a:xfrm>
            <a:off x="868680" y="3538728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B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 ∨ q</a:t>
            </a:r>
            <a:endParaRPr lang="en-US" sz="1500" dirty="0"/>
          </a:p>
        </p:txBody>
      </p:sp>
      <p:sp>
        <p:nvSpPr>
          <p:cNvPr id="22" name="Text 18"/>
          <p:cNvSpPr/>
          <p:nvPr/>
        </p:nvSpPr>
        <p:spPr>
          <a:xfrm>
            <a:off x="3931920" y="3538728"/>
            <a:ext cx="3246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B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 or q</a:t>
            </a:r>
            <a:endParaRPr lang="en-US" sz="1300" dirty="0"/>
          </a:p>
        </p:txBody>
      </p:sp>
      <p:sp>
        <p:nvSpPr>
          <p:cNvPr id="23" name="Text 19"/>
          <p:cNvSpPr/>
          <p:nvPr/>
        </p:nvSpPr>
        <p:spPr>
          <a:xfrm>
            <a:off x="7589520" y="3538728"/>
            <a:ext cx="3566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B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 || q</a:t>
            </a:r>
            <a:endParaRPr lang="en-US" sz="1300" dirty="0"/>
          </a:p>
        </p:txBody>
      </p:sp>
      <p:sp>
        <p:nvSpPr>
          <p:cNvPr id="24" name="Shape 20"/>
          <p:cNvSpPr/>
          <p:nvPr/>
        </p:nvSpPr>
        <p:spPr>
          <a:xfrm>
            <a:off x="640080" y="4142232"/>
            <a:ext cx="10881360" cy="512064"/>
          </a:xfrm>
          <a:prstGeom prst="roundRect">
            <a:avLst>
              <a:gd name="adj" fmla="val 14286"/>
            </a:avLst>
          </a:prstGeom>
          <a:solidFill>
            <a:srgbClr val="F3F1FB"/>
          </a:solidFill>
          <a:ln/>
        </p:spPr>
      </p:sp>
      <p:sp>
        <p:nvSpPr>
          <p:cNvPr id="25" name="Text 21"/>
          <p:cNvSpPr/>
          <p:nvPr/>
        </p:nvSpPr>
        <p:spPr>
          <a:xfrm>
            <a:off x="868680" y="4142232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B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 → q</a:t>
            </a:r>
            <a:endParaRPr lang="en-US" sz="1500" dirty="0"/>
          </a:p>
        </p:txBody>
      </p:sp>
      <p:sp>
        <p:nvSpPr>
          <p:cNvPr id="26" name="Text 22"/>
          <p:cNvSpPr/>
          <p:nvPr/>
        </p:nvSpPr>
        <p:spPr>
          <a:xfrm>
            <a:off x="3931920" y="4142232"/>
            <a:ext cx="3246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B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(not p) or q</a:t>
            </a:r>
            <a:endParaRPr lang="en-US" sz="1300" dirty="0"/>
          </a:p>
        </p:txBody>
      </p:sp>
      <p:sp>
        <p:nvSpPr>
          <p:cNvPr id="27" name="Text 23"/>
          <p:cNvSpPr/>
          <p:nvPr/>
        </p:nvSpPr>
        <p:spPr>
          <a:xfrm>
            <a:off x="7589520" y="4142232"/>
            <a:ext cx="3566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B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(!p) || q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640080" y="4745736"/>
            <a:ext cx="10881360" cy="512064"/>
          </a:xfrm>
          <a:prstGeom prst="roundRect">
            <a:avLst>
              <a:gd name="adj" fmla="val 14286"/>
            </a:avLst>
          </a:prstGeom>
          <a:solidFill>
            <a:srgbClr val="F3F1FB"/>
          </a:solidFill>
          <a:ln/>
        </p:spPr>
      </p:sp>
      <p:sp>
        <p:nvSpPr>
          <p:cNvPr id="29" name="Text 25"/>
          <p:cNvSpPr/>
          <p:nvPr/>
        </p:nvSpPr>
        <p:spPr>
          <a:xfrm>
            <a:off x="868680" y="4745736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B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 ↔ q</a:t>
            </a:r>
            <a:endParaRPr lang="en-US" sz="1500" dirty="0"/>
          </a:p>
        </p:txBody>
      </p:sp>
      <p:sp>
        <p:nvSpPr>
          <p:cNvPr id="30" name="Text 26"/>
          <p:cNvSpPr/>
          <p:nvPr/>
        </p:nvSpPr>
        <p:spPr>
          <a:xfrm>
            <a:off x="3931920" y="4745736"/>
            <a:ext cx="3246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B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 == q</a:t>
            </a:r>
            <a:endParaRPr lang="en-US" sz="1300" dirty="0"/>
          </a:p>
        </p:txBody>
      </p:sp>
      <p:sp>
        <p:nvSpPr>
          <p:cNvPr id="31" name="Text 27"/>
          <p:cNvSpPr/>
          <p:nvPr/>
        </p:nvSpPr>
        <p:spPr>
          <a:xfrm>
            <a:off x="7589520" y="4745736"/>
            <a:ext cx="3566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B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 == q</a:t>
            </a:r>
            <a:endParaRPr lang="en-US" sz="1300" dirty="0"/>
          </a:p>
        </p:txBody>
      </p:sp>
      <p:sp>
        <p:nvSpPr>
          <p:cNvPr id="32" name="Text 28"/>
          <p:cNvSpPr/>
          <p:nvPr/>
        </p:nvSpPr>
        <p:spPr>
          <a:xfrm>
            <a:off x="640080" y="54406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e C# não têm operador nativo para → e ↔ — nós os construímos a partir dos operadores existentes.</a:t>
            </a:r>
            <a:endParaRPr lang="en-US" sz="1200" dirty="0"/>
          </a:p>
        </p:txBody>
      </p:sp>
      <p:sp>
        <p:nvSpPr>
          <p:cNvPr id="33" name="Text 29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41B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2FE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PRÁTICA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Implementando → e ↔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48132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BC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duas funções que faltavam, testadas para as quatro combinações de p e q.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011680"/>
            <a:ext cx="5280660" cy="3749040"/>
          </a:xfrm>
          <a:prstGeom prst="roundRect">
            <a:avLst>
              <a:gd name="adj" fmla="val 3415"/>
            </a:avLst>
          </a:prstGeom>
          <a:solidFill>
            <a:srgbClr val="232C63"/>
          </a:solidFill>
          <a:ln/>
        </p:spPr>
      </p:sp>
      <p:sp>
        <p:nvSpPr>
          <p:cNvPr id="6" name="Shape 4"/>
          <p:cNvSpPr/>
          <p:nvPr/>
        </p:nvSpPr>
        <p:spPr>
          <a:xfrm>
            <a:off x="896112" y="2231136"/>
            <a:ext cx="109728" cy="109728"/>
          </a:xfrm>
          <a:prstGeom prst="ellipse">
            <a:avLst/>
          </a:prstGeom>
          <a:solidFill>
            <a:srgbClr val="E5533D"/>
          </a:solidFill>
          <a:ln/>
        </p:spPr>
      </p:sp>
      <p:sp>
        <p:nvSpPr>
          <p:cNvPr id="7" name="Shape 5"/>
          <p:cNvSpPr/>
          <p:nvPr/>
        </p:nvSpPr>
        <p:spPr>
          <a:xfrm>
            <a:off x="1097280" y="2231136"/>
            <a:ext cx="109728" cy="109728"/>
          </a:xfrm>
          <a:prstGeom prst="ellipse">
            <a:avLst/>
          </a:prstGeom>
          <a:solidFill>
            <a:srgbClr val="E8B324"/>
          </a:solidFill>
          <a:ln/>
        </p:spPr>
      </p:sp>
      <p:sp>
        <p:nvSpPr>
          <p:cNvPr id="8" name="Shape 6"/>
          <p:cNvSpPr/>
          <p:nvPr/>
        </p:nvSpPr>
        <p:spPr>
          <a:xfrm>
            <a:off x="1298448" y="2231136"/>
            <a:ext cx="109728" cy="109728"/>
          </a:xfrm>
          <a:prstGeom prst="ellipse">
            <a:avLst/>
          </a:prstGeom>
          <a:solidFill>
            <a:srgbClr val="3EBD59"/>
          </a:solidFill>
          <a:ln/>
        </p:spPr>
      </p:sp>
      <p:sp>
        <p:nvSpPr>
          <p:cNvPr id="9" name="Text 7"/>
          <p:cNvSpPr/>
          <p:nvPr/>
        </p:nvSpPr>
        <p:spPr>
          <a:xfrm>
            <a:off x="1554480" y="2171700"/>
            <a:ext cx="38176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Conectivos.cs</a:t>
            </a:r>
            <a:endParaRPr lang="en-US" sz="105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17820" y="2157984"/>
            <a:ext cx="274320" cy="27432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932688" y="2724912"/>
            <a:ext cx="47320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bool </a:t>
            </a:r>
            <a:pPr indent="0" marL="0">
              <a:buNone/>
            </a:pPr>
            <a:r>
              <a:rPr lang="en-US" sz="11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Implica(bool p, bool q) =&gt; !p || q;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932688" y="3035808"/>
            <a:ext cx="47320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bool </a:t>
            </a:r>
            <a:pPr indent="0" marL="0">
              <a:buNone/>
            </a:pPr>
            <a:r>
              <a:rPr lang="en-US" sz="11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Bicondicional(bool p, bool q) =&gt; p == q;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932688" y="3346704"/>
            <a:ext cx="47320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932688" y="3657600"/>
            <a:ext cx="47320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foreach </a:t>
            </a:r>
            <a:pPr indent="0" marL="0">
              <a:buNone/>
            </a:pPr>
            <a:r>
              <a:rPr lang="en-US" sz="11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(var p in new[] { true, false })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932688" y="3968496"/>
            <a:ext cx="47320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foreach </a:t>
            </a:r>
            <a:pPr indent="0" marL="0">
              <a:buNone/>
            </a:pPr>
            <a:r>
              <a:rPr lang="en-US" sz="11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(var q in new[] { true, false })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932688" y="4279392"/>
            <a:ext cx="47320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932688" y="4590288"/>
            <a:ext cx="47320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Console.WriteLine(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932688" y="4901184"/>
            <a:ext cx="47320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$"{p} {q} {Implica(p,q)} {Bicondicional(p,q)}");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932688" y="5212080"/>
            <a:ext cx="47320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6240780" y="2011680"/>
            <a:ext cx="5280660" cy="3749040"/>
          </a:xfrm>
          <a:prstGeom prst="roundRect">
            <a:avLst>
              <a:gd name="adj" fmla="val 3415"/>
            </a:avLst>
          </a:prstGeom>
          <a:solidFill>
            <a:srgbClr val="232C63"/>
          </a:solidFill>
          <a:ln/>
        </p:spPr>
      </p:sp>
      <p:sp>
        <p:nvSpPr>
          <p:cNvPr id="21" name="Shape 18"/>
          <p:cNvSpPr/>
          <p:nvPr/>
        </p:nvSpPr>
        <p:spPr>
          <a:xfrm>
            <a:off x="6496812" y="2231136"/>
            <a:ext cx="109728" cy="109728"/>
          </a:xfrm>
          <a:prstGeom prst="ellipse">
            <a:avLst/>
          </a:prstGeom>
          <a:solidFill>
            <a:srgbClr val="E5533D"/>
          </a:solidFill>
          <a:ln/>
        </p:spPr>
      </p:sp>
      <p:sp>
        <p:nvSpPr>
          <p:cNvPr id="22" name="Shape 19"/>
          <p:cNvSpPr/>
          <p:nvPr/>
        </p:nvSpPr>
        <p:spPr>
          <a:xfrm>
            <a:off x="6697980" y="2231136"/>
            <a:ext cx="109728" cy="109728"/>
          </a:xfrm>
          <a:prstGeom prst="ellipse">
            <a:avLst/>
          </a:prstGeom>
          <a:solidFill>
            <a:srgbClr val="E8B324"/>
          </a:solidFill>
          <a:ln/>
        </p:spPr>
      </p:sp>
      <p:sp>
        <p:nvSpPr>
          <p:cNvPr id="23" name="Shape 20"/>
          <p:cNvSpPr/>
          <p:nvPr/>
        </p:nvSpPr>
        <p:spPr>
          <a:xfrm>
            <a:off x="6899148" y="2231136"/>
            <a:ext cx="109728" cy="109728"/>
          </a:xfrm>
          <a:prstGeom prst="ellipse">
            <a:avLst/>
          </a:prstGeom>
          <a:solidFill>
            <a:srgbClr val="3EBD59"/>
          </a:solidFill>
          <a:ln/>
        </p:spPr>
      </p:sp>
      <p:sp>
        <p:nvSpPr>
          <p:cNvPr id="24" name="Text 21"/>
          <p:cNvSpPr/>
          <p:nvPr/>
        </p:nvSpPr>
        <p:spPr>
          <a:xfrm>
            <a:off x="7155180" y="2171700"/>
            <a:ext cx="38176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conectivos.py</a:t>
            </a:r>
            <a:endParaRPr lang="en-US" sz="1050" dirty="0"/>
          </a:p>
        </p:txBody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157984"/>
            <a:ext cx="274320" cy="274320"/>
          </a:xfrm>
          <a:prstGeom prst="rect">
            <a:avLst/>
          </a:prstGeom>
        </p:spPr>
      </p:pic>
      <p:sp>
        <p:nvSpPr>
          <p:cNvPr id="26" name="Text 22"/>
          <p:cNvSpPr/>
          <p:nvPr/>
        </p:nvSpPr>
        <p:spPr>
          <a:xfrm>
            <a:off x="6533388" y="2724912"/>
            <a:ext cx="47320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</a:t>
            </a:r>
            <a:pPr indent="0" marL="0">
              <a:buNone/>
            </a:pPr>
            <a:r>
              <a:rPr lang="en-US" sz="105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implica(p, q):</a:t>
            </a:r>
            <a:endParaRPr lang="en-US" sz="1050" dirty="0"/>
          </a:p>
        </p:txBody>
      </p:sp>
      <p:sp>
        <p:nvSpPr>
          <p:cNvPr id="27" name="Text 23"/>
          <p:cNvSpPr/>
          <p:nvPr/>
        </p:nvSpPr>
        <p:spPr>
          <a:xfrm>
            <a:off x="6533388" y="3035808"/>
            <a:ext cx="47320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(</a:t>
            </a:r>
            <a:pPr indent="0" marL="0">
              <a:buNone/>
            </a:pPr>
            <a:r>
              <a:rPr lang="en-US" sz="105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 </a:t>
            </a:r>
            <a:pPr indent="0" marL="0">
              <a:buNone/>
            </a:pPr>
            <a:r>
              <a:rPr lang="en-US" sz="105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p) </a:t>
            </a:r>
            <a:pPr indent="0" marL="0">
              <a:buNone/>
            </a:pPr>
            <a:r>
              <a:rPr lang="en-US" sz="105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 </a:t>
            </a:r>
            <a:pPr indent="0" marL="0">
              <a:buNone/>
            </a:pPr>
            <a:r>
              <a:rPr lang="en-US" sz="105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</a:t>
            </a:r>
            <a:endParaRPr lang="en-US" sz="1050" dirty="0"/>
          </a:p>
        </p:txBody>
      </p:sp>
      <p:sp>
        <p:nvSpPr>
          <p:cNvPr id="28" name="Text 24"/>
          <p:cNvSpPr/>
          <p:nvPr/>
        </p:nvSpPr>
        <p:spPr>
          <a:xfrm>
            <a:off x="6533388" y="3346704"/>
            <a:ext cx="47320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50" dirty="0"/>
          </a:p>
        </p:txBody>
      </p:sp>
      <p:sp>
        <p:nvSpPr>
          <p:cNvPr id="29" name="Text 25"/>
          <p:cNvSpPr/>
          <p:nvPr/>
        </p:nvSpPr>
        <p:spPr>
          <a:xfrm>
            <a:off x="6533388" y="3657600"/>
            <a:ext cx="47320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</a:t>
            </a:r>
            <a:pPr indent="0" marL="0">
              <a:buNone/>
            </a:pPr>
            <a:r>
              <a:rPr lang="en-US" sz="105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bicondicional(p, q):</a:t>
            </a:r>
            <a:endParaRPr lang="en-US" sz="1050" dirty="0"/>
          </a:p>
        </p:txBody>
      </p:sp>
      <p:sp>
        <p:nvSpPr>
          <p:cNvPr id="30" name="Text 26"/>
          <p:cNvSpPr/>
          <p:nvPr/>
        </p:nvSpPr>
        <p:spPr>
          <a:xfrm>
            <a:off x="6533388" y="3968496"/>
            <a:ext cx="47320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p == q</a:t>
            </a:r>
            <a:endParaRPr lang="en-US" sz="1050" dirty="0"/>
          </a:p>
        </p:txBody>
      </p:sp>
      <p:sp>
        <p:nvSpPr>
          <p:cNvPr id="31" name="Text 27"/>
          <p:cNvSpPr/>
          <p:nvPr/>
        </p:nvSpPr>
        <p:spPr>
          <a:xfrm>
            <a:off x="6533388" y="4279392"/>
            <a:ext cx="47320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50" dirty="0"/>
          </a:p>
        </p:txBody>
      </p:sp>
      <p:sp>
        <p:nvSpPr>
          <p:cNvPr id="32" name="Text 28"/>
          <p:cNvSpPr/>
          <p:nvPr/>
        </p:nvSpPr>
        <p:spPr>
          <a:xfrm>
            <a:off x="6533388" y="4590288"/>
            <a:ext cx="47320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</a:t>
            </a:r>
            <a:pPr indent="0" marL="0">
              <a:buNone/>
            </a:pPr>
            <a:r>
              <a:rPr lang="en-US" sz="105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 </a:t>
            </a:r>
            <a:pPr indent="0" marL="0">
              <a:buNone/>
            </a:pPr>
            <a:r>
              <a:rPr lang="en-US" sz="105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 </a:t>
            </a:r>
            <a:pPr indent="0" marL="0">
              <a:buNone/>
            </a:pPr>
            <a:r>
              <a:rPr lang="en-US" sz="105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(True, False):</a:t>
            </a:r>
            <a:endParaRPr lang="en-US" sz="1050" dirty="0"/>
          </a:p>
        </p:txBody>
      </p:sp>
      <p:sp>
        <p:nvSpPr>
          <p:cNvPr id="33" name="Text 29"/>
          <p:cNvSpPr/>
          <p:nvPr/>
        </p:nvSpPr>
        <p:spPr>
          <a:xfrm>
            <a:off x="6533388" y="4901184"/>
            <a:ext cx="47320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</a:t>
            </a:r>
            <a:pPr indent="0" marL="0">
              <a:buNone/>
            </a:pPr>
            <a:r>
              <a:rPr lang="en-US" sz="105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 </a:t>
            </a:r>
            <a:pPr indent="0" marL="0">
              <a:buNone/>
            </a:pPr>
            <a:r>
              <a:rPr lang="en-US" sz="105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 </a:t>
            </a:r>
            <a:pPr indent="0" marL="0">
              <a:buNone/>
            </a:pPr>
            <a:r>
              <a:rPr lang="en-US" sz="105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(True, False):</a:t>
            </a:r>
            <a:endParaRPr lang="en-US" sz="1050" dirty="0"/>
          </a:p>
        </p:txBody>
      </p:sp>
      <p:sp>
        <p:nvSpPr>
          <p:cNvPr id="34" name="Text 30"/>
          <p:cNvSpPr/>
          <p:nvPr/>
        </p:nvSpPr>
        <p:spPr>
          <a:xfrm>
            <a:off x="6533388" y="5212080"/>
            <a:ext cx="47320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print(p, q, implica(p, q), bicondicional(p, q))</a:t>
            </a:r>
            <a:endParaRPr lang="en-US" sz="1050" dirty="0"/>
          </a:p>
        </p:txBody>
      </p:sp>
      <p:sp>
        <p:nvSpPr>
          <p:cNvPr id="35" name="Text 31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6C4BC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194560"/>
            <a:ext cx="5486400" cy="5486400"/>
          </a:xfrm>
          <a:prstGeom prst="ellipse">
            <a:avLst/>
          </a:prstGeom>
          <a:ln w="190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645920" y="4389120"/>
            <a:ext cx="3291840" cy="3291840"/>
          </a:xfrm>
          <a:prstGeom prst="ellipse">
            <a:avLst/>
          </a:prstGeom>
          <a:ln w="19050">
            <a:solidFill>
              <a:srgbClr val="2FE6C7">
                <a:alpha val="5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592928" y="1371600"/>
            <a:ext cx="1005840" cy="1005840"/>
          </a:xfrm>
          <a:prstGeom prst="ellipse">
            <a:avLst/>
          </a:prstGeom>
          <a:solidFill>
            <a:srgbClr val="2FE6C7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75808" y="1554480"/>
            <a:ext cx="640080" cy="6400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737360" y="2743200"/>
            <a:ext cx="8686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Hora de praticar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1828800" y="3657600"/>
            <a:ext cx="8503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i="1" dirty="0">
                <a:solidFill>
                  <a:srgbClr val="E4D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Quatro exercícios: tabela-verdade, precedência, tradução e um desafio de código.</a:t>
            </a:r>
            <a:endParaRPr lang="en-US" sz="15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777240"/>
            <a:ext cx="566928" cy="566928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" y="92354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417320" y="77724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EXERCÍCIO 1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417320" y="103327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Tabela-verdade</a:t>
            </a:r>
            <a:endParaRPr lang="en-US" sz="2400" dirty="0"/>
          </a:p>
        </p:txBody>
      </p:sp>
      <p:sp>
        <p:nvSpPr>
          <p:cNvPr id="6" name="Text 3"/>
          <p:cNvSpPr/>
          <p:nvPr/>
        </p:nvSpPr>
        <p:spPr>
          <a:xfrm>
            <a:off x="640080" y="16916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Monte a tabela-verdade completa de p → q. Compare com a tabela de ¬p ∨ q. O que você percebe?</a:t>
            </a:r>
            <a:endParaRPr lang="en-US" sz="14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51760" y="2468880"/>
          <a:ext cx="68580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371600"/>
                <a:gridCol w="2057400"/>
                <a:gridCol w="2057400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 → q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¬p ∨ q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i="1" dirty="0">
                          <a:solidFill>
                            <a:srgbClr val="AFA9C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?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i="1" dirty="0">
                          <a:solidFill>
                            <a:srgbClr val="AFA9C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?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i="1" dirty="0">
                          <a:solidFill>
                            <a:srgbClr val="AFA9C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?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i="1" dirty="0">
                          <a:solidFill>
                            <a:srgbClr val="AFA9C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?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i="1" dirty="0">
                          <a:solidFill>
                            <a:srgbClr val="AFA9C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?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i="1" dirty="0">
                          <a:solidFill>
                            <a:srgbClr val="AFA9C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?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i="1" dirty="0">
                          <a:solidFill>
                            <a:srgbClr val="AFA9C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?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i="1" dirty="0">
                          <a:solidFill>
                            <a:srgbClr val="AFA9C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?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777240"/>
            <a:ext cx="566928" cy="566928"/>
          </a:xfrm>
          <a:prstGeom prst="ellipse">
            <a:avLst/>
          </a:prstGeom>
          <a:solidFill>
            <a:srgbClr val="3EBD59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" y="92354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417320" y="7772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3EB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GABARITO · EXERCÍCIO 1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417320" y="103327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Tabela-verdade</a:t>
            </a:r>
            <a:endParaRPr lang="en-US" sz="24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51760" y="1828800"/>
          <a:ext cx="6858000" cy="914400"/>
        </p:xfrm>
        <a:graphic>
          <a:graphicData uri="http://schemas.openxmlformats.org/drawingml/2006/table">
            <a:tbl>
              <a:tblPr/>
              <a:tblGrid>
                <a:gridCol w="1714500"/>
                <a:gridCol w="1714500"/>
                <a:gridCol w="1714500"/>
                <a:gridCol w="171450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 → q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¬p ∨ q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1463040" y="5074920"/>
            <a:ext cx="9235440" cy="914400"/>
          </a:xfrm>
          <a:prstGeom prst="roundRect">
            <a:avLst>
              <a:gd name="adj" fmla="val 12000"/>
            </a:avLst>
          </a:prstGeom>
          <a:solidFill>
            <a:srgbClr val="F3F1FB"/>
          </a:solidFill>
          <a:ln/>
        </p:spPr>
      </p:sp>
      <p:sp>
        <p:nvSpPr>
          <p:cNvPr id="8" name="Text 4"/>
          <p:cNvSpPr/>
          <p:nvPr/>
        </p:nvSpPr>
        <p:spPr>
          <a:xfrm>
            <a:off x="1783080" y="5074920"/>
            <a:ext cx="8595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i="1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Percebeu? As colunas p → q e ¬p ∨ q são idênticas — são logicamente equivalentes. É exatamente por isso que implementamos → em código como (not p) or q.</a:t>
            </a:r>
            <a:endParaRPr lang="en-US" sz="1300" dirty="0"/>
          </a:p>
        </p:txBody>
      </p:sp>
      <p:sp>
        <p:nvSpPr>
          <p:cNvPr id="9" name="Text 5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777240"/>
            <a:ext cx="566928" cy="566928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" y="92354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417320" y="77724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EXERCÍCIO 2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417320" y="103327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Precedência</a:t>
            </a:r>
            <a:endParaRPr lang="en-US" sz="2400" dirty="0"/>
          </a:p>
        </p:txBody>
      </p:sp>
      <p:sp>
        <p:nvSpPr>
          <p:cNvPr id="6" name="Text 3"/>
          <p:cNvSpPr/>
          <p:nvPr/>
        </p:nvSpPr>
        <p:spPr>
          <a:xfrm>
            <a:off x="640080" y="169164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usar parênteses adicionais, avalie a fórmula abaixo. Depois reescreva-a usando parênteses para deixar a ordem explícita.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3566160" y="2514600"/>
            <a:ext cx="5029200" cy="960120"/>
          </a:xfrm>
          <a:prstGeom prst="roundRect">
            <a:avLst>
              <a:gd name="adj" fmla="val 11429"/>
            </a:avLst>
          </a:prstGeom>
          <a:solidFill>
            <a:srgbClr val="EDEAF7"/>
          </a:solidFill>
          <a:ln/>
        </p:spPr>
      </p:sp>
      <p:sp>
        <p:nvSpPr>
          <p:cNvPr id="8" name="Text 5"/>
          <p:cNvSpPr/>
          <p:nvPr/>
        </p:nvSpPr>
        <p:spPr>
          <a:xfrm>
            <a:off x="3566160" y="2514600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¬p ∧ q ∨ r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640080" y="37947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VALORES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40080" y="4114800"/>
            <a:ext cx="1828800" cy="594360"/>
          </a:xfrm>
          <a:prstGeom prst="roundRect">
            <a:avLst>
              <a:gd name="adj" fmla="val 15385"/>
            </a:avLst>
          </a:prstGeom>
          <a:solidFill>
            <a:srgbClr val="F3F1FB"/>
          </a:solidFill>
          <a:ln/>
        </p:spPr>
      </p:sp>
      <p:sp>
        <p:nvSpPr>
          <p:cNvPr id="11" name="Text 8"/>
          <p:cNvSpPr/>
          <p:nvPr/>
        </p:nvSpPr>
        <p:spPr>
          <a:xfrm>
            <a:off x="640080" y="411480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C4BC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 = </a:t>
            </a:r>
            <a:pPr algn="ctr" indent="0" marL="0">
              <a:buNone/>
            </a:pPr>
            <a:r>
              <a:rPr lang="en-US" sz="1600" b="1" dirty="0">
                <a:solidFill>
                  <a:srgbClr val="1E8A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2651760" y="4114800"/>
            <a:ext cx="1828800" cy="594360"/>
          </a:xfrm>
          <a:prstGeom prst="roundRect">
            <a:avLst>
              <a:gd name="adj" fmla="val 15385"/>
            </a:avLst>
          </a:prstGeom>
          <a:solidFill>
            <a:srgbClr val="F3F1FB"/>
          </a:solidFill>
          <a:ln/>
        </p:spPr>
      </p:sp>
      <p:sp>
        <p:nvSpPr>
          <p:cNvPr id="13" name="Text 10"/>
          <p:cNvSpPr/>
          <p:nvPr/>
        </p:nvSpPr>
        <p:spPr>
          <a:xfrm>
            <a:off x="2651760" y="411480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C4BC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 = </a:t>
            </a:r>
            <a:pPr algn="ctr" indent="0" marL="0">
              <a:buNone/>
            </a:pPr>
            <a:r>
              <a:rPr lang="en-US" sz="1600" b="1" dirty="0">
                <a:solidFill>
                  <a:srgbClr val="A83A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4663440" y="4114800"/>
            <a:ext cx="1828800" cy="594360"/>
          </a:xfrm>
          <a:prstGeom prst="roundRect">
            <a:avLst>
              <a:gd name="adj" fmla="val 15385"/>
            </a:avLst>
          </a:prstGeom>
          <a:solidFill>
            <a:srgbClr val="F3F1FB"/>
          </a:solidFill>
          <a:ln/>
        </p:spPr>
      </p:sp>
      <p:sp>
        <p:nvSpPr>
          <p:cNvPr id="15" name="Text 12"/>
          <p:cNvSpPr/>
          <p:nvPr/>
        </p:nvSpPr>
        <p:spPr>
          <a:xfrm>
            <a:off x="4663440" y="411480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C4BC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 = </a:t>
            </a:r>
            <a:pPr algn="ctr" indent="0" marL="0">
              <a:buNone/>
            </a:pPr>
            <a:r>
              <a:rPr lang="en-US" sz="1600" b="1" dirty="0">
                <a:solidFill>
                  <a:srgbClr val="1E8A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640080" y="5029200"/>
            <a:ext cx="1088136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8D2E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68680" y="5029200"/>
            <a:ext cx="10424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AFA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 e fórmula com parênteses explícitos: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777240"/>
            <a:ext cx="566928" cy="566928"/>
          </a:xfrm>
          <a:prstGeom prst="ellipse">
            <a:avLst/>
          </a:prstGeom>
          <a:solidFill>
            <a:srgbClr val="3EBD59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" y="92354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417320" y="7772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3EB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GABARITO · EXERCÍCIO 2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417320" y="103327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Precedência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640080" y="1783080"/>
            <a:ext cx="10881360" cy="777240"/>
          </a:xfrm>
          <a:prstGeom prst="roundRect">
            <a:avLst>
              <a:gd name="adj" fmla="val 11765"/>
            </a:avLst>
          </a:prstGeom>
          <a:solidFill>
            <a:srgbClr val="F3F1FB"/>
          </a:solidFill>
          <a:ln/>
        </p:spPr>
      </p:sp>
      <p:sp>
        <p:nvSpPr>
          <p:cNvPr id="7" name="Shape 4"/>
          <p:cNvSpPr/>
          <p:nvPr/>
        </p:nvSpPr>
        <p:spPr>
          <a:xfrm>
            <a:off x="868680" y="1920240"/>
            <a:ext cx="502920" cy="502920"/>
          </a:xfrm>
          <a:prstGeom prst="ellipse">
            <a:avLst/>
          </a:prstGeom>
          <a:solidFill>
            <a:srgbClr val="6C4BC1"/>
          </a:solidFill>
          <a:ln/>
        </p:spPr>
      </p:sp>
      <p:sp>
        <p:nvSpPr>
          <p:cNvPr id="8" name="Text 5"/>
          <p:cNvSpPr/>
          <p:nvPr/>
        </p:nvSpPr>
        <p:spPr>
          <a:xfrm>
            <a:off x="868680" y="1920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1600200" y="178308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C4BC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¬p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3931920" y="1783080"/>
            <a:ext cx="7315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¬V = F   (negação primeiro)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640080" y="2697480"/>
            <a:ext cx="10881360" cy="777240"/>
          </a:xfrm>
          <a:prstGeom prst="roundRect">
            <a:avLst>
              <a:gd name="adj" fmla="val 11765"/>
            </a:avLst>
          </a:prstGeom>
          <a:solidFill>
            <a:srgbClr val="F3F1FB"/>
          </a:solidFill>
          <a:ln/>
        </p:spPr>
      </p:sp>
      <p:sp>
        <p:nvSpPr>
          <p:cNvPr id="12" name="Shape 9"/>
          <p:cNvSpPr/>
          <p:nvPr/>
        </p:nvSpPr>
        <p:spPr>
          <a:xfrm>
            <a:off x="868680" y="2834640"/>
            <a:ext cx="502920" cy="502920"/>
          </a:xfrm>
          <a:prstGeom prst="ellipse">
            <a:avLst/>
          </a:prstGeom>
          <a:solidFill>
            <a:srgbClr val="6C4BC1"/>
          </a:solidFill>
          <a:ln/>
        </p:spPr>
      </p:sp>
      <p:sp>
        <p:nvSpPr>
          <p:cNvPr id="13" name="Text 10"/>
          <p:cNvSpPr/>
          <p:nvPr/>
        </p:nvSpPr>
        <p:spPr>
          <a:xfrm>
            <a:off x="868680" y="2834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1600200" y="269748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C4BC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 ∧ q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3931920" y="2697480"/>
            <a:ext cx="7315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∧ F = F   (conjunção antes da disjunção)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640080" y="3611880"/>
            <a:ext cx="10881360" cy="777240"/>
          </a:xfrm>
          <a:prstGeom prst="roundRect">
            <a:avLst>
              <a:gd name="adj" fmla="val 11765"/>
            </a:avLst>
          </a:prstGeom>
          <a:solidFill>
            <a:srgbClr val="F3F1FB"/>
          </a:solidFill>
          <a:ln/>
        </p:spPr>
      </p:sp>
      <p:sp>
        <p:nvSpPr>
          <p:cNvPr id="17" name="Shape 14"/>
          <p:cNvSpPr/>
          <p:nvPr/>
        </p:nvSpPr>
        <p:spPr>
          <a:xfrm>
            <a:off x="868680" y="3749040"/>
            <a:ext cx="502920" cy="502920"/>
          </a:xfrm>
          <a:prstGeom prst="ellipse">
            <a:avLst/>
          </a:prstGeom>
          <a:solidFill>
            <a:srgbClr val="6C4BC1"/>
          </a:solidFill>
          <a:ln/>
        </p:spPr>
      </p:sp>
      <p:sp>
        <p:nvSpPr>
          <p:cNvPr id="18" name="Text 15"/>
          <p:cNvSpPr/>
          <p:nvPr/>
        </p:nvSpPr>
        <p:spPr>
          <a:xfrm>
            <a:off x="868680" y="3749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1600200" y="361188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C4BC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 ∨ r</a:t>
            </a:r>
            <a:endParaRPr lang="en-US" sz="1700" dirty="0"/>
          </a:p>
        </p:txBody>
      </p:sp>
      <p:sp>
        <p:nvSpPr>
          <p:cNvPr id="20" name="Text 17"/>
          <p:cNvSpPr/>
          <p:nvPr/>
        </p:nvSpPr>
        <p:spPr>
          <a:xfrm>
            <a:off x="3931920" y="3611880"/>
            <a:ext cx="7315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∨ V = V   (disjunção por último)</a:t>
            </a:r>
            <a:endParaRPr lang="en-US" sz="1350" dirty="0"/>
          </a:p>
        </p:txBody>
      </p:sp>
      <p:sp>
        <p:nvSpPr>
          <p:cNvPr id="21" name="Shape 18"/>
          <p:cNvSpPr/>
          <p:nvPr/>
        </p:nvSpPr>
        <p:spPr>
          <a:xfrm>
            <a:off x="640080" y="4617720"/>
            <a:ext cx="10881360" cy="1051560"/>
          </a:xfrm>
          <a:prstGeom prst="roundRect">
            <a:avLst>
              <a:gd name="adj" fmla="val 10435"/>
            </a:avLst>
          </a:prstGeom>
          <a:solidFill>
            <a:srgbClr val="141B41"/>
          </a:solidFill>
          <a:ln/>
        </p:spPr>
      </p:sp>
      <p:sp>
        <p:nvSpPr>
          <p:cNvPr id="22" name="Text 19"/>
          <p:cNvSpPr/>
          <p:nvPr/>
        </p:nvSpPr>
        <p:spPr>
          <a:xfrm>
            <a:off x="868680" y="4617720"/>
            <a:ext cx="10424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7CB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Resultado: </a:t>
            </a:r>
            <a:pPr indent="0" marL="0">
              <a:buNone/>
            </a:pPr>
            <a:r>
              <a:rPr lang="en-US" sz="1600" b="1" dirty="0">
                <a:solidFill>
                  <a:srgbClr val="3EBD5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</a:t>
            </a:r>
            <a:pPr indent="0" marL="0">
              <a:buNone/>
            </a:pPr>
            <a:r>
              <a:rPr lang="en-US" sz="1600" dirty="0">
                <a:solidFill>
                  <a:srgbClr val="C7CB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Com parênteses explícitos: </a:t>
            </a:r>
            <a:pPr indent="0" marL="0">
              <a:buNone/>
            </a:pPr>
            <a:r>
              <a:rPr lang="en-US" sz="1600" b="1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(¬p ∧ q) ∨ r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777240"/>
            <a:ext cx="566928" cy="566928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" y="92354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417320" y="77724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EXERCÍCIO 3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417320" y="103327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Traduzindo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1737360" y="1783080"/>
            <a:ext cx="8686800" cy="960120"/>
          </a:xfrm>
          <a:prstGeom prst="roundRect">
            <a:avLst>
              <a:gd name="adj" fmla="val 11429"/>
            </a:avLst>
          </a:prstGeom>
          <a:solidFill>
            <a:srgbClr val="F3F1FB"/>
          </a:solidFill>
          <a:ln/>
        </p:spPr>
      </p:sp>
      <p:sp>
        <p:nvSpPr>
          <p:cNvPr id="7" name="Text 4"/>
          <p:cNvSpPr/>
          <p:nvPr/>
        </p:nvSpPr>
        <p:spPr>
          <a:xfrm>
            <a:off x="1737360" y="1783080"/>
            <a:ext cx="8686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“Se estudo e durmo bem, então passo na prova.”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640080" y="28803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Identifique p, q, r e o(s) conectivo(s) usado(s).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40080" y="3520440"/>
            <a:ext cx="342900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6510">
            <a:solidFill>
              <a:srgbClr val="6C4BC1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68680" y="370332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C4BC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 =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868680" y="420624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A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________________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4361688" y="3520440"/>
            <a:ext cx="342900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6510">
            <a:solidFill>
              <a:srgbClr val="6C4BC1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590288" y="370332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C4BC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 =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4590288" y="420624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A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________________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8083296" y="3520440"/>
            <a:ext cx="342900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6510">
            <a:solidFill>
              <a:srgbClr val="6C4BC1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311896" y="370332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C4BC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 =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8311896" y="420624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A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________________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40080" y="5120640"/>
            <a:ext cx="1088136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8D2E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68680" y="5120640"/>
            <a:ext cx="10424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AFA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Fórmula com conectivos: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777240"/>
            <a:ext cx="566928" cy="566928"/>
          </a:xfrm>
          <a:prstGeom prst="ellipse">
            <a:avLst/>
          </a:prstGeom>
          <a:solidFill>
            <a:srgbClr val="3EBD59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" y="92354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417320" y="7772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3EB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GABARITO · EXERCÍCIO 3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417320" y="103327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Traduzindo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640080" y="1920240"/>
            <a:ext cx="3429000" cy="1554480"/>
          </a:xfrm>
          <a:prstGeom prst="roundRect">
            <a:avLst>
              <a:gd name="adj" fmla="val 5882"/>
            </a:avLst>
          </a:prstGeom>
          <a:solidFill>
            <a:srgbClr val="F3F1FB"/>
          </a:solidFill>
          <a:ln/>
        </p:spPr>
      </p:sp>
      <p:sp>
        <p:nvSpPr>
          <p:cNvPr id="7" name="Text 4"/>
          <p:cNvSpPr/>
          <p:nvPr/>
        </p:nvSpPr>
        <p:spPr>
          <a:xfrm>
            <a:off x="868680" y="2103120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6C4BC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868680" y="274320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“estudo”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361688" y="1920240"/>
            <a:ext cx="3429000" cy="1554480"/>
          </a:xfrm>
          <a:prstGeom prst="roundRect">
            <a:avLst>
              <a:gd name="adj" fmla="val 5882"/>
            </a:avLst>
          </a:prstGeom>
          <a:solidFill>
            <a:srgbClr val="F3F1FB"/>
          </a:solidFill>
          <a:ln/>
        </p:spPr>
      </p:sp>
      <p:sp>
        <p:nvSpPr>
          <p:cNvPr id="10" name="Text 7"/>
          <p:cNvSpPr/>
          <p:nvPr/>
        </p:nvSpPr>
        <p:spPr>
          <a:xfrm>
            <a:off x="4590288" y="2103120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6C4BC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</a:t>
            </a:r>
            <a:endParaRPr lang="en-US" sz="2800" dirty="0"/>
          </a:p>
        </p:txBody>
      </p:sp>
      <p:sp>
        <p:nvSpPr>
          <p:cNvPr id="11" name="Text 8"/>
          <p:cNvSpPr/>
          <p:nvPr/>
        </p:nvSpPr>
        <p:spPr>
          <a:xfrm>
            <a:off x="4590288" y="274320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“durmo bem”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8083296" y="1920240"/>
            <a:ext cx="3429000" cy="1554480"/>
          </a:xfrm>
          <a:prstGeom prst="roundRect">
            <a:avLst>
              <a:gd name="adj" fmla="val 5882"/>
            </a:avLst>
          </a:prstGeom>
          <a:solidFill>
            <a:srgbClr val="F3F1FB"/>
          </a:solidFill>
          <a:ln/>
        </p:spPr>
      </p:sp>
      <p:sp>
        <p:nvSpPr>
          <p:cNvPr id="13" name="Text 10"/>
          <p:cNvSpPr/>
          <p:nvPr/>
        </p:nvSpPr>
        <p:spPr>
          <a:xfrm>
            <a:off x="8311896" y="2103120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6C4BC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</a:t>
            </a:r>
            <a:endParaRPr lang="en-US" sz="2800" dirty="0"/>
          </a:p>
        </p:txBody>
      </p:sp>
      <p:sp>
        <p:nvSpPr>
          <p:cNvPr id="14" name="Text 11"/>
          <p:cNvSpPr/>
          <p:nvPr/>
        </p:nvSpPr>
        <p:spPr>
          <a:xfrm>
            <a:off x="8311896" y="274320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“passo na prova”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640080" y="3794760"/>
            <a:ext cx="10881360" cy="1005840"/>
          </a:xfrm>
          <a:prstGeom prst="roundRect">
            <a:avLst>
              <a:gd name="adj" fmla="val 10909"/>
            </a:avLst>
          </a:prstGeom>
          <a:solidFill>
            <a:srgbClr val="141B41"/>
          </a:solidFill>
          <a:ln/>
        </p:spPr>
      </p:sp>
      <p:sp>
        <p:nvSpPr>
          <p:cNvPr id="16" name="Text 13"/>
          <p:cNvSpPr/>
          <p:nvPr/>
        </p:nvSpPr>
        <p:spPr>
          <a:xfrm>
            <a:off x="868680" y="3794760"/>
            <a:ext cx="10424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FE6C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(p ∧ q) → r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640080" y="49834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Conectivos usados: ∧ (conjunção) e → (condicional).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41B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777240"/>
            <a:ext cx="566928" cy="566928"/>
          </a:xfrm>
          <a:prstGeom prst="ellipse">
            <a:avLst/>
          </a:prstGeom>
          <a:solidFill>
            <a:srgbClr val="2FE6C7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" y="896112"/>
            <a:ext cx="329184" cy="32918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417320" y="77724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2FE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EXERCÍCIO 4 · DESAFIO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417320" y="103327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Bicondicional, na mão</a:t>
            </a:r>
            <a:endParaRPr lang="en-US" sz="2400" dirty="0"/>
          </a:p>
        </p:txBody>
      </p:sp>
      <p:sp>
        <p:nvSpPr>
          <p:cNvPr id="6" name="Text 3"/>
          <p:cNvSpPr/>
          <p:nvPr/>
        </p:nvSpPr>
        <p:spPr>
          <a:xfrm>
            <a:off x="640080" y="169164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CBC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 bicondicional_v2(p, q) usando apenas and, or e not (sem usar ==). Teste contra o bicondicional da aula para as 4 combinações de p e q.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2194560" y="2514600"/>
            <a:ext cx="7772400" cy="914400"/>
          </a:xfrm>
          <a:prstGeom prst="roundRect">
            <a:avLst>
              <a:gd name="adj" fmla="val 12000"/>
            </a:avLst>
          </a:prstGeom>
          <a:solidFill>
            <a:srgbClr val="232C63"/>
          </a:solidFill>
          <a:ln w="12700">
            <a:solidFill>
              <a:srgbClr val="4B5299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2468880" y="2514600"/>
            <a:ext cx="7223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AEB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dica: p ↔ q é verdadeira quando (p e q) ou (nem p, nem q)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640080" y="3749040"/>
            <a:ext cx="10881360" cy="2286000"/>
          </a:xfrm>
          <a:prstGeom prst="roundRect">
            <a:avLst>
              <a:gd name="adj" fmla="val 4000"/>
            </a:avLst>
          </a:prstGeom>
          <a:solidFill>
            <a:srgbClr val="232C63"/>
          </a:solidFill>
          <a:ln/>
        </p:spPr>
      </p:sp>
      <p:sp>
        <p:nvSpPr>
          <p:cNvPr id="10" name="Shape 7"/>
          <p:cNvSpPr/>
          <p:nvPr/>
        </p:nvSpPr>
        <p:spPr>
          <a:xfrm>
            <a:off x="896112" y="3968496"/>
            <a:ext cx="109728" cy="109728"/>
          </a:xfrm>
          <a:prstGeom prst="ellipse">
            <a:avLst/>
          </a:prstGeom>
          <a:solidFill>
            <a:srgbClr val="E5533D"/>
          </a:solidFill>
          <a:ln/>
        </p:spPr>
      </p:sp>
      <p:sp>
        <p:nvSpPr>
          <p:cNvPr id="11" name="Shape 8"/>
          <p:cNvSpPr/>
          <p:nvPr/>
        </p:nvSpPr>
        <p:spPr>
          <a:xfrm>
            <a:off x="1097280" y="3968496"/>
            <a:ext cx="109728" cy="109728"/>
          </a:xfrm>
          <a:prstGeom prst="ellipse">
            <a:avLst/>
          </a:prstGeom>
          <a:solidFill>
            <a:srgbClr val="E8B324"/>
          </a:solidFill>
          <a:ln/>
        </p:spPr>
      </p:sp>
      <p:sp>
        <p:nvSpPr>
          <p:cNvPr id="12" name="Shape 9"/>
          <p:cNvSpPr/>
          <p:nvPr/>
        </p:nvSpPr>
        <p:spPr>
          <a:xfrm>
            <a:off x="1298448" y="3968496"/>
            <a:ext cx="109728" cy="109728"/>
          </a:xfrm>
          <a:prstGeom prst="ellipse">
            <a:avLst/>
          </a:prstGeom>
          <a:solidFill>
            <a:srgbClr val="3EBD59"/>
          </a:solidFill>
          <a:ln/>
        </p:spPr>
      </p:sp>
      <p:sp>
        <p:nvSpPr>
          <p:cNvPr id="13" name="Text 10"/>
          <p:cNvSpPr/>
          <p:nvPr/>
        </p:nvSpPr>
        <p:spPr>
          <a:xfrm>
            <a:off x="1554480" y="393192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bicondicional_v2.py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914400" y="434340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</a:t>
            </a:r>
            <a:pPr indent="0" marL="0">
              <a:buNone/>
            </a:pPr>
            <a:r>
              <a:rPr lang="en-US" sz="15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bicondicional_v2(p, q):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914400" y="47548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F76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____________________________________________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914400" y="539496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AEB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Teste: escreva as 4 combinações de p e q e confira se o resultado é igual ao bicondicional(p, q).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1B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777240"/>
            <a:ext cx="566928" cy="566928"/>
          </a:xfrm>
          <a:prstGeom prst="ellipse">
            <a:avLst/>
          </a:prstGeom>
          <a:solidFill>
            <a:srgbClr val="3EBD59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" y="92354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417320" y="7772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2FE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GABARITO · EXERCÍCIO 4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417320" y="103327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Bicondicional, na mão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640080" y="1737360"/>
            <a:ext cx="10881360" cy="1417320"/>
          </a:xfrm>
          <a:prstGeom prst="roundRect">
            <a:avLst>
              <a:gd name="adj" fmla="val 9032"/>
            </a:avLst>
          </a:prstGeom>
          <a:solidFill>
            <a:srgbClr val="232C63"/>
          </a:solidFill>
          <a:ln/>
        </p:spPr>
      </p:sp>
      <p:sp>
        <p:nvSpPr>
          <p:cNvPr id="7" name="Shape 4"/>
          <p:cNvSpPr/>
          <p:nvPr/>
        </p:nvSpPr>
        <p:spPr>
          <a:xfrm>
            <a:off x="896112" y="1956816"/>
            <a:ext cx="109728" cy="109728"/>
          </a:xfrm>
          <a:prstGeom prst="ellipse">
            <a:avLst/>
          </a:prstGeom>
          <a:solidFill>
            <a:srgbClr val="E5533D"/>
          </a:solidFill>
          <a:ln/>
        </p:spPr>
      </p:sp>
      <p:sp>
        <p:nvSpPr>
          <p:cNvPr id="8" name="Shape 5"/>
          <p:cNvSpPr/>
          <p:nvPr/>
        </p:nvSpPr>
        <p:spPr>
          <a:xfrm>
            <a:off x="1097280" y="1956816"/>
            <a:ext cx="109728" cy="109728"/>
          </a:xfrm>
          <a:prstGeom prst="ellipse">
            <a:avLst/>
          </a:prstGeom>
          <a:solidFill>
            <a:srgbClr val="E8B324"/>
          </a:solidFill>
          <a:ln/>
        </p:spPr>
      </p:sp>
      <p:sp>
        <p:nvSpPr>
          <p:cNvPr id="9" name="Shape 6"/>
          <p:cNvSpPr/>
          <p:nvPr/>
        </p:nvSpPr>
        <p:spPr>
          <a:xfrm>
            <a:off x="1298448" y="1956816"/>
            <a:ext cx="109728" cy="109728"/>
          </a:xfrm>
          <a:prstGeom prst="ellipse">
            <a:avLst/>
          </a:prstGeom>
          <a:solidFill>
            <a:srgbClr val="3EBD59"/>
          </a:solidFill>
          <a:ln/>
        </p:spPr>
      </p:sp>
      <p:sp>
        <p:nvSpPr>
          <p:cNvPr id="10" name="Text 7"/>
          <p:cNvSpPr/>
          <p:nvPr/>
        </p:nvSpPr>
        <p:spPr>
          <a:xfrm>
            <a:off x="1554480" y="1897380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bicondicional_v2.py</a:t>
            </a:r>
            <a:endParaRPr lang="en-US" sz="105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1883664"/>
            <a:ext cx="274320" cy="27432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932688" y="2423160"/>
            <a:ext cx="10332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</a:t>
            </a:r>
            <a:pPr indent="0" marL="0">
              <a:buNone/>
            </a:pPr>
            <a:r>
              <a:rPr lang="en-US" sz="14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bicondicional_v2(p, q):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932688" y="2807208"/>
            <a:ext cx="10332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(p </a:t>
            </a:r>
            <a:pPr indent="0" marL="0">
              <a:buNone/>
            </a:pPr>
            <a:r>
              <a:rPr lang="en-US" sz="14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 </a:t>
            </a:r>
            <a:pPr indent="0" marL="0">
              <a:buNone/>
            </a:pPr>
            <a:r>
              <a:rPr lang="en-US" sz="14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q) </a:t>
            </a:r>
            <a:pPr indent="0" marL="0">
              <a:buNone/>
            </a:pPr>
            <a:r>
              <a:rPr lang="en-US" sz="14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 </a:t>
            </a:r>
            <a:pPr indent="0" marL="0">
              <a:buNone/>
            </a:pPr>
            <a:r>
              <a:rPr lang="en-US" sz="14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4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 </a:t>
            </a:r>
            <a:pPr indent="0" marL="0">
              <a:buNone/>
            </a:pPr>
            <a:r>
              <a:rPr lang="en-US" sz="14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 </a:t>
            </a:r>
            <a:pPr indent="0" marL="0">
              <a:buNone/>
            </a:pPr>
            <a:r>
              <a:rPr lang="en-US" sz="14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 </a:t>
            </a:r>
            <a:pPr indent="0" marL="0">
              <a:buNone/>
            </a:pPr>
            <a:r>
              <a:rPr lang="en-US" sz="14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 </a:t>
            </a:r>
            <a:pPr indent="0" marL="0">
              <a:buNone/>
            </a:pPr>
            <a:r>
              <a:rPr lang="en-US" sz="14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q)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640080" y="32918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AEB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Equivalente em C#:  static bool BicondicionalV2(bool p, bool q) =&gt; (p &amp;&amp; q) || (!p &amp;&amp; !q);</a:t>
            </a:r>
            <a:endParaRPr lang="en-US" sz="115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51760" y="3886200"/>
          <a:ext cx="6858000" cy="914400"/>
        </p:xfrm>
        <a:graphic>
          <a:graphicData uri="http://schemas.openxmlformats.org/drawingml/2006/table">
            <a:tbl>
              <a:tblPr/>
              <a:tblGrid>
                <a:gridCol w="1714500"/>
                <a:gridCol w="1714500"/>
                <a:gridCol w="1714500"/>
                <a:gridCol w="171450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bicondicional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bicondicional_v2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</a:tr>
            </a:tbl>
          </a:graphicData>
        </a:graphic>
      </p:graphicFrame>
      <p:sp>
        <p:nvSpPr>
          <p:cNvPr id="16" name="Text 11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CHECK-IN DE ROTA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9144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Onde estamos no semestre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2423160" y="3502152"/>
            <a:ext cx="7315200" cy="36576"/>
          </a:xfrm>
          <a:prstGeom prst="rect">
            <a:avLst/>
          </a:prstGeom>
          <a:solidFill>
            <a:srgbClr val="DAD5F0"/>
          </a:solidFill>
          <a:ln/>
        </p:spPr>
      </p:sp>
      <p:sp>
        <p:nvSpPr>
          <p:cNvPr id="5" name="Shape 3"/>
          <p:cNvSpPr/>
          <p:nvPr/>
        </p:nvSpPr>
        <p:spPr>
          <a:xfrm>
            <a:off x="1691640" y="3108960"/>
            <a:ext cx="822960" cy="822960"/>
          </a:xfrm>
          <a:prstGeom prst="ellipse">
            <a:avLst/>
          </a:prstGeom>
          <a:solidFill>
            <a:srgbClr val="B8AEE0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0" y="3246120"/>
            <a:ext cx="548640" cy="5486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05840" y="40690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03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005840" y="43891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Fundamentos de Lógica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367528" y="2286000"/>
            <a:ext cx="1463040" cy="384048"/>
          </a:xfrm>
          <a:prstGeom prst="roundRect">
            <a:avLst>
              <a:gd name="adj" fmla="val 50000"/>
            </a:avLst>
          </a:prstGeom>
          <a:solidFill>
            <a:srgbClr val="2FE6C7"/>
          </a:solidFill>
          <a:ln/>
        </p:spPr>
      </p:sp>
      <p:sp>
        <p:nvSpPr>
          <p:cNvPr id="10" name="Text 7"/>
          <p:cNvSpPr/>
          <p:nvPr/>
        </p:nvSpPr>
        <p:spPr>
          <a:xfrm>
            <a:off x="5367528" y="228600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50" kern="0" dirty="0">
                <a:solidFill>
                  <a:srgbClr val="141B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VOCÊ ESTÁ AQUI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5504688" y="2926080"/>
            <a:ext cx="1188720" cy="1188720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0" y="3136392"/>
            <a:ext cx="768096" cy="768096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001768" y="42062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04</a:t>
            </a:r>
            <a:endParaRPr lang="en-US" sz="1550" dirty="0"/>
          </a:p>
        </p:txBody>
      </p:sp>
      <p:sp>
        <p:nvSpPr>
          <p:cNvPr id="14" name="Text 10"/>
          <p:cNvSpPr/>
          <p:nvPr/>
        </p:nvSpPr>
        <p:spPr>
          <a:xfrm>
            <a:off x="4727448" y="45262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Tabela-verdade dos conectivos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9189720" y="3108960"/>
            <a:ext cx="822960" cy="82296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6C4BC1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00032" y="3319272"/>
            <a:ext cx="402336" cy="40233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503920" y="40690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05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8046720" y="438912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Aplicação das tabelas-verdade em exercícios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640080" y="60350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Depois de dominar os cinco conectivos, é hora de combiná-los em exercícios mais longos.</a:t>
            </a:r>
            <a:endParaRPr lang="en-US" sz="1250" dirty="0"/>
          </a:p>
        </p:txBody>
      </p:sp>
      <p:sp>
        <p:nvSpPr>
          <p:cNvPr id="20" name="Text 15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IR ALÉM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7315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Referências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444752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Livros — teoria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057400"/>
            <a:ext cx="3538728" cy="4023360"/>
          </a:xfrm>
          <a:prstGeom prst="roundRect">
            <a:avLst>
              <a:gd name="adj" fmla="val 3101"/>
            </a:avLst>
          </a:prstGeom>
          <a:solidFill>
            <a:srgbClr val="F3F1FB"/>
          </a:solidFill>
          <a:ln/>
        </p:spPr>
      </p:sp>
      <p:sp>
        <p:nvSpPr>
          <p:cNvPr id="6" name="Shape 4"/>
          <p:cNvSpPr/>
          <p:nvPr/>
        </p:nvSpPr>
        <p:spPr>
          <a:xfrm>
            <a:off x="896112" y="2313432"/>
            <a:ext cx="475488" cy="475488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" y="2459736"/>
            <a:ext cx="182880" cy="1828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2898648"/>
            <a:ext cx="3026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4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ROSEN, K. H.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896112" y="3520440"/>
            <a:ext cx="302666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Matemática Discreta e suas Aplicações. 7. ed. AMGH/McGraw-Hill — cap. Lógica Proposicional (conectivos e tabelas-verdade).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79976" y="2057400"/>
            <a:ext cx="3538728" cy="4023360"/>
          </a:xfrm>
          <a:prstGeom prst="roundRect">
            <a:avLst>
              <a:gd name="adj" fmla="val 3101"/>
            </a:avLst>
          </a:prstGeom>
          <a:solidFill>
            <a:srgbClr val="F3F1FB"/>
          </a:solidFill>
          <a:ln/>
        </p:spPr>
      </p:sp>
      <p:sp>
        <p:nvSpPr>
          <p:cNvPr id="11" name="Shape 8"/>
          <p:cNvSpPr/>
          <p:nvPr/>
        </p:nvSpPr>
        <p:spPr>
          <a:xfrm>
            <a:off x="4636008" y="2313432"/>
            <a:ext cx="475488" cy="475488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2312" y="2459736"/>
            <a:ext cx="182880" cy="18288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636008" y="2898648"/>
            <a:ext cx="3026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4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GERSTING, J. L.</a:t>
            </a:r>
            <a:endParaRPr lang="en-US" sz="1450" dirty="0"/>
          </a:p>
        </p:txBody>
      </p:sp>
      <p:sp>
        <p:nvSpPr>
          <p:cNvPr id="14" name="Text 10"/>
          <p:cNvSpPr/>
          <p:nvPr/>
        </p:nvSpPr>
        <p:spPr>
          <a:xfrm>
            <a:off x="4636008" y="3520440"/>
            <a:ext cx="302666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Fundamentos Matemáticos para a Ciência da Computação. LTC — cap. Lógica.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8119872" y="2057400"/>
            <a:ext cx="3538728" cy="4023360"/>
          </a:xfrm>
          <a:prstGeom prst="roundRect">
            <a:avLst>
              <a:gd name="adj" fmla="val 3101"/>
            </a:avLst>
          </a:prstGeom>
          <a:solidFill>
            <a:srgbClr val="F3F1FB"/>
          </a:solidFill>
          <a:ln/>
        </p:spPr>
      </p:sp>
      <p:sp>
        <p:nvSpPr>
          <p:cNvPr id="16" name="Shape 12"/>
          <p:cNvSpPr/>
          <p:nvPr/>
        </p:nvSpPr>
        <p:spPr>
          <a:xfrm>
            <a:off x="8375904" y="2313432"/>
            <a:ext cx="475488" cy="475488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22208" y="2459736"/>
            <a:ext cx="182880" cy="18288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375904" y="2898648"/>
            <a:ext cx="3026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4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LIPSCHUTZ, S.; LIPSON, M.</a:t>
            </a:r>
            <a:endParaRPr lang="en-US" sz="1450" dirty="0"/>
          </a:p>
        </p:txBody>
      </p:sp>
      <p:sp>
        <p:nvSpPr>
          <p:cNvPr id="19" name="Text 14"/>
          <p:cNvSpPr/>
          <p:nvPr/>
        </p:nvSpPr>
        <p:spPr>
          <a:xfrm>
            <a:off x="8375904" y="3520440"/>
            <a:ext cx="302666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Matemática Discreta (Coleção Schaum). Bookman — cap. Lógica Proposicional.</a:t>
            </a:r>
            <a:endParaRPr lang="en-US" sz="1200" dirty="0"/>
          </a:p>
        </p:txBody>
      </p:sp>
      <p:sp>
        <p:nvSpPr>
          <p:cNvPr id="20" name="Text 15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IR ALÉM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Documentação e vídeos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257800" cy="4251960"/>
          </a:xfrm>
          <a:prstGeom prst="roundRect">
            <a:avLst>
              <a:gd name="adj" fmla="val 2581"/>
            </a:avLst>
          </a:prstGeom>
          <a:solidFill>
            <a:srgbClr val="F3F1FB"/>
          </a:solidFill>
          <a:ln/>
        </p:spPr>
      </p:sp>
      <p:sp>
        <p:nvSpPr>
          <p:cNvPr id="5" name="Shape 3"/>
          <p:cNvSpPr/>
          <p:nvPr/>
        </p:nvSpPr>
        <p:spPr>
          <a:xfrm>
            <a:off x="896112" y="1947672"/>
            <a:ext cx="475488" cy="475488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" y="2093976"/>
            <a:ext cx="182880" cy="1828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96112" y="2532888"/>
            <a:ext cx="4745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— operações booleanas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896112" y="2971800"/>
            <a:ext cx="4745736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spcAft>
                <a:spcPts val="1200"/>
              </a:spcAft>
              <a:buNone/>
            </a:pPr>
            <a:r>
              <a:rPr lang="en-US" sz="1250" u="sng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Operações booleanas (and/or/not)</a:t>
            </a:r>
            <a:pPr indent="0" marL="0">
              <a:lnSpc>
                <a:spcPts val="19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docs.python.org</a:t>
            </a:r>
            <a:endParaRPr lang="en-US" sz="1250" dirty="0"/>
          </a:p>
          <a:p>
            <a:pPr indent="0" marL="0">
              <a:lnSpc>
                <a:spcPts val="1900"/>
              </a:lnSpc>
              <a:spcAft>
                <a:spcPts val="1200"/>
              </a:spcAft>
              <a:buNone/>
            </a:pPr>
            <a:r>
              <a:rPr lang="en-US" sz="1250" u="sng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Operadores de comparação (==)</a:t>
            </a:r>
            <a:pPr indent="0" marL="0">
              <a:lnSpc>
                <a:spcPts val="19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docs.python.org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263640" y="1691640"/>
            <a:ext cx="5257800" cy="4251960"/>
          </a:xfrm>
          <a:prstGeom prst="roundRect">
            <a:avLst>
              <a:gd name="adj" fmla="val 2581"/>
            </a:avLst>
          </a:prstGeom>
          <a:solidFill>
            <a:srgbClr val="F3F1FB"/>
          </a:solidFill>
          <a:ln/>
        </p:spPr>
      </p:sp>
      <p:sp>
        <p:nvSpPr>
          <p:cNvPr id="10" name="Shape 7"/>
          <p:cNvSpPr/>
          <p:nvPr/>
        </p:nvSpPr>
        <p:spPr>
          <a:xfrm>
            <a:off x="6519672" y="1947672"/>
            <a:ext cx="475488" cy="475488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5976" y="2093976"/>
            <a:ext cx="182880" cy="18288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519672" y="2532888"/>
            <a:ext cx="4745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Vídeos</a:t>
            </a:r>
            <a:endParaRPr lang="en-US" sz="1550" dirty="0"/>
          </a:p>
        </p:txBody>
      </p:sp>
      <p:sp>
        <p:nvSpPr>
          <p:cNvPr id="13" name="Text 9"/>
          <p:cNvSpPr/>
          <p:nvPr/>
        </p:nvSpPr>
        <p:spPr>
          <a:xfrm>
            <a:off x="6519672" y="2971800"/>
            <a:ext cx="4745736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spcAft>
                <a:spcPts val="1200"/>
              </a:spcAft>
              <a:buNone/>
            </a:pPr>
            <a:r>
              <a:rPr lang="en-US" sz="1250" u="sng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Conectivos lógicos e tabelas-verdade</a:t>
            </a:r>
            <a:pPr indent="0" marL="0">
              <a:lnSpc>
                <a:spcPts val="19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explicação passo a passo.</a:t>
            </a:r>
            <a:endParaRPr lang="en-US" sz="1250" dirty="0"/>
          </a:p>
          <a:p>
            <a:pPr indent="0" marL="0">
              <a:lnSpc>
                <a:spcPts val="1900"/>
              </a:lnSpc>
              <a:spcAft>
                <a:spcPts val="1200"/>
              </a:spcAft>
              <a:buNone/>
            </a:pPr>
            <a:r>
              <a:rPr lang="en-US" sz="1250" u="sng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Canal Prof. Ferretto</a:t>
            </a:r>
            <a:pPr indent="0" marL="0">
              <a:lnSpc>
                <a:spcPts val="19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lógica matemática com muitos exercícios resolvidos.</a:t>
            </a:r>
            <a:endParaRPr lang="en-US" sz="1250" dirty="0"/>
          </a:p>
        </p:txBody>
      </p:sp>
      <p:sp>
        <p:nvSpPr>
          <p:cNvPr id="14" name="Text 10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41B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2011680"/>
            <a:ext cx="5486400" cy="5486400"/>
          </a:xfrm>
          <a:prstGeom prst="ellipse">
            <a:avLst/>
          </a:prstGeom>
          <a:ln w="19050">
            <a:solidFill>
              <a:srgbClr val="6C4BC1">
                <a:alpha val="5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509760" y="4206240"/>
            <a:ext cx="3840480" cy="3840480"/>
          </a:xfrm>
          <a:prstGeom prst="ellipse">
            <a:avLst/>
          </a:prstGeom>
          <a:ln w="19050">
            <a:solidFill>
              <a:srgbClr val="2FE6C7">
                <a:alpha val="5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051560"/>
            <a:ext cx="777240" cy="777240"/>
          </a:xfrm>
          <a:prstGeom prst="ellipse">
            <a:avLst/>
          </a:prstGeom>
          <a:solidFill>
            <a:srgbClr val="2FE6C7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" y="1197864"/>
            <a:ext cx="484632" cy="48463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600200" y="117043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FE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 PARADA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1600200" y="146304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BC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Aplicação das tabelas-verdade em exercícios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640080" y="2606040"/>
            <a:ext cx="10058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Vamos praticar combinando</a:t>
            </a:r>
            <a:endParaRPr lang="en-US" sz="3200" dirty="0"/>
          </a:p>
          <a:p>
            <a:pPr indent="0" marL="0">
              <a:lnSpc>
                <a:spcPts val="38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conectivos em exercícios mais longos.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640080" y="416052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EB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Guarde o slide das “cinco tabelas juntas” — ele vai ser sua cola pessoal.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640080" y="6172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spc="100" kern="0" dirty="0">
                <a:solidFill>
                  <a:srgbClr val="6F7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Matemática Computacional Aplicada  ·  Aula 04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2026-08-04T21:24:39Z</dcterms:created>
  <dcterms:modified xsi:type="dcterms:W3CDTF">2026-08-04T21:24:39Z</dcterms:modified>
</cp:coreProperties>
</file>