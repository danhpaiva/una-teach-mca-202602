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19233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Recapitular rápido: na aula passada vimos o que é proposição. Hoje aprendemos a combiná-las formalmente.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Avisar que hoje tem tabela-verdade de verdade (trocadilho) — vale caderno aberto.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roteiro visual da aula inteira — voltar a este slide mentalmente a cada novo conectivo.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Comparar com o not do Python / o ! do C# — mesma tabela, sintaxe diferente.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um formulário só é válido se TODAS as validações passarem — cada validação é uma proposição, o AND geral é a conjunção.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do 'ou exclusivo' do dia a dia ('café ou chá' costuma significar só um) — o ∨ lógico é inclusivo.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tabela que mais gera confusão. Dar tempo para a turma digerir antes de seguir para o exemplo em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colunas de badge são p, q e o resultado p→q, na ordem — reforçar que a seta central lembra a implicação.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Comparar as duas últimas linhas do → com o ↔: a diferença entre implicação e equivalência está exatamente aí.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bicondicional é o conectivo da 'coerência' — as duas linhas F são justamente onde afirmação e realidade se contradizem.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Guardar este slide como referência — vale voltar a ele sempre que surgir dúvida sobre algum conectivo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a turma traga mais um exemplo de cada linha, tirado da própria fala do dia a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Convidar a turma a trazer uma frase própria e traduzir juntos,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Fazer analogia direta com PEMDAS/aritmética — a ideia de precedência já é familiar, só troca os símbolos.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Chamar atenção para a linha do → : é literalmente a mesma fórmula (¬p ∨ q) que veremos no Exercício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de verdade no VS Code, se possível — ver as 4 linhas de saída batendo com a tabela-verdade do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cada exercício tem gabarito no slide seguinte — resolver antes de virar a página.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tempo para preencher as duas últimas colunas antes de revelar o gabarito.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equivalência é o motivo pelo qual Python/C# não precisam de um operador → separado.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 a ordem: ¬ primeiro, depois ∧, depois ∨ — igual ao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(¬p ∧ q) ∨ r = (F ∧ F) ∨ V = F ∨ V = V — mesma resposta, ordem visível de cara.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 ao 'e' e ao 'se... então' na mesma frase — dois conectivos combinados.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que 'estudo e durmo bem' vira uma única proposição composta (p ∧ q) antes de entrar na condicional.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deixar a turma tentar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colunas finais são idênticas nas 4 linhas — prova de que bicondicional_v2 é uma implementação correta.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as tabelas de hoje são a ferramenta; a próxima aula é onde a gente aplica em problemas maiores.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Rosen segue como livro-texto principal; Lipschutz/Lipson (Schaum) tem muitos exercícios resolvidos, bom para reforço.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Materiais de apoio — o canal Ferretto é especialmente bom para quem quer mais repetição via exercícios.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lembrando que a próxima aula é só prática — sem conectivo novo, só aplicação do que já vimos.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results?search_query=prof+ferretto+l%C3%B3gica+conectivos" TargetMode="External"/><Relationship Id="rId3" Type="http://schemas.openxmlformats.org/officeDocument/2006/relationships/image" Target="../media/image10.png"/><Relationship Id="rId7" Type="http://schemas.openxmlformats.org/officeDocument/2006/relationships/hyperlink" Target="https://www.youtube.com/results?search_query=conectivos+l%C3%B3gicos+tabela+verdade+explica%C3%A7%C3%A3o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hyperlink" Target="https://docs.python.org/3/library/stdtypes.html#comparisons" TargetMode="External"/><Relationship Id="rId4" Type="http://schemas.openxmlformats.org/officeDocument/2006/relationships/hyperlink" Target="https://docs.python.org/3/reference/expressions.html#boolean-operation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9692640" y="-32004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04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Proposições lógicas e tabela-verdade dos conectivos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conectivos, cinco regras — o vocabulário que transforma intuição em cálculo.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   ∧   ∨   →   ↔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0208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47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conectivos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508760" y="2185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Negação, conjunção, disjunção, condicional e bicondicional.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62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Tabela-verdade de cada um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08760" y="3300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lógico resultante para toda combinação possível.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105656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519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782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Precedência entre conectivos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conectivo é avaliado primeiro — igual em aritmética.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221224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536752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1937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isso vira código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508760" y="5532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conectivos, agora em C# e Python.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MENU DE HOJE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conectivos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conectivo combina o valor lógico de uma ou duas proposições para produzir um novo valor lógico.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27736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627736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19176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Negação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9176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“não”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58872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10" name="Text 8"/>
          <p:cNvSpPr/>
          <p:nvPr/>
        </p:nvSpPr>
        <p:spPr>
          <a:xfrm>
            <a:off x="2858872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2950312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Conjunção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950312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90008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5090008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∨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5181448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Disjunção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181448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“ou”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21144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18" name="Text 16"/>
          <p:cNvSpPr/>
          <p:nvPr/>
        </p:nvSpPr>
        <p:spPr>
          <a:xfrm>
            <a:off x="7321144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7412584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412584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“se... então”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552280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22" name="Text 20"/>
          <p:cNvSpPr/>
          <p:nvPr/>
        </p:nvSpPr>
        <p:spPr>
          <a:xfrm>
            <a:off x="9552280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43720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Bicondicional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43720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 somente se”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ver a tabela-verdade de cada um, um por um.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1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Negação  </a:t>
            </a:r>
            <a:r>
              <a:rPr lang="en-US" sz="32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 o valor lógico da proposição: “não p”.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p: </a:t>
            </a: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“estudei”   </a:t>
            </a: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¬p: </a:t>
            </a: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“não estudei”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único conectivo unário — atua sobre uma única proposição, não duas.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148840"/>
          <a:ext cx="402336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2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Conjunção  </a:t>
            </a:r>
            <a:r>
              <a:rPr lang="en-US" sz="32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r>
              <a:rPr lang="en-US" sz="3200" b="1" dirty="0">
                <a:solidFill>
                  <a:srgbClr val="6B6B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(e)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é verdadeira quando as duas proposições são verdadeiras.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∧ q: </a:t>
            </a: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“estudei e dormi bem”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uma parte falsa para a conjunção toda falhar — pense em pré-requisitos que precisam ser todos cumpridos.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7373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∧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3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Disjunção  </a:t>
            </a:r>
            <a:r>
              <a:rPr lang="en-US" sz="32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∨</a:t>
            </a:r>
            <a:r>
              <a:rPr lang="en-US" sz="3200" b="1" dirty="0">
                <a:solidFill>
                  <a:srgbClr val="6B6B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(ou)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verdadeira quando pelo menos uma das proposições é verdadeira.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∨ q: </a:t>
            </a: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“estudei ou dormi bem”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é falsa quando as duas partes são falsas — é a versão “inclusiva” do ou, aceita as duas ao mesmo tempo.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7373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∨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4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Condicional  </a:t>
            </a:r>
            <a:r>
              <a:rPr lang="en-US" sz="3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r>
              <a:rPr lang="en-US" sz="3000" b="1" dirty="0">
                <a:solidFill>
                  <a:srgbClr val="6B6B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(se... então)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→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691640"/>
            <a:ext cx="5440680" cy="4114800"/>
          </a:xfrm>
          <a:prstGeom prst="roundRect">
            <a:avLst>
              <a:gd name="adj" fmla="val 2667"/>
            </a:avLst>
          </a:prstGeom>
          <a:solidFill>
            <a:srgbClr val="141B41"/>
          </a:solidFill>
          <a:ln/>
        </p:spPr>
      </p:sp>
      <p:sp>
        <p:nvSpPr>
          <p:cNvPr id="6" name="Shape 3"/>
          <p:cNvSpPr/>
          <p:nvPr/>
        </p:nvSpPr>
        <p:spPr>
          <a:xfrm>
            <a:off x="6382512" y="19202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2020824"/>
            <a:ext cx="301752" cy="301752"/>
          </a:xfrm>
          <a:prstGeom prst="rect">
            <a:avLst/>
          </a:prstGeom>
        </p:spPr>
      </p:pic>
      <p:sp>
        <p:nvSpPr>
          <p:cNvPr id="4" name="Text 4"/>
          <p:cNvSpPr/>
          <p:nvPr/>
        </p:nvSpPr>
        <p:spPr>
          <a:xfrm>
            <a:off x="7040880" y="19659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mais contraintuitivo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382512" y="260604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p então q” só é falsa quando p é verdadeira e a promessa não se cumpre (q falsa). Se p já é falsa, o condicional é sempre verdadeiro.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82512" y="379476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232C63"/>
          </a:solidFill>
          <a:ln/>
        </p:spPr>
      </p:sp>
      <p:sp>
        <p:nvSpPr>
          <p:cNvPr id="11" name="Text 7"/>
          <p:cNvSpPr/>
          <p:nvPr/>
        </p:nvSpPr>
        <p:spPr>
          <a:xfrm>
            <a:off x="658368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vacuamente verdadeiro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583680" y="43434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eu fosse rico, compraria um avião” não é mentira só porque eu não sou rico — a promessa nunca foi testada.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4 DE 5 · EM CONTEXTO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chove, a rua fica molhada”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5361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p: “chove”     q: “a rua fica molhada”     fórmula: p → q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10312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8" name="Shape 5"/>
          <p:cNvSpPr/>
          <p:nvPr/>
        </p:nvSpPr>
        <p:spPr>
          <a:xfrm>
            <a:off x="868680" y="225399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22539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508760" y="225399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1" name="Text 8"/>
          <p:cNvSpPr/>
          <p:nvPr/>
        </p:nvSpPr>
        <p:spPr>
          <a:xfrm>
            <a:off x="1508760" y="22539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2372868"/>
            <a:ext cx="256032" cy="25603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560320" y="225399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4" name="Text 10"/>
          <p:cNvSpPr/>
          <p:nvPr/>
        </p:nvSpPr>
        <p:spPr>
          <a:xfrm>
            <a:off x="2560320" y="22539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291840" y="2103120"/>
            <a:ext cx="4023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Chove e a rua molha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7452360" y="2103120"/>
            <a:ext cx="3931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promessa se cumpriu.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306324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68680" y="321411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9" name="Text 15"/>
          <p:cNvSpPr/>
          <p:nvPr/>
        </p:nvSpPr>
        <p:spPr>
          <a:xfrm>
            <a:off x="868680" y="32141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1508760" y="321411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1" name="Text 17"/>
          <p:cNvSpPr/>
          <p:nvPr/>
        </p:nvSpPr>
        <p:spPr>
          <a:xfrm>
            <a:off x="1508760" y="32141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3332988"/>
            <a:ext cx="256032" cy="25603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2560320" y="321411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4" name="Text 19"/>
          <p:cNvSpPr/>
          <p:nvPr/>
        </p:nvSpPr>
        <p:spPr>
          <a:xfrm>
            <a:off x="2560320" y="32141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3291840" y="3063240"/>
            <a:ext cx="4023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Chove e a rua não molha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7452360" y="3063240"/>
            <a:ext cx="3931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promessa foi quebrada.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40080" y="402336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28" name="Shape 23"/>
          <p:cNvSpPr/>
          <p:nvPr/>
        </p:nvSpPr>
        <p:spPr>
          <a:xfrm>
            <a:off x="868680" y="417423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9" name="Text 24"/>
          <p:cNvSpPr/>
          <p:nvPr/>
        </p:nvSpPr>
        <p:spPr>
          <a:xfrm>
            <a:off x="868680" y="41742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1508760" y="417423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31" name="Text 26"/>
          <p:cNvSpPr/>
          <p:nvPr/>
        </p:nvSpPr>
        <p:spPr>
          <a:xfrm>
            <a:off x="1508760" y="41742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4293108"/>
            <a:ext cx="256032" cy="25603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2560320" y="417423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34" name="Text 28"/>
          <p:cNvSpPr/>
          <p:nvPr/>
        </p:nvSpPr>
        <p:spPr>
          <a:xfrm>
            <a:off x="2560320" y="41742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3291840" y="4023360"/>
            <a:ext cx="4023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chove, mas a rua molha (ex.: lavaram a calçada)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7452360" y="4023360"/>
            <a:ext cx="3931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implicação só fala do que acontece quando chove.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640080" y="498348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" y="513435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39" name="Text 33"/>
          <p:cNvSpPr/>
          <p:nvPr/>
        </p:nvSpPr>
        <p:spPr>
          <a:xfrm>
            <a:off x="868680" y="51343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40" name="Shape 34"/>
          <p:cNvSpPr/>
          <p:nvPr/>
        </p:nvSpPr>
        <p:spPr>
          <a:xfrm>
            <a:off x="1508760" y="5134356"/>
            <a:ext cx="493776" cy="493776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41" name="Text 35"/>
          <p:cNvSpPr/>
          <p:nvPr/>
        </p:nvSpPr>
        <p:spPr>
          <a:xfrm>
            <a:off x="1508760" y="51343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5253228"/>
            <a:ext cx="256032" cy="256032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2560320" y="5134356"/>
            <a:ext cx="493776" cy="493776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44" name="Text 37"/>
          <p:cNvSpPr/>
          <p:nvPr/>
        </p:nvSpPr>
        <p:spPr>
          <a:xfrm>
            <a:off x="2560320" y="51343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45" name="Text 38"/>
          <p:cNvSpPr/>
          <p:nvPr/>
        </p:nvSpPr>
        <p:spPr>
          <a:xfrm>
            <a:off x="3291840" y="4983480"/>
            <a:ext cx="4023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chove e a rua não molha</a:t>
            </a:r>
            <a:endParaRPr lang="en-US" sz="1300" dirty="0"/>
          </a:p>
        </p:txBody>
      </p:sp>
      <p:sp>
        <p:nvSpPr>
          <p:cNvPr id="46" name="Text 39"/>
          <p:cNvSpPr/>
          <p:nvPr/>
        </p:nvSpPr>
        <p:spPr>
          <a:xfrm>
            <a:off x="7452360" y="4983480"/>
            <a:ext cx="3931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Verdadeira, vacuamente.</a:t>
            </a:r>
            <a:endParaRPr lang="en-US" sz="1200" dirty="0"/>
          </a:p>
        </p:txBody>
      </p:sp>
      <p:sp>
        <p:nvSpPr>
          <p:cNvPr id="47" name="Text 4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5 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Bicondicional  </a:t>
            </a:r>
            <a:r>
              <a:rPr lang="en-US" sz="32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 somente se”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verdadeira quando as duas proposições têm o mesmo valor lógico — ambas verdadeiras ou ambas falsas.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512064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8036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↔ q: </a:t>
            </a: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“aprovado se e somente se nota ≥ 6”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como uma via de mão dupla: p → q E q → p, ao mesmo tempo.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7373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↔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 5 DE 5 · EM CONTEXTO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“Está frio se e somente se a temperatura está abaixo de 15°C”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p: “está frio”     q: “temperatura &lt; 15°C”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88136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↔ q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Consistente: está frio e a temperatura confirma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Contradição: “está frio”, mas a temperatura diz que não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Contradição: a temperatura diz frio, mas você diz que não está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Consistente: nem está frio, nem a temperatura indica frio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JUNTANDO TUDO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cinco tabelas, de uma vez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mestra: todas as combinações de p e q, e o resultado de cada conectivo.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5740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∧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∨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→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↔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notícia: ¬p só depende de p — por isso repete o mesmo valor nas duas linhas em que q muda.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TEXTO PARA O SÍMBOLO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Reconhecendo conectivos em português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sempre a palavra do conectivo aparece de forma óbvia.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214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∧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2103120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023360" y="2103120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“e”, “mas”, “porém”, “apesar de”, vírgula entre duas afirmações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8346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∨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00200" y="2816352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023360" y="2816352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“ou”, “ou então”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529584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3547872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547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352958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(se...então)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023360" y="3529584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“se... então”, “quando”, “desde que”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242816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4261104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261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↔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0200" y="4242816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 e somente se)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023360" y="4242816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 somente se”, “é equivalente a”, “exatamente quando”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56048"/>
            <a:ext cx="10881360" cy="585216"/>
          </a:xfrm>
          <a:prstGeom prst="roundRect">
            <a:avLst>
              <a:gd name="adj" fmla="val 15625"/>
            </a:avLst>
          </a:prstGeom>
          <a:solidFill>
            <a:srgbClr val="F3F1FB"/>
          </a:solidFill>
          <a:ln/>
        </p:spPr>
      </p:sp>
      <p:sp>
        <p:nvSpPr>
          <p:cNvPr id="26" name="Shape 24"/>
          <p:cNvSpPr/>
          <p:nvPr/>
        </p:nvSpPr>
        <p:spPr>
          <a:xfrm>
            <a:off x="868680" y="4974336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4974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00200" y="4956048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(não)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023360" y="4956048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“não”, “nunca”, prefixos como “in-”, “im-”, “des-”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TEXTO PARA O SÍMBOLO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frases reais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25880"/>
          </a:xfrm>
          <a:prstGeom prst="roundRect">
            <a:avLst>
              <a:gd name="adj" fmla="val 8276"/>
            </a:avLst>
          </a:prstGeom>
          <a:solidFill>
            <a:srgbClr val="232C63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011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“Estou cansado, mas vou estudar.”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606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“mas” aqui funciona como “e”.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589520" y="2148840"/>
            <a:ext cx="3657600" cy="685800"/>
          </a:xfrm>
          <a:prstGeom prst="roundRect">
            <a:avLst>
              <a:gd name="adj" fmla="val 1333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0" y="2148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∧ 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383280"/>
            <a:ext cx="10881360" cy="1325880"/>
          </a:xfrm>
          <a:prstGeom prst="roundRect">
            <a:avLst>
              <a:gd name="adj" fmla="val 8276"/>
            </a:avLst>
          </a:prstGeom>
          <a:solidFill>
            <a:srgbClr val="232C63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“Desde que você tenha o crachá, pode entrar.”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4160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“desde que” introduz uma condicional.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0" y="3703320"/>
            <a:ext cx="3657600" cy="685800"/>
          </a:xfrm>
          <a:prstGeom prst="roundRect">
            <a:avLst>
              <a:gd name="adj" fmla="val 1333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0" y="3703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crachá → entrada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937760"/>
            <a:ext cx="10881360" cy="1325880"/>
          </a:xfrm>
          <a:prstGeom prst="roundRect">
            <a:avLst>
              <a:gd name="adj" fmla="val 8276"/>
            </a:avLst>
          </a:prstGeom>
          <a:solidFill>
            <a:srgbClr val="232C63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5120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“Você aprova exatamente quando tira nota ≥ 6.”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60120" y="5715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“exatamente quando” marca o bicondicional.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0" y="5257800"/>
            <a:ext cx="3657600" cy="685800"/>
          </a:xfrm>
          <a:prstGeom prst="roundRect">
            <a:avLst>
              <a:gd name="adj" fmla="val 1333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52578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 ↔ (nota ≥ 6)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DE AVALIAÇÃO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Precedência dos conectivos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como × tem prioridade sobre + na aritmética, os conectivos têm uma ordem de avaliação.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203808" y="2286000"/>
            <a:ext cx="1371600" cy="13716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6" name="Text 4"/>
          <p:cNvSpPr/>
          <p:nvPr/>
        </p:nvSpPr>
        <p:spPr>
          <a:xfrm>
            <a:off x="1203808" y="22860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7520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5208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forte</a:t>
            </a:r>
            <a:endParaRPr lang="en-US" sz="10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152" y="2788920"/>
            <a:ext cx="256032" cy="2560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368650" y="2347722"/>
            <a:ext cx="1248156" cy="124815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1" name="Text 8"/>
          <p:cNvSpPr/>
          <p:nvPr/>
        </p:nvSpPr>
        <p:spPr>
          <a:xfrm>
            <a:off x="3368650" y="2347722"/>
            <a:ext cx="1248156" cy="1248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6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en-US" sz="3366" dirty="0"/>
          </a:p>
        </p:txBody>
      </p:sp>
      <p:sp>
        <p:nvSpPr>
          <p:cNvPr id="12" name="Text 9"/>
          <p:cNvSpPr/>
          <p:nvPr/>
        </p:nvSpPr>
        <p:spPr>
          <a:xfrm>
            <a:off x="307832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</a:t>
            </a:r>
            <a:endParaRPr lang="en-US" sz="13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272" y="2788920"/>
            <a:ext cx="256032" cy="25603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533492" y="2409444"/>
            <a:ext cx="1124712" cy="1124712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5" name="Text 11"/>
          <p:cNvSpPr/>
          <p:nvPr/>
        </p:nvSpPr>
        <p:spPr>
          <a:xfrm>
            <a:off x="5533492" y="2409444"/>
            <a:ext cx="11247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3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∨</a:t>
            </a:r>
            <a:endParaRPr lang="en-US" sz="3132" dirty="0"/>
          </a:p>
        </p:txBody>
      </p:sp>
      <p:sp>
        <p:nvSpPr>
          <p:cNvPr id="16" name="Text 12"/>
          <p:cNvSpPr/>
          <p:nvPr/>
        </p:nvSpPr>
        <p:spPr>
          <a:xfrm>
            <a:off x="518144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</a:t>
            </a:r>
            <a:endParaRPr lang="en-US" sz="13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392" y="2788920"/>
            <a:ext cx="256032" cy="256032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698334" y="2471166"/>
            <a:ext cx="1001268" cy="1001268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9" name="Text 14"/>
          <p:cNvSpPr/>
          <p:nvPr/>
        </p:nvSpPr>
        <p:spPr>
          <a:xfrm>
            <a:off x="7698334" y="2471166"/>
            <a:ext cx="100126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9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898" dirty="0"/>
          </a:p>
        </p:txBody>
      </p:sp>
      <p:sp>
        <p:nvSpPr>
          <p:cNvPr id="20" name="Text 15"/>
          <p:cNvSpPr/>
          <p:nvPr/>
        </p:nvSpPr>
        <p:spPr>
          <a:xfrm>
            <a:off x="728456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4º</a:t>
            </a:r>
            <a:endParaRPr lang="en-US" sz="13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2512" y="2788920"/>
            <a:ext cx="256032" cy="25603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863176" y="2532888"/>
            <a:ext cx="877824" cy="877824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3" name="Text 17"/>
          <p:cNvSpPr/>
          <p:nvPr/>
        </p:nvSpPr>
        <p:spPr>
          <a:xfrm>
            <a:off x="9863176" y="2532888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</a:t>
            </a:r>
            <a:endParaRPr lang="en-US" sz="2664" dirty="0"/>
          </a:p>
        </p:txBody>
      </p:sp>
      <p:sp>
        <p:nvSpPr>
          <p:cNvPr id="24" name="Text 18"/>
          <p:cNvSpPr/>
          <p:nvPr/>
        </p:nvSpPr>
        <p:spPr>
          <a:xfrm>
            <a:off x="9387688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5º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9387688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fraco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2194560" y="4754880"/>
            <a:ext cx="7772400" cy="868680"/>
          </a:xfrm>
          <a:prstGeom prst="roundRect">
            <a:avLst>
              <a:gd name="adj" fmla="val 12632"/>
            </a:avLst>
          </a:prstGeom>
          <a:solidFill>
            <a:srgbClr val="F3F1FB"/>
          </a:solidFill>
          <a:ln/>
        </p:spPr>
      </p:sp>
      <p:sp>
        <p:nvSpPr>
          <p:cNvPr id="27" name="Text 21"/>
          <p:cNvSpPr/>
          <p:nvPr/>
        </p:nvSpPr>
        <p:spPr>
          <a:xfrm>
            <a:off x="2468880" y="475488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dúvida, use parênteses: eles deixam a fórmula legível para qualquer leitor — inclusive você mesmo, duas semanas depois.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SINTAXES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Conectivos em código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símbolos que você acabou de ver, na sintaxe de cada linguagem.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9319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072" y="1892808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3708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895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89280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284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233172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13" name="Text 9"/>
          <p:cNvSpPr/>
          <p:nvPr/>
        </p:nvSpPr>
        <p:spPr>
          <a:xfrm>
            <a:off x="868680" y="23317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¬p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931920" y="233172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p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589520" y="233172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29352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17" name="Text 13"/>
          <p:cNvSpPr/>
          <p:nvPr/>
        </p:nvSpPr>
        <p:spPr>
          <a:xfrm>
            <a:off x="868680" y="2935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∧ q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3931920" y="2935224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and q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7589520" y="293522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&amp;&amp; q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" y="353872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35387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∨ q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3931920" y="353872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or q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7589520" y="3538728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|| q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40080" y="414223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5" name="Text 21"/>
          <p:cNvSpPr/>
          <p:nvPr/>
        </p:nvSpPr>
        <p:spPr>
          <a:xfrm>
            <a:off x="868680" y="41422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→ q</a:t>
            </a:r>
            <a:endParaRPr lang="en-US" sz="1500" dirty="0"/>
          </a:p>
        </p:txBody>
      </p:sp>
      <p:sp>
        <p:nvSpPr>
          <p:cNvPr id="26" name="Text 22"/>
          <p:cNvSpPr/>
          <p:nvPr/>
        </p:nvSpPr>
        <p:spPr>
          <a:xfrm>
            <a:off x="3931920" y="4142232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(not p) or q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7589520" y="414223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(!p) || q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47457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9" name="Text 25"/>
          <p:cNvSpPr/>
          <p:nvPr/>
        </p:nvSpPr>
        <p:spPr>
          <a:xfrm>
            <a:off x="868680" y="47457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↔ q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3931920" y="4745736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== q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7589520" y="474573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== q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 C# não têm operador nativo para → e ↔ — nós os construímos a partir dos operadores existentes.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Implementando → e 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funções que faltavam, testadas para as quatro combinações de p e q.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80660" cy="3749040"/>
          </a:xfrm>
          <a:prstGeom prst="roundRect">
            <a:avLst>
              <a:gd name="adj" fmla="val 3415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2311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2311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2311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1717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Conectivos.cs</a:t>
            </a:r>
            <a:endParaRPr lang="en-US" sz="10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215798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72491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Implica(bool p, bool q) =&gt; !p || q;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32688" y="303580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Bicondicional(bool p, bool q) =&gt; p == q;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32688" y="334670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32688" y="365760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(var p in new[] { true, false })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32688" y="396849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(var q in new[] { true, false })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32688" y="427939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32688" y="459028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32688" y="490118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$"{p} {q} {Implica(p,q)} {Bicondicional(p,q)}");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32688" y="521208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40780" y="2011680"/>
            <a:ext cx="5280660" cy="3749040"/>
          </a:xfrm>
          <a:prstGeom prst="roundRect">
            <a:avLst>
              <a:gd name="adj" fmla="val 3415"/>
            </a:avLst>
          </a:prstGeom>
          <a:solidFill>
            <a:srgbClr val="232C63"/>
          </a:solidFill>
          <a:ln/>
        </p:spPr>
      </p:sp>
      <p:sp>
        <p:nvSpPr>
          <p:cNvPr id="21" name="Shape 18"/>
          <p:cNvSpPr/>
          <p:nvPr/>
        </p:nvSpPr>
        <p:spPr>
          <a:xfrm>
            <a:off x="6496812" y="22311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2" name="Shape 19"/>
          <p:cNvSpPr/>
          <p:nvPr/>
        </p:nvSpPr>
        <p:spPr>
          <a:xfrm>
            <a:off x="6697980" y="22311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3" name="Shape 20"/>
          <p:cNvSpPr/>
          <p:nvPr/>
        </p:nvSpPr>
        <p:spPr>
          <a:xfrm>
            <a:off x="6899148" y="22311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4" name="Text 21"/>
          <p:cNvSpPr/>
          <p:nvPr/>
        </p:nvSpPr>
        <p:spPr>
          <a:xfrm>
            <a:off x="7155180" y="21717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conectivos.py</a:t>
            </a:r>
            <a:endParaRPr lang="en-US" sz="105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157984"/>
            <a:ext cx="274320" cy="27432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533388" y="272491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implica(p, q):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533388" y="303580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p)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6533388" y="334670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6533388" y="365760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bicondicional(p, q):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6533388" y="396849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 == q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6533388" y="427939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6533388" y="459028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(True, False):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533388" y="490118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(True, False):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6533388" y="521208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print(p, q, implica(p, q), bicondicional(p, q))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6C4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08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27432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exercícios: tabela-verdade, precedência, tradução e um desafio de código.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Tabela-verdade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a tabela-verdade completa de p → q. Compare com a tabela de ¬p ∨ q. O que você percebe?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2468880"/>
          <a:ext cx="68580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→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¬p ∨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i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Tabela-verdade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 →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¬p ∨ 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1463040" y="5074920"/>
            <a:ext cx="9235440" cy="914400"/>
          </a:xfrm>
          <a:prstGeom prst="roundRect">
            <a:avLst>
              <a:gd name="adj" fmla="val 12000"/>
            </a:avLst>
          </a:prstGeom>
          <a:solidFill>
            <a:srgbClr val="F3F1FB"/>
          </a:solidFill>
          <a:ln/>
        </p:spPr>
      </p:sp>
      <p:sp>
        <p:nvSpPr>
          <p:cNvPr id="8" name="Text 4"/>
          <p:cNvSpPr/>
          <p:nvPr/>
        </p:nvSpPr>
        <p:spPr>
          <a:xfrm>
            <a:off x="1783080" y="507492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Percebeu? As colunas p → q e ¬p ∨ q são idênticas — são logicamente equivalentes. É exatamente por isso que implementamos → em código como (not p) or q.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Precedência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usar parênteses adicionais, avalie a fórmula abaixo. Depois reescreva-a usando parênteses para deixar a ordem explícita.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566160" y="2514600"/>
            <a:ext cx="5029200" cy="960120"/>
          </a:xfrm>
          <a:prstGeom prst="roundRect">
            <a:avLst>
              <a:gd name="adj" fmla="val 11429"/>
            </a:avLst>
          </a:prstGeom>
          <a:solidFill>
            <a:srgbClr val="EDEAF7"/>
          </a:solidFill>
          <a:ln/>
        </p:spPr>
      </p:sp>
      <p:sp>
        <p:nvSpPr>
          <p:cNvPr id="8" name="Text 5"/>
          <p:cNvSpPr/>
          <p:nvPr/>
        </p:nvSpPr>
        <p:spPr>
          <a:xfrm>
            <a:off x="3566160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¬p ∧ q ∨ r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411480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41148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</a:t>
            </a:r>
            <a:r>
              <a:rPr lang="en-US" sz="1600" b="1" dirty="0">
                <a:solidFill>
                  <a:srgbClr val="1E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651760" y="411480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13" name="Text 10"/>
          <p:cNvSpPr/>
          <p:nvPr/>
        </p:nvSpPr>
        <p:spPr>
          <a:xfrm>
            <a:off x="2651760" y="41148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</a:t>
            </a:r>
            <a:r>
              <a:rPr lang="en-US" sz="1600" b="1" dirty="0">
                <a:solidFill>
                  <a:srgbClr val="A83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663440" y="411480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3F1FB"/>
          </a:solidFill>
          <a:ln/>
        </p:spPr>
      </p:sp>
      <p:sp>
        <p:nvSpPr>
          <p:cNvPr id="15" name="Text 12"/>
          <p:cNvSpPr/>
          <p:nvPr/>
        </p:nvSpPr>
        <p:spPr>
          <a:xfrm>
            <a:off x="4663440" y="41148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r>
              <a:rPr lang="en-US" sz="1600" b="1" dirty="0">
                <a:solidFill>
                  <a:srgbClr val="1E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50292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 fórmula com parênteses explícitos: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Precedência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00200" y="1783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¬p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3931920" y="17830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¬V = F   (negação primeiro)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6974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12" name="Shape 9"/>
          <p:cNvSpPr/>
          <p:nvPr/>
        </p:nvSpPr>
        <p:spPr>
          <a:xfrm>
            <a:off x="868680" y="283464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600200" y="26974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∧ q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931920" y="26974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∧ F = F   (conjunção antes da disjunção)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36118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3F1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68680" y="3749040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600200" y="3611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∨ r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3931920" y="36118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∨ V = V   (disjunção por último)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40080" y="461772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41B41"/>
          </a:solidFill>
          <a:ln/>
        </p:spPr>
      </p:sp>
      <p:sp>
        <p:nvSpPr>
          <p:cNvPr id="22" name="Text 19"/>
          <p:cNvSpPr/>
          <p:nvPr/>
        </p:nvSpPr>
        <p:spPr>
          <a:xfrm>
            <a:off x="868680" y="46177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Resultado: </a:t>
            </a:r>
            <a:r>
              <a:rPr lang="en-US" sz="1600" b="1" dirty="0">
                <a:solidFill>
                  <a:srgbClr val="3EB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r>
              <a:rPr lang="en-US" sz="160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Com parênteses explícitos: </a:t>
            </a: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(¬p ∧ q) ∨ r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737360" y="1783080"/>
            <a:ext cx="8686800" cy="960120"/>
          </a:xfrm>
          <a:prstGeom prst="roundRect">
            <a:avLst>
              <a:gd name="adj" fmla="val 11429"/>
            </a:avLst>
          </a:prstGeom>
          <a:solidFill>
            <a:srgbClr val="F3F1FB"/>
          </a:solidFill>
          <a:ln/>
        </p:spPr>
      </p:sp>
      <p:sp>
        <p:nvSpPr>
          <p:cNvPr id="7" name="Text 4"/>
          <p:cNvSpPr/>
          <p:nvPr/>
        </p:nvSpPr>
        <p:spPr>
          <a:xfrm>
            <a:off x="1737360" y="1783080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estudo e durmo bem, então passo na prova.”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2880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p, q, r e o(s) conectivo(s) usado(s).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5204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703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42062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61688" y="35204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90288" y="3703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90288" y="42062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083296" y="35204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11896" y="3703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311896" y="42062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com conectivos: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3429000" cy="1554480"/>
          </a:xfrm>
          <a:prstGeom prst="roundRect">
            <a:avLst>
              <a:gd name="adj" fmla="val 5882"/>
            </a:avLst>
          </a:prstGeom>
          <a:solidFill>
            <a:srgbClr val="F3F1FB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2103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" y="27432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“estudo”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61688" y="1920240"/>
            <a:ext cx="3429000" cy="1554480"/>
          </a:xfrm>
          <a:prstGeom prst="roundRect">
            <a:avLst>
              <a:gd name="adj" fmla="val 5882"/>
            </a:avLst>
          </a:prstGeom>
          <a:solidFill>
            <a:srgbClr val="F3F1FB"/>
          </a:solidFill>
          <a:ln/>
        </p:spPr>
      </p:sp>
      <p:sp>
        <p:nvSpPr>
          <p:cNvPr id="10" name="Text 7"/>
          <p:cNvSpPr/>
          <p:nvPr/>
        </p:nvSpPr>
        <p:spPr>
          <a:xfrm>
            <a:off x="4590288" y="2103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4590288" y="27432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“durmo bem”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83296" y="1920240"/>
            <a:ext cx="3429000" cy="1554480"/>
          </a:xfrm>
          <a:prstGeom prst="roundRect">
            <a:avLst>
              <a:gd name="adj" fmla="val 5882"/>
            </a:avLst>
          </a:prstGeom>
          <a:solidFill>
            <a:srgbClr val="F3F1FB"/>
          </a:solidFill>
          <a:ln/>
        </p:spPr>
      </p:sp>
      <p:sp>
        <p:nvSpPr>
          <p:cNvPr id="13" name="Text 10"/>
          <p:cNvSpPr/>
          <p:nvPr/>
        </p:nvSpPr>
        <p:spPr>
          <a:xfrm>
            <a:off x="8311896" y="2103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311896" y="27432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“passo na prova”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379476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141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8680" y="37947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 ∧ q) → r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Conectivos usados: ∧ (conjunção) e → (condicional).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89611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Bicondicional, na mão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 bicondicional_v2(p, q) usando apenas and, or e not (sem usar ==). Teste contra o bicondicional da aula para as 4 combinações de p e q.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94560" y="2514600"/>
            <a:ext cx="7772400" cy="914400"/>
          </a:xfrm>
          <a:prstGeom prst="roundRect">
            <a:avLst>
              <a:gd name="adj" fmla="val 12000"/>
            </a:avLst>
          </a:prstGeom>
          <a:solidFill>
            <a:srgbClr val="232C63"/>
          </a:solidFill>
          <a:ln w="12700">
            <a:solidFill>
              <a:srgbClr val="4B52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68880" y="25146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p ↔ q é verdadeira quando (p e q) ou (nem p, nem q)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749040"/>
            <a:ext cx="10881360" cy="2286000"/>
          </a:xfrm>
          <a:prstGeom prst="roundRect">
            <a:avLst>
              <a:gd name="adj" fmla="val 4000"/>
            </a:avLst>
          </a:prstGeom>
          <a:solidFill>
            <a:srgbClr val="232C63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96849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1" name="Shape 8"/>
          <p:cNvSpPr/>
          <p:nvPr/>
        </p:nvSpPr>
        <p:spPr>
          <a:xfrm>
            <a:off x="1097280" y="396849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2" name="Shape 9"/>
          <p:cNvSpPr/>
          <p:nvPr/>
        </p:nvSpPr>
        <p:spPr>
          <a:xfrm>
            <a:off x="1298448" y="396849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3" name="Text 10"/>
          <p:cNvSpPr/>
          <p:nvPr/>
        </p:nvSpPr>
        <p:spPr>
          <a:xfrm>
            <a:off x="1554480" y="3931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bicondicional_v2.py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5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bicondicional_v2(p, q):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____________________________________________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escreva as 4 combinações de p e q e confira se o resultado é igual ao bicondicional(p, q).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Bicondicional, na mão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1417320"/>
          </a:xfrm>
          <a:prstGeom prst="roundRect">
            <a:avLst>
              <a:gd name="adj" fmla="val 9032"/>
            </a:avLst>
          </a:prstGeom>
          <a:solidFill>
            <a:srgbClr val="232C63"/>
          </a:solidFill>
          <a:ln/>
        </p:spPr>
      </p:sp>
      <p:sp>
        <p:nvSpPr>
          <p:cNvPr id="7" name="Shape 4"/>
          <p:cNvSpPr/>
          <p:nvPr/>
        </p:nvSpPr>
        <p:spPr>
          <a:xfrm>
            <a:off x="896112" y="19568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8" name="Shape 5"/>
          <p:cNvSpPr/>
          <p:nvPr/>
        </p:nvSpPr>
        <p:spPr>
          <a:xfrm>
            <a:off x="1097280" y="19568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9" name="Shape 6"/>
          <p:cNvSpPr/>
          <p:nvPr/>
        </p:nvSpPr>
        <p:spPr>
          <a:xfrm>
            <a:off x="1298448" y="19568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0" name="Text 7"/>
          <p:cNvSpPr/>
          <p:nvPr/>
        </p:nvSpPr>
        <p:spPr>
          <a:xfrm>
            <a:off x="1554480" y="189738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bicondicional_v2.py</a:t>
            </a:r>
            <a:endParaRPr lang="en-US" sz="10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188366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2688" y="242316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bicondicional_v2(p, q):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32688" y="280720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(p </a:t>
            </a: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q) </a:t>
            </a: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</a:t>
            </a: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</a:t>
            </a: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not </a:t>
            </a: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q)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40080" y="3291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AEB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Equivalente em C#:  static bool BicondicionalV2(bool p, bool q) =&gt; (p &amp;&amp; q) || (!p &amp;&amp; !q);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3886200"/>
          <a:ext cx="6858000" cy="91440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bicondicional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bicondicional_v2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DE ROTA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 no semestre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23160" y="3502152"/>
            <a:ext cx="7315200" cy="36576"/>
          </a:xfrm>
          <a:prstGeom prst="rect">
            <a:avLst/>
          </a:prstGeom>
          <a:solidFill>
            <a:srgbClr val="DAD5F0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3108960"/>
            <a:ext cx="822960" cy="822960"/>
          </a:xfrm>
          <a:prstGeom prst="ellipse">
            <a:avLst/>
          </a:prstGeom>
          <a:solidFill>
            <a:srgbClr val="B8AEE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2461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4389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367528" y="22860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FE6C7"/>
          </a:solidFill>
          <a:ln/>
        </p:spPr>
      </p:sp>
      <p:sp>
        <p:nvSpPr>
          <p:cNvPr id="10" name="Text 7"/>
          <p:cNvSpPr/>
          <p:nvPr/>
        </p:nvSpPr>
        <p:spPr>
          <a:xfrm>
            <a:off x="5367528" y="22860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AQUI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04688" y="2926080"/>
            <a:ext cx="1188720" cy="11887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3136392"/>
            <a:ext cx="768096" cy="7680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01768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727448" y="4526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Tabela-verdade dos conectivos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9189720" y="310896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C4BC1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33192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0392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046720" y="4389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das tabelas-verdade em exercícios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dominar os cinco conectivos, é hora de combiná-los em exercícios mais longos.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4597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96112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AMGH/McGraw-Hill — cap. Lógica Proposicional (conectivos e tabelas-verdade).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36008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4597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GERSTING, J. L.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Matemáticos para a Ciência da Computação. LTC — cap. Lógica.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75904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5973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LIPSCHUTZ, S.; LIPSON, M.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375904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(Coleção Schaum). Bookman — cap. Lógica Proposicional.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operações booleanas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Operações booleanas (and/or/not)</a:t>
            </a: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en-US" sz="1250" dirty="0"/>
          </a:p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Operadores de comparação (==)</a:t>
            </a: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Conectivos lógicos e tabelas-verdade</a:t>
            </a: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explicação passo a passo.</a:t>
            </a:r>
            <a:endParaRPr lang="en-US" sz="1250" dirty="0"/>
          </a:p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Canal Prof. Ferretto</a:t>
            </a: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lógica matemática com muitos exercícios resolvidos.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1978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das tabelas-verdade em exercícios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praticar combinando</a:t>
            </a:r>
            <a:endParaRPr lang="en-US" sz="32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conectivos em exercícios mais longos.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40080" y="41605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o slide das “cinco tabelas juntas” — ele vai ser sua cola pessoal.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2727</Words>
  <Application>Microsoft Office PowerPoint</Application>
  <PresentationFormat>Widescreen</PresentationFormat>
  <Paragraphs>543</Paragraphs>
  <Slides>29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daniel</cp:lastModifiedBy>
  <cp:revision>1</cp:revision>
  <dcterms:created xsi:type="dcterms:W3CDTF">2026-08-04T21:24:39Z</dcterms:created>
  <dcterms:modified xsi:type="dcterms:W3CDTF">2026-08-13T19:42:03Z</dcterms:modified>
</cp:coreProperties>
</file>