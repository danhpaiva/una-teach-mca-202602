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5"/>
    <p:sldId id="278" r:id="rId6"/>
    <p:sldId id="352" r:id="rId7"/>
    <p:sldId id="306" r:id="rId8"/>
    <p:sldId id="305" r:id="rId9"/>
    <p:sldId id="328" r:id="rId10"/>
    <p:sldId id="329" r:id="rId11"/>
    <p:sldId id="350" r:id="rId12"/>
    <p:sldId id="331" r:id="rId13"/>
    <p:sldId id="326" r:id="rId14"/>
    <p:sldId id="327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47" r:id="rId25"/>
    <p:sldId id="316" r:id="rId26"/>
    <p:sldId id="317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33" r:id="rId35"/>
    <p:sldId id="353" r:id="rId36"/>
    <p:sldId id="325" r:id="rId37"/>
    <p:sldId id="335" r:id="rId38"/>
    <p:sldId id="334" r:id="rId39"/>
    <p:sldId id="354" r:id="rId40"/>
    <p:sldId id="351" r:id="rId41"/>
    <p:sldId id="300" r:id="rId42"/>
    <p:sldId id="341" r:id="rId43"/>
    <p:sldId id="342" r:id="rId44"/>
    <p:sldId id="343" r:id="rId45"/>
    <p:sldId id="344" r:id="rId46"/>
    <p:sldId id="345" r:id="rId47"/>
    <p:sldId id="346" r:id="rId48"/>
    <p:sldId id="348" r:id="rId49"/>
    <p:sldId id="303" r:id="rId50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777D35-62E0-4ADA-A544-0FF8CE93EFA3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F727BD-530A-46F6-89AA-0169182CFF12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1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pt-BR" noProof="1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8BA592B-0EA4-40D4-A1E4-71971A215A20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EA189-6A12-46BC-8D40-4AE493F46DA7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CDA04-3929-4D47-933D-1E3D28969575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7F04DB-A7C8-4A03-A390-FF466E07A079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noProof="1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B593EC-2F08-44C6-ABE6-DDD998346E60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5DED-087C-4044-A01E-71A37BA13494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8423E9-1DB6-4230-88B5-F7BE0B79B8DA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18BF6-C54B-4774-B74E-64B13634CEBD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1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66459E-9F7E-4AD8-ABE1-A057363D4744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D014EE-1076-4685-AE78-7B1C143CD568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38825-B43B-4B14-B624-1C85BDF721B5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071EC9B-CAF5-4D8C-962A-CE3A64DB1FC2}" type="datetime1">
              <a:rPr lang="pt-BR" noProof="1" smtClean="0"/>
              <a:t>27/08/2026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pt-BR" noProof="1" dirty="0" smtClean="0"/>
              <a:pPr rtl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ugol.dev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pt-BR" noProof="1">
                <a:solidFill>
                  <a:srgbClr val="FFFFFF"/>
                </a:solidFill>
              </a:rPr>
              <a:t>Lógica e Estrutura Sequencial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666480"/>
            <a:ext cx="7501650" cy="1033560"/>
          </a:xfrm>
        </p:spPr>
        <p:txBody>
          <a:bodyPr rtlCol="0" anchor="t">
            <a:normAutofit/>
          </a:bodyPr>
          <a:lstStyle/>
          <a:p>
            <a:pPr rtl="0"/>
            <a:r>
              <a:rPr lang="pt-BR" noProof="1">
                <a:solidFill>
                  <a:srgbClr val="FFFFFF"/>
                </a:solidFill>
              </a:rPr>
              <a:t>Matemática Computacional Aplicada</a:t>
            </a:r>
          </a:p>
          <a:p>
            <a:pPr rtl="0"/>
            <a:r>
              <a:rPr lang="pt-BR" noProof="1">
                <a:solidFill>
                  <a:srgbClr val="FFFFFF"/>
                </a:solidFill>
              </a:rPr>
              <a:t>Lógica Computacional e Algoritmos</a:t>
            </a:r>
            <a:br>
              <a:rPr lang="pt-BR" noProof="1">
                <a:solidFill>
                  <a:srgbClr val="FFFFFF"/>
                </a:solidFill>
              </a:rPr>
            </a:br>
            <a:r>
              <a:rPr lang="pt-BR" noProof="1">
                <a:solidFill>
                  <a:srgbClr val="FFFFFF"/>
                </a:solidFill>
              </a:rPr>
              <a:t>Daniel Henrique Matos de Paiva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D5D4B85A-CF2A-F3F1-A35F-75BEFCD98C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10999" y="364444"/>
            <a:ext cx="1800000" cy="1800000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518D2D6-5C60-5956-4E4A-48D7F8F7AF9A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715793" y="48793"/>
            <a:ext cx="6760414" cy="6760414"/>
          </a:xfr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329778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8114-0A70-2DBD-E2BA-646800E69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BEFD0-74ED-D0CE-CDC5-35169E94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Portugol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A57DA4-0E04-CA42-28DD-44D6A14EF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000" b="1" dirty="0"/>
              <a:t>Matemática Computacional &amp; Algoritmos: </a:t>
            </a:r>
            <a:br>
              <a:rPr lang="pt-BR" sz="3000" b="1" dirty="0"/>
            </a:br>
            <a:r>
              <a:rPr lang="pt-BR" sz="3000" b="1" dirty="0"/>
              <a:t>A Ponte entre Teoria e Solução</a:t>
            </a:r>
            <a:endParaRPr lang="pt-BR" sz="3000" dirty="0"/>
          </a:p>
          <a:p>
            <a:pPr lvl="0"/>
            <a:r>
              <a:rPr lang="pt-BR" sz="3000" b="1" dirty="0"/>
              <a:t>A Essência:</a:t>
            </a:r>
            <a:r>
              <a:rPr lang="pt-BR" sz="3000" dirty="0"/>
              <a:t> Transformação de problemas complexos do mundo real em modelos matemáticos rigorosos.</a:t>
            </a:r>
          </a:p>
          <a:p>
            <a:pPr lvl="0"/>
            <a:r>
              <a:rPr lang="pt-BR" sz="3000" b="1" dirty="0"/>
              <a:t>O Motor:</a:t>
            </a:r>
            <a:r>
              <a:rPr lang="pt-BR" sz="3000" dirty="0"/>
              <a:t> Algoritmos como ferramentas </a:t>
            </a:r>
            <a:r>
              <a:rPr lang="pt-BR" sz="3000" b="1" dirty="0">
                <a:solidFill>
                  <a:srgbClr val="7030A0"/>
                </a:solidFill>
              </a:rPr>
              <a:t>lógicas</a:t>
            </a:r>
            <a:r>
              <a:rPr lang="pt-BR" sz="3000" dirty="0"/>
              <a:t> de processamento, otimização e solução eficiente.</a:t>
            </a:r>
          </a:p>
          <a:p>
            <a:pPr lvl="0"/>
            <a:r>
              <a:rPr lang="pt-BR" sz="3000" b="1" dirty="0"/>
              <a:t>O Impacto:</a:t>
            </a:r>
            <a:r>
              <a:rPr lang="pt-BR" sz="3000" dirty="0"/>
              <a:t> Base fundamental para Inteligência Artificial, simulações científicas, criptografia e análise de dados.</a:t>
            </a:r>
          </a:p>
          <a:p>
            <a:pPr marL="0" indent="0">
              <a:buNone/>
            </a:pP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22163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EE24FD9-F546-7787-9379-F3806E24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Hello</a:t>
            </a:r>
            <a:r>
              <a:rPr lang="pt-BR" dirty="0"/>
              <a:t> World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8DA1AA89-BED5-4DC8-8148-6C81A57751C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658" b="166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D8FFF52-729A-7816-875C-BEC92D8A5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655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F8FC2-FA63-F7EA-AD1D-859BAE525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CF6023-E0AA-74A1-3134-21C177675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Portugol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95BC37-EC7D-E9D1-F65A-9CB9347B3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Vamos fazer um programa simples no </a:t>
            </a:r>
            <a:r>
              <a:rPr lang="pt-BR" sz="4500" dirty="0" err="1"/>
              <a:t>Portugol</a:t>
            </a:r>
            <a:r>
              <a:rPr lang="pt-BR" sz="4500" dirty="0"/>
              <a:t>!</a:t>
            </a:r>
          </a:p>
          <a:p>
            <a:pPr marL="0" indent="0">
              <a:buNone/>
            </a:pPr>
            <a:r>
              <a:rPr lang="pt-BR" sz="4500" dirty="0"/>
              <a:t>O famoso </a:t>
            </a:r>
            <a:r>
              <a:rPr lang="pt-BR" sz="4500" b="1" i="1" dirty="0" err="1">
                <a:solidFill>
                  <a:srgbClr val="7030A0"/>
                </a:solidFill>
              </a:rPr>
              <a:t>Hello</a:t>
            </a:r>
            <a:r>
              <a:rPr lang="pt-BR" sz="4500" b="1" i="1" dirty="0">
                <a:solidFill>
                  <a:srgbClr val="7030A0"/>
                </a:solidFill>
              </a:rPr>
              <a:t> World </a:t>
            </a:r>
            <a:r>
              <a:rPr lang="pt-BR" sz="4500" dirty="0"/>
              <a:t>da Programação.</a:t>
            </a:r>
          </a:p>
          <a:p>
            <a:pPr marL="0" indent="0">
              <a:buNone/>
            </a:pPr>
            <a:endParaRPr lang="pt-BR" sz="4500" dirty="0"/>
          </a:p>
          <a:p>
            <a:pPr marL="0" indent="0">
              <a:buNone/>
            </a:pPr>
            <a:r>
              <a:rPr lang="pt-BR" sz="4500" dirty="0">
                <a:hlinkClick r:id="rId2"/>
              </a:rPr>
              <a:t>https://portugol.dev/</a:t>
            </a:r>
            <a:endParaRPr lang="pt-BR" sz="4500" dirty="0"/>
          </a:p>
        </p:txBody>
      </p:sp>
    </p:spTree>
    <p:extLst>
      <p:ext uri="{BB962C8B-B14F-4D97-AF65-F5344CB8AC3E}">
        <p14:creationId xmlns:p14="http://schemas.microsoft.com/office/powerpoint/2010/main" val="4091454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CB11C5-93F4-58B9-16E4-D4EF0401D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14867"/>
            <a:ext cx="9720073" cy="5894493"/>
          </a:xfrm>
        </p:spPr>
        <p:txBody>
          <a:bodyPr/>
          <a:lstStyle/>
          <a:p>
            <a:r>
              <a:rPr lang="pt-BR" sz="4500" dirty="0">
                <a:solidFill>
                  <a:srgbClr val="7030A0"/>
                </a:solidFill>
              </a:rPr>
              <a:t>programa</a:t>
            </a:r>
          </a:p>
          <a:p>
            <a:r>
              <a:rPr lang="pt-BR" sz="4500" dirty="0"/>
              <a:t>{</a:t>
            </a:r>
          </a:p>
          <a:p>
            <a:r>
              <a:rPr lang="pt-BR" sz="4500" dirty="0"/>
              <a:t>	</a:t>
            </a:r>
            <a:r>
              <a:rPr lang="pt-BR" sz="4500" dirty="0" err="1">
                <a:solidFill>
                  <a:srgbClr val="00B0F0"/>
                </a:solidFill>
              </a:rPr>
              <a:t>funcao</a:t>
            </a:r>
            <a:r>
              <a:rPr lang="pt-BR" sz="4500" dirty="0"/>
              <a:t> </a:t>
            </a:r>
            <a:r>
              <a:rPr lang="pt-BR" sz="4500" dirty="0">
                <a:solidFill>
                  <a:srgbClr val="FFC000"/>
                </a:solidFill>
              </a:rPr>
              <a:t>inicio</a:t>
            </a:r>
            <a:r>
              <a:rPr lang="pt-BR" sz="4500" dirty="0"/>
              <a:t>()</a:t>
            </a:r>
          </a:p>
          <a:p>
            <a:r>
              <a:rPr lang="pt-BR" sz="4500" dirty="0"/>
              <a:t>	{</a:t>
            </a:r>
          </a:p>
          <a:p>
            <a:r>
              <a:rPr lang="pt-BR" sz="4500" dirty="0"/>
              <a:t>		</a:t>
            </a:r>
            <a:r>
              <a:rPr lang="pt-BR" sz="4500" dirty="0">
                <a:solidFill>
                  <a:srgbClr val="FFC000"/>
                </a:solidFill>
              </a:rPr>
              <a:t>escreva</a:t>
            </a:r>
            <a:r>
              <a:rPr lang="pt-BR" sz="4500" dirty="0"/>
              <a:t>(</a:t>
            </a:r>
            <a:r>
              <a:rPr lang="pt-BR" sz="4500" dirty="0">
                <a:solidFill>
                  <a:srgbClr val="00B050"/>
                </a:solidFill>
              </a:rPr>
              <a:t>"Olá Mundo"</a:t>
            </a:r>
            <a:r>
              <a:rPr lang="pt-BR" sz="4500" dirty="0"/>
              <a:t>)</a:t>
            </a:r>
          </a:p>
          <a:p>
            <a:r>
              <a:rPr lang="pt-BR" sz="4500" dirty="0"/>
              <a:t>	}</a:t>
            </a:r>
          </a:p>
          <a:p>
            <a:r>
              <a:rPr lang="pt-BR" sz="4500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1637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868E-DBBE-7B4D-5FA0-3B5D02A16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76A6597-C98F-CE03-CAB2-40DDF3385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07" y="0"/>
            <a:ext cx="9265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84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0B16-E25E-EAB0-F8E0-6597DA929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E3987-43EC-905C-663B-88B8EBC46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Portugol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A79EBE-84FB-3D29-F5BE-9D713183B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Mude seu algoritmo para escrever:</a:t>
            </a:r>
            <a:br>
              <a:rPr lang="pt-BR" sz="4500" dirty="0"/>
            </a:br>
            <a:br>
              <a:rPr lang="pt-BR" sz="4500" dirty="0"/>
            </a:br>
            <a:r>
              <a:rPr lang="pt-BR" sz="4500" b="1" i="1" dirty="0"/>
              <a:t>Amo estudar Lógica e Matemática C...</a:t>
            </a:r>
          </a:p>
        </p:txBody>
      </p:sp>
    </p:spTree>
    <p:extLst>
      <p:ext uri="{BB962C8B-B14F-4D97-AF65-F5344CB8AC3E}">
        <p14:creationId xmlns:p14="http://schemas.microsoft.com/office/powerpoint/2010/main" val="712980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A133C-4188-6B9B-2174-4B4724507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A7A7916-4039-79C7-0B7B-F8F87A7DB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743" y="0"/>
            <a:ext cx="8896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39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7CEAE-84AC-F42A-057C-D1160267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D32745D-A5BA-BFA2-1E55-1CBCDA89F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Dados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3BC5D509-F41D-53FA-0B31-071F544793E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658" b="166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EAA392A-DCFD-3843-254D-ED5085828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9147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0A273-F179-CF72-B595-C45974F46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1867B-EAB3-011F-C7FC-FFDC96AB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Portugol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46FE5D-02B6-ED42-9976-196CAD9ED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5000" b="1" dirty="0">
                <a:solidFill>
                  <a:srgbClr val="7030A0"/>
                </a:solidFill>
              </a:rPr>
              <a:t>Dados</a:t>
            </a:r>
            <a:r>
              <a:rPr lang="pt-BR" sz="5000" dirty="0"/>
              <a:t> são </a:t>
            </a:r>
            <a:r>
              <a:rPr lang="pt-BR" sz="5000" b="1" dirty="0">
                <a:solidFill>
                  <a:srgbClr val="7030A0"/>
                </a:solidFill>
              </a:rPr>
              <a:t>fatos</a:t>
            </a:r>
            <a:r>
              <a:rPr lang="pt-BR" sz="5000" dirty="0"/>
              <a:t> individuais ou mensurações, obtidos e coletados por meio de técnicas de medição ou por observação direta ou indireta.</a:t>
            </a:r>
          </a:p>
        </p:txBody>
      </p:sp>
    </p:spTree>
    <p:extLst>
      <p:ext uri="{BB962C8B-B14F-4D97-AF65-F5344CB8AC3E}">
        <p14:creationId xmlns:p14="http://schemas.microsoft.com/office/powerpoint/2010/main" val="3160828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645D-27DF-19C9-6BE3-5B11D158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0BD4D-98BD-97B6-ABAE-960EDAD2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Portugol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266C91-195E-4A06-908B-3823A64C5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5000" dirty="0"/>
              <a:t>Tudo o que podemos observar ou medir de alguma forma, e coletar e guardar em algum meio de armazenamento, pode ser</a:t>
            </a:r>
          </a:p>
          <a:p>
            <a:pPr marL="0" indent="0">
              <a:buNone/>
            </a:pPr>
            <a:r>
              <a:rPr lang="pt-BR" sz="5000" dirty="0"/>
              <a:t>chamado de "</a:t>
            </a:r>
            <a:r>
              <a:rPr lang="pt-BR" sz="5000" b="1" dirty="0">
                <a:solidFill>
                  <a:srgbClr val="7030A0"/>
                </a:solidFill>
              </a:rPr>
              <a:t>dado</a:t>
            </a:r>
            <a:r>
              <a:rPr lang="pt-BR" sz="5000" dirty="0"/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727140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E35CB-E4B8-2785-7CEE-5C829A545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D8433A-9B79-1DB6-F378-858B5799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Portugol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45E31C-AAB7-EC63-632F-7F95DEEE5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Cada um dos </a:t>
            </a:r>
            <a:r>
              <a:rPr lang="pt-BR" sz="4500" b="1" dirty="0">
                <a:solidFill>
                  <a:srgbClr val="7030A0"/>
                </a:solidFill>
              </a:rPr>
              <a:t>elementos</a:t>
            </a:r>
            <a:r>
              <a:rPr lang="pt-BR" sz="4500" dirty="0"/>
              <a:t> conhecidos de um problema</a:t>
            </a:r>
          </a:p>
          <a:p>
            <a:pPr marL="0" indent="0">
              <a:buNone/>
            </a:pPr>
            <a:r>
              <a:rPr lang="pt-BR" sz="4500" dirty="0"/>
              <a:t>• Registro do </a:t>
            </a:r>
            <a:r>
              <a:rPr lang="pt-BR" sz="4500" b="1" dirty="0">
                <a:solidFill>
                  <a:srgbClr val="7030A0"/>
                </a:solidFill>
              </a:rPr>
              <a:t>atributo</a:t>
            </a:r>
            <a:r>
              <a:rPr lang="pt-BR" sz="4500" dirty="0"/>
              <a:t> de um ente, </a:t>
            </a:r>
            <a:r>
              <a:rPr lang="pt-BR" sz="4500" b="1" dirty="0">
                <a:solidFill>
                  <a:srgbClr val="7030A0"/>
                </a:solidFill>
              </a:rPr>
              <a:t>objeto</a:t>
            </a:r>
            <a:r>
              <a:rPr lang="pt-BR" sz="4500" dirty="0"/>
              <a:t> ou fenômeno</a:t>
            </a:r>
          </a:p>
        </p:txBody>
      </p:sp>
    </p:spTree>
    <p:extLst>
      <p:ext uri="{BB962C8B-B14F-4D97-AF65-F5344CB8AC3E}">
        <p14:creationId xmlns:p14="http://schemas.microsoft.com/office/powerpoint/2010/main" val="161378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85511-143E-2994-AE9F-79DAA9C06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B5C96E-E38B-E8E9-08FE-1021846A0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Portugol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A4EB41-4F00-BDA5-999F-3C93431C7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Dados são informações brutas a serem processadas por um computador.</a:t>
            </a:r>
          </a:p>
          <a:p>
            <a:pPr marL="0" indent="0">
              <a:buNone/>
            </a:pPr>
            <a:r>
              <a:rPr lang="pt-BR" sz="4500" dirty="0"/>
              <a:t>São divididos em quatro tipos principais:</a:t>
            </a:r>
          </a:p>
          <a:p>
            <a:pPr marL="0" indent="0">
              <a:buNone/>
            </a:pPr>
            <a:r>
              <a:rPr lang="pt-BR" sz="4500" dirty="0"/>
              <a:t>• Numéricos</a:t>
            </a:r>
          </a:p>
          <a:p>
            <a:pPr marL="0" indent="0">
              <a:buNone/>
            </a:pPr>
            <a:r>
              <a:rPr lang="pt-BR" sz="4500" dirty="0"/>
              <a:t>• Caracteres</a:t>
            </a:r>
          </a:p>
        </p:txBody>
      </p:sp>
    </p:spTree>
    <p:extLst>
      <p:ext uri="{BB962C8B-B14F-4D97-AF65-F5344CB8AC3E}">
        <p14:creationId xmlns:p14="http://schemas.microsoft.com/office/powerpoint/2010/main" val="952271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F935-CCEE-A222-FA3E-22903830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BECE23-C56A-4DC8-BD8E-DE0909FD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Portugol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BB8323-52E1-C7BA-3A91-E57AAC21C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Lógicos</a:t>
            </a:r>
          </a:p>
          <a:p>
            <a:pPr marL="0" indent="0">
              <a:buNone/>
            </a:pPr>
            <a:r>
              <a:rPr lang="pt-BR" sz="4500" dirty="0"/>
              <a:t>• Referência (Compostos)</a:t>
            </a:r>
          </a:p>
        </p:txBody>
      </p:sp>
    </p:spTree>
    <p:extLst>
      <p:ext uri="{BB962C8B-B14F-4D97-AF65-F5344CB8AC3E}">
        <p14:creationId xmlns:p14="http://schemas.microsoft.com/office/powerpoint/2010/main" val="2252805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E58B6-D049-9CEA-4058-84183F1D9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46E4-B311-8461-5392-F0B0C95C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Numéricos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C5B1CA-486E-A9AC-8224-42E5F9D27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Lidam com números. Podem ser subdivididos em dois tipos:</a:t>
            </a:r>
          </a:p>
          <a:p>
            <a:pPr marL="0" indent="0">
              <a:buNone/>
            </a:pPr>
            <a:r>
              <a:rPr lang="pt-BR" sz="4500" dirty="0"/>
              <a:t>• </a:t>
            </a:r>
            <a:r>
              <a:rPr lang="pt-BR" sz="4500" b="1" dirty="0"/>
              <a:t>Inteiro</a:t>
            </a:r>
            <a:r>
              <a:rPr lang="pt-BR" sz="4500" dirty="0"/>
              <a:t> – números inteiros, positivos e</a:t>
            </a:r>
          </a:p>
          <a:p>
            <a:pPr marL="0" indent="0">
              <a:buNone/>
            </a:pPr>
            <a:r>
              <a:rPr lang="pt-BR" sz="4500" dirty="0"/>
              <a:t>negativos, como: </a:t>
            </a:r>
            <a:r>
              <a:rPr lang="pt-BR" sz="4500" b="1" dirty="0">
                <a:solidFill>
                  <a:srgbClr val="0070C0"/>
                </a:solidFill>
              </a:rPr>
              <a:t>5, 250 e -95</a:t>
            </a:r>
            <a:r>
              <a:rPr lang="pt-BR" sz="4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14651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75CA-0B5C-A1D9-CBE0-A755DB7A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BCCA9F-C3D4-47AE-5178-A0D2D5786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Numéricos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ACB51-D905-0E40-1081-23B248861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</a:t>
            </a:r>
            <a:r>
              <a:rPr lang="pt-BR" sz="4500" b="1" dirty="0"/>
              <a:t>Real</a:t>
            </a:r>
            <a:r>
              <a:rPr lang="pt-BR" sz="4500" dirty="0"/>
              <a:t> – números positivos, negativos e</a:t>
            </a:r>
          </a:p>
          <a:p>
            <a:pPr marL="0" indent="0">
              <a:buNone/>
            </a:pPr>
            <a:r>
              <a:rPr lang="pt-BR" sz="4500" dirty="0"/>
              <a:t>fracionários, como: </a:t>
            </a:r>
          </a:p>
          <a:p>
            <a:pPr marL="0" indent="0">
              <a:buNone/>
            </a:pPr>
            <a:r>
              <a:rPr lang="pt-BR" sz="4500" b="1" dirty="0">
                <a:solidFill>
                  <a:srgbClr val="0070C0"/>
                </a:solidFill>
              </a:rPr>
              <a:t>5.0, 45.23, -20.6 e 1/3</a:t>
            </a:r>
          </a:p>
        </p:txBody>
      </p:sp>
    </p:spTree>
    <p:extLst>
      <p:ext uri="{BB962C8B-B14F-4D97-AF65-F5344CB8AC3E}">
        <p14:creationId xmlns:p14="http://schemas.microsoft.com/office/powerpoint/2010/main" val="3015408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38921-CB17-78D6-5B00-752390AB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64E23-6F29-20A9-9616-BF174AE1A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Caractere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17EE47-7261-95B3-7929-99765EF32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Podem ser caracteres isolados ou sequências de caracteres que contenham letras, números e símbolos.</a:t>
            </a:r>
          </a:p>
          <a:p>
            <a:pPr marL="0" indent="0">
              <a:buNone/>
            </a:pPr>
            <a:r>
              <a:rPr lang="pt-BR" sz="4500" dirty="0"/>
              <a:t>• Os caracteres devem ser representados sempre entre aspas 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(' ' ou " ") </a:t>
            </a:r>
            <a:r>
              <a:rPr lang="pt-BR" sz="4500" dirty="0"/>
              <a:t>no código.</a:t>
            </a:r>
          </a:p>
        </p:txBody>
      </p:sp>
    </p:spTree>
    <p:extLst>
      <p:ext uri="{BB962C8B-B14F-4D97-AF65-F5344CB8AC3E}">
        <p14:creationId xmlns:p14="http://schemas.microsoft.com/office/powerpoint/2010/main" val="1215336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F6F7-56F5-6B98-BEC6-E4BEEBED2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16CFC-B2F8-C6B5-326A-468EC74DF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Caractere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A07C47-CCA6-2342-A3C2-CC2ADD1FD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Podemos usar termos como </a:t>
            </a:r>
            <a:r>
              <a:rPr lang="pt-BR" sz="4500" b="1" dirty="0">
                <a:solidFill>
                  <a:srgbClr val="7030A0"/>
                </a:solidFill>
              </a:rPr>
              <a:t>cadeia</a:t>
            </a:r>
            <a:r>
              <a:rPr lang="pt-BR" sz="4500" dirty="0"/>
              <a:t>, </a:t>
            </a:r>
            <a:r>
              <a:rPr lang="pt-BR" sz="4500" b="1" dirty="0" err="1">
                <a:solidFill>
                  <a:srgbClr val="7030A0"/>
                </a:solidFill>
              </a:rPr>
              <a:t>string</a:t>
            </a:r>
            <a:r>
              <a:rPr lang="pt-BR" sz="4500" dirty="0"/>
              <a:t>,</a:t>
            </a:r>
          </a:p>
          <a:p>
            <a:pPr marL="0" indent="0">
              <a:buNone/>
            </a:pPr>
            <a:r>
              <a:rPr lang="pt-BR" sz="4500" b="1" dirty="0">
                <a:solidFill>
                  <a:srgbClr val="7030A0"/>
                </a:solidFill>
              </a:rPr>
              <a:t>alfanumérico</a:t>
            </a:r>
            <a:r>
              <a:rPr lang="pt-BR" sz="4500" dirty="0"/>
              <a:t> ou </a:t>
            </a:r>
            <a:r>
              <a:rPr lang="pt-BR" sz="4500" b="1" dirty="0">
                <a:solidFill>
                  <a:srgbClr val="7030A0"/>
                </a:solidFill>
              </a:rPr>
              <a:t>char</a:t>
            </a:r>
            <a:r>
              <a:rPr lang="pt-BR" sz="4500" dirty="0"/>
              <a:t>.</a:t>
            </a:r>
          </a:p>
          <a:p>
            <a:pPr marL="0" indent="0">
              <a:buNone/>
            </a:pPr>
            <a:endParaRPr lang="pt-BR" sz="4500" dirty="0"/>
          </a:p>
        </p:txBody>
      </p:sp>
    </p:spTree>
    <p:extLst>
      <p:ext uri="{BB962C8B-B14F-4D97-AF65-F5344CB8AC3E}">
        <p14:creationId xmlns:p14="http://schemas.microsoft.com/office/powerpoint/2010/main" val="4148693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F6EE2-4854-8159-B8D5-4958F862F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3B6A4-7237-B327-5BA2-183A03973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4A1EE4-B797-A5C1-C3C8-483377480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São dados cujos valores somente podem</a:t>
            </a:r>
          </a:p>
          <a:p>
            <a:pPr marL="0" indent="0">
              <a:buNone/>
            </a:pPr>
            <a:r>
              <a:rPr lang="pt-BR" sz="4500" dirty="0"/>
              <a:t>assumir um de dois valores (estados lógicos):</a:t>
            </a:r>
          </a:p>
          <a:p>
            <a:pPr marL="0" indent="0">
              <a:buNone/>
            </a:pPr>
            <a:r>
              <a:rPr lang="pt-BR" sz="4500" b="1" dirty="0"/>
              <a:t>verdadeiro</a:t>
            </a:r>
            <a:r>
              <a:rPr lang="pt-BR" sz="4500" dirty="0"/>
              <a:t> (</a:t>
            </a:r>
            <a:r>
              <a:rPr lang="pt-BR" sz="4500" b="1" dirty="0" err="1">
                <a:solidFill>
                  <a:srgbClr val="7030A0"/>
                </a:solidFill>
              </a:rPr>
              <a:t>True</a:t>
            </a:r>
            <a:r>
              <a:rPr lang="pt-BR" sz="4500" dirty="0"/>
              <a:t> / 1) ou </a:t>
            </a:r>
            <a:r>
              <a:rPr lang="pt-BR" sz="4500" b="1" dirty="0"/>
              <a:t>falso</a:t>
            </a:r>
            <a:r>
              <a:rPr lang="pt-BR" sz="4500" dirty="0"/>
              <a:t> (</a:t>
            </a:r>
            <a:r>
              <a:rPr lang="pt-BR" sz="4500" b="1" dirty="0">
                <a:solidFill>
                  <a:srgbClr val="7030A0"/>
                </a:solidFill>
              </a:rPr>
              <a:t>False</a:t>
            </a:r>
            <a:r>
              <a:rPr lang="pt-BR" sz="4500" dirty="0"/>
              <a:t> / 0).</a:t>
            </a:r>
          </a:p>
          <a:p>
            <a:pPr marL="0" indent="0">
              <a:buNone/>
            </a:pPr>
            <a:r>
              <a:rPr lang="pt-BR" sz="4500" dirty="0"/>
              <a:t>• Também conhecido como tipo </a:t>
            </a:r>
            <a:r>
              <a:rPr lang="pt-BR" sz="4500" b="1" dirty="0">
                <a:solidFill>
                  <a:srgbClr val="7030A0"/>
                </a:solidFill>
              </a:rPr>
              <a:t>Booleano</a:t>
            </a:r>
            <a:r>
              <a:rPr lang="pt-BR" sz="4500" dirty="0"/>
              <a:t> (</a:t>
            </a:r>
            <a:r>
              <a:rPr lang="pt-BR" sz="4500" dirty="0" err="1"/>
              <a:t>Boolean</a:t>
            </a:r>
            <a:r>
              <a:rPr lang="pt-BR" sz="45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481485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486A99E7-7899-A5A3-C264-54E686F71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04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7AFE-81EE-845C-9645-CF37D102D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8E99C4D-9F3A-791C-1024-7E063B99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Variável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2C757633-EBFE-02BF-7790-219EB3CE8D8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658" b="166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176708E-1BF5-1A36-7995-AD69AEEF9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527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88BE6-C785-E7DE-CCEC-BE846E2CD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FA4E0-F737-B109-6FFA-B8A7551F7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D1AE6-1E9A-74DB-BDA9-93A76C35E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5000" dirty="0"/>
              <a:t>Local reservado na </a:t>
            </a:r>
            <a:r>
              <a:rPr lang="pt-BR" sz="5000" b="1" dirty="0"/>
              <a:t>memória RAM </a:t>
            </a:r>
            <a:r>
              <a:rPr lang="pt-BR" sz="5000" dirty="0"/>
              <a:t>do computador utilizado para </a:t>
            </a:r>
            <a:r>
              <a:rPr lang="pt-BR" sz="5000" b="1" dirty="0">
                <a:solidFill>
                  <a:srgbClr val="7030A0"/>
                </a:solidFill>
              </a:rPr>
              <a:t>armazenar</a:t>
            </a:r>
            <a:r>
              <a:rPr lang="pt-BR" sz="5000" dirty="0"/>
              <a:t> temporariamente os dados que são utilizados pelo programa.</a:t>
            </a:r>
          </a:p>
        </p:txBody>
      </p:sp>
    </p:spTree>
    <p:extLst>
      <p:ext uri="{BB962C8B-B14F-4D97-AF65-F5344CB8AC3E}">
        <p14:creationId xmlns:p14="http://schemas.microsoft.com/office/powerpoint/2010/main" val="287823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23DD-80C0-2957-AA9E-0DA32C0C2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93158-3F1B-7E79-3487-B092A939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9B736D7-5708-80AC-82F0-56399FCD1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As variáveis possuem algumas características, como:</a:t>
            </a:r>
          </a:p>
          <a:p>
            <a:pPr marL="0" indent="0">
              <a:buNone/>
            </a:pPr>
            <a:r>
              <a:rPr lang="pt-BR" sz="4500" dirty="0"/>
              <a:t>• Identificação ("nome")</a:t>
            </a:r>
          </a:p>
          <a:p>
            <a:pPr marL="0" indent="0">
              <a:buNone/>
            </a:pPr>
            <a:r>
              <a:rPr lang="pt-BR" sz="4500" dirty="0"/>
              <a:t>• Endereço</a:t>
            </a:r>
          </a:p>
          <a:p>
            <a:pPr marL="0" indent="0">
              <a:buNone/>
            </a:pPr>
            <a:r>
              <a:rPr lang="pt-BR" sz="4500" dirty="0"/>
              <a:t>• Tipo de dado</a:t>
            </a:r>
          </a:p>
        </p:txBody>
      </p:sp>
    </p:spTree>
    <p:extLst>
      <p:ext uri="{BB962C8B-B14F-4D97-AF65-F5344CB8AC3E}">
        <p14:creationId xmlns:p14="http://schemas.microsoft.com/office/powerpoint/2010/main" val="368557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249E5-8C08-98B4-3AEF-8B6052EB2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9D803-3738-392B-C887-57242778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236A81-4E4E-8EC4-826C-71D416ECF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Tamanho</a:t>
            </a:r>
          </a:p>
          <a:p>
            <a:pPr marL="0" indent="0">
              <a:buNone/>
            </a:pPr>
            <a:r>
              <a:rPr lang="pt-BR" sz="4500" dirty="0"/>
              <a:t>• Valor ("conteúdo")</a:t>
            </a:r>
          </a:p>
          <a:p>
            <a:pPr marL="0" indent="0">
              <a:buNone/>
            </a:pPr>
            <a:endParaRPr lang="pt-BR" sz="4500" dirty="0"/>
          </a:p>
        </p:txBody>
      </p:sp>
    </p:spTree>
    <p:extLst>
      <p:ext uri="{BB962C8B-B14F-4D97-AF65-F5344CB8AC3E}">
        <p14:creationId xmlns:p14="http://schemas.microsoft.com/office/powerpoint/2010/main" val="14509945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 que são variáveis na Programação?">
            <a:extLst>
              <a:ext uri="{FF2B5EF4-FFF2-40B4-BE49-F238E27FC236}">
                <a16:creationId xmlns:a16="http://schemas.microsoft.com/office/drawing/2014/main" id="{C5E8E097-0387-01AB-F48E-9FD98BC4C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338" y="0"/>
            <a:ext cx="7045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448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5014F-04B7-5226-F281-B89B13C79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75B43-7DD2-EAF4-90A7-71EE2F0B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5400" dirty="0"/>
              <a:t>Nomes de variáveis - Convenções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B7B048-AF81-C7D6-0778-C39642AEA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Podem ter um ou mais caracteres;</a:t>
            </a:r>
          </a:p>
          <a:p>
            <a:pPr marL="0" indent="0">
              <a:buNone/>
            </a:pPr>
            <a:r>
              <a:rPr lang="pt-BR" sz="4500" dirty="0"/>
              <a:t>• O </a:t>
            </a:r>
            <a:r>
              <a:rPr lang="pt-BR" sz="4500" b="1" dirty="0"/>
              <a:t>primeiro</a:t>
            </a:r>
            <a:r>
              <a:rPr lang="pt-BR" sz="4500" dirty="0"/>
              <a:t> caractere sempre é uma </a:t>
            </a:r>
            <a:r>
              <a:rPr lang="pt-BR" sz="4500" b="1" dirty="0"/>
              <a:t>letra</a:t>
            </a:r>
            <a:r>
              <a:rPr lang="pt-BR" sz="4500" dirty="0"/>
              <a:t>;</a:t>
            </a:r>
          </a:p>
          <a:p>
            <a:pPr marL="0" indent="0">
              <a:buNone/>
            </a:pPr>
            <a:r>
              <a:rPr lang="pt-BR" sz="4500" dirty="0"/>
              <a:t>• Não podem ser palavras reservadas da linguagem</a:t>
            </a:r>
          </a:p>
          <a:p>
            <a:pPr marL="0" indent="0">
              <a:buNone/>
            </a:pPr>
            <a:r>
              <a:rPr lang="pt-BR" sz="4500" dirty="0"/>
              <a:t>• Não pode ter </a:t>
            </a:r>
            <a:r>
              <a:rPr lang="pt-BR" sz="4500" b="1" dirty="0"/>
              <a:t>espaços em branco</a:t>
            </a:r>
            <a:r>
              <a:rPr lang="pt-BR" sz="45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03080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4FD6A-DAEA-E8A2-9B6D-59A044930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B9E71F-6C7F-0F9D-93E9-D658EAD9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5400" dirty="0"/>
              <a:t>Nomes de variáveis - Convenções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62E908-0C53-A4EB-FDAB-96677616E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Não podem ser usados caracteres especiais</a:t>
            </a:r>
          </a:p>
          <a:p>
            <a:pPr marL="0" indent="0">
              <a:buNone/>
            </a:pPr>
            <a:r>
              <a:rPr lang="pt-BR" sz="4500" dirty="0"/>
              <a:t>ou </a:t>
            </a:r>
            <a:r>
              <a:rPr lang="pt-BR" sz="4500" b="1" dirty="0"/>
              <a:t>símbolos</a:t>
            </a:r>
            <a:r>
              <a:rPr lang="pt-BR" sz="4500" dirty="0"/>
              <a:t>;</a:t>
            </a:r>
          </a:p>
          <a:p>
            <a:pPr marL="0" indent="0">
              <a:buNone/>
            </a:pPr>
            <a:r>
              <a:rPr lang="pt-BR" sz="4500" dirty="0"/>
              <a:t>• Podem ser usados números;</a:t>
            </a:r>
          </a:p>
        </p:txBody>
      </p:sp>
    </p:spTree>
    <p:extLst>
      <p:ext uri="{BB962C8B-B14F-4D97-AF65-F5344CB8AC3E}">
        <p14:creationId xmlns:p14="http://schemas.microsoft.com/office/powerpoint/2010/main" val="792482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5E92-512E-53ED-3F09-3D183DD41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C72BE-3C5A-83B9-5FAD-07137298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5400" dirty="0"/>
              <a:t>Declaração de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0AE23D-21A4-78A6-7CF6-210EB3FD3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Para que uma variável possa ser usada em um programa, ela deve primeiro ser </a:t>
            </a:r>
            <a:r>
              <a:rPr lang="pt-BR" sz="4500" b="1" dirty="0"/>
              <a:t>declarada</a:t>
            </a:r>
            <a:r>
              <a:rPr lang="pt-BR" sz="4500" dirty="0"/>
              <a:t>, para que seja reservado espaço na memória para armazenamento de seus dados.</a:t>
            </a:r>
          </a:p>
          <a:p>
            <a:pPr marL="0" indent="0" algn="ctr">
              <a:buNone/>
            </a:pPr>
            <a:r>
              <a:rPr lang="pt-BR" sz="4000" b="1" dirty="0" err="1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tipo_de_dado</a:t>
            </a:r>
            <a:r>
              <a:rPr lang="pt-BR" sz="4000" b="1" dirty="0">
                <a:solidFill>
                  <a:schemeClr val="accent5">
                    <a:lumMod val="50000"/>
                  </a:schemeClr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pt-BR" sz="4000" b="1" dirty="0" err="1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nomes_das_variáveis</a:t>
            </a:r>
            <a:endParaRPr lang="pt-BR" sz="4000" b="1" dirty="0">
              <a:solidFill>
                <a:srgbClr val="0070C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841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58065-FF5E-6E54-383B-3DEAEE90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13D8D-B35C-7890-196F-BD42C212B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5400" dirty="0"/>
              <a:t>Declaração de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3C2824-8AB3-2A47-87E7-9B4CF7D1A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• As variáveis podem ser declaradas no início do programa ou em outros locais do programa </a:t>
            </a:r>
            <a:r>
              <a:rPr lang="pt-BR" sz="4500" b="1" dirty="0"/>
              <a:t>(escopo) </a:t>
            </a:r>
            <a:r>
              <a:rPr lang="pt-BR" sz="4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3605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8F78902-AA6F-7472-584B-DCFC4E11F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408"/>
            <a:ext cx="12192000" cy="660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995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1CD60-0453-95BC-28CA-BACB750CF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1C1D491-69B1-3017-533E-3638DE6C2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2" y="1904474"/>
            <a:ext cx="12058135" cy="304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178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8F532-52A9-97C6-1D4A-7BC527CF1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A5B91-48A1-A119-2FB7-984C57CD1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5400" dirty="0"/>
              <a:t>Atribuição de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9F21D3-52AC-6BFD-3320-FB87389EA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Para atribuir um valor a uma variável, usamos um operador de atribuição:</a:t>
            </a:r>
          </a:p>
          <a:p>
            <a:pPr marL="0" indent="0" algn="ctr">
              <a:buNone/>
            </a:pPr>
            <a:r>
              <a:rPr lang="pt-BR" sz="4500" dirty="0"/>
              <a:t>= (sinal de igual)</a:t>
            </a:r>
          </a:p>
          <a:p>
            <a:pPr marL="0" indent="0">
              <a:buNone/>
            </a:pPr>
            <a:r>
              <a:rPr lang="pt-BR" sz="4500" dirty="0"/>
              <a:t>Sintaxe:</a:t>
            </a:r>
          </a:p>
          <a:p>
            <a:pPr marL="0" indent="0" algn="ctr">
              <a:buNone/>
            </a:pPr>
            <a:r>
              <a:rPr lang="pt-BR" sz="4500" dirty="0">
                <a:solidFill>
                  <a:srgbClr val="00B0F0"/>
                </a:solidFill>
              </a:rPr>
              <a:t>variável</a:t>
            </a:r>
            <a:r>
              <a:rPr lang="pt-BR" sz="4500" dirty="0"/>
              <a:t> = </a:t>
            </a:r>
            <a:r>
              <a:rPr lang="pt-BR" sz="4500" dirty="0">
                <a:solidFill>
                  <a:srgbClr val="00B050"/>
                </a:solidFill>
              </a:rPr>
              <a:t>valor</a:t>
            </a:r>
          </a:p>
        </p:txBody>
      </p:sp>
    </p:spTree>
    <p:extLst>
      <p:ext uri="{BB962C8B-B14F-4D97-AF65-F5344CB8AC3E}">
        <p14:creationId xmlns:p14="http://schemas.microsoft.com/office/powerpoint/2010/main" val="2542925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B64A-3755-C92C-1D8C-F467E944D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B932588-65C5-3364-36DA-A221CB4BE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3" y="0"/>
            <a:ext cx="121677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69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FF0F4-8CE2-78B7-2741-613D0C9F8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78F22B0-EB86-56A7-8777-07ECE263F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501" y="0"/>
            <a:ext cx="10274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73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4252C-0B9D-AC50-C8DD-55395FF7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5250639-C685-9104-7285-BB69CC5A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68" y="0"/>
            <a:ext cx="99614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371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D69ED-727B-0C32-3227-1A0F702DD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FC102060-F24D-D1DA-5E46-C15826081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265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01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dirty="0"/>
              <a:t>Escreva um algoritmo em </a:t>
            </a:r>
            <a:r>
              <a:rPr lang="pt-BR" sz="4000" dirty="0" err="1"/>
              <a:t>Pseudocodigo</a:t>
            </a:r>
            <a:r>
              <a:rPr lang="pt-BR" sz="4000" dirty="0"/>
              <a:t>(</a:t>
            </a:r>
            <a:r>
              <a:rPr lang="pt-BR" sz="4000" dirty="0" err="1"/>
              <a:t>Portugol</a:t>
            </a:r>
            <a:r>
              <a:rPr lang="pt-BR" sz="4000" dirty="0"/>
              <a:t>) que escreva o nome da sua Universidade.</a:t>
            </a:r>
          </a:p>
          <a:p>
            <a:pPr algn="ctr"/>
            <a:r>
              <a:rPr lang="pt-BR" sz="4000" dirty="0"/>
              <a:t>Depois o nome da escola onde você estudou no Ensino Médio!</a:t>
            </a:r>
          </a:p>
        </p:txBody>
      </p:sp>
    </p:spTree>
    <p:extLst>
      <p:ext uri="{BB962C8B-B14F-4D97-AF65-F5344CB8AC3E}">
        <p14:creationId xmlns:p14="http://schemas.microsoft.com/office/powerpoint/2010/main" val="40208042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9D6E-9C9A-46E0-CC66-9DE138D12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1D7F012-DE97-90BE-825A-C04B0186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e Saida de dados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9137204B-55F3-48D1-D347-28B67D86A5C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6658" b="16658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A559AB2-2E49-EE27-7396-4668B7D8C73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750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B86C1-15B0-4777-A24E-C858135BA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0825E-97F5-FDA1-8DAB-FA087AA4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5400" dirty="0"/>
              <a:t>Entrada e Saída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200DA3-E3F1-6A8D-C4A5-4409ED3AC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Instrução </a:t>
            </a:r>
            <a:r>
              <a:rPr lang="pt-BR" sz="4500" b="1" dirty="0">
                <a:solidFill>
                  <a:srgbClr val="00B050"/>
                </a:solidFill>
              </a:rPr>
              <a:t>leia</a:t>
            </a:r>
          </a:p>
          <a:p>
            <a:pPr marL="0" indent="0">
              <a:buNone/>
            </a:pPr>
            <a:r>
              <a:rPr lang="pt-BR" sz="4500" dirty="0"/>
              <a:t>Lê valores digitados no teclado e os armazena em variáveis na memória.</a:t>
            </a:r>
          </a:p>
          <a:p>
            <a:pPr marL="0" indent="0">
              <a:buNone/>
            </a:pPr>
            <a:r>
              <a:rPr lang="pt-BR" sz="4500" dirty="0"/>
              <a:t>Exemplo:</a:t>
            </a:r>
          </a:p>
          <a:p>
            <a:pPr marL="0" indent="0" algn="ctr">
              <a:buNone/>
            </a:pPr>
            <a:r>
              <a:rPr lang="pt-BR" sz="4500" dirty="0">
                <a:solidFill>
                  <a:srgbClr val="FFC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leia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pt-BR" sz="4500" dirty="0" err="1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valorPizza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792333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9053F-AC0A-B6BF-61C0-0DCB39732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C08AB-C814-8633-FBF7-B37BFCACE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5400" dirty="0"/>
              <a:t>Entrada e Saída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9D4EA-C1ED-E7D5-94F0-94EFA0A2D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Instrução </a:t>
            </a:r>
            <a:r>
              <a:rPr lang="pt-BR" sz="4500" b="1" dirty="0">
                <a:solidFill>
                  <a:srgbClr val="00B050"/>
                </a:solidFill>
              </a:rPr>
              <a:t>escreva</a:t>
            </a:r>
          </a:p>
          <a:p>
            <a:pPr marL="0" indent="0">
              <a:buNone/>
            </a:pPr>
            <a:r>
              <a:rPr lang="pt-BR" sz="4500" dirty="0"/>
              <a:t>• Escreve dados na tela do computador. Os dados podem ou não estarem armazenados em variáveis.</a:t>
            </a:r>
          </a:p>
        </p:txBody>
      </p:sp>
    </p:spTree>
    <p:extLst>
      <p:ext uri="{BB962C8B-B14F-4D97-AF65-F5344CB8AC3E}">
        <p14:creationId xmlns:p14="http://schemas.microsoft.com/office/powerpoint/2010/main" val="805451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F0871-CEEA-5FCE-DC17-929D3092F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3C54DA-B97C-87AB-00F9-88254B64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5400" dirty="0"/>
              <a:t>Entrada e Saída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027E6-BCAF-9E82-6111-A14509230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32872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500" dirty="0"/>
              <a:t>Exemplos:</a:t>
            </a:r>
          </a:p>
          <a:p>
            <a:pPr marL="0" indent="0">
              <a:buNone/>
            </a:pPr>
            <a:r>
              <a:rPr lang="pt-BR" sz="4500" dirty="0">
                <a:solidFill>
                  <a:srgbClr val="FFC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escreva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pt-BR" sz="45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Pizza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  <a:p>
            <a:pPr marL="0" indent="0">
              <a:buNone/>
            </a:pPr>
            <a:r>
              <a:rPr lang="pt-BR" sz="4500" dirty="0">
                <a:solidFill>
                  <a:srgbClr val="FFC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escreva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pt-BR" sz="45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500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pt-BR" sz="4500" dirty="0">
                <a:solidFill>
                  <a:srgbClr val="FFC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escreva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pt-BR" sz="4500" dirty="0" err="1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valorPizza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pt-BR" sz="4500" dirty="0">
                <a:solidFill>
                  <a:srgbClr val="FFC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escreva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("</a:t>
            </a:r>
            <a:r>
              <a:rPr lang="pt-BR" sz="45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pt-BR" sz="45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pt-BR" sz="4500" dirty="0">
                <a:latin typeface="Cascadia Code" panose="020B0609020000020004" pitchFamily="49" charset="0"/>
                <a:cs typeface="Cascadia Code" panose="020B06090200000200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42050314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1BC5E98-425C-9D9C-DBF1-31CC252AC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00" y="48192"/>
            <a:ext cx="11726999" cy="676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744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7B4F6-F4F1-14BA-7062-4298A3AF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O conteúdo gerado por IA pode estar incorreto.">
            <a:extLst>
              <a:ext uri="{FF2B5EF4-FFF2-40B4-BE49-F238E27FC236}">
                <a16:creationId xmlns:a16="http://schemas.microsoft.com/office/drawing/2014/main" id="{737A87B2-E215-60DC-3C24-0C2793692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91" y="1357023"/>
            <a:ext cx="11765017" cy="414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45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14094-2314-F027-D812-CE0BB61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2B9A96E3-41CA-E773-8A3B-394EB6F4D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707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Lista de 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3183147"/>
            <a:ext cx="5230023" cy="2027208"/>
          </a:xfrm>
        </p:spPr>
        <p:txBody>
          <a:bodyPr>
            <a:normAutofit lnSpcReduction="10000"/>
          </a:bodyPr>
          <a:lstStyle/>
          <a:p>
            <a:pPr algn="ctr"/>
            <a:r>
              <a:rPr lang="pt-BR" sz="3200" dirty="0"/>
              <a:t>Realizar todas os exercícios propostos;</a:t>
            </a:r>
          </a:p>
          <a:p>
            <a:pPr algn="ctr"/>
            <a:r>
              <a:rPr lang="pt-BR" sz="3200" dirty="0"/>
              <a:t>Enviar no prazo estabelecido;</a:t>
            </a:r>
          </a:p>
          <a:p>
            <a:pPr algn="ctr"/>
            <a:r>
              <a:rPr lang="pt-BR" sz="3200" b="1" dirty="0">
                <a:solidFill>
                  <a:srgbClr val="FF0000"/>
                </a:solidFill>
              </a:rPr>
              <a:t>Sempre informar Nome e RA.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A57BB52-0F69-EF2A-162C-D7DB86D2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224" y="621977"/>
            <a:ext cx="3648648" cy="18000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CA57334-6671-ACD1-F797-AA451095A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638" y="2936751"/>
            <a:ext cx="4311562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25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863_TF22378848.potx" id="{53269024-24FC-4B17-B3AE-3D7549CE191E}" vid="{01B4D491-F3F2-4E5D-94E6-F1FCB1EFD3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purl.org/dc/dcmitype/"/>
    <ds:schemaRef ds:uri="http://www.w3.org/XML/1998/namespace"/>
    <ds:schemaRef ds:uri="http://schemas.microsoft.com/office/2006/metadata/properties"/>
    <ds:schemaRef ds:uri="71af3243-3dd4-4a8d-8c0d-dd76da1f02a5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integral</Template>
  <TotalTime>443</TotalTime>
  <Words>723</Words>
  <Application>Microsoft Office PowerPoint</Application>
  <PresentationFormat>Widescreen</PresentationFormat>
  <Paragraphs>112</Paragraphs>
  <Slides>46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52" baseType="lpstr">
      <vt:lpstr>Calibri</vt:lpstr>
      <vt:lpstr>Cascadia Code</vt:lpstr>
      <vt:lpstr>Tw Cen MT</vt:lpstr>
      <vt:lpstr>Tw Cen MT Condensed</vt:lpstr>
      <vt:lpstr>Wingdings 3</vt:lpstr>
      <vt:lpstr>Integral</vt:lpstr>
      <vt:lpstr>Lógica e Estrutura Sequencial</vt:lpstr>
      <vt:lpstr>Apresentação do PowerPoint</vt:lpstr>
      <vt:lpstr>Portugol</vt:lpstr>
      <vt:lpstr>Hello World</vt:lpstr>
      <vt:lpstr>Portugol</vt:lpstr>
      <vt:lpstr>Apresentação do PowerPoint</vt:lpstr>
      <vt:lpstr>Apresentação do PowerPoint</vt:lpstr>
      <vt:lpstr>Portugol</vt:lpstr>
      <vt:lpstr>Apresentação do PowerPoint</vt:lpstr>
      <vt:lpstr>Tipos de Dados</vt:lpstr>
      <vt:lpstr>Portugol</vt:lpstr>
      <vt:lpstr>Portugol</vt:lpstr>
      <vt:lpstr>Portugol</vt:lpstr>
      <vt:lpstr>Portugol</vt:lpstr>
      <vt:lpstr>Portugol</vt:lpstr>
      <vt:lpstr>Tipos Numéricos</vt:lpstr>
      <vt:lpstr>Tipos Numéricos</vt:lpstr>
      <vt:lpstr>Tipos Caractere</vt:lpstr>
      <vt:lpstr>Tipos Caractere</vt:lpstr>
      <vt:lpstr>Tipos Lógico</vt:lpstr>
      <vt:lpstr>Apresentação do PowerPoint</vt:lpstr>
      <vt:lpstr>Variável</vt:lpstr>
      <vt:lpstr>Conceito</vt:lpstr>
      <vt:lpstr>Conceito</vt:lpstr>
      <vt:lpstr>Conceito</vt:lpstr>
      <vt:lpstr>Apresentação do PowerPoint</vt:lpstr>
      <vt:lpstr>Nomes de variáveis - Convenções</vt:lpstr>
      <vt:lpstr>Nomes de variáveis - Convenções</vt:lpstr>
      <vt:lpstr>Declaração de variáveis</vt:lpstr>
      <vt:lpstr>Declaração de variáveis</vt:lpstr>
      <vt:lpstr>Apresentação do PowerPoint</vt:lpstr>
      <vt:lpstr>Apresentação do PowerPoint</vt:lpstr>
      <vt:lpstr>Atribuição de variáveis</vt:lpstr>
      <vt:lpstr>Apresentação do PowerPoint</vt:lpstr>
      <vt:lpstr>Apresentação do PowerPoint</vt:lpstr>
      <vt:lpstr>Apresentação do PowerPoint</vt:lpstr>
      <vt:lpstr>Apresentação do PowerPoint</vt:lpstr>
      <vt:lpstr>Exercício 01</vt:lpstr>
      <vt:lpstr>Entrada e Saida de dados</vt:lpstr>
      <vt:lpstr>Entrada e Saída de dados</vt:lpstr>
      <vt:lpstr>Entrada e Saída de dados</vt:lpstr>
      <vt:lpstr>Entrada e Saída de dados</vt:lpstr>
      <vt:lpstr>Apresentação do PowerPoint</vt:lpstr>
      <vt:lpstr>Apresentação do PowerPoint</vt:lpstr>
      <vt:lpstr>Apresentação do PowerPoint</vt:lpstr>
      <vt:lpstr>Lista de 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Sequencial - Daniel Paiva</dc:title>
  <dc:creator>Admin</dc:creator>
  <cp:keywords>Daniel Paiva</cp:keywords>
  <cp:lastModifiedBy>daniel</cp:lastModifiedBy>
  <cp:revision>87</cp:revision>
  <dcterms:created xsi:type="dcterms:W3CDTF">2023-02-26T16:03:57Z</dcterms:created>
  <dcterms:modified xsi:type="dcterms:W3CDTF">2026-08-27T22:28:39Z</dcterms:modified>
  <cp:category>TI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