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sem elo de continuidade visual — a Aula 13 não faz parte desta série de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Árvores são a estrutura de dados mais reaproveitada do curso — bancos, sistemas de arquivos, IA, tudo usa 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Essas três propriedades são consequências umas das outras — provar uma delas geralmente prova as outras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fórmula reaparece exata no Exercício 1 — vale a pena o aluno guardar a regra, não só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seis termos aparecem em toda discussão futura sobre árvores — B-trees, árvores de decisão, tudo usa esse vocabulário.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volta no Exercício 2, pedindo exatamente a profundidade de cada nó e a altura da 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contraponto para a árvore binária: aqui não há limite de filhos por 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de O(log n) só vale se a árvore estiver balanceada — mencionar isso de passagem, sem entrar em detalhe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mesma árvore usada em código mais adiante e no Exercício 3 — vale a pena o aluno se familiarizar com ela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ordens visitam os mesmos nós — só muda QUANDO o nó atual é visitado em relação aos filhos.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recursão é o pulo do gato aqui: cada função de percurso chama a si mesma para esquerda e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filhos definidos, esquerda e direita ficam null/None — é assim que sabemos que chegamos numa folha.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em-ordem não sair em ordem crescente, a árvore não satisfaz a propriedade de BST — vira o gancho para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Ótimo truque prático: rodar em_ordem() e conferir se o resultado está ordenado é mais rápido que reconferir a estrutura no olho.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destacar: pré-ordem = raiz-esquerda-direita, em-ordem = esquerda-raiz-direita, pós-ordem = esquerda-direita-raiz — é só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B-trees e árvores de decisão são bons ganchos para as próximas disciplinas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Exercícios 2 e 3 reaproveitam diagramas já mostrados na aula — o aluno só precisa aplicar o que acabou de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Aplicação direta da fórmula do Slide 4 — bom aquecimento antes dos exercícios com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essa conta não depende de como a árvore está desenhada, só do número de vértices.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diagrama do Slide 6, sem as respostas — o aluno preenche a profundidade de cada 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que "altura" é uma propriedade da árvore inteira, enquanto "profundidade" é uma propriedade de cada nó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árvore do Slide 9 — o aluno já viu essa estrutura, agora aplica os dois percursos restantes.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com a em-ordem [1,3,6,8,10,14] do Slide 13 reforça que só a posição da raiz muda entre as três ordens.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a diferença entre as três funções é só ONDE fica a linha resultado.append(no.valor).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única diferença entre as três funções é a posição da linha resultado.append(no.valor) em relação às duas chamadas recursivas.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Rosen e CLRS cobrem a teoria de árvores; Goodrich/Tamassia foca em implementação, útil para o desafio.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de busca do YouTube — resultados variam com o tempo, então vale conferir antes de indicar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sem gancho explícito para a próxima aula — igual à Aula 09, o número da próxima ainda não foi informado.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tutorial/controlflow.html#defining-functions" TargetMode="External"/><Relationship Id="rId4" Type="http://schemas.openxmlformats.org/officeDocument/2006/relationships/hyperlink" Target="https://www.youtube.com/results?search_query=%C3%A1rvore+bin%C3%A1ria+de+busca+anima%C3%A7%C3%A3o+explica%C3%A7%C3%A3o" TargetMode="External"/><Relationship Id="rId5" Type="http://schemas.openxmlformats.org/officeDocument/2006/relationships/hyperlink" Target="https://www.youtube.com/results?search_query=percurso+pre+ordem+em+ordem+pos+ordem+arvore+binaria" TargetMode="External"/><Relationship Id="rId1" Type="http://schemas.openxmlformats.org/officeDocument/2006/relationships/image" Target="../media/image-27-1.png"/><Relationship Id="rId3" Type="http://schemas.openxmlformats.org/officeDocument/2006/relationships/image" Target="../media/image-2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784080" y="-18288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14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Árvore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grafo mais simples que existe: conexo, sem ciclos, e cheio de estrutura escondida.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     folha     altura     BST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1226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como um grafo especial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3865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Conexo e sem ciclos — um caso particular do que vimos na Aula 12.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43814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46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Terminologia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71246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Raiz, folha, altura, profundidade, subárvore.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7640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72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binária e árvore binária de busca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50383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máximo 2 filhos por nó, e a regra que viabiliza busca rápida.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94360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08990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897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Percursos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08760" y="636422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Pré-ordem, em-ordem e pós-ordem.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GRAFO ESPECIAL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árvore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 é um grafo conexo e sem ciclos — os mesmos conceitos da Aula 12, só que combinados de um jeito específico.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881360" cy="2880360"/>
          </a:xfrm>
          <a:prstGeom prst="roundRect">
            <a:avLst>
              <a:gd name="adj" fmla="val 3175"/>
            </a:avLst>
          </a:prstGeom>
          <a:solidFill>
            <a:srgbClr val="F3F1FB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4231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 com n vértices tem exatamente n − 1 arestas.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único caminho entre quaisquer dois vértices.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Removendo qualquer aresta, a árvore se desconecta em duas partes.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148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importantes: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CONTANDO ARESTAS DE UMA ÁRVORE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232" y="1335024"/>
            <a:ext cx="713232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651760" y="2468880"/>
            <a:ext cx="6858000" cy="868680"/>
          </a:xfrm>
          <a:prstGeom prst="roundRect">
            <a:avLst>
              <a:gd name="adj" fmla="val 12632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51760" y="24688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arestas = vértices − 1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920240" y="35661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árvore com n vértices tem sempre n − 1 arestas, uma árvore com 10 vértices tem 9 arestas — sem precisar desenhá-la.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DE ÁRVORE ENRAIZADA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Terminologia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árvore enraizada, escolhemos um vértice como raiz e organizamos o resto em hierarquia: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vértice do topo, sem pai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 / filho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 entre um nó e os nós ligados diretamente abaixo dele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 sem filhos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Profundidade de um nó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arestas da raiz até ele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Altura da árvore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profundidade entre todas as folhas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C4B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Subárvore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árvore "dentro" da árvore, enraizada em qualquer nó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VISUALIZANDO A HIERARQUIA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Profundidade e altura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profundidade de um nó é a distância (em arestas) até a raiz. A altura da árvore é a maior profundidade entre as folhas.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4206240" y="2514600"/>
            <a:ext cx="182880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514600"/>
            <a:ext cx="182880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108960" y="3794760"/>
            <a:ext cx="109728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3794760"/>
            <a:ext cx="109728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3794760"/>
            <a:ext cx="9144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46420" y="2125980"/>
            <a:ext cx="777240" cy="77724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6420" y="21259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95344" y="34838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534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52944" y="34838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294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20340" y="4686300"/>
            <a:ext cx="777240" cy="77724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0340" y="46863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14900" y="4686300"/>
            <a:ext cx="777240" cy="77724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4900" y="46863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75220" y="4686300"/>
            <a:ext cx="777240" cy="77724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5220" y="46863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 raiz tem profundidade 0, A e B têm profundidade 1, e as folhas têm profundidade 2 — logo a altura da árvore é 2.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 NÃO BINÁRIA DO DIA A DIA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Pastas de arquivos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447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é a raiz; Fotos e Trabalho têm profundidade 1; as quatro subpastas mais baixas têm profundidade 2.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 flipV="1">
            <a:off x="3657600" y="2148840"/>
            <a:ext cx="237744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2148840"/>
            <a:ext cx="237744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2377440" y="3429000"/>
            <a:ext cx="128016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3429000"/>
            <a:ext cx="91440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7132320" y="3429000"/>
            <a:ext cx="128016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0" y="3429000"/>
            <a:ext cx="91440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1760220"/>
            <a:ext cx="777240" cy="77724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46420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91840" y="3063240"/>
            <a:ext cx="731520" cy="73152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46720" y="3063240"/>
            <a:ext cx="731520" cy="73152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2057400" y="4389120"/>
            <a:ext cx="640080" cy="64008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5740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Fé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51960" y="4389120"/>
            <a:ext cx="640080" cy="64008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51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12280" y="4389120"/>
            <a:ext cx="640080" cy="64008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006840" y="4389120"/>
            <a:ext cx="640080" cy="64008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0684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12080" y="26471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834640" y="3904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89520" y="3904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554480" y="5138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Férias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49040" y="5138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309360" y="5138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UC-MCA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503920" y="5138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UC-BD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que "Trabalho" tem 2 filhos, mas nada impede uma pasta real de ter 3, 4 ou mais — diferente da árvore binária da próxima seção.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RESTRINGINDO A ESTRUTURA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binária e árvore binária de busca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41B41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916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binária: cada nó tem no máximo 2 filhos (esquerdo e direito).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3F1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108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binária de busca (BST): para todo nó, os valores da subárvore esquerda são menores, e os da subárvore direita são maiores.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3977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regra é o que permite buscar um valor em O(log n) passos, em vez de percorrer todos os n nós.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BST é uma árvore binária, mas nem toda árvore binária é uma BST — a diferença é a regra de ordenação.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 CONCRETO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árvore binária de busca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8, com filho esquerdo 3 (filhos 1 e 6) e filho direito 10 (filho direito 14):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4023360" y="2377440"/>
            <a:ext cx="2011680" cy="146304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377440"/>
            <a:ext cx="2011680" cy="146304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926080" y="3840480"/>
            <a:ext cx="1097280" cy="146304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3840480"/>
            <a:ext cx="1097280" cy="146304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3840480"/>
            <a:ext cx="914400" cy="146304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24144" y="20665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24144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12464" y="352958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35295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35824" y="352958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5824" y="35295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615184" y="499262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4992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09744" y="499262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4992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650224" y="499262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0224" y="4992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BST: filhos à esquerda são sempre menores; filhos à direita, sempre maiores.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DE VISITAR TODOS OS NÓS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Percorrendo uma árvore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28600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Pré-ordem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o nó, depois a esquerda, depois a direita.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copiar a estrutura da árvore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196596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5710428" y="228600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4323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Em-ordem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 esquerda, depois o nó, depois a direita.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36008" y="4754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numa BST, dá a ordem crescente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83296" y="196596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3F1FB"/>
          </a:solidFill>
          <a:ln/>
        </p:spPr>
      </p:sp>
      <p:sp>
        <p:nvSpPr>
          <p:cNvPr id="17" name="Shape 13"/>
          <p:cNvSpPr/>
          <p:nvPr/>
        </p:nvSpPr>
        <p:spPr>
          <a:xfrm>
            <a:off x="9432036" y="228600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243230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6176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Pós-ordem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57616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 esquerda, a direita, depois o nó.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357616" y="4754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apagar a árvore (filhos antes do pai)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20" y="14447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binária em código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103120" y="3611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nó com valor, filho esquerdo e filho direito — e uma função recursiva para cada percurso.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BÁSICO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Definindo o nó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guarda um valor e referências para até dois filhos.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80660" cy="3794760"/>
          </a:xfrm>
          <a:prstGeom prst="roundRect">
            <a:avLst>
              <a:gd name="adj" fmla="val 3373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224942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74320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{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" y="305409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Valor;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2688" y="336499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 Esquerda, Direita;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32688" y="367588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No(</a:t>
            </a:r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valor,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32688" y="398678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 esq = </a:t>
            </a:r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 dir = </a:t>
            </a:r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32688" y="429768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Valor = valor;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32688" y="460857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Esquerda = esq; Direita = dir;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32688" y="491947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32688" y="523036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40780" y="2103120"/>
            <a:ext cx="5280660" cy="3794760"/>
          </a:xfrm>
          <a:prstGeom prst="roundRect">
            <a:avLst>
              <a:gd name="adj" fmla="val 3373"/>
            </a:avLst>
          </a:prstGeom>
          <a:solidFill>
            <a:srgbClr val="232C63"/>
          </a:solidFill>
          <a:ln/>
        </p:spPr>
      </p:sp>
      <p:sp>
        <p:nvSpPr>
          <p:cNvPr id="21" name="Shape 18"/>
          <p:cNvSpPr/>
          <p:nvPr/>
        </p:nvSpPr>
        <p:spPr>
          <a:xfrm>
            <a:off x="64968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2" name="Shape 19"/>
          <p:cNvSpPr/>
          <p:nvPr/>
        </p:nvSpPr>
        <p:spPr>
          <a:xfrm>
            <a:off x="66979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3" name="Shape 20"/>
          <p:cNvSpPr/>
          <p:nvPr/>
        </p:nvSpPr>
        <p:spPr>
          <a:xfrm>
            <a:off x="68991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4" name="Text 21"/>
          <p:cNvSpPr/>
          <p:nvPr/>
        </p:nvSpPr>
        <p:spPr>
          <a:xfrm>
            <a:off x="71551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no.py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49424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533388" y="274320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No: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533388" y="305409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</a:t>
            </a:r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valor,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533388" y="336499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esquerda=</a:t>
            </a:r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direita=</a:t>
            </a:r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533388" y="367588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self.valor = valor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533388" y="398678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self.esquerda = esquerda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533388" y="429768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self.direita = direita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 EM 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Percurso em-ordem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Esquerda, depois o nó, depois a direita — numa BST isso visita os valores em ordem crescente.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0660" cy="4114800"/>
          </a:xfrm>
          <a:prstGeom prst="roundRect">
            <a:avLst>
              <a:gd name="adj" fmla="val 3111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192938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331720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List&lt;int&gt;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EmOrdem(No no,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2574036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List&lt;int&gt; resultado =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" y="2816352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 ??=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List&lt;int&gt;();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" y="3058668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==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 resultado;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32688" y="3300984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EmOrdem(no.Esquerda, resultado);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32688" y="3543300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resultado.Add(no.Valor);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32688" y="3785616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EmOrdem(no.Direita, resultado);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32688" y="4027932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resultado;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32688" y="4270248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32688" y="4512564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32688" y="4754880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arvore =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No(8,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2688" y="4997196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No(3,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No(1),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No(6)),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32688" y="5239512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No(10,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No(14)));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32688" y="5481828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resultado = EmOrdem(arvore);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40780" y="1783080"/>
            <a:ext cx="5280660" cy="3657600"/>
          </a:xfrm>
          <a:prstGeom prst="roundRect">
            <a:avLst>
              <a:gd name="adj" fmla="val 3500"/>
            </a:avLst>
          </a:prstGeom>
          <a:solidFill>
            <a:srgbClr val="232C63"/>
          </a:solidFill>
          <a:ln/>
        </p:spPr>
      </p:sp>
      <p:sp>
        <p:nvSpPr>
          <p:cNvPr id="26" name="Shape 23"/>
          <p:cNvSpPr/>
          <p:nvPr/>
        </p:nvSpPr>
        <p:spPr>
          <a:xfrm>
            <a:off x="64968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7" name="Shape 24"/>
          <p:cNvSpPr/>
          <p:nvPr/>
        </p:nvSpPr>
        <p:spPr>
          <a:xfrm>
            <a:off x="66979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8" name="Shape 25"/>
          <p:cNvSpPr/>
          <p:nvPr/>
        </p:nvSpPr>
        <p:spPr>
          <a:xfrm>
            <a:off x="68991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9" name="Text 26"/>
          <p:cNvSpPr/>
          <p:nvPr/>
        </p:nvSpPr>
        <p:spPr>
          <a:xfrm>
            <a:off x="71551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arvore.py</a:t>
            </a:r>
            <a:endParaRPr lang="en-US" sz="10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929384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33388" y="2331720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em_ordem(no, resultado=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533388" y="2574036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None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33388" y="2816352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resultado = []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533388" y="3058668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None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533388" y="3300984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533388" y="3543300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em_ordem(no.esquerda, resultado)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533388" y="3785616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resultado.append(no.valor)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533388" y="4027932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em_ordem(no.direita, resultado)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533388" y="4270248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533388" y="4512564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533388" y="4754880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arvore = No(8, No(3, No(1), No(6)),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533388" y="4997196"/>
            <a:ext cx="47320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No(10, </a:t>
            </a:r>
            <a:pPr indent="0" marL="0">
              <a:buNone/>
            </a:pPr>
            <a:r>
              <a:rPr lang="en-US" sz="10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0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No(14)))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print(em_ordem(arvore))     # [1, 3, 6, 8, 10, 14]  -&gt; ordem crescente!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TESTE RÁPIDO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E8B32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Em-ordem confirma que é uma BST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141B41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4884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travessia em-ordem de uma árvore binária NÃO sai em ordem crescente, ela NÃO satisfaz a propriedade de BST.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outras palavras: em-ordem é um teste de sanidade de uma linha para checar se a estrutura está correta.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AS TRÊS ORDENS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Pré, em e pós-ordem lado a lado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com raiz 5, filho esquerdo 2 e filho direito 9 (ambos folhas):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4389120" y="2148840"/>
            <a:ext cx="1645920" cy="123444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148840"/>
            <a:ext cx="1645920" cy="123444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24144" y="18379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24144" y="18379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078224" y="3072384"/>
            <a:ext cx="621792" cy="621792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8224" y="30723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70064" y="3072384"/>
            <a:ext cx="621792" cy="621792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0064" y="30723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3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34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Pré-ordem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83280" y="4434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[5, 2, 9]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primeiro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1149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3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11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Em-ordem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83280" y="51114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5, 9]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51114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no meio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78815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3F1F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788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Pós-ordem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57881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9, 5]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57881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por último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elementos nas três — só a posição da raiz muda. Use essa regra para conferir o Exercício 3.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SALA DE 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árvores aparecem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1226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arquivos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3865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dentro de pastas — o exemplo que já vimos nesta aula.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20954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17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do HTML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48386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aninhados formam uma árvore que o navegador percorre para renderizar a página.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3068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114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banco de dados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45811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B-trees organizam registros para buscas rápidas em milhões de linhas.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25780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40410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212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08760" y="567842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modelos mais usados em aprendizado de máquina.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0944" y="1408176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828800" y="3611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exercícios: contagem de arestas, profundidade e altura, percursos numa BST e um desafio de implementação.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Contando arestas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 tem 15 vértices. Quantas arestas ela possui? Justifique usando a propriedade vista na aula.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881360" cy="2377440"/>
          </a:xfrm>
          <a:prstGeom prst="roundRect">
            <a:avLst>
              <a:gd name="adj" fmla="val 3846"/>
            </a:avLst>
          </a:prstGeom>
          <a:ln w="19050">
            <a:solidFill>
              <a:srgbClr val="CFCB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arestas = _______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6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Justificativa: ________________________________________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Contando arestas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41B4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arestas = vértices − 1 = 15 − 1 = 14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árvore com n vértices tem exatamente n − 1 arestas: não há como fechar um ciclo sem violar a definição de árvore.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Profundidade e altura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árvore do diagrama de terminologia (raiz, A, B, três folhas), identifique a profundidade de cada nó e a altura da árvore.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 flipV="1">
            <a:off x="4206240" y="2880360"/>
            <a:ext cx="182880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2880360"/>
            <a:ext cx="182880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108960" y="3977640"/>
            <a:ext cx="109728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3977640"/>
            <a:ext cx="109728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3977640"/>
            <a:ext cx="9144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514600"/>
            <a:ext cx="731520" cy="73152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95344" y="36667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3666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552944" y="36667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2944" y="3666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798064" y="4764024"/>
            <a:ext cx="621792" cy="621792"/>
          </a:xfrm>
          <a:prstGeom prst="ellipse">
            <a:avLst/>
          </a:prstGeom>
          <a:solidFill>
            <a:srgbClr val="AFA9C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98064" y="4764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992624" y="4764024"/>
            <a:ext cx="621792" cy="621792"/>
          </a:xfrm>
          <a:prstGeom prst="ellipse">
            <a:avLst/>
          </a:prstGeom>
          <a:solidFill>
            <a:srgbClr val="AFA9C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92624" y="4764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552944" y="4764024"/>
            <a:ext cx="621792" cy="621792"/>
          </a:xfrm>
          <a:prstGeom prst="ellipse">
            <a:avLst/>
          </a:prstGeom>
          <a:solidFill>
            <a:srgbClr val="AFA9C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2944" y="4764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691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Profundidade: raiz=___  A=___  B=___  folhas=___          Altura=___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Profundidade e altura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 flipV="1">
            <a:off x="4206240" y="2514600"/>
            <a:ext cx="182880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5040" y="2514600"/>
            <a:ext cx="182880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3108960" y="3794760"/>
            <a:ext cx="109728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0" y="3794760"/>
            <a:ext cx="1097280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0" y="3794760"/>
            <a:ext cx="9144" cy="12801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6420" y="2125980"/>
            <a:ext cx="777240" cy="77724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46420" y="21259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raiz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95344" y="34838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9534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552944" y="34838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52944" y="3483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720340" y="4686300"/>
            <a:ext cx="777240" cy="77724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20340" y="46863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914900" y="4686300"/>
            <a:ext cx="777240" cy="77724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4900" y="46863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75220" y="4686300"/>
            <a:ext cx="777240" cy="777240"/>
          </a:xfrm>
          <a:prstGeom prst="ellipse">
            <a:avLst/>
          </a:prstGeom>
          <a:solidFill>
            <a:srgbClr val="3EBD59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75220" y="46863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folha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212080" y="30129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83280" y="42153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040880" y="42153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286000" y="55732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80560" y="55732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40880" y="55732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 da árvore = 2 (maior profundidade entre as folhas)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Pré-ordem e pós-ordem numa BST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a BST com raiz 8, filho esquerdo 3 (com filhos 1 e 6) e filho direito 10 (com filho direito 14), escreva a ordem de visita em pré-ordem e em pós-ordem (a em-ordem já está na aula).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 flipV="1">
            <a:off x="4206240" y="3246120"/>
            <a:ext cx="182880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3246120"/>
            <a:ext cx="182880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200400" y="4343400"/>
            <a:ext cx="100584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4343400"/>
            <a:ext cx="100584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4343400"/>
            <a:ext cx="1005840" cy="10972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51576" y="2962656"/>
            <a:ext cx="566928" cy="566928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51576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22776" y="4059936"/>
            <a:ext cx="566928" cy="566928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22776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580376" y="4059936"/>
            <a:ext cx="566928" cy="566928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0376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916936" y="5157216"/>
            <a:ext cx="566928" cy="566928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16936" y="5157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928616" y="5157216"/>
            <a:ext cx="566928" cy="566928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8616" y="5157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586216" y="5157216"/>
            <a:ext cx="566928" cy="566928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86216" y="5157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691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Pré-ordem: [ _____________________ ]        Pós-ordem: [ _____________________ ]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Pré-ordem e pós-ordem numa BST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41B4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65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Pré-ordem = [8, 3, 1, 6, 10, 14]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Pós-ordem = [1, 6, 3, 14, 10, 8]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Pré-ordem visita 8, depois toda a subárvore esquerda (3,1,6), depois toda a direita (10,14). Pós-ordem visita as duas subárvores antes de visitar 8 por último.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Implementando os percursos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pre_ordem(no) e pos_ordem(no) em Python, seguindo o mesmo padrão de em_ordem da aula. Teste com a árvore de exemplo.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10881360" cy="2926080"/>
          </a:xfrm>
          <a:prstGeom prst="roundRect">
            <a:avLst>
              <a:gd name="adj" fmla="val 3125"/>
            </a:avLst>
          </a:prstGeom>
          <a:solidFill>
            <a:srgbClr val="232C63"/>
          </a:solidFill>
          <a:ln/>
        </p:spPr>
      </p:sp>
      <p:sp>
        <p:nvSpPr>
          <p:cNvPr id="8" name="Shape 5"/>
          <p:cNvSpPr/>
          <p:nvPr/>
        </p:nvSpPr>
        <p:spPr>
          <a:xfrm>
            <a:off x="896112" y="27340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27340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27340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pre_pos_ordem.py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pre_ordem(no, resultado=None): ______________________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3520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(mesmo padrão do em_ordem — só muda a posição do append)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pos_ordem(no, resultado=None): ______________________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434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(o append vem depois das duas chamadas recursivas)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49377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em_ordem, pre_ordem e pos_ordem devem bater com o Exercício 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Implementando os percursos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280660" cy="3291840"/>
          </a:xfrm>
          <a:prstGeom prst="roundRect">
            <a:avLst>
              <a:gd name="adj" fmla="val 3889"/>
            </a:avLst>
          </a:prstGeom>
          <a:solidFill>
            <a:srgbClr val="232C63"/>
          </a:solidFill>
          <a:ln/>
        </p:spPr>
      </p:sp>
      <p:sp>
        <p:nvSpPr>
          <p:cNvPr id="7" name="Shape 4"/>
          <p:cNvSpPr/>
          <p:nvPr/>
        </p:nvSpPr>
        <p:spPr>
          <a:xfrm>
            <a:off x="758952" y="191109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191109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9" name="Shape 6"/>
          <p:cNvSpPr/>
          <p:nvPr/>
        </p:nvSpPr>
        <p:spPr>
          <a:xfrm>
            <a:off x="1161288" y="191109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0" name="Text 7"/>
          <p:cNvSpPr/>
          <p:nvPr/>
        </p:nvSpPr>
        <p:spPr>
          <a:xfrm>
            <a:off x="1417320" y="185166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pre_ordem.py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0" y="18379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2286000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pre_ordem(no, resultado=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95528" y="2551176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None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95528" y="2816352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resultado = []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95528" y="3081528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None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95528" y="3346704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95528" y="3611880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resultado.append(no.valor)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95528" y="3877056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pre_ordem(no.esquerda, resultado)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95528" y="4142232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pre_ordem(no.direita, resultado)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95528" y="4407408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03620" y="1691640"/>
            <a:ext cx="5280660" cy="3291840"/>
          </a:xfrm>
          <a:prstGeom prst="roundRect">
            <a:avLst>
              <a:gd name="adj" fmla="val 3889"/>
            </a:avLst>
          </a:prstGeom>
          <a:solidFill>
            <a:srgbClr val="232C63"/>
          </a:solidFill>
          <a:ln/>
        </p:spPr>
      </p:sp>
      <p:sp>
        <p:nvSpPr>
          <p:cNvPr id="22" name="Shape 18"/>
          <p:cNvSpPr/>
          <p:nvPr/>
        </p:nvSpPr>
        <p:spPr>
          <a:xfrm>
            <a:off x="6359652" y="191109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3" name="Shape 19"/>
          <p:cNvSpPr/>
          <p:nvPr/>
        </p:nvSpPr>
        <p:spPr>
          <a:xfrm>
            <a:off x="6560820" y="191109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4" name="Shape 20"/>
          <p:cNvSpPr/>
          <p:nvPr/>
        </p:nvSpPr>
        <p:spPr>
          <a:xfrm>
            <a:off x="6761988" y="191109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5" name="Text 21"/>
          <p:cNvSpPr/>
          <p:nvPr/>
        </p:nvSpPr>
        <p:spPr>
          <a:xfrm>
            <a:off x="7018020" y="185166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pos_ordem.py</a:t>
            </a:r>
            <a:endParaRPr lang="en-US" sz="10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37944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96228" y="2286000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pos_ordem(no, resultado=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96228" y="2551176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None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396228" y="2816352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resultado = []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96228" y="3081528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</a:t>
            </a:r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None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396228" y="3346704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396228" y="3611880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pos_ordem(no.esquerda, resultado)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396228" y="3877056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pos_ordem(no.direita, resultado)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396228" y="4142232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resultado.append(no.valor)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396228" y="4407408"/>
            <a:ext cx="47320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1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02920" y="51663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na árvore 8/3/10/1/6/14: pre_ordem → [8,3,1,6,10,14]   pos_ordem → [1,6,3,14,10,8]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3172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4780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AMGH/McGraw-Hill — cap. Árvores.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54296" y="233172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780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324612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 et al.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54296" y="475488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Teoria e Prática (CLRS). Elsevier — cap. Árvores binárias de busca.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4192" y="233172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4780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24612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GOODRICH, M. T.; TAMASSIA, R.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94192" y="475488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em Python. Bookman — árvores e percursos.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865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recursão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Funções que chamam a si mesmas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documentação oficial.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24028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3865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Árvores binárias de busca explicadas com animações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8368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u="sng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Percursos pré-ordem, em-ordem e pós-ordem passo a passo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743200"/>
            <a:ext cx="5029200" cy="50292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3840480" cy="3840480"/>
          </a:xfrm>
          <a:prstGeom prst="ellipse">
            <a:avLst/>
          </a:prstGeom>
          <a:ln w="19050">
            <a:solidFill>
              <a:srgbClr val="2FE6C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14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4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grafo mais organizado que existe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é grafo sem excesso: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as arestas essenciais para conectar tudo.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raiz, folha, profundidade e altura — e os três percursos (pré, em, pós) que vêm com eles.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2026-08-05T14:18:26Z</dcterms:created>
  <dcterms:modified xsi:type="dcterms:W3CDTF">2026-08-05T14:18:26Z</dcterms:modified>
</cp:coreProperties>
</file>