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Aula sem elo de continuidade visual — as Aulas 10 e 11 não fazem parte desta série de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Grafos são o assunto mais visual do curso até aqui — bom momento para desenhar bastante no quadro também.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ponte (relação = arestas) é a ideia central que vai justificar tudo o resto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este diagrama — ele volta com nomes de pessoas no próximo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tipos combinam entre si — um grafo pode ser dirigido E ponderado ao mesmo tempo, por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lista de arestas é o formato mais comum de arquivo de entrada para algoritmos de grafo.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exatamente esse tipo de soma que algoritmos como o de Dijkstra otimizam para achar o caminho mais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exemplo volta quase igual no Exercício 3, só que fechando um ciclo A→B→C→A.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quatro termos aparecem em praticamente todo algoritmo de grafo do resto do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para qualquer grafo não dirigido, não importa a forma — é pura contagem.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este grafo — ele volta nos Exercícios 1 e 2, mais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mesmo grafo A-B-C-D do Slide 4, agora em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grafo A-B-C-D novamente — a diagonal principal é sempre 0 (nenhum vértice tem aresta para si mesmo, aqui).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eh_conexo usa uma busca (DFS) — a mesma ideia volta reforçada no desafio do Exercício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tem grau 3 no grafo A-B-C-D: está ligado a A, B e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fronteira.pop() tira do final da lista — é uma pilha, então a busca é em profundidade (DFS).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Árvores como caso especial de grafo é um bom gancho — vale reforçar que o vocabulário de hoje (grau, ciclo, conexo) volta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gabarito no slide seguinte — resolver antes de virar 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mesmo grafo do Slide 11 — a resposta de conexo/ciclo já foi discutida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próprio desenho já mostra o ciclo: é literalmente um quadrado fechado.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a turma preencher e somar as linhas antes de revelar o gabarito.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Idêntico ao exemplo do Slide 11 — o mesmo grafo, agora derivado pela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que aqui, diferente do Slide 8, o grafo fecha em ciclo — mas isso não muda a resposta sobre simetria.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 direto com a definição do Slide 3: pares ordenados não são intercambiáveis.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o pulo do gato é o parâmetro 'pai' evitando o falso-positivo de voltar pela mesma aresta.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parâmetro 'pai' é a chave: sem ele, toda aresta pareceria formar um ciclo de tamanho 2 (ida e volta).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Goodrich &amp; Tamassia entra pela primeira vez — referência muito prática de estruturas de dados em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exatamente como fornecidos pelo professor — nenhuma URL foi inventada.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sem teaser de próxima aula — Aula 12 não deixa pista textual sobre o conteúdo específico da Aula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x.org/documentation/stable/tutorial.html" TargetMode="External"/><Relationship Id="rId4" Type="http://schemas.openxmlformats.org/officeDocument/2006/relationships/hyperlink" Target="https://www.youtube.com/results?search_query=computerphile+graphs+data+structure" TargetMode="External"/><Relationship Id="rId5" Type="http://schemas.openxmlformats.org/officeDocument/2006/relationships/hyperlink" Target="https://www.youtube.com/results?search_query=grafos+matriz+de+adjacencia+lista+de+adjacencia+exemplos" TargetMode="External"/><Relationship Id="rId1" Type="http://schemas.openxmlformats.org/officeDocument/2006/relationships/image" Target="../media/image-28-1.png"/><Relationship Id="rId3" Type="http://schemas.openxmlformats.org/officeDocument/2006/relationships/image" Target="../media/image-2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784080" y="-18288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12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 Grafos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e linhas para modelar qualquer relação — de redes sociais a mapas de estrada.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vértices     arestas     grau     ciclo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112264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ordenados e relações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38658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necessário para entender grafos.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438144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46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grafo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71246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Vértices, arestas e os três tipos principais.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61772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7640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572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Representações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03834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 matriz de adjacência.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943600"/>
            <a:ext cx="603504" cy="603504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08990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897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Grau, caminho e ciclo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508760" y="6364224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conceitos que toda análise de grafo usa.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MÍNIMO PARA COMEÇAR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Pares ordenados e relações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par ordenado (a, b) registra dois elementos em ordem — diferente de conjuntos, aqui (a,b) ≠ (b,a), a menos que a = b.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141B4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48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 ≠ (b, a)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3F1FB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relação entre elementos de um conjunto V é simplesmente um conjunto de pares ordenados (a,b) com a, b ∈ V.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é exatamente o que precisamos para grafos: um grafo é uma relação (as arestas) sobre um conjunto (os vértices), desenhada como pontos e linhas em vez de escrita como pares.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grafo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G = (V, E) é um conjunto de vértices V e um conjunto de arestas E que os conectam.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 flipV="1">
            <a:off x="2926080" y="2514600"/>
            <a:ext cx="1280160" cy="182880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2514600"/>
            <a:ext cx="1280160" cy="182880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4343400"/>
            <a:ext cx="256032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4343400"/>
            <a:ext cx="237744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95344" y="220370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615184" y="403250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4032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75504" y="403250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4032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52944" y="403250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52944" y="4032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69680" y="33832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3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{A,B,C,D}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52560" y="3931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{AB,AC,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BC,CD}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estrutura ideal para modelar relações: redes sociais, mapas, dependências entre tarefas.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 DA MESMA IDEIA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tipos de grafo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24323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dirigido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sem direção: se A–B, então B–A.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amizades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5710428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4323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44568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Dirigido (dígrafo)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36008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com seta: A → B não implica B → A.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36008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seguidores, links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83296" y="1965960"/>
            <a:ext cx="3429000" cy="3291840"/>
          </a:xfrm>
          <a:prstGeom prst="roundRect">
            <a:avLst>
              <a:gd name="adj" fmla="val 3889"/>
            </a:avLst>
          </a:prstGeom>
          <a:solidFill>
            <a:srgbClr val="F3F1FB"/>
          </a:solidFill>
          <a:ln/>
        </p:spPr>
      </p:sp>
      <p:sp>
        <p:nvSpPr>
          <p:cNvPr id="17" name="Shape 13"/>
          <p:cNvSpPr/>
          <p:nvPr/>
        </p:nvSpPr>
        <p:spPr>
          <a:xfrm>
            <a:off x="9432036" y="2286000"/>
            <a:ext cx="731520" cy="7315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43230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6176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57616" y="3749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têm peso (custo/distância).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357616" y="4663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mapas rodoviários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CONCRETO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rede de amigos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Ana, Bruno, Caio e Duda numa rede não dirigida (amizade é mútua) — o mesmo grafo do Slide 4: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 flipV="1">
            <a:off x="2926080" y="2468880"/>
            <a:ext cx="1280160" cy="17373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2468880"/>
            <a:ext cx="1280160" cy="173736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4206240"/>
            <a:ext cx="256032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0" y="4206240"/>
            <a:ext cx="237744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95344" y="215798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95344" y="21579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261518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18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517550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7550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552944" y="38953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52944" y="38953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474720" y="288950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94560" y="4626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54880" y="4626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132320" y="46268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3F1FB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539496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= {{Ana,Bruno}, {Ana,Caio}, {Bruno,Caio}, {Caio,Duda}}  —  a forma mais compacta de descrever um grafo.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CONCRETO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Rotas entre cidades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mapa rodoviário é um grafo ponderado: vértices são cidades, arestas são estradas, peso é a distância (ilustrativo, em km):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77440" y="3291840"/>
            <a:ext cx="356616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0" y="3291840"/>
            <a:ext cx="356616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88820" y="2903220"/>
            <a:ext cx="777240" cy="777240"/>
          </a:xfrm>
          <a:prstGeom prst="ellipse">
            <a:avLst/>
          </a:prstGeom>
          <a:solidFill>
            <a:srgbClr val="141B4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98882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554980" y="2903220"/>
            <a:ext cx="777240" cy="777240"/>
          </a:xfrm>
          <a:prstGeom prst="ellipse">
            <a:avLst/>
          </a:prstGeom>
          <a:solidFill>
            <a:srgbClr val="141B4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498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21140" y="2903220"/>
            <a:ext cx="777240" cy="777240"/>
          </a:xfrm>
          <a:prstGeom prst="ellipse">
            <a:avLst/>
          </a:prstGeom>
          <a:solidFill>
            <a:srgbClr val="141B4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21140" y="29032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645920" y="37901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12080" y="37901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Campinas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78240" y="37901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Ribeirão Preto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27889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C4BC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406640" y="278892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6C4B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468880" y="5120640"/>
            <a:ext cx="7315200" cy="868680"/>
          </a:xfrm>
          <a:prstGeom prst="roundRect">
            <a:avLst>
              <a:gd name="adj" fmla="val 12632"/>
            </a:avLst>
          </a:prstGeom>
          <a:solidFill>
            <a:srgbClr val="141B41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5120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 → RP via Campinas: 95 + 120 = 215 km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CONCRETO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dirigido é uma relação, literalmente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{A, B, C}, arestas A → B e B → C: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2560320" y="3108960"/>
            <a:ext cx="3145536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089904" y="3108960"/>
            <a:ext cx="3127248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49424" y="27980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49424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779008" y="27980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79008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290304" y="27980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90304" y="27980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737360" y="42062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141B41"/>
          </a:solidFill>
          <a:ln/>
        </p:spPr>
      </p:sp>
      <p:sp>
        <p:nvSpPr>
          <p:cNvPr id="16" name="Text 13"/>
          <p:cNvSpPr/>
          <p:nvPr/>
        </p:nvSpPr>
        <p:spPr>
          <a:xfrm>
            <a:off x="1737360" y="420624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{(A,B), (B,C)}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não dirigido é uma relação simétrica: se (A,B) ∈ R, então (B,A) ∈ R também.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ESSENCIAL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Conceitos-chave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de v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931920" y="192024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arestas incidentes em v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Caminho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931920" y="297180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vértices ligados por arestas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931920" y="402336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que começa e termina no mesmo vértice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0749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931920" y="50749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caminho entre quaisquer dois vértices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572000" cy="45720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FATO ELEGANTE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3258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Handshake Lemma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2651760" y="3429000"/>
            <a:ext cx="685800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 w="12700">
            <a:solidFill>
              <a:srgbClr val="2FE6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51760" y="3429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deg(v) = 2 · |E|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920240" y="4526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dos graus de todos os vértices é o dobro do número de arestas: cada aresta "toca" dois vértices, então é contada duas vezes.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COM UM 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grau vem da matriz de adjacência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grafo não dirigido, o grau de um vértice é a soma da sua linha na matriz de adjacência.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0" y="2468880"/>
            <a:ext cx="274320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2468880"/>
            <a:ext cx="9144" cy="20116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4480560"/>
            <a:ext cx="274320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0" y="2468880"/>
            <a:ext cx="9144" cy="20116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21024" y="215798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21579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364224" y="215798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21579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64224" y="41696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4169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21024" y="41696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41696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0" y="246888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3F1FB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606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V={1,2,3,4}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E={{1,2},{2,3},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{3,4},{4,1}}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5212080"/>
            <a:ext cx="7772400" cy="868680"/>
          </a:xfrm>
          <a:prstGeom prst="roundRect">
            <a:avLst>
              <a:gd name="adj" fmla="val 12632"/>
            </a:avLst>
          </a:prstGeom>
          <a:solidFill>
            <a:srgbClr val="141B41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52120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vértice tem grau 2  →  Σ deg(v) = 8 = 2·4 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UM GRAFO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adjacência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vértice, a lista de vizinhos. Boa para grafos esparsos (poucas arestas).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80660" cy="2743200"/>
          </a:xfrm>
          <a:prstGeom prst="roundRect">
            <a:avLst>
              <a:gd name="adj" fmla="val 4667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224942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7614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 = </a:t>
            </a:r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Dictionary&lt;string, List&lt;string&gt;&gt; {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32688" y="30723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["A"] = </a:t>
            </a:r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{ "B", "C" },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32688" y="33832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["B"] = </a:t>
            </a:r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{ "A", "C" },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32688" y="369417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["C"] = </a:t>
            </a:r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{ "A", "B", "D" },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32688" y="400507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["D"] = </a:t>
            </a:r>
            <a:pPr indent="0" marL="0">
              <a:buNone/>
            </a:pPr>
            <a:r>
              <a:rPr lang="en-US" sz="11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List&lt;string&gt; { "C" },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32688" y="431596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40780" y="2103120"/>
            <a:ext cx="5280660" cy="2743200"/>
          </a:xfrm>
          <a:prstGeom prst="roundRect">
            <a:avLst>
              <a:gd name="adj" fmla="val 4667"/>
            </a:avLst>
          </a:prstGeom>
          <a:solidFill>
            <a:srgbClr val="232C63"/>
          </a:solidFill>
          <a:ln/>
        </p:spPr>
      </p:sp>
      <p:sp>
        <p:nvSpPr>
          <p:cNvPr id="18" name="Shape 15"/>
          <p:cNvSpPr/>
          <p:nvPr/>
        </p:nvSpPr>
        <p:spPr>
          <a:xfrm>
            <a:off x="6496812" y="232257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9" name="Shape 16"/>
          <p:cNvSpPr/>
          <p:nvPr/>
        </p:nvSpPr>
        <p:spPr>
          <a:xfrm>
            <a:off x="6697980" y="232257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20" name="Shape 17"/>
          <p:cNvSpPr/>
          <p:nvPr/>
        </p:nvSpPr>
        <p:spPr>
          <a:xfrm>
            <a:off x="6899148" y="232257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21" name="Text 18"/>
          <p:cNvSpPr/>
          <p:nvPr/>
        </p:nvSpPr>
        <p:spPr>
          <a:xfrm>
            <a:off x="7155180" y="226314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grafo.py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24942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3388" y="276148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 = {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533388" y="3072384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"A": ["B", "C"],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533388" y="3383280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"B": ["A", "C"],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33388" y="3694176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"C": ["A", "B", "D"],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533388" y="4005072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"D": ["C"],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33388" y="4315968"/>
            <a:ext cx="4732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REPRESENTAR UM GRAFO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adjacência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n×n onde Mij = 1 se há aresta i–j. Boa para grafos densos (muitas arestas).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2194560"/>
          <a:ext cx="5029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em torno da diagonal — sinal de que o grafo é não dirigido.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520" y="14447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propriedades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2103120" y="36118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 conectividade não precisam de desenho — dá para calcular direto a partir da lista de adjacência.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 EM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grau / Grau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grau de um vértice é só o tamanho da sua lista de vizinhos.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80660" cy="192024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140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4140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4140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545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234086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8529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Grau(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32688" y="318211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Dictionary&lt;string, List&lt;string&gt;&gt; g,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32688" y="351129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v) =&gt; g[v].Count;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40780" y="2194560"/>
            <a:ext cx="5280660" cy="1920240"/>
          </a:xfrm>
          <a:prstGeom prst="roundRect">
            <a:avLst>
              <a:gd name="adj" fmla="val 6667"/>
            </a:avLst>
          </a:prstGeom>
          <a:solidFill>
            <a:srgbClr val="232C63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6812" y="24140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16" name="Shape 13"/>
          <p:cNvSpPr/>
          <p:nvPr/>
        </p:nvSpPr>
        <p:spPr>
          <a:xfrm>
            <a:off x="6697980" y="24140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7" name="Shape 14"/>
          <p:cNvSpPr/>
          <p:nvPr/>
        </p:nvSpPr>
        <p:spPr>
          <a:xfrm>
            <a:off x="6899148" y="24140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8" name="Text 15"/>
          <p:cNvSpPr/>
          <p:nvPr/>
        </p:nvSpPr>
        <p:spPr>
          <a:xfrm>
            <a:off x="7155180" y="235458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grafo_util.py</a:t>
            </a:r>
            <a:endParaRPr lang="en-US" sz="10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234086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33388" y="28529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grau(grafo, v):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6533388" y="318211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len(grafo[v])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print(grau(grafo, "C"))     # 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CONECTIVIDADE EM CÓDIGO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eh_conexo / EhConexo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busca a partir de um vértice: se alcançar todos os outros, o grafo é conexo.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80660" cy="4434840"/>
          </a:xfrm>
          <a:prstGeom prst="roundRect">
            <a:avLst>
              <a:gd name="adj" fmla="val 2887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Grafo.cs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7820" y="192938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EhConexo(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Dictionary&lt;string, List&lt;string&gt;&gt; g)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inicio = g.Keys.First();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visitados =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HashSet&lt;string&gt; { inicio };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fronteira =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Stack&lt;string&gt;();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fronteira.Push(inicio);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(fronteira.Count &gt; 0)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326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v = fronteira.Pop();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326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(var viz in g[v])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326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(visitados.Add(viz))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326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fronteira.Push(viz);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32688" y="534466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32688" y="557784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visitados.Count == g.Count;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32688" y="581101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40780" y="1783080"/>
            <a:ext cx="5280660" cy="3840480"/>
          </a:xfrm>
          <a:prstGeom prst="roundRect">
            <a:avLst>
              <a:gd name="adj" fmla="val 3333"/>
            </a:avLst>
          </a:prstGeom>
          <a:solidFill>
            <a:srgbClr val="232C63"/>
          </a:solidFill>
          <a:ln/>
        </p:spPr>
      </p:sp>
      <p:sp>
        <p:nvSpPr>
          <p:cNvPr id="28" name="Shape 25"/>
          <p:cNvSpPr/>
          <p:nvPr/>
        </p:nvSpPr>
        <p:spPr>
          <a:xfrm>
            <a:off x="6496812" y="200253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29" name="Shape 26"/>
          <p:cNvSpPr/>
          <p:nvPr/>
        </p:nvSpPr>
        <p:spPr>
          <a:xfrm>
            <a:off x="6697980" y="200253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30" name="Shape 27"/>
          <p:cNvSpPr/>
          <p:nvPr/>
        </p:nvSpPr>
        <p:spPr>
          <a:xfrm>
            <a:off x="6899148" y="200253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31" name="Text 28"/>
          <p:cNvSpPr/>
          <p:nvPr/>
        </p:nvSpPr>
        <p:spPr>
          <a:xfrm>
            <a:off x="7155180" y="194310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grafo_util.py</a:t>
            </a:r>
            <a:endParaRPr lang="en-US" sz="10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0" y="1929384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533388" y="231343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eh_conexo(grafo):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533388" y="254660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inicio =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(grafo))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33388" y="277977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visitados = {inicio}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533388" y="301294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fronteira = [inicio]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33388" y="324612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fronteira: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6533388" y="347929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 = fronteira.pop()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533388" y="371246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grafo[v]: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533388" y="394563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visitados: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533388" y="4178808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visitados.add(vizinho)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533388" y="4411980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fronteira.append(vizinho)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533388" y="4645152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 ==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(grafo)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6533388" y="4878324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533388" y="5111496"/>
            <a:ext cx="47320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print(eh_conexo(grafo))     </a:t>
            </a:r>
            <a:pPr indent="0" marL="0">
              <a:buNone/>
            </a:pPr>
            <a:r>
              <a:rPr lang="en-US" sz="10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grafos aparecem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 (quem segue quem), mapas (cidades e estradas).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71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entre tarefas ou pacotes de software.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3F1F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computadores, circuitos (Aula 09) e — como veremos — árvores (Aula 14), um caso especial de grafo.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C4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54480" y="365760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pares ordenados, matriz de adjacência, relação simétrica e um desafio sobre ciclos.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como pares ordenados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o grafo V={1,2,3,4}, E={{1,2},{2,3},{3,4},{4,1}} como um conjunto de pares ordenados (trate como não dirigido, listando os dois sentidos). Ele é conexo? Tem ciclo?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108813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926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______________________________________________________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383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_______________________________________________________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Conexo? _______     Tem ciclo? _______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Grafo como pares ordenados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28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{(1,2),(2,1),(2,3),(3,2),(3,4),(4,3),(4,1),(1,4)}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108960" y="3566160"/>
            <a:ext cx="219456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0" y="3566160"/>
            <a:ext cx="9144" cy="15544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08960" y="5120640"/>
            <a:ext cx="2194560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3566160"/>
            <a:ext cx="9144" cy="1554480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57500" y="3314700"/>
            <a:ext cx="502920" cy="5029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57500" y="3314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52060" y="3314700"/>
            <a:ext cx="502920" cy="5029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52060" y="33147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52060" y="4869180"/>
            <a:ext cx="502920" cy="5029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52060" y="4869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857500" y="4869180"/>
            <a:ext cx="502920" cy="502920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57500" y="48691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35661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é conexo (dá para ir de qualquer vértice a qualquer outro). Sim, tem ciclo: 1-2-3-4-1 volta ao início.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adjacência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matriz de adjacência do grafo do Exercício 1 e some os graus. Confirme o Handshake Lemma.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256032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adjacência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863840" y="1783080"/>
            <a:ext cx="914400" cy="457200"/>
          </a:xfrm>
          <a:prstGeom prst="rect">
            <a:avLst/>
          </a:prstGeom>
          <a:solidFill>
            <a:srgbClr val="6C4BC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863840" y="1783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grau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863840" y="2240280"/>
            <a:ext cx="914400" cy="566928"/>
          </a:xfrm>
          <a:prstGeom prst="rect">
            <a:avLst/>
          </a:prstGeom>
          <a:solidFill>
            <a:srgbClr val="F3F1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63840" y="224028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863840" y="2807208"/>
            <a:ext cx="914400" cy="566928"/>
          </a:xfrm>
          <a:prstGeom prst="rect">
            <a:avLst/>
          </a:prstGeom>
          <a:solidFill>
            <a:srgbClr val="F3F1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0" y="280720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863840" y="3374136"/>
            <a:ext cx="914400" cy="566928"/>
          </a:xfrm>
          <a:prstGeom prst="rect">
            <a:avLst/>
          </a:prstGeom>
          <a:solidFill>
            <a:srgbClr val="F3F1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63840" y="3374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863840" y="3941064"/>
            <a:ext cx="914400" cy="566928"/>
          </a:xfrm>
          <a:prstGeom prst="rect">
            <a:avLst/>
          </a:prstGeom>
          <a:solidFill>
            <a:srgbClr val="F3F1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63840" y="394106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194560" y="4709160"/>
            <a:ext cx="7772400" cy="822960"/>
          </a:xfrm>
          <a:prstGeom prst="roundRect">
            <a:avLst>
              <a:gd name="adj" fmla="val 13333"/>
            </a:avLst>
          </a:prstGeom>
          <a:solidFill>
            <a:srgbClr val="141B41"/>
          </a:solidFill>
          <a:ln/>
        </p:spPr>
      </p:sp>
      <p:sp>
        <p:nvSpPr>
          <p:cNvPr id="18" name="Text 14"/>
          <p:cNvSpPr/>
          <p:nvPr/>
        </p:nvSpPr>
        <p:spPr>
          <a:xfrm>
            <a:off x="2194560" y="4709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deg(v) = 2+2+2+2 = 8 = 2 · 4 arestas ✓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simétrica?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grafo dirigido tem arestas A→B, B→C, C→A. Ele representa uma relação simétrica? Justifique usando a definição de par ordenado.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 flipV="1">
            <a:off x="4373139" y="2651760"/>
            <a:ext cx="1570461" cy="1727507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headEnd type="triangle"/>
          </a:ln>
        </p:spPr>
      </p:sp>
      <p:sp>
        <p:nvSpPr>
          <p:cNvPr id="8" name="Shape 5"/>
          <p:cNvSpPr/>
          <p:nvPr/>
        </p:nvSpPr>
        <p:spPr>
          <a:xfrm>
            <a:off x="4114800" y="4663440"/>
            <a:ext cx="3273552" cy="9144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01939" y="2935933"/>
            <a:ext cx="1570461" cy="1727507"/>
          </a:xfrm>
          <a:prstGeom prst="line">
            <a:avLst/>
          </a:prstGeom>
          <a:noFill/>
          <a:ln w="31750">
            <a:solidFill>
              <a:srgbClr val="6B6B80"/>
            </a:solidFill>
            <a:prstDash val="solid"/>
            <a:headEnd type="triangle"/>
          </a:ln>
        </p:spPr>
      </p:sp>
      <p:sp>
        <p:nvSpPr>
          <p:cNvPr id="10" name="Shape 7"/>
          <p:cNvSpPr/>
          <p:nvPr/>
        </p:nvSpPr>
        <p:spPr>
          <a:xfrm>
            <a:off x="5632704" y="234086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32704" y="234086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803904" y="43525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03904" y="4352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461504" y="4352544"/>
            <a:ext cx="621792" cy="621792"/>
          </a:xfrm>
          <a:prstGeom prst="ellipse">
            <a:avLst/>
          </a:prstGeom>
          <a:solidFill>
            <a:srgbClr val="6C4BC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61504" y="43525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Simétrica? _______     Justificativa: _______________________________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simétrica?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12000"/>
            </a:avLst>
          </a:prstGeom>
          <a:solidFill>
            <a:srgbClr val="FBE4E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28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83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simétrica.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3F1F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260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{(A,B), (B,C), (C,A)}. Para ser simétrica, (A,B) ∈ R exigiria (B,A) ∈ R também — mas (B,A) não está na lista (só (B,C) está). Um par ordenado (a,b) é diferente de (b,a), então essa troca não acontece "de graça".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ciclo dirigido geralmente NÃO é simétrico — simetria exigiria arestas nos dois sentidos entre cada par.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Detectando ciclos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tem_ciclo(grafo) para um grafo não dirigido em lista de adjacência (dica: uma busca que rejeita voltar direto para o vértice anterior, mas aceita revisitar por outro caminho).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2651760"/>
          </a:xfrm>
          <a:prstGeom prst="roundRect">
            <a:avLst>
              <a:gd name="adj" fmla="val 3448"/>
            </a:avLst>
          </a:prstGeom>
          <a:solidFill>
            <a:srgbClr val="232C63"/>
          </a:solidFill>
          <a:ln/>
        </p:spPr>
      </p:sp>
      <p:sp>
        <p:nvSpPr>
          <p:cNvPr id="8" name="Shape 5"/>
          <p:cNvSpPr/>
          <p:nvPr/>
        </p:nvSpPr>
        <p:spPr>
          <a:xfrm>
            <a:off x="896112" y="287121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287121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287121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1" name="Text 8"/>
          <p:cNvSpPr/>
          <p:nvPr/>
        </p:nvSpPr>
        <p:spPr>
          <a:xfrm>
            <a:off x="1554480" y="2834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tem_ciclo.py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246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tem_ciclo(grafo):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visitados = set()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dfs(v, pai): ____________________________________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____________________________________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(percorre todo vértice ainda não visitado, chamando dfs)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Detectando ciclos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155680" cy="4069080"/>
          </a:xfrm>
          <a:prstGeom prst="roundRect">
            <a:avLst>
              <a:gd name="adj" fmla="val 3146"/>
            </a:avLst>
          </a:prstGeom>
          <a:solidFill>
            <a:srgbClr val="232C63"/>
          </a:solidFill>
          <a:ln/>
        </p:spPr>
      </p:sp>
      <p:sp>
        <p:nvSpPr>
          <p:cNvPr id="7" name="Shape 4"/>
          <p:cNvSpPr/>
          <p:nvPr/>
        </p:nvSpPr>
        <p:spPr>
          <a:xfrm>
            <a:off x="758952" y="191109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191109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9" name="Shape 6"/>
          <p:cNvSpPr/>
          <p:nvPr/>
        </p:nvSpPr>
        <p:spPr>
          <a:xfrm>
            <a:off x="1161288" y="191109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10" name="Text 7"/>
          <p:cNvSpPr/>
          <p:nvPr/>
        </p:nvSpPr>
        <p:spPr>
          <a:xfrm>
            <a:off x="1417320" y="185166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tem_ciclo.py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183794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5528" y="2221992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tem_ciclo(grafo):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95528" y="2455164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visitados =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795528" y="2688336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dfs(v, pai):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95528" y="2921508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visitados.add(v)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95528" y="3154680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grafo[v]: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" y="3387852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visitados: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95528" y="3621024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dfs(vizinho, v):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95528" y="3854196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vizinho != pai: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" y="4087368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5528" y="4320540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95528" y="4553712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grafo: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95528" y="4786884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dfs(v, </a:t>
            </a:r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95528" y="5020056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95528" y="5253228"/>
            <a:ext cx="1060704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100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no grafo do Slide 11 (o quadrado 1-2-3-4-1): retorna True.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5661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Grafos.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36008" y="35661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para a Ciência da Computação. 7. ed. LTC — cap. Grafos e Árvores.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GOODRICH, M. T.; TAMASSIA, R.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75904" y="35661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em Python. Bookman — representação de grafos.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NetworkX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NetworkX — biblioteca de grafos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tutorial oficial.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Computerphile — introdução a grafos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suas representações.</a:t>
            </a:r>
            <a:endParaRPr lang="en-US" sz="1250" dirty="0"/>
          </a:p>
          <a:p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Matriz e lista de adjacência</a:t>
            </a:r>
            <a:pPr indent="0" marL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explicados com exemplos.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pares ordenados a redes inteiras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relação vira grafo;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grafo esconde uma relação.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grau, caminho, ciclo e conexo — esse vocabulário vale para o resto do curso, inclusive quando grafos virarem árvores.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12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2026-08-05T14:03:21Z</dcterms:created>
  <dcterms:modified xsi:type="dcterms:W3CDTF">2026-08-05T14:03:21Z</dcterms:modified>
</cp:coreProperties>
</file>