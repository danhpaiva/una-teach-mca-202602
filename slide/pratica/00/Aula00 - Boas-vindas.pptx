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de acolhimento — sem pré-requisito de conteúdo técnico. Tom caloroso, direto, sem soar como sermão.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claro: hoje não tem matéria nova de matemática — é sobre montar a base de rede e hábito para o resto do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momento para pedir que levantem a mão: quem é calouro, quem é veterano — quebra o gelo antes do conteúdo motivacional.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para deixar respirar — bom momento para uma pausa dramática antes de seguir para o panorama de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precisa aprofundar em nenhum termo aqui — é só panorama para contextualizar a próxima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desqualificar a pergunta — validar que é legítima antes de responder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três pontos são exatamente o que as disciplinas de fundamentos (esta inclusa) treinam — bom gancho para o slide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frase volta no slide de preview do curso, no final da aula — reforço intencional.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daqui a aula fica mais prática — vale já pedir para abrirem o celular/notebook.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linkedin.com — não colocar como link clicável no slide, mas pode falar o endereço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para fazerem literalmente agora, no celular — não deixar para 'depois'.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ação em sala: pausar e deixar 2-3 minutos reais para eles fazerem isso, não só falar 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github.com — mesmo cuidado do LinkedIn, falar o endereço sem transformar em link clicável no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nunca usou Git/GitHub: tudo bem, a conta e o README já são um começo válido antes de aprender comandos.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CTA em sala de verdade — dar 2-3 minutos de silêncio para isso acontecer, não só narrar a instrução.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hora para perguntar quem já usa alguma técnica de estudo — gera participação antes de apresentar o Pomodoro.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Qualquer app de timer serve — o importante é a disciplina do ciclo, não a ferramenta específica.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Grupos de estudo é o gancho direto de volta para o slide de networking — reforçar essa ligação se der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Manter leve e breve — não é o foco da aula, é um lembrete rápido antes de seguir para o encerramento.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direto para a Aula 01 — não precisa detalhar cada tópico, só mostrar que existe um 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fechamento prático — vale revisitar rapidamente no começo da Aula 01 para reforçar o hábito.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— reforçar oralmente que a próxima aula (01) já entra no conteúdo técnico da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ln w="19050">
            <a:solidFill>
              <a:srgbClr val="6C4BC1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692640" y="-18288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00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Boas-vindas — e por onde tudo começa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42976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Calouros, veteranos, e a mesma pergunta: o que eu faço com isso daqui pra frente?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     currículo     hábito     futuro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00 · 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aula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11226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202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na sala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38658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Calouros e veteranos, juntos — e por que isso importa.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30098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108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na era da IA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357530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graduação vale mais, não menos, agora.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34340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48970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2976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presença profissional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476402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e GitHub — o currículo que nunca para de rodar.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53212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67842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5486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estudar bem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08760" y="595274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e outras técnicas que realmente funcionam.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na sala?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3017520"/>
          </a:xfrm>
          <a:prstGeom prst="roundRect">
            <a:avLst>
              <a:gd name="adj" fmla="val 4242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731520" cy="7315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40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Calouro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10896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dia, tudo novo, talvez um friozinho na barriga. Normal — todo veterano já passou exatamente por isso.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212080" cy="3017520"/>
          </a:xfrm>
          <a:prstGeom prst="roundRect">
            <a:avLst>
              <a:gd name="adj" fmla="val 4242"/>
            </a:avLst>
          </a:prstGeom>
          <a:solidFill>
            <a:srgbClr val="F3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148840"/>
            <a:ext cx="731520" cy="7315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22951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240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310896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sabe como funciona, já tropeçou em prova, já aprendeu na prática. Isso vale tanto quanto qualquer aula.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estão prestes a construir a mesma coisa: uma rede de pessoas que vai se ajudar pelos próximos anos — e depois deles.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389120"/>
            <a:ext cx="3657600" cy="3657600"/>
          </a:xfrm>
          <a:prstGeom prst="ellipse">
            <a:avLst/>
          </a:prstGeom>
          <a:ln w="19050">
            <a:solidFill>
              <a:srgbClr val="2FE6C7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CONTEÚDO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não está aqui só para tirar nota.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 aqui para se tornar alguém que sabe resolver problemas que ainda não existem.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vale mais hoje do que valia há 10 anos — e vai valer mais ainda daqui a 10.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EM JOGO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 hoje: temas que estão movendo o mercado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208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470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22311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copiloto de código a análise de dados — já está em praticamente todo processo.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07238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89864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em nuvem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63040" y="32826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nenhuma empresa roda mais servidor próprio — AWS, Azure e GCP dominam.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776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12394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95020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63040" y="43342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decisão relevante hoje é baseada em dados — e alguém precisa saber organizá-los.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02920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17550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50017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63040" y="53858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sistema novo é um alvo novo — segurança parou de ser "opcional".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TODO MUNDO FAZ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"Com a IA, ainda preciso de faculdade?"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F3F1FB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10312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pergunta justa. IA generativa já escreve código, corrige texto, sugere solução. Então por que passar anos estudando fundamentos como lógica, grafos e álgebra booleana?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está no que a IA não faz por você.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IA não substitui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3840480"/>
          </a:xfrm>
          <a:prstGeom prst="roundRect">
            <a:avLst>
              <a:gd name="adj" fmla="val 2381"/>
            </a:avLst>
          </a:prstGeom>
          <a:solidFill>
            <a:srgbClr val="F3F1F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148840"/>
            <a:ext cx="10149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300"/>
              </a:lnSpc>
              <a:spcAft>
                <a:spcPts val="2400"/>
              </a:spcAft>
              <a:buSzPct val="100000"/>
              <a:buChar char="•"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o problema certo — a IA responde bem à pergunta certa, mas não sabe qual pergunta fazer.</a:t>
            </a:r>
            <a:endParaRPr lang="en-US" sz="1600" dirty="0"/>
          </a:p>
          <a:p>
            <a:pPr marL="342900" indent="-342900">
              <a:lnSpc>
                <a:spcPts val="2300"/>
              </a:lnSpc>
              <a:spcAft>
                <a:spcPts val="2400"/>
              </a:spcAft>
              <a:buSzPct val="100000"/>
              <a:buChar char="•"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Julgar se a resposta está certa — sem entender os fundamentos, você aceita qualquer resposta, certa ou errada.</a:t>
            </a:r>
            <a:endParaRPr lang="en-US" sz="1600" dirty="0"/>
          </a:p>
          <a:p>
            <a:pPr marL="342900" indent="-342900">
              <a:lnSpc>
                <a:spcPts val="2300"/>
              </a:lnSpc>
              <a:spcAft>
                <a:spcPts val="2400"/>
              </a:spcAft>
              <a:buSzPct val="100000"/>
              <a:buChar char="•"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soluções diferentes — a criatividade de misturar lógica, dados e contexto ainda é humana.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ESSA FRASE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92928" y="109728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088" y="1234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2377440"/>
            <a:ext cx="9784080" cy="1691640"/>
          </a:xfrm>
          <a:prstGeom prst="roundRect">
            <a:avLst>
              <a:gd name="adj" fmla="val 6486"/>
            </a:avLst>
          </a:prstGeom>
          <a:solidFill>
            <a:srgbClr val="232C63"/>
          </a:solidFill>
          <a:ln w="12700">
            <a:solidFill>
              <a:srgbClr val="2FE6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0" y="2377440"/>
            <a:ext cx="9235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entende a lógica por trás do código dirige a IA.</a:t>
            </a:r>
            <a:endParaRPr lang="en-US" sz="23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não entende, é dirigido por ela.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828800" y="43891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disciplina desta grade — inclusive esta — existe para te colocar no primeiro grupo.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C4B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28016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088" y="14173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6060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presença profissional começa agora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920240" y="361188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e GitHub não são "coisa de quem já formou" — são o currículo que já pode começar a crescer hoje.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VITRINE PROFISSIONAL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LinkedIn: por que importa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745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Recrutadores pesquisam por palavra-chave de competência o tempo todo — um perfil completo aparece mais.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1089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estudante não desqualifica você — "Estudante de [curso]" é um status profissional legítimo, não um pedido de desculpas.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43434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3434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conexão é uma porta que você não vê hoje — o efeito de rede começa no primeiro contato, não no último período.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MINUTOS, AGORA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LinkedIn: checklist de perfil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4297680"/>
          </a:xfrm>
          <a:prstGeom prst="roundRect">
            <a:avLst>
              <a:gd name="adj" fmla="val 2128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384048" cy="38404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1109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profissional — não precisa ser cara, precisa ser você, de rosto visível.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743200"/>
            <a:ext cx="384048" cy="38404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68833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clara — ex.: "Estudante de [Curso] · Universidade [Nome]".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14400" y="3520440"/>
            <a:ext cx="384048" cy="38404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6616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46557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"Sobre" — 2 a 3 frases sobre o que te interessa na área.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914400" y="4297680"/>
            <a:ext cx="384048" cy="38404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4340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24281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vinculada à universidade, com o curso e período atual.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914400" y="5074920"/>
            <a:ext cx="384048" cy="38404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12064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5020056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preenchida — muitas buscas de recrutador filtram por região.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DETALHE QUE QUASE NINGUÉM USA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Competências e recomendações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Recrutador filtra por competência. Recomendação de colega aumenta a chance do seu perfil aparecer nessa busca.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232C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4884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C#  ·  vinculado a Universidade [Nome]  ·  3 recomendações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30632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ilustrativo de como aparece a competência no perfil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10881360" cy="1783080"/>
          </a:xfrm>
          <a:prstGeom prst="roundRect">
            <a:avLst>
              <a:gd name="adj" fmla="val 6154"/>
            </a:avLst>
          </a:prstGeom>
          <a:solidFill>
            <a:srgbClr val="141B41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657600"/>
            <a:ext cx="10241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disciplina vocês vão ver C# e Python. Adicionem os dois como competência, vinculados à universidade, e peçam para o colega do lado recomendar. Ele te recomenda, você recomenda ele. Comecem agora.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PORTFÓLIO QUE NUNCA DORME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GitHub: por que importa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745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portfólio vivo — atualiza sozinho conforme você programa, sem precisar redesenhar um currículo.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1089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Recrutador de TI olha repositório e histórico de commits, não só nota — mostra como você realmente trabalha.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43434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3434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pequeno conta — um script que resolve um problema seu já é mais do que a maioria tem no primeiro ano.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15 MINUTOS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GitHub: checklist de perfil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3566160"/>
          </a:xfrm>
          <a:prstGeom prst="roundRect">
            <a:avLst>
              <a:gd name="adj" fmla="val 2564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384048" cy="38404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11096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perfil e bio curta — pode ser a mesma foto do LinkedIn.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743200"/>
            <a:ext cx="384048" cy="38404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688336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de perfil — um arquivo especial que aparece na sua página principal do GitHub.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914400" y="3520440"/>
            <a:ext cx="384048" cy="38404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6616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465576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1 repositório com um projeto seu, mesmo pequeno.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914400" y="4297680"/>
            <a:ext cx="384048" cy="38404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4340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242816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star ou fork em projetos que te interessam — mostra curiosidade ativa, não só produção.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COMEÇA AQUI, HOJE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Sua primeira rede profissional está nesta sala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Veteranos indicam estágio, tiram dúvida de matéria futura, compartilham material. Calouros trazem energia e perguntas que reorganizam o que os veteranos já sabiam — a troca vale nos dois sentidos.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141B41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514600"/>
            <a:ext cx="10241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Agora: adicionem pelo menos 3 colegas no LinkedIn antes de saírem da sala.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ser só quem você já conhece — chamar quem está do outro lado da sala também conta.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6C4B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28016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088" y="14173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606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estudar bem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920240" y="361188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mais horas estudando não é o mesmo que estudar melhor — método importa mais que quantidade.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TÉCNICA MAIS SIMPLES QUE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Pomodoro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minutos de foco total (sem celular), 5 de pausa curta. Repita 4 vezes, depois faça uma pausa longa.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6C4BC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93392" y="246888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F3F1FB"/>
          </a:solidFill>
          <a:ln/>
        </p:spPr>
      </p:sp>
      <p:sp>
        <p:nvSpPr>
          <p:cNvPr id="9" name="Text 7"/>
          <p:cNvSpPr/>
          <p:nvPr/>
        </p:nvSpPr>
        <p:spPr>
          <a:xfrm>
            <a:off x="1993392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993392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6704" y="246888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6C4BC1"/>
          </a:solidFill>
          <a:ln/>
        </p:spPr>
      </p:sp>
      <p:sp>
        <p:nvSpPr>
          <p:cNvPr id="12" name="Text 10"/>
          <p:cNvSpPr/>
          <p:nvPr/>
        </p:nvSpPr>
        <p:spPr>
          <a:xfrm>
            <a:off x="3346704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46704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0016" y="246888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F3F1FB"/>
          </a:solidFill>
          <a:ln/>
        </p:spPr>
      </p:sp>
      <p:sp>
        <p:nvSpPr>
          <p:cNvPr id="15" name="Text 13"/>
          <p:cNvSpPr/>
          <p:nvPr/>
        </p:nvSpPr>
        <p:spPr>
          <a:xfrm>
            <a:off x="4700016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00016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53328" y="246888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6C4BC1"/>
          </a:solidFill>
          <a:ln/>
        </p:spPr>
      </p:sp>
      <p:sp>
        <p:nvSpPr>
          <p:cNvPr id="18" name="Text 16"/>
          <p:cNvSpPr/>
          <p:nvPr/>
        </p:nvSpPr>
        <p:spPr>
          <a:xfrm>
            <a:off x="6053328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53328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246888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F3F1FB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06640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59952" y="246888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6C4BC1"/>
          </a:solidFill>
          <a:ln/>
        </p:spPr>
      </p:sp>
      <p:sp>
        <p:nvSpPr>
          <p:cNvPr id="24" name="Text 22"/>
          <p:cNvSpPr/>
          <p:nvPr/>
        </p:nvSpPr>
        <p:spPr>
          <a:xfrm>
            <a:off x="8759952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759952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113264" y="246888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2FE6C7"/>
          </a:solidFill>
          <a:ln/>
        </p:spPr>
      </p:sp>
      <p:sp>
        <p:nvSpPr>
          <p:cNvPr id="27" name="Text 25"/>
          <p:cNvSpPr/>
          <p:nvPr/>
        </p:nvSpPr>
        <p:spPr>
          <a:xfrm>
            <a:off x="10113264" y="2788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15-30 min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113264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longa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porque o cérebro sustenta foco real por blocos curtos — não por horas seguidas.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DO POMODORO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Outras técnicas que funcionam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854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57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 espaçada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697480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mesmo conteúdo em intervalos crescentes (1 dia, 3 dias, 1 semana) fixa muito mais que reler uma vez só.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F3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6565392" y="2039112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18541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57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ativa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65392" y="2697480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material e tentar explicar o conceito de memória, sem olhar, é o teste real do que você aprendeu.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F3F1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233672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3799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estudo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96112" y="4892040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para o colega é a forma mais rápida de descobrir o que você ainda não entendeu de verdade.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F3F1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565392" y="4233672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437997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251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dedicado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65392" y="4892040"/>
            <a:ext cx="4700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lugar fixo, sem distração, treina o cérebro a entrar em modo foco mais rápido.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TÉCNICA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Cuidando de você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3200400"/>
          </a:xfrm>
          <a:prstGeom prst="roundRect">
            <a:avLst>
              <a:gd name="adj" fmla="val 2857"/>
            </a:avLst>
          </a:prstGeom>
          <a:solidFill>
            <a:srgbClr val="F3F1F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103120"/>
            <a:ext cx="10149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 adequado rende mais que qualquer técnica de estudo — cérebro cansado não fixa conteúdo.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Pausas de tela entre uma tarefa e outra evitam a exaustão que aparece só na semana de prova.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apoio quando precisar — psicológico, acadêmico ou financeiro — é maturidade, não fraqueza.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VOLTANDO AO MOTIVO DE ESTARMOS AQUI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a seguir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6C4BC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96312" y="22860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6C4BC1"/>
          </a:solidFill>
          <a:ln/>
        </p:spPr>
      </p:sp>
      <p:sp>
        <p:nvSpPr>
          <p:cNvPr id="7" name="Text 5"/>
          <p:cNvSpPr/>
          <p:nvPr/>
        </p:nvSpPr>
        <p:spPr>
          <a:xfrm>
            <a:off x="2496312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0" y="2720340"/>
            <a:ext cx="164592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52544" y="22860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6C4BC1"/>
          </a:solidFill>
          <a:ln/>
        </p:spPr>
      </p:sp>
      <p:sp>
        <p:nvSpPr>
          <p:cNvPr id="10" name="Text 8"/>
          <p:cNvSpPr/>
          <p:nvPr/>
        </p:nvSpPr>
        <p:spPr>
          <a:xfrm>
            <a:off x="4352544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42232" y="2720340"/>
            <a:ext cx="164592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08776" y="22860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6C4BC1"/>
          </a:solidFill>
          <a:ln/>
        </p:spPr>
      </p:sp>
      <p:sp>
        <p:nvSpPr>
          <p:cNvPr id="13" name="Text 11"/>
          <p:cNvSpPr/>
          <p:nvPr/>
        </p:nvSpPr>
        <p:spPr>
          <a:xfrm>
            <a:off x="6208776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98464" y="2720340"/>
            <a:ext cx="164592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65008" y="22860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6C4BC1"/>
          </a:solidFill>
          <a:ln/>
        </p:spPr>
      </p:sp>
      <p:sp>
        <p:nvSpPr>
          <p:cNvPr id="16" name="Text 14"/>
          <p:cNvSpPr/>
          <p:nvPr/>
        </p:nvSpPr>
        <p:spPr>
          <a:xfrm>
            <a:off x="8065008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54696" y="2720340"/>
            <a:ext cx="164592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21240" y="228600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41B41"/>
          </a:solidFill>
          <a:ln/>
        </p:spPr>
      </p:sp>
      <p:sp>
        <p:nvSpPr>
          <p:cNvPr id="19" name="Text 17"/>
          <p:cNvSpPr/>
          <p:nvPr/>
        </p:nvSpPr>
        <p:spPr>
          <a:xfrm>
            <a:off x="9921240" y="228600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710928" y="2720340"/>
            <a:ext cx="164592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40080" y="3749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dessas paradas é outro tijolo na capacidade de dirigir a IA, não ser dirigido por ela.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da Aula 00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3108960"/>
          </a:xfrm>
          <a:prstGeom prst="roundRect">
            <a:avLst>
              <a:gd name="adj" fmla="val 2941"/>
            </a:avLst>
          </a:prstGeom>
          <a:solidFill>
            <a:srgbClr val="141B4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48840"/>
            <a:ext cx="411480" cy="41148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ou atualizei meu perfil no LinkedIn.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0120" y="2862072"/>
            <a:ext cx="411480" cy="41148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90779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163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Criei minha conta no GitHub.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" y="3575304"/>
            <a:ext cx="411480" cy="41148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21024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5295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Adicionei pelo menos 3 colegas na rede.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960120" y="4288536"/>
            <a:ext cx="411480" cy="41148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34256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424281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 uma técnica de estudo para testar esta semana.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2743200"/>
            <a:ext cx="5029200" cy="50292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114800"/>
            <a:ext cx="3840480" cy="3840480"/>
          </a:xfrm>
          <a:prstGeom prst="ellipse">
            <a:avLst/>
          </a:prstGeom>
          <a:ln w="19050">
            <a:solidFill>
              <a:srgbClr val="2FE6C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914400" cy="91440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914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822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74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Bem-vindo(a) à turma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8803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Calouro ou veterano, a pergunta é a mesma:</a:t>
            </a:r>
            <a:endParaRPr lang="en-US" sz="30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construir com isso?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97280" y="4434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Rede, portfólio, hábito de estudo — comece hoje, não no último semestre.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2026-08-05T15:29:07Z</dcterms:created>
  <dcterms:modified xsi:type="dcterms:W3CDTF">2026-08-05T15:29:07Z</dcterms:modified>
</cp:coreProperties>
</file>