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65" r:id="rId4"/>
    <p:sldId id="328" r:id="rId5"/>
    <p:sldId id="324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23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3" roundtripDataSignature="AMtx7mjRhnjoLvU7NNrzVKkIAMcr4wb+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F18EFD-9B78-4AB4-8EE9-515E234F0AE4}">
  <a:tblStyle styleId="{48F18EFD-9B78-4AB4-8EE9-515E234F0A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1851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2708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6818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6603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099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0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70" descr="Uma imagem contendo desenh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76" descr="Tela de computador com texto preto sobre fundo branc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1709" y="6190873"/>
            <a:ext cx="1388641" cy="3849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192E"/>
              </a:buClr>
              <a:buSzPts val="6000"/>
              <a:buFont typeface="Calibri"/>
              <a:buNone/>
              <a:defRPr sz="6000">
                <a:solidFill>
                  <a:srgbClr val="EC192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77" descr="Tela de computador com texto preto sobre fundo branc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1709" y="6190873"/>
            <a:ext cx="1388641" cy="38495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192E"/>
              </a:buClr>
              <a:buSzPts val="4400"/>
              <a:buFont typeface="Calibri"/>
              <a:buNone/>
              <a:defRPr>
                <a:solidFill>
                  <a:srgbClr val="EC192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8" name="Google Shape;88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0" descr="Tela de computador com texto preto sobre fundo branc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1709" y="6190873"/>
            <a:ext cx="1388641" cy="38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8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8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81" descr="Uma imagem contendo pássar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8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8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BAAB"/>
              </a:buClr>
              <a:buSzPts val="2400"/>
              <a:buNone/>
              <a:defRPr sz="2400">
                <a:solidFill>
                  <a:srgbClr val="FFBAAB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4" name="Google Shape;104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000"/>
              <a:buFont typeface="Calibri"/>
              <a:buNone/>
              <a:defRPr sz="6000">
                <a:solidFill>
                  <a:srgbClr val="FFFF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8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3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8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None/>
              <a:defRPr sz="2400">
                <a:solidFill>
                  <a:srgbClr val="FFFF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0" name="Google Shape;120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Calibri"/>
              <a:buNone/>
              <a:defRPr>
                <a:solidFill>
                  <a:srgbClr val="FFFF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8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5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85" descr="Uma imagem contendo desenh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8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8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8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>
  <p:cSld name="2_Section Header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87" descr="Uma imagem contendo pássar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000"/>
              <a:buFont typeface="Calibri"/>
              <a:buNone/>
              <a:defRPr sz="6000">
                <a:solidFill>
                  <a:srgbClr val="FFFF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8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6000"/>
              <a:buFont typeface="Calibri"/>
              <a:buNone/>
              <a:defRPr sz="6000">
                <a:solidFill>
                  <a:srgbClr val="FFD96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8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9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89" descr="Uma imagem contendo desenh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8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70" name="Google Shape;170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0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000"/>
              <a:buFont typeface="Calibri"/>
              <a:buNone/>
              <a:defRPr sz="6000">
                <a:solidFill>
                  <a:srgbClr val="FFFF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9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9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78" name="Google Shape;178;p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9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9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9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9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92" descr="Tela de computador com texto preto sobre fundo branc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1709" y="6190873"/>
            <a:ext cx="1388641" cy="3849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192E"/>
              </a:buClr>
              <a:buSzPts val="4400"/>
              <a:buFont typeface="Calibri"/>
              <a:buNone/>
              <a:defRPr>
                <a:solidFill>
                  <a:srgbClr val="EC192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9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9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9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3" descr="Uma imagem contendo pássar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2CC"/>
              </a:buClr>
              <a:buSzPts val="2800"/>
              <a:buChar char="•"/>
              <a:defRPr>
                <a:solidFill>
                  <a:srgbClr val="FFF2C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2CC"/>
              </a:buClr>
              <a:buSzPts val="2400"/>
              <a:buChar char="•"/>
              <a:defRPr>
                <a:solidFill>
                  <a:srgbClr val="FFF2C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2CC"/>
              </a:buClr>
              <a:buSzPts val="2000"/>
              <a:buChar char="•"/>
              <a:defRPr>
                <a:solidFill>
                  <a:srgbClr val="FFF2C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2CC"/>
              </a:buClr>
              <a:buSzPts val="1800"/>
              <a:buChar char="•"/>
              <a:defRPr>
                <a:solidFill>
                  <a:srgbClr val="FFF2C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2CC"/>
              </a:buClr>
              <a:buSzPts val="1800"/>
              <a:buChar char="•"/>
              <a:defRPr>
                <a:solidFill>
                  <a:srgbClr val="FFF2C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9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2CC"/>
              </a:buClr>
              <a:buSzPts val="2800"/>
              <a:buChar char="•"/>
              <a:defRPr>
                <a:solidFill>
                  <a:srgbClr val="FFF2C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2CC"/>
              </a:buClr>
              <a:buSzPts val="2400"/>
              <a:buChar char="•"/>
              <a:defRPr>
                <a:solidFill>
                  <a:srgbClr val="FFF2C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2CC"/>
              </a:buClr>
              <a:buSzPts val="2000"/>
              <a:buChar char="•"/>
              <a:defRPr>
                <a:solidFill>
                  <a:srgbClr val="FFF2C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2CC"/>
              </a:buClr>
              <a:buSzPts val="1800"/>
              <a:buChar char="•"/>
              <a:defRPr>
                <a:solidFill>
                  <a:srgbClr val="FFF2C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2CC"/>
              </a:buClr>
              <a:buSzPts val="1800"/>
              <a:buChar char="•"/>
              <a:defRPr>
                <a:solidFill>
                  <a:srgbClr val="FFF2C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wo Content">
  <p:cSld name="3_Two Conten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800"/>
              <a:buChar char="•"/>
              <a:defRPr>
                <a:solidFill>
                  <a:srgbClr val="FFFF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  <a:defRPr>
                <a:solidFill>
                  <a:srgbClr val="FFFF00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  <a:defRPr>
                <a:solidFill>
                  <a:srgbClr val="FFFF00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1800"/>
              <a:buChar char="•"/>
              <a:defRPr>
                <a:solidFill>
                  <a:srgbClr val="FFFF00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1800"/>
              <a:buChar char="•"/>
              <a:defRPr>
                <a:solidFill>
                  <a:srgbClr val="FFFF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9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800"/>
              <a:buChar char="•"/>
              <a:defRPr>
                <a:solidFill>
                  <a:srgbClr val="FFFF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  <a:defRPr>
                <a:solidFill>
                  <a:srgbClr val="FFFF00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  <a:defRPr>
                <a:solidFill>
                  <a:srgbClr val="FFFF00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1800"/>
              <a:buChar char="•"/>
              <a:defRPr>
                <a:solidFill>
                  <a:srgbClr val="FFFF00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1800"/>
              <a:buChar char="•"/>
              <a:defRPr>
                <a:solidFill>
                  <a:srgbClr val="FFFF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wo Content">
  <p:cSld name="4_Two Conten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5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95" descr="Uma imagem contendo desenh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9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9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9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wo Content">
  <p:cSld name="5_Two Content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6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Calibri"/>
              <a:buNone/>
              <a:defRPr>
                <a:solidFill>
                  <a:srgbClr val="FFFF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9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9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9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5" name="Google Shape;235;p9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9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7" name="Google Shape;237;p9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98" descr="Tela de computador com texto preto sobre fundo branc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1709" y="6190873"/>
            <a:ext cx="1388641" cy="38495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94D"/>
              </a:buClr>
              <a:buSzPts val="4400"/>
              <a:buFont typeface="Calibri"/>
              <a:buNone/>
              <a:defRPr>
                <a:solidFill>
                  <a:srgbClr val="FF59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6" name="Google Shape;246;p9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9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8" name="Google Shape;248;p9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99" descr="Uma imagem contendo pássar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9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9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7" name="Google Shape;257;p9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9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9" name="Google Shape;259;p9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mparison">
  <p:cSld name="3_Comparison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Calibri"/>
              <a:buNone/>
              <a:defRPr>
                <a:solidFill>
                  <a:srgbClr val="FFFF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0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8" name="Google Shape;268;p10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10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0" name="Google Shape;270;p10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1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mparison">
  <p:cSld name="4_Comparison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1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101" descr="Uma imagem contendo desenh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10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0" name="Google Shape;280;p10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10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2" name="Google Shape;282;p10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10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mparison">
  <p:cSld name="5_Comparison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2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0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Calibri"/>
              <a:buNone/>
              <a:defRPr>
                <a:solidFill>
                  <a:srgbClr val="FFFF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0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91" name="Google Shape;291;p10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10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93" name="Google Shape;293;p10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1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04" descr="Uma imagem contendo pássar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4400"/>
              <a:buFont typeface="Calibri"/>
              <a:buNone/>
              <a:defRPr>
                <a:solidFill>
                  <a:srgbClr val="BF9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4400"/>
              <a:buFont typeface="Calibri"/>
              <a:buNone/>
              <a:defRPr>
                <a:solidFill>
                  <a:srgbClr val="FFD96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1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6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06" descr="Uma imagem contendo desenh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0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10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1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23" name="Google Shape;323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Only">
  <p:cSld name="5_Title Only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7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Calibri"/>
              <a:buNone/>
              <a:defRPr>
                <a:solidFill>
                  <a:srgbClr val="FFFF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1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30" name="Google Shape;330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10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10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09" descr="Uma imagem contendo pássar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0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10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10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lank">
  <p:cSld name="4_Blank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1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11" descr="Uma imagem contendo desenh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1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2"/>
          <p:cNvSpPr/>
          <p:nvPr/>
        </p:nvSpPr>
        <p:spPr>
          <a:xfrm>
            <a:off x="-32327" y="0"/>
            <a:ext cx="12256655" cy="6858000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9414" y="6009911"/>
            <a:ext cx="1753232" cy="746877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1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63" name="Google Shape;363;p1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4" name="Google Shape;364;p1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1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1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0" name="Google Shape;370;p1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1" name="Google Shape;371;p1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1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7" name="Google Shape;377;p1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1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3" name="Google Shape;383;p1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1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9"/>
          <p:cNvSpPr/>
          <p:nvPr/>
        </p:nvSpPr>
        <p:spPr>
          <a:xfrm>
            <a:off x="-27354" y="-29307"/>
            <a:ext cx="12246707" cy="6916615"/>
          </a:xfrm>
          <a:prstGeom prst="rect">
            <a:avLst/>
          </a:prstGeom>
          <a:solidFill>
            <a:srgbClr val="E600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69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10299228" y="6012872"/>
            <a:ext cx="1756715" cy="74836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6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  <p:sldLayoutId id="2147483687" r:id="rId33"/>
    <p:sldLayoutId id="2147483688" r:id="rId34"/>
    <p:sldLayoutId id="2147483689" r:id="rId35"/>
    <p:sldLayoutId id="2147483690" r:id="rId36"/>
    <p:sldLayoutId id="2147483691" r:id="rId37"/>
    <p:sldLayoutId id="2147483692" r:id="rId38"/>
    <p:sldLayoutId id="2147483693" r:id="rId39"/>
    <p:sldLayoutId id="2147483694" r:id="rId40"/>
    <p:sldLayoutId id="2147483695" r:id="rId41"/>
    <p:sldLayoutId id="2147483696" r:id="rId4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profdanhpaiva@gmail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daniel.h.paiva@animaeducacao.com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pt-BR" dirty="0">
                <a:solidFill>
                  <a:schemeClr val="lt1"/>
                </a:solidFill>
              </a:rPr>
              <a:t>Sistemas Computacionais e Segurança</a:t>
            </a:r>
            <a:endParaRPr dirty="0"/>
          </a:p>
        </p:txBody>
      </p:sp>
      <p:sp>
        <p:nvSpPr>
          <p:cNvPr id="392" name="Google Shape;392;p1"/>
          <p:cNvSpPr txBox="1">
            <a:spLocks noGrp="1"/>
          </p:cNvSpPr>
          <p:nvPr>
            <p:ph type="subTitle" idx="1"/>
          </p:nvPr>
        </p:nvSpPr>
        <p:spPr>
          <a:xfrm>
            <a:off x="1524000" y="3989664"/>
            <a:ext cx="9144000" cy="58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>
                <a:solidFill>
                  <a:schemeClr val="bg1"/>
                </a:solidFill>
              </a:rPr>
              <a:t>Daniel Henrique Matos de Paiva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"/>
          <p:cNvSpPr txBox="1">
            <a:spLocks noGrp="1"/>
          </p:cNvSpPr>
          <p:nvPr>
            <p:ph type="title"/>
          </p:nvPr>
        </p:nvSpPr>
        <p:spPr>
          <a:xfrm>
            <a:off x="720090" y="133381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192E"/>
              </a:buClr>
              <a:buSzPts val="6000"/>
              <a:buFont typeface="Calibri"/>
              <a:buNone/>
            </a:pPr>
            <a:r>
              <a:rPr lang="pt-BR" dirty="0"/>
              <a:t>Divisão Binária</a:t>
            </a:r>
            <a:endParaRPr dirty="0"/>
          </a:p>
        </p:txBody>
      </p:sp>
      <p:sp>
        <p:nvSpPr>
          <p:cNvPr id="450" name="Google Shape;450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pt-BR" dirty="0"/>
              <a:t>Conceitos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192E"/>
              </a:buClr>
              <a:buSzPts val="4400"/>
              <a:buFont typeface="Calibri"/>
              <a:buNone/>
            </a:pPr>
            <a:r>
              <a:rPr lang="pt-BR" dirty="0"/>
              <a:t>Regras</a:t>
            </a:r>
            <a:endParaRPr dirty="0"/>
          </a:p>
        </p:txBody>
      </p:sp>
      <p:sp>
        <p:nvSpPr>
          <p:cNvPr id="456" name="Google Shape;4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000" dirty="0"/>
              <a:t>Semelhante a divisão Decimal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0653B0D-6577-8FC9-EA96-BE16F46F0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046" y="1540463"/>
            <a:ext cx="4766988" cy="36441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60E4362-0512-F0E2-B592-4972D585B0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44399" y="62543"/>
            <a:ext cx="6903201" cy="673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106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192E"/>
              </a:buClr>
              <a:buSzPts val="4400"/>
              <a:buFont typeface="Calibri"/>
              <a:buNone/>
            </a:pPr>
            <a:r>
              <a:rPr lang="pt-BR" dirty="0"/>
              <a:t>Divisão Binária</a:t>
            </a:r>
            <a:endParaRPr dirty="0"/>
          </a:p>
        </p:txBody>
      </p:sp>
      <p:sp>
        <p:nvSpPr>
          <p:cNvPr id="456" name="Google Shape;4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2000" dirty="0"/>
              <a:t>10101</a:t>
            </a:r>
            <a:r>
              <a:rPr lang="pt-BR" sz="1500" dirty="0"/>
              <a:t>(2) </a:t>
            </a:r>
            <a:r>
              <a:rPr lang="pt-BR" sz="12000" dirty="0"/>
              <a:t>/111</a:t>
            </a:r>
            <a:r>
              <a:rPr lang="pt-BR" sz="1500" dirty="0"/>
              <a:t>(2) </a:t>
            </a:r>
            <a:r>
              <a:rPr lang="pt-BR" sz="12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3616741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78AD6AC-78E4-3C10-2433-B236EB8A26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51076" y="31466"/>
            <a:ext cx="8689848" cy="679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992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192E"/>
              </a:buClr>
              <a:buSzPts val="4400"/>
              <a:buFont typeface="Calibri"/>
              <a:buNone/>
            </a:pPr>
            <a:r>
              <a:rPr lang="pt-BR" dirty="0"/>
              <a:t>Divisão Binária</a:t>
            </a:r>
            <a:endParaRPr dirty="0"/>
          </a:p>
        </p:txBody>
      </p:sp>
      <p:sp>
        <p:nvSpPr>
          <p:cNvPr id="456" name="Google Shape;4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2000" dirty="0"/>
              <a:t>110010</a:t>
            </a:r>
            <a:r>
              <a:rPr lang="pt-BR" sz="1500" dirty="0"/>
              <a:t>(2) </a:t>
            </a:r>
            <a:r>
              <a:rPr lang="pt-BR" sz="7000" b="0" i="0" dirty="0">
                <a:solidFill>
                  <a:srgbClr val="000000"/>
                </a:solidFill>
                <a:effectLst/>
                <a:latin typeface="Source Sans Pro" panose="020F0502020204030204" pitchFamily="34" charset="0"/>
              </a:rPr>
              <a:t>÷</a:t>
            </a:r>
            <a:r>
              <a:rPr lang="pt-BR" sz="12000" dirty="0"/>
              <a:t>111</a:t>
            </a:r>
            <a:r>
              <a:rPr lang="pt-BR" sz="1500" dirty="0"/>
              <a:t>(2) </a:t>
            </a:r>
            <a:r>
              <a:rPr lang="pt-BR" sz="12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796784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78AD6AC-78E4-3C10-2433-B236EB8A26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18541" y="10454"/>
            <a:ext cx="6554917" cy="68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54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192E"/>
              </a:buClr>
              <a:buSzPts val="4400"/>
              <a:buFont typeface="Calibri"/>
              <a:buNone/>
            </a:pPr>
            <a:r>
              <a:rPr lang="pt-BR" dirty="0"/>
              <a:t>Divisão Binária</a:t>
            </a:r>
            <a:endParaRPr dirty="0"/>
          </a:p>
        </p:txBody>
      </p:sp>
      <p:sp>
        <p:nvSpPr>
          <p:cNvPr id="456" name="Google Shape;4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2000" dirty="0"/>
              <a:t>1010</a:t>
            </a:r>
            <a:r>
              <a:rPr lang="pt-BR" sz="1500" dirty="0"/>
              <a:t>(2)  </a:t>
            </a:r>
            <a:r>
              <a:rPr lang="pt-BR" sz="7000" dirty="0">
                <a:solidFill>
                  <a:srgbClr val="000000"/>
                </a:solidFill>
                <a:latin typeface="Source Sans Pro" panose="020F0502020204030204" pitchFamily="34" charset="0"/>
              </a:rPr>
              <a:t>:</a:t>
            </a:r>
            <a:r>
              <a:rPr lang="pt-BR" sz="12000" dirty="0"/>
              <a:t>10</a:t>
            </a:r>
            <a:r>
              <a:rPr lang="pt-BR" sz="1500" dirty="0"/>
              <a:t>(2) </a:t>
            </a:r>
            <a:r>
              <a:rPr lang="pt-BR" sz="12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1843662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78AD6AC-78E4-3C10-2433-B236EB8A26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53110" y="0"/>
            <a:ext cx="8885779" cy="683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106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192E"/>
              </a:buClr>
              <a:buSzPts val="4400"/>
              <a:buFont typeface="Calibri"/>
              <a:buNone/>
            </a:pPr>
            <a:r>
              <a:rPr lang="pt-BR" dirty="0"/>
              <a:t>Divisão Binária</a:t>
            </a:r>
            <a:endParaRPr dirty="0"/>
          </a:p>
        </p:txBody>
      </p:sp>
      <p:sp>
        <p:nvSpPr>
          <p:cNvPr id="456" name="Google Shape;4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8000" dirty="0"/>
              <a:t>1001011</a:t>
            </a:r>
            <a:r>
              <a:rPr lang="pt-BR" sz="2000" dirty="0"/>
              <a:t>(2)  </a:t>
            </a:r>
            <a:r>
              <a:rPr lang="pt-BR" sz="8000" dirty="0">
                <a:solidFill>
                  <a:srgbClr val="000000"/>
                </a:solidFill>
                <a:latin typeface="Source Sans Pro" panose="020F0502020204030204" pitchFamily="34" charset="0"/>
              </a:rPr>
              <a:t>: </a:t>
            </a:r>
            <a:r>
              <a:rPr lang="pt-BR" sz="8000" dirty="0"/>
              <a:t>11001</a:t>
            </a:r>
            <a:r>
              <a:rPr lang="pt-BR" sz="2000" dirty="0"/>
              <a:t>(2) </a:t>
            </a:r>
            <a:r>
              <a:rPr lang="pt-BR" sz="8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684918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78AD6AC-78E4-3C10-2433-B236EB8A26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1990" y="0"/>
            <a:ext cx="11408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2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9384E-9D04-F480-19D2-D96B9B353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Palavra chave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519840-464C-D46C-91EE-CA2B2E2A9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Divisão</a:t>
            </a:r>
          </a:p>
          <a:p>
            <a:r>
              <a:rPr lang="pt-BR" dirty="0"/>
              <a:t>Números Binários</a:t>
            </a:r>
          </a:p>
          <a:p>
            <a:r>
              <a:rPr lang="pt-BR" dirty="0"/>
              <a:t>Bases Numéricas</a:t>
            </a:r>
          </a:p>
          <a:p>
            <a:r>
              <a:rPr lang="pt-BR" dirty="0"/>
              <a:t>Operações Básicas</a:t>
            </a:r>
          </a:p>
        </p:txBody>
      </p:sp>
    </p:spTree>
    <p:extLst>
      <p:ext uri="{BB962C8B-B14F-4D97-AF65-F5344CB8AC3E}">
        <p14:creationId xmlns:p14="http://schemas.microsoft.com/office/powerpoint/2010/main" val="1711501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pt-BR" b="1" dirty="0">
                <a:solidFill>
                  <a:schemeClr val="lt1"/>
                </a:solidFill>
              </a:rPr>
              <a:t>Dúvidas???</a:t>
            </a:r>
            <a:endParaRPr b="1" dirty="0"/>
          </a:p>
        </p:txBody>
      </p:sp>
      <p:sp>
        <p:nvSpPr>
          <p:cNvPr id="392" name="Google Shape;392;p1"/>
          <p:cNvSpPr txBox="1">
            <a:spLocks noGrp="1"/>
          </p:cNvSpPr>
          <p:nvPr>
            <p:ph type="subTitle" idx="1"/>
          </p:nvPr>
        </p:nvSpPr>
        <p:spPr>
          <a:xfrm>
            <a:off x="1524000" y="3989664"/>
            <a:ext cx="9144000" cy="134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E-mails</a:t>
            </a:r>
            <a:r>
              <a:rPr lang="pt-BR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br>
              <a:rPr lang="pt-BR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profdanhpaiva@gmail.com</a:t>
            </a:r>
            <a:endParaRPr lang="pt-BR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daniel.h.paiva@animaeducacao.com.br</a:t>
            </a:r>
            <a:endParaRPr lang="pt-BR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761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83</Words>
  <Application>Microsoft Office PowerPoint</Application>
  <PresentationFormat>Widescreen</PresentationFormat>
  <Paragraphs>22</Paragraphs>
  <Slides>14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JetBrains Mono</vt:lpstr>
      <vt:lpstr>Source Sans Pro</vt:lpstr>
      <vt:lpstr>Office Theme</vt:lpstr>
      <vt:lpstr>Sistemas Computacionais e Segurança</vt:lpstr>
      <vt:lpstr>Divisão Binária</vt:lpstr>
      <vt:lpstr>Regras</vt:lpstr>
      <vt:lpstr>Apresentação do PowerPoint</vt:lpstr>
      <vt:lpstr>Divisão Binária</vt:lpstr>
      <vt:lpstr>Apresentação do PowerPoint</vt:lpstr>
      <vt:lpstr>Divisão Binária</vt:lpstr>
      <vt:lpstr>Apresentação do PowerPoint</vt:lpstr>
      <vt:lpstr>Divisão Binária</vt:lpstr>
      <vt:lpstr>Apresentação do PowerPoint</vt:lpstr>
      <vt:lpstr>Divisão Binária</vt:lpstr>
      <vt:lpstr>Apresentação do PowerPoint</vt:lpstr>
      <vt:lpstr>Palavra chave</vt:lpstr>
      <vt:lpstr>Dúvidas???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 Binário - Daniel Paiva</dc:title>
  <dc:creator>Microsoft Office User</dc:creator>
  <cp:lastModifiedBy>daniel</cp:lastModifiedBy>
  <cp:revision>89</cp:revision>
  <dcterms:created xsi:type="dcterms:W3CDTF">2018-05-18T17:58:10Z</dcterms:created>
  <dcterms:modified xsi:type="dcterms:W3CDTF">2024-10-24T16:14:08Z</dcterms:modified>
</cp:coreProperties>
</file>