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perguntando: quantas vezes hoje vocês já escreveram algo que só pode ser verdadeiro ou falso, sem perceber?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Prometer desde já o gancho final: o desafio das fantasias da Aula 02 vai voltar como exercício.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hoje não é filosofia abstrata, é o alicerce prático do que vem a seguir no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 turma achar, em código que já escreveram, um exemplo de cada uma dessas quatro categorias.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contraexemplo é o gancho perfeito para a tabela de classificação que vem a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 no caso 'está chovendo' — a turma tende a achar que precisa SABER o valor para ser proposição. Não precisa.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direta para o próximo bloco de código: variável livre = variável sem valor atribuído ainda.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Diversão proposital: deixar a turma tentar 'resolver' o paradoxo por 30 segundos antes de revelar que não tem solução.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esse último exemplo — ele será o primeiro caso trabalhado na tabela-verdade da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 fluxograma com um exemplo novo, escolhido pela turma, do início ao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na analogia matemática: assim como 2 + 3 combina números, p ∧ q combina proposições.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cada parte poderia ser substituída por qualquer outra proposição — a fórmula é sobre a estrutura, não sobre o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qual das duas linhas é a proposição simples e qual é a composta? A turma já deve saber responder.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tem_8_caracteres e tem_numero são proposições simples; senha_valida é a composta que as combina com 'e'.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entrar em tabela-verdade ainda — só apresentar os nomes e símbolos, para a turma reconhecer na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é o elo entre a notação formal e o código — vale voltar a ele na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os exercícios podem ser feitos em dupla — o objetivo é discutir a classificação, não só chegar na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3 minutos individualmente antes de discutir em voz alta — inclusive o item (d), que é uma composta sempre verdadeira.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(d) é uma tautologia — proposição composta que é sempre verdadeira, independente do valor das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(d) é o mais rico: é uma tautologia (sempre verdadeira) — vale antecipar essa palavra sem se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itens (b) e (c) do Exercício 1 não entram aqui porque não são proposições — não há o que classificar.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única: x = 7 é o único valor que torna a igualdade verdadeira — qualquer outro valor serve para o lado falso.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 = 7 é o único valor que torna a igualdade verdadeira; qualquer outro valor serve para o lado falso.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antes de revelar.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introduzir 's' é uma decisão válida — o exercício original só deu 3 letras, mas a pista 3 exige uma quarta.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Rosen é o livro-texto oficial; os outros dois são apoio para quem quiser outra explicação do mesmo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Materiais de apoio — úteis principalmente para quem quer ver o mesmo conceito explicado com outras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convidando quem resolveu o exercício 4 a compartilhar a notação que usou — vamos formalizar isso na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danhpaiva.github.io/una-mca-zensical-202602/turma-202602/02-aula/" TargetMode="External"/><Relationship Id="rId1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stdtypes.html#comparisons" TargetMode="External"/><Relationship Id="rId3" Type="http://schemas.openxmlformats.org/officeDocument/2006/relationships/hyperlink" Target="https://docs.python.org/3/reference/expressions.html#boolean-operations" TargetMode="External"/><Relationship Id="rId5" Type="http://schemas.openxmlformats.org/officeDocument/2006/relationships/hyperlink" Target="https://www.youtube.com/results?search_query=me+salva+l%C3%B3gica+proposicional" TargetMode="External"/><Relationship Id="rId6" Type="http://schemas.openxmlformats.org/officeDocument/2006/relationships/hyperlink" Target="https://www.youtube.com/results?search_query=raciocinio+logico+proposi%C3%A7%C3%B5es+o+que+%C3%A9" TargetMode="External"/><Relationship Id="rId1" Type="http://schemas.openxmlformats.org/officeDocument/2006/relationships/image" Target="../media/image-27-1.png"/><Relationship Id="rId4" Type="http://schemas.openxmlformats.org/officeDocument/2006/relationships/image" Target="../media/image-27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692640" y="-32004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03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linha de código que você já escreveu começa com uma pergunta: isso é verdadeiro ou falso?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  ·   VALOR LÓGICO   ·   V / F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uma proposição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tão importante quanto, o que não é uma proposição.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vs. compostas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proposições pequenas se combinam em fórmulas maiores.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para quem programa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lógica formal por baixo de todo if que você já escreveu.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Prévia dos conectivos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gostinho do que vamos formalizar na próxima aula.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280160" y="12344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lógica, afinal?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737360" y="22402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estudo do raciocínio válido: como partir de afirmações que aceitamos como verdadeiras e chegar a conclusões corretas — sem depender do assunto de que estamos falando.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566160" y="3611880"/>
            <a:ext cx="5029200" cy="777240"/>
          </a:xfrm>
          <a:prstGeom prst="roundRect">
            <a:avLst>
              <a:gd name="adj" fmla="val 49412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3566160" y="36118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Computação, ela é a base de tudo que você constrói.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ESTÁ EM TUDO QUE VOCÊ FAZ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lógica formal já está no seu código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5166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9979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69164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5120640" y="169164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if, while — o programa decide o que fazer com base em um valor lógico.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868680" y="290322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0495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74320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a banco de dados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5120640" y="274320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idade &gt; 18 AND ativo = true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15" name="Shape 11"/>
          <p:cNvSpPr/>
          <p:nvPr/>
        </p:nvSpPr>
        <p:spPr>
          <a:xfrm>
            <a:off x="868680" y="395478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0108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379476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digitais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5120640" y="379476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matéria-prima do hardware — cada porta lógica é lógica formal em silício.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84632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</p:sp>
      <p:sp>
        <p:nvSpPr>
          <p:cNvPr id="20" name="Shape 15"/>
          <p:cNvSpPr/>
          <p:nvPr/>
        </p:nvSpPr>
        <p:spPr>
          <a:xfrm>
            <a:off x="868680" y="50063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515264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84632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de programas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5120640" y="484632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Provar, formalmente, que um código faz o que promete.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UNIDADE BÁSICA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proposição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sentença declarativa à qual podemos atribuir exatamente um valor lógico: verdadeiro (V) ou falso (F).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os dois. Nunca nenhum.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4290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3FBF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104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V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80160" y="39593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37560" y="34290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3FBF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78104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77640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977640" y="39593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BE4E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01548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4800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e F juntos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280160" y="5193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3337560" y="46634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BE4E1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5015484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977640" y="4800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V nem F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3977640" y="5193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355080" y="777240"/>
            <a:ext cx="5212080" cy="5532120"/>
          </a:xfrm>
          <a:prstGeom prst="roundRect">
            <a:avLst>
              <a:gd name="adj" fmla="val 2105"/>
            </a:avLst>
          </a:prstGeom>
          <a:solidFill>
            <a:srgbClr val="141B41"/>
          </a:solidFill>
          <a:ln/>
        </p:spPr>
      </p:sp>
      <p:sp>
        <p:nvSpPr>
          <p:cNvPr id="23" name="Text 17"/>
          <p:cNvSpPr/>
          <p:nvPr/>
        </p:nvSpPr>
        <p:spPr>
          <a:xfrm>
            <a:off x="6720840" y="1097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720840" y="14173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“São Paulo fica no Brasil.”</a:t>
            </a:r>
            <a:endParaRPr lang="en-US" sz="22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14884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Verdadeira — tem exatamente um valor lógico.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720840" y="2971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CONTRAEXEMPLO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6720840" y="32918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“Essa cidade é linda.”</a:t>
            </a:r>
            <a:endParaRPr lang="en-US" sz="22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023360"/>
            <a:ext cx="457200" cy="4572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3152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proposição — “linda” é opinião, não tem um valor lógico fixo.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COLOCANDO À PROVA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proposição?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sentença: tem exatamente um valor lógico?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2084832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84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2011680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 + 2 = 4”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714439" y="2011680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valor V definido.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98064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</p:sp>
      <p:sp>
        <p:nvSpPr>
          <p:cNvPr id="11" name="Shape 9"/>
          <p:cNvSpPr/>
          <p:nvPr/>
        </p:nvSpPr>
        <p:spPr>
          <a:xfrm>
            <a:off x="877824" y="2871216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28712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2798064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“Brasília é a capital do Brasil”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714439" y="2798064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valor V definido.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84448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</p:sp>
      <p:sp>
        <p:nvSpPr>
          <p:cNvPr id="16" name="Shape 14"/>
          <p:cNvSpPr/>
          <p:nvPr/>
        </p:nvSpPr>
        <p:spPr>
          <a:xfrm>
            <a:off x="877824" y="3657600"/>
            <a:ext cx="512064" cy="512064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V/F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600200" y="3584448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“Está chovendo em São Paulo agora”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714439" y="3584448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valor V ou F, mesmo que você não saiba qual.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</p:sp>
      <p:sp>
        <p:nvSpPr>
          <p:cNvPr id="21" name="Shape 19"/>
          <p:cNvSpPr/>
          <p:nvPr/>
        </p:nvSpPr>
        <p:spPr>
          <a:xfrm>
            <a:off x="877824" y="4443984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443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00200" y="4370832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“Feche a porta!”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714439" y="4370832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ordem — não afirma nada.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57216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</p:sp>
      <p:sp>
        <p:nvSpPr>
          <p:cNvPr id="26" name="Shape 24"/>
          <p:cNvSpPr/>
          <p:nvPr/>
        </p:nvSpPr>
        <p:spPr>
          <a:xfrm>
            <a:off x="877824" y="5230368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</p:sp>
      <p:sp>
        <p:nvSpPr>
          <p:cNvPr id="27" name="Text 25"/>
          <p:cNvSpPr/>
          <p:nvPr/>
        </p:nvSpPr>
        <p:spPr>
          <a:xfrm>
            <a:off x="877824" y="5230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600200" y="5157216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“Qual é o seu nome?”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714439" y="5157216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pergunta.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0167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 verdadeira      F   falsa      V/F   tem valor, mas não sabemos qual      —   não é proposição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ESPECIAL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Sentenças abertas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par” tem uma variável livre — por isso ainda não é uma proposição.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31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é par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</a:t>
            </a:r>
            <a:endParaRPr lang="en-US" sz="1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4560" y="37033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substitua x por um valor específico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54880" y="214884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</p:sp>
      <p:sp>
        <p:nvSpPr>
          <p:cNvPr id="11" name="Text 8"/>
          <p:cNvSpPr/>
          <p:nvPr/>
        </p:nvSpPr>
        <p:spPr>
          <a:xfrm>
            <a:off x="4754880" y="2377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4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943600" y="3017520"/>
            <a:ext cx="731520" cy="731520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75488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 par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229600" y="214884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0" y="2377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7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418320" y="3017520"/>
            <a:ext cx="731520" cy="73152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8" name="Text 15"/>
          <p:cNvSpPr/>
          <p:nvPr/>
        </p:nvSpPr>
        <p:spPr>
          <a:xfrm>
            <a:off x="941832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22960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não é par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30632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 que x recebe um valor a sentença vira proposição — exatamente como idade &gt;= 18 só é proposição depois que idade tem um valor.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ESPECIAL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paradoxo do mentiroso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88720" cy="1188720"/>
          </a:xfrm>
          <a:prstGeom prst="ellipse">
            <a:avLst/>
          </a:prstGeom>
          <a:solidFill>
            <a:srgbClr val="232C6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020824"/>
            <a:ext cx="804672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48840" y="1965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“Esta frase é falsa.”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2148840" y="265176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Tente atribuir um valor a ela.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32C63"/>
          </a:solidFill>
          <a:ln/>
        </p:spPr>
      </p:sp>
      <p:sp>
        <p:nvSpPr>
          <p:cNvPr id="10" name="Text 7"/>
          <p:cNvSpPr/>
          <p:nvPr/>
        </p:nvSpPr>
        <p:spPr>
          <a:xfrm>
            <a:off x="960120" y="3383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ela for verdadeira... então o que ela diz é verdade — ou seja, ela é falsa. Contradição.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297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32C63"/>
          </a:solidFill>
          <a:ln/>
        </p:spPr>
      </p:sp>
      <p:sp>
        <p:nvSpPr>
          <p:cNvPr id="12" name="Text 9"/>
          <p:cNvSpPr/>
          <p:nvPr/>
        </p:nvSpPr>
        <p:spPr>
          <a:xfrm>
            <a:off x="960120" y="4297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ela for falsa... então o que ela diz não é verdade — ou seja, ela é verdadeira. Contradição de novo.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não tem um valor lógico consistente — por isso não é uma proposição. É só um lembrete de que a definição exige exatamente um valor, sem exceções.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CASOS PARA TREINAR O OLHO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exemplos do dia a dia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" y="2107692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076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“Todo número par é divisível por 2”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714439" y="196596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sempre verdadeira.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10" name="Shape 8"/>
          <p:cNvSpPr/>
          <p:nvPr/>
        </p:nvSpPr>
        <p:spPr>
          <a:xfrm>
            <a:off x="877824" y="3067812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0678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92608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um número primo”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714439" y="292608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 — depende do valor de x.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77824" y="4027932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</p:sp>
      <p:sp>
        <p:nvSpPr>
          <p:cNvPr id="16" name="Text 14"/>
          <p:cNvSpPr/>
          <p:nvPr/>
        </p:nvSpPr>
        <p:spPr>
          <a:xfrm>
            <a:off x="877824" y="40279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88620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“Uau, que prova difícil!”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714439" y="388620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Exclamação — não afirma um fato.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4632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77824" y="4988052"/>
            <a:ext cx="512064" cy="512064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" y="49880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00200" y="484632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Sol é uma estrela e a Lua é um planeta”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714439" y="484632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Composta: 1ª parte V, 2ª parte F → a soma é falsa.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último exemplo já antecipa a próxima aula: uma proposição composta com “e” só é verdadeira quando as duas partes são verdadeiras.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TUDO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Fluxograma: é proposição?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221328" y="1508760"/>
            <a:ext cx="3749040" cy="658368"/>
          </a:xfrm>
          <a:prstGeom prst="roundRect">
            <a:avLst>
              <a:gd name="adj" fmla="val 13889"/>
            </a:avLst>
          </a:prstGeom>
          <a:solidFill>
            <a:srgbClr val="141B41"/>
          </a:solidFill>
          <a:ln/>
        </p:spPr>
      </p:sp>
      <p:sp>
        <p:nvSpPr>
          <p:cNvPr id="5" name="Text 3"/>
          <p:cNvSpPr/>
          <p:nvPr/>
        </p:nvSpPr>
        <p:spPr>
          <a:xfrm>
            <a:off x="4358488" y="150876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sentença declarativa?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688" y="221284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27168" y="22311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i="1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90408" y="2011680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 →  não é proposição (ordem, pergunta, exclamação)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21328" y="2606040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6C4BC1"/>
          </a:solidFill>
          <a:ln/>
        </p:spPr>
      </p:sp>
      <p:sp>
        <p:nvSpPr>
          <p:cNvPr id="10" name="Text 7"/>
          <p:cNvSpPr/>
          <p:nvPr/>
        </p:nvSpPr>
        <p:spPr>
          <a:xfrm>
            <a:off x="4358488" y="260604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variável livre</a:t>
            </a:r>
            <a:endParaRPr lang="en-US" sz="13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(depende de algo não fixado)?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688" y="3364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27168" y="33832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i="1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90408" y="3163824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 →  sentença aberta (ainda não é proposição)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221328" y="3758184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6C4BC1"/>
          </a:solidFill>
          <a:ln/>
        </p:spPr>
      </p:sp>
      <p:sp>
        <p:nvSpPr>
          <p:cNvPr id="15" name="Text 11"/>
          <p:cNvSpPr/>
          <p:nvPr/>
        </p:nvSpPr>
        <p:spPr>
          <a:xfrm>
            <a:off x="4358488" y="375818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 ou F bem definido —</a:t>
            </a:r>
            <a:endParaRPr lang="en-US" sz="13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os dois, nunca nenhum?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451713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27168" y="45354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i="1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8290408" y="4315968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 →  paradoxo — também não é proposição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21328" y="4910328"/>
            <a:ext cx="3749040" cy="640080"/>
          </a:xfrm>
          <a:prstGeom prst="roundRect">
            <a:avLst>
              <a:gd name="adj" fmla="val 14286"/>
            </a:avLst>
          </a:prstGeom>
          <a:solidFill>
            <a:srgbClr val="3EBD59"/>
          </a:solidFill>
          <a:ln/>
        </p:spPr>
      </p:sp>
      <p:sp>
        <p:nvSpPr>
          <p:cNvPr id="20" name="Text 15"/>
          <p:cNvSpPr/>
          <p:nvPr/>
        </p:nvSpPr>
        <p:spPr>
          <a:xfrm>
            <a:off x="4358488" y="49103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proposição!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CONSTRUINDO FÓRMULAS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Proposições simples vs. compostas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3F1F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(atômica)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pode ser dividida em partes menores que ainda façam sentido sozinhas.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4709160" cy="594360"/>
          </a:xfrm>
          <a:prstGeom prst="roundRect">
            <a:avLst>
              <a:gd name="adj" fmla="val 53846"/>
            </a:avLst>
          </a:prstGeom>
          <a:solidFill>
            <a:srgbClr val="FFFFFF"/>
          </a:solidFill>
          <a:ln w="15240">
            <a:solidFill>
              <a:srgbClr val="6C4B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0332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“chove”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4480560"/>
            <a:ext cx="4709160" cy="594360"/>
          </a:xfrm>
          <a:prstGeom prst="roundRect">
            <a:avLst>
              <a:gd name="adj" fmla="val 53846"/>
            </a:avLst>
          </a:prstGeom>
          <a:solidFill>
            <a:srgbClr val="FFFFFF"/>
          </a:solidFill>
          <a:ln w="15240">
            <a:solidFill>
              <a:srgbClr val="6C4B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48056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“estudo”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141B41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 (molecular)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Formada por proposições simples unidas por conectivos.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537960" y="3703320"/>
            <a:ext cx="4709160" cy="594360"/>
          </a:xfrm>
          <a:prstGeom prst="roundRect">
            <a:avLst>
              <a:gd name="adj" fmla="val 15385"/>
            </a:avLst>
          </a:prstGeom>
          <a:solidFill>
            <a:srgbClr val="232C63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370332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chove</a:t>
            </a:r>
            <a:pPr algn="ctr" indent="0" marL="0">
              <a:buNone/>
            </a:pPr>
            <a:r>
              <a:rPr lang="en-US" sz="1500" b="1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</a:t>
            </a:r>
            <a:pPr algn="ctr" indent="0" marL="0">
              <a:buNone/>
            </a:pPr>
            <a:r>
              <a:rPr lang="en-US" sz="15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37960" y="4526280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Representamos proposições por letras minúsculas — p, q, r — combinadas por conectivos, do mesmo jeito que operadores combinam números em expressões aritméticas.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 DA FÓRMULA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proposição composta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463040" y="237744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5" name="Text 3"/>
          <p:cNvSpPr/>
          <p:nvPr/>
        </p:nvSpPr>
        <p:spPr>
          <a:xfrm>
            <a:off x="1463040" y="248716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46304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4261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“estudei”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06240" y="2377440"/>
            <a:ext cx="1645920" cy="13716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/>
        </p:spPr>
      </p:sp>
      <p:sp>
        <p:nvSpPr>
          <p:cNvPr id="10" name="Text 8"/>
          <p:cNvSpPr/>
          <p:nvPr/>
        </p:nvSpPr>
        <p:spPr>
          <a:xfrm>
            <a:off x="4206240" y="248716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206240" y="3273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005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237744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48716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621792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9749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“dormi bem”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463040" y="4663440"/>
            <a:ext cx="7132320" cy="822960"/>
          </a:xfrm>
          <a:prstGeom prst="roundRect">
            <a:avLst>
              <a:gd name="adj" fmla="val 50000"/>
            </a:avLst>
          </a:prstGeom>
          <a:solidFill>
            <a:srgbClr val="6C4BC1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46634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∧ q</a:t>
            </a:r>
            <a:pPr algn="ctr" indent="0" marL="0">
              <a:buNone/>
            </a:pPr>
            <a:r>
              <a:rPr lang="en-US" sz="2000" dirty="0">
                <a:solidFill>
                  <a:srgbClr val="C7CB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“estudei e dormi bem”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JÁ EXISTE NO SEU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expressão booleana é uma proposição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&gt;= 18 só é proposição depois que idade tem um valor — exatamente como “x é par” só vira proposição quando x é fixado.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2037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26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maiorDeIdade = idade &gt;= 18;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proposição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326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podeAcessar = maiorDeIdade &amp;&amp; ativo;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326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proposição composta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32688" y="47823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Console.WriteLine(podeAcessar);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True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407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</p:sp>
      <p:sp>
        <p:nvSpPr>
          <p:cNvPr id="19" name="Shape 16"/>
          <p:cNvSpPr/>
          <p:nvPr/>
        </p:nvSpPr>
        <p:spPr>
          <a:xfrm>
            <a:off x="64968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66979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1" name="Shape 18"/>
          <p:cNvSpPr/>
          <p:nvPr/>
        </p:nvSpPr>
        <p:spPr>
          <a:xfrm>
            <a:off x="68991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2" name="Text 19"/>
          <p:cNvSpPr/>
          <p:nvPr/>
        </p:nvSpPr>
        <p:spPr>
          <a:xfrm>
            <a:off x="71551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programa.py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20370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5333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5333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5333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maior_de_idade = idade &gt;= 18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5333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proposição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5333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pode_acessar = maior_de_idade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65333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proposição composta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533388" y="47823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print(pode_acessar)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True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 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Mesma ideia: validação de senha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if de validação que você já escreveu era, sem que você chamasse assim, uma combinação de proposições.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22037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 = </a:t>
            </a:r>
            <a:pPr indent="0" marL="0">
              <a:buNone/>
            </a:pPr>
            <a:r>
              <a:rPr lang="en-US" sz="1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"abc12345"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26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tem8Caracteres = senha.Length &gt;= 8;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temNumero = senha.Any(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char.IsDigit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senhaValida =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326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tem8Caracteres &amp;&amp; temNumero;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326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Console.WriteLine(senhaValida);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True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407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232C63"/>
          </a:solidFill>
          <a:ln/>
        </p:spPr>
      </p:sp>
      <p:sp>
        <p:nvSpPr>
          <p:cNvPr id="18" name="Shape 15"/>
          <p:cNvSpPr/>
          <p:nvPr/>
        </p:nvSpPr>
        <p:spPr>
          <a:xfrm>
            <a:off x="64968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79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0" name="Shape 17"/>
          <p:cNvSpPr/>
          <p:nvPr/>
        </p:nvSpPr>
        <p:spPr>
          <a:xfrm>
            <a:off x="68991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1" name="Text 18"/>
          <p:cNvSpPr/>
          <p:nvPr/>
        </p:nvSpPr>
        <p:spPr>
          <a:xfrm>
            <a:off x="71551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senha.py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203704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5333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 = </a:t>
            </a:r>
            <a:pPr indent="0" marL="0">
              <a:buNone/>
            </a:pPr>
            <a:r>
              <a:rPr lang="en-US" sz="1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"abc12345"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5333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tem_8_caracteres = len(senha) &gt;= 8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5333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tem_numero =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(c.isdigit()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senha)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5333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senha_valida = tem_8_caracteres </a:t>
            </a:r>
            <a:pPr indent="0" marL="0">
              <a:buNone/>
            </a:pPr>
            <a:r>
              <a:rPr lang="en-US" sz="12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</a:t>
            </a:r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5333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tem_numero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5333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print(senha_valida)</a:t>
            </a:r>
            <a:pPr indent="0" marL="0">
              <a:buNone/>
            </a:pPr>
            <a:r>
              <a:rPr lang="en-US" sz="120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True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NA PRÓXIMA AULA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Prévia: os cinco conectivos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equivalente lógico de not, and, or e das condições que você já escreve em código.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27736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6" name="Text 4"/>
          <p:cNvSpPr/>
          <p:nvPr/>
        </p:nvSpPr>
        <p:spPr>
          <a:xfrm>
            <a:off x="627736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19176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Negação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9176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“não”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58872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0" name="Text 8"/>
          <p:cNvSpPr/>
          <p:nvPr/>
        </p:nvSpPr>
        <p:spPr>
          <a:xfrm>
            <a:off x="2858872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950312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Conjunção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950312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90008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5090008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5181448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Disjunção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181448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21144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</p:sp>
      <p:sp>
        <p:nvSpPr>
          <p:cNvPr id="18" name="Text 16"/>
          <p:cNvSpPr/>
          <p:nvPr/>
        </p:nvSpPr>
        <p:spPr>
          <a:xfrm>
            <a:off x="7321144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7412584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412584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“se... então”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552280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6C4BC1"/>
          </a:solidFill>
          <a:ln/>
        </p:spPr>
      </p:sp>
      <p:sp>
        <p:nvSpPr>
          <p:cNvPr id="22" name="Text 20"/>
          <p:cNvSpPr/>
          <p:nvPr/>
        </p:nvSpPr>
        <p:spPr>
          <a:xfrm>
            <a:off x="9552280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43720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Bicondicional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4372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Formalizamos as tabelas-verdade de cada um deles na próxima aula.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SINTAXES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símbolo lógico ao código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conectivos que você acabou de ver já aparecem no seu código, com outro nome.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9319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5072" y="189280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3708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189280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284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233172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3" name="Text 9"/>
          <p:cNvSpPr/>
          <p:nvPr/>
        </p:nvSpPr>
        <p:spPr>
          <a:xfrm>
            <a:off x="868680" y="23317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  (negação)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931920" y="233172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x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589520" y="23317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!x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0080" y="29352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2935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∧  (conjunção)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3931920" y="2935224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and 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589520" y="293522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&amp;&amp; 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40080" y="353872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1" name="Text 17"/>
          <p:cNvSpPr/>
          <p:nvPr/>
        </p:nvSpPr>
        <p:spPr>
          <a:xfrm>
            <a:off x="868680" y="3538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∨  (disjunção)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3931920" y="35387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or y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7589520" y="35387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|| y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40080" y="414223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5" name="Text 21"/>
          <p:cNvSpPr/>
          <p:nvPr/>
        </p:nvSpPr>
        <p:spPr>
          <a:xfrm>
            <a:off x="868680" y="41422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(condicional)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3931920" y="414223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x: y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7589520" y="414223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(x) { y }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40080" y="47457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</p:sp>
      <p:sp>
        <p:nvSpPr>
          <p:cNvPr id="29" name="Text 25"/>
          <p:cNvSpPr/>
          <p:nvPr/>
        </p:nvSpPr>
        <p:spPr>
          <a:xfrm>
            <a:off x="868680" y="47457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(bicondicional)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3931920" y="4745736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== y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7589520" y="474573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== y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54406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sempre que ler &amp;&amp; ou and no código, leia mentalmente “e” — o ∧ da lógica proposicional.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219456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exercícios, do básico ao desafio — o último te leva de volta à Aula 02.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Proposição ou não?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sentença como proposição ou não, justificando: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36192" y="24688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número 7 é primo.”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14400" y="35204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51560" y="35204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6364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14" name="Shape 11"/>
          <p:cNvSpPr/>
          <p:nvPr/>
        </p:nvSpPr>
        <p:spPr>
          <a:xfrm>
            <a:off x="653796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159752" y="24688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“Ajude-me com a lista!”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537960" y="35204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35204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008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1440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1" name="Text 18"/>
          <p:cNvSpPr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536192" y="45262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par.”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914400" y="55778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55778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6364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26" name="Shape 23"/>
          <p:cNvSpPr/>
          <p:nvPr/>
        </p:nvSpPr>
        <p:spPr>
          <a:xfrm>
            <a:off x="653796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7" name="Text 24"/>
          <p:cNvSpPr/>
          <p:nvPr/>
        </p:nvSpPr>
        <p:spPr>
          <a:xfrm>
            <a:off x="65379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159752" y="45262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está frio ou não está.”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537960" y="55778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75120" y="55778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Proposição ou não?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36192" y="24414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número 7 é primo.”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212080" y="2459736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1" name="Text 8"/>
          <p:cNvSpPr/>
          <p:nvPr/>
        </p:nvSpPr>
        <p:spPr>
          <a:xfrm>
            <a:off x="521208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" y="33649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é primo — declarativa, valor V definido.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6364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14" name="Shape 11"/>
          <p:cNvSpPr/>
          <p:nvPr/>
        </p:nvSpPr>
        <p:spPr>
          <a:xfrm>
            <a:off x="653796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159752" y="24414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“Ajude-me com a lista!”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835640" y="2459736"/>
            <a:ext cx="502920" cy="502920"/>
          </a:xfrm>
          <a:prstGeom prst="ellipse">
            <a:avLst/>
          </a:prstGeom>
          <a:solidFill>
            <a:srgbClr val="8A7FB0"/>
          </a:solidFill>
          <a:ln/>
        </p:spPr>
      </p:sp>
      <p:sp>
        <p:nvSpPr>
          <p:cNvPr id="18" name="Text 15"/>
          <p:cNvSpPr/>
          <p:nvPr/>
        </p:nvSpPr>
        <p:spPr>
          <a:xfrm>
            <a:off x="1083564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37960" y="33649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— não afirma nada.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21" name="Shape 18"/>
          <p:cNvSpPr/>
          <p:nvPr/>
        </p:nvSpPr>
        <p:spPr>
          <a:xfrm>
            <a:off x="91440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536192" y="44988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par.”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212080" y="4517136"/>
            <a:ext cx="502920" cy="502920"/>
          </a:xfrm>
          <a:prstGeom prst="ellipse">
            <a:avLst/>
          </a:prstGeom>
          <a:solidFill>
            <a:srgbClr val="8A7FB0"/>
          </a:solidFill>
          <a:ln/>
        </p:spPr>
      </p:sp>
      <p:sp>
        <p:nvSpPr>
          <p:cNvPr id="25" name="Text 22"/>
          <p:cNvSpPr/>
          <p:nvPr/>
        </p:nvSpPr>
        <p:spPr>
          <a:xfrm>
            <a:off x="5212080" y="4517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914400" y="54223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 — depende do valor de x.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26364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</p:sp>
      <p:sp>
        <p:nvSpPr>
          <p:cNvPr id="28" name="Shape 25"/>
          <p:cNvSpPr/>
          <p:nvPr/>
        </p:nvSpPr>
        <p:spPr>
          <a:xfrm>
            <a:off x="653796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sp>
        <p:nvSpPr>
          <p:cNvPr id="29" name="Text 26"/>
          <p:cNvSpPr/>
          <p:nvPr/>
        </p:nvSpPr>
        <p:spPr>
          <a:xfrm>
            <a:off x="65379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159752" y="44988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está frio ou não está.”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0835640" y="4517136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2" name="Text 29"/>
          <p:cNvSpPr/>
          <p:nvPr/>
        </p:nvSpPr>
        <p:spPr>
          <a:xfrm>
            <a:off x="10835640" y="4517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6537960" y="54223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 (∨ com ¬) — sempre verdadeira: uma tautologia.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Simples ou composta?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10881360" cy="3566160"/>
          </a:xfrm>
          <a:prstGeom prst="roundRect">
            <a:avLst>
              <a:gd name="adj" fmla="val 3590"/>
            </a:avLst>
          </a:prstGeom>
          <a:solidFill>
            <a:srgbClr val="F3F1FB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sentenças do Exercício 1 que são proposições, quais são simples e quais são compostas? Identifique os conectivos presentes em cada uma das compostas.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05840" y="3246120"/>
            <a:ext cx="101498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1234440" y="347472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35661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828800" y="3822192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(d) — “Ou está frio ou não está.” — é composta: junta “está frio” com “não está frio” usando ou. E é verdadeira sempre, não importa a temperatura real.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Simples ou composta?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(a) e (d) são proposições — (b) e (c) ficam de fora da classificação.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05740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3F1FB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“O número 7 é primo.”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14400" y="3017520"/>
            <a:ext cx="192024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3017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3749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conectivo — é uma única afirmação atômica.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205740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141B41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 “Ou está frio ou não está.”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7960" y="3017520"/>
            <a:ext cx="1920240" cy="502920"/>
          </a:xfrm>
          <a:prstGeom prst="roundRect">
            <a:avLst>
              <a:gd name="adj" fmla="val 50909"/>
            </a:avLst>
          </a:prstGeom>
          <a:solidFill>
            <a:srgbClr val="2FE6C7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3017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537960" y="37490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 frio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∨ </a:t>
            </a:r>
            <a:pPr indent="0" marL="0">
              <a:buNone/>
            </a:pPr>
            <a:r>
              <a:rPr lang="en-US" sz="14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¬está frio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537960" y="42062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Conectivos: ∨ (disjunção) e ¬ (negação).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 aberta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sentença aberta abaixo, encontre um valor de x que a torne verdadeira e outro que a torne falsa.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023360" y="233172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EDEAF7"/>
          </a:solidFill>
          <a:ln/>
        </p:spPr>
      </p:sp>
      <p:sp>
        <p:nvSpPr>
          <p:cNvPr id="8" name="Text 5"/>
          <p:cNvSpPr/>
          <p:nvPr/>
        </p:nvSpPr>
        <p:spPr>
          <a:xfrm>
            <a:off x="402336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 = 10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F3F1F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9319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V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914400" y="43891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389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____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5029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 confira: substituindo, a igualdade vira verdadeira.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70332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F3F1FB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39319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F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537960" y="43891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4389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____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537960" y="5029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 confira: substituindo, a igualdade vira falsa.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 aberta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023360" y="173736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EDEAF7"/>
          </a:solidFill>
          <a:ln/>
        </p:spPr>
      </p:sp>
      <p:sp>
        <p:nvSpPr>
          <p:cNvPr id="7" name="Text 4"/>
          <p:cNvSpPr/>
          <p:nvPr/>
        </p:nvSpPr>
        <p:spPr>
          <a:xfrm>
            <a:off x="4023360" y="17373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 = 10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640080" y="29260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1546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V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120640" y="3108960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1" name="Text 8"/>
          <p:cNvSpPr/>
          <p:nvPr/>
        </p:nvSpPr>
        <p:spPr>
          <a:xfrm>
            <a:off x="51206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914400" y="370332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3703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+ 3 = 10  ✓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63640" y="29260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</p:sp>
      <p:sp>
        <p:nvSpPr>
          <p:cNvPr id="16" name="Text 13"/>
          <p:cNvSpPr/>
          <p:nvPr/>
        </p:nvSpPr>
        <p:spPr>
          <a:xfrm>
            <a:off x="6537960" y="31546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F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10744200" y="3108960"/>
            <a:ext cx="502920" cy="502920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18" name="Text 15"/>
          <p:cNvSpPr/>
          <p:nvPr/>
        </p:nvSpPr>
        <p:spPr>
          <a:xfrm>
            <a:off x="107442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537960" y="370332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3703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0  (ou qualquer x ≠ 7)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3796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+ 3 = 3 ≠ 10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à Aula 02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Lembra do desafio das fantasias, na </a:t>
            </a:r>
            <a:pPr indent="0" marL="0">
              <a:lnSpc>
                <a:spcPts val="19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Aula 02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Escreva as três pistas em português formal, como proposições, usando: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“Ana está de pirata”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88536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</p:sp>
      <p:sp>
        <p:nvSpPr>
          <p:cNvPr id="10" name="Text 7"/>
          <p:cNvSpPr/>
          <p:nvPr/>
        </p:nvSpPr>
        <p:spPr>
          <a:xfrm>
            <a:off x="4471416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“Bruno está de super-herói”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36992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</p:sp>
      <p:sp>
        <p:nvSpPr>
          <p:cNvPr id="12" name="Text 9"/>
          <p:cNvSpPr/>
          <p:nvPr/>
        </p:nvSpPr>
        <p:spPr>
          <a:xfrm>
            <a:off x="8119872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 </a:t>
            </a:r>
            <a:pPr indent="0" marL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“Caio está de palhaço”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33375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</p:sp>
      <p:sp>
        <p:nvSpPr>
          <p:cNvPr id="14" name="Shape 11"/>
          <p:cNvSpPr/>
          <p:nvPr/>
        </p:nvSpPr>
        <p:spPr>
          <a:xfrm>
            <a:off x="868680" y="35204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554480" y="33375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360920" y="349300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43800" y="34930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0080" y="43434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</p:sp>
      <p:sp>
        <p:nvSpPr>
          <p:cNvPr id="20" name="Shape 17"/>
          <p:cNvSpPr/>
          <p:nvPr/>
        </p:nvSpPr>
        <p:spPr>
          <a:xfrm>
            <a:off x="868680" y="452628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21" name="Text 18"/>
          <p:cNvSpPr/>
          <p:nvPr/>
        </p:nvSpPr>
        <p:spPr>
          <a:xfrm>
            <a:off x="8686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554480" y="4343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360920" y="449884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43800" y="449884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</p:sp>
      <p:sp>
        <p:nvSpPr>
          <p:cNvPr id="26" name="Shape 23"/>
          <p:cNvSpPr/>
          <p:nvPr/>
        </p:nvSpPr>
        <p:spPr>
          <a:xfrm>
            <a:off x="868680" y="553212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" y="5532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554480" y="534924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360920" y="550468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43800" y="55046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à Aula 02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54480" y="17373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360920" y="189280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60920" y="18928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27432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</p:sp>
      <p:sp>
        <p:nvSpPr>
          <p:cNvPr id="13" name="Shape 10"/>
          <p:cNvSpPr/>
          <p:nvPr/>
        </p:nvSpPr>
        <p:spPr>
          <a:xfrm>
            <a:off x="868680" y="292608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54480" y="2743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360920" y="289864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28986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¬q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40080" y="37490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</p:sp>
      <p:sp>
        <p:nvSpPr>
          <p:cNvPr id="19" name="Shape 16"/>
          <p:cNvSpPr/>
          <p:nvPr/>
        </p:nvSpPr>
        <p:spPr>
          <a:xfrm>
            <a:off x="868680" y="393192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554480" y="374904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360920" y="390448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60920" y="39044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¬r ∧ ¬s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40080" y="480060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6C4BC1"/>
          </a:solidFill>
          <a:ln/>
        </p:spPr>
      </p:sp>
      <p:sp>
        <p:nvSpPr>
          <p:cNvPr id="25" name="Text 22"/>
          <p:cNvSpPr/>
          <p:nvPr/>
        </p:nvSpPr>
        <p:spPr>
          <a:xfrm>
            <a:off x="960120" y="48006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“Caio está de super-herói” — uma letra extra: a pista 3 combina duas negações que não cabem só em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da Aula 02: Ana = super-herói, Bruno = palhaço, Caio = pirata — por isso ¬p, ¬q, ¬r e ¬s são todas verdadeiras.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96112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Porto Alegre: AMGH/McGraw-Hill — cap. Lógica Proposicional (introdução).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Matemáticos para a Ciência da Computação. LTC — cap. Lógica.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COPI, I. M.; COHEN, C.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375904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Lógica. Mestre Jou — capítulos iniciais sobre proposições e argumentos.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expressões booleanas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de comparação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booleanos and / or / not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Canal Me Salva!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vídeos introdutórios sobre lógica proposicional e raciocínio lógico.</a:t>
            </a:r>
            <a:endParaRPr lang="en-US" sz="1250" dirty="0"/>
          </a:p>
          <a:p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u="sng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Raciocínio lógico para concursos</a:t>
            </a:r>
            <a:pPr indent="0" marL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ótimos para fixar o conceito de proposição com muitos exemplos.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lógicas e tabela-verdade dos conectivos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conectivos, cinco tabelas — e o vocabulário para formalizar tudo o que vimos hoje.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 p   ∧   q   ∨   r   →   s   ↔   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2026-08-04T21:08:09Z</dcterms:created>
  <dcterms:modified xsi:type="dcterms:W3CDTF">2026-08-04T21:08:09Z</dcterms:modified>
</cp:coreProperties>
</file>