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84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1237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perguntando: quantas vezes hoje vocês já escreveram algo que só pode ser verdadeiro ou falso, sem perceber?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Prometer desde já o gancho final: o desafio das fantasias da Aula 02 vai voltar como exercício.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claro: hoje não é filosofia abstrata, é o alicerce prático do que vem a seguir no curso.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89BD4-F986-3977-6A45-82FD1B065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DF39E5-E300-9412-7CD0-97D12BC55D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2E9558-200E-3A48-3A00-AEE51C605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claro: hoje não é filosofia abstrata, é o alicerce prático do que vem a seguir no curso.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67066-A236-FA0F-4992-C9576EDAE5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924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Pedir para a turma achar, em código que já escreveram, um exemplo de cada uma dessas quatro categorias.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contraexemplo é o gancho perfeito para a tabela de classificação que vem a seguir.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 no caso 'está chovendo' — a turma tende a achar que precisa SABER o valor para ser proposição. Não precisa.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Ponte direta para o próximo bloco de código: variável livre = variável sem valor atribuído ainda.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Diversão proposital: deixar a turma tentar 'resolver' o paradoxo por 30 segundos antes de revelar que não tem solução.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Guardar esse último exemplo — ele será o primeiro caso trabalhado na tabela-verdade da próxima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 fluxograma com um exemplo novo, escolhido pela turma, do início ao fim.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Ancorar na analogia matemática: assim como 2 + 3 combina números, p ∧ q combina proposições.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cada parte poderia ser substituída por qualquer outra proposição — a fórmula é sobre a estrutura, não sobre o conteúdo.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Perguntar: qual das duas linhas é a proposição simples e qual é a composta? A turma já deve saber responder.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tem_8_caracteres e tem_numero são proposições simples; senha_valida é a composta que as combina com 'e'.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entrar em tabela-verdade ainda — só apresentar os nomes e símbolos, para a turma reconhecer na próxima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quadro é o elo entre a notação formal e o código — vale voltar a ele na próxima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os exercícios podem ser feitos em dupla — o objetivo é discutir a classificação, não só chegar na resposta.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 3 minutos individualmente antes de discutir em voz alta — inclusive o item (d), que é uma composta sempre verdadeira.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(d) é uma tautologia — proposição composta que é sempre verdadeira, independente do valor das partes.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item (d) é o mais rico: é uma tautologia (sempre verdadeira) — vale antecipar essa palavra sem se aprofundar.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itens (b) e (c) do Exercício 1 não entram aqui porque não são proposições — não há o que classificar.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 única: x = 7 é o único valor que torna a igualdade verdadeira — qualquer outro valor serve para o lado falso.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 = 7 é o único valor que torna a igualdade verdadeira; qualquer outro valor serve para o lado falso.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gabarito está no próximo slide — deixar a turma tentar antes de revelar.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Deixar claro que introduzir 's' é uma decisão válida — o exercício original só deu 3 letras, mas a pista 3 exige uma quarta.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Rosen é o livro-texto oficial; os outros dois são apoio para quem quiser outra explicação do mesmo conteúdo.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Materiais de apoio — úteis principalmente para quem quer ver o mesmo conceito explicado com outras palavras.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convidando quem resolveu o exercício 4 a compartilhar a notação que usou — vamos formalizar isso na próxima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anhpaiva.github.io/una-mca-zensical-202602/turma-202602/02-aula/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results?search_query=raciocinio+logico+proposi%C3%A7%C3%B5es+o+que+%C3%A9" TargetMode="External"/><Relationship Id="rId3" Type="http://schemas.openxmlformats.org/officeDocument/2006/relationships/image" Target="../media/image16.png"/><Relationship Id="rId7" Type="http://schemas.openxmlformats.org/officeDocument/2006/relationships/hyperlink" Target="https://www.youtube.com/results?search_query=me+salva+l%C3%B3gica+proposicional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hyperlink" Target="https://docs.python.org/3/reference/expressions.html#boolean-operations" TargetMode="External"/><Relationship Id="rId4" Type="http://schemas.openxmlformats.org/officeDocument/2006/relationships/hyperlink" Target="https://docs.python.org/3/library/stdtypes.html#comparisons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669280" cy="5669280"/>
          </a:xfrm>
          <a:prstGeom prst="ellipse">
            <a:avLst/>
          </a:prstGeom>
          <a:ln w="19050">
            <a:solidFill>
              <a:srgbClr val="2FE6C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-1463040" y="4663440"/>
            <a:ext cx="3108960" cy="3108960"/>
          </a:xfrm>
          <a:prstGeom prst="ellipse">
            <a:avLst/>
          </a:prstGeom>
          <a:ln w="19050">
            <a:solidFill>
              <a:srgbClr val="6C4BC1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9692640" y="-320040"/>
            <a:ext cx="2651760" cy="2651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kern="0" spc="3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</a:t>
            </a:r>
            <a:endParaRPr lang="pt-BR" sz="1400" noProof="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6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03</a:t>
            </a:r>
            <a:endParaRPr lang="pt-BR" sz="6400" noProof="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5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Lógica</a:t>
            </a:r>
            <a:endParaRPr lang="pt-BR" sz="25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linha de código que você já escreveu começa com uma pergunta: isso é verdadeiro ou falso?</a:t>
            </a:r>
            <a:endParaRPr lang="pt-BR" sz="14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b="1" kern="0" spc="100" noProof="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PROPOSIÇÕES   ·   VALOR LÓGICO   ·   V / F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ROTEIRO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8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Nesta aula</a:t>
            </a:r>
            <a:endParaRPr lang="pt-BR" sz="38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020824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84708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uma proposição</a:t>
            </a:r>
            <a:endParaRPr lang="pt-BR" sz="1800" noProof="0" dirty="0"/>
          </a:p>
        </p:txBody>
      </p:sp>
      <p:sp>
        <p:nvSpPr>
          <p:cNvPr id="7" name="Text 4"/>
          <p:cNvSpPr/>
          <p:nvPr/>
        </p:nvSpPr>
        <p:spPr>
          <a:xfrm>
            <a:off x="1508760" y="218541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E, tão importante quanto, o que não é uma proposição.</a:t>
            </a:r>
            <a:endParaRPr lang="pt-BR" sz="1350" noProof="0" dirty="0"/>
          </a:p>
        </p:txBody>
      </p:sp>
      <p:sp>
        <p:nvSpPr>
          <p:cNvPr id="8" name="Shape 5"/>
          <p:cNvSpPr/>
          <p:nvPr/>
        </p:nvSpPr>
        <p:spPr>
          <a:xfrm>
            <a:off x="640080" y="2990088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13639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96265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vs. compostas</a:t>
            </a:r>
            <a:endParaRPr lang="pt-BR" sz="1800" noProof="0" dirty="0"/>
          </a:p>
        </p:txBody>
      </p:sp>
      <p:sp>
        <p:nvSpPr>
          <p:cNvPr id="11" name="Text 7"/>
          <p:cNvSpPr/>
          <p:nvPr/>
        </p:nvSpPr>
        <p:spPr>
          <a:xfrm>
            <a:off x="1508760" y="330098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proposições pequenas se combinam em fórmulas maiores.</a:t>
            </a:r>
            <a:endParaRPr lang="pt-BR" sz="1350" noProof="0" dirty="0"/>
          </a:p>
        </p:txBody>
      </p:sp>
      <p:sp>
        <p:nvSpPr>
          <p:cNvPr id="12" name="Shape 8"/>
          <p:cNvSpPr/>
          <p:nvPr/>
        </p:nvSpPr>
        <p:spPr>
          <a:xfrm>
            <a:off x="640080" y="4105656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25196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0782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 para quem programa</a:t>
            </a:r>
            <a:endParaRPr lang="pt-BR" sz="1800" noProof="0" dirty="0"/>
          </a:p>
        </p:txBody>
      </p:sp>
      <p:sp>
        <p:nvSpPr>
          <p:cNvPr id="15" name="Text 10"/>
          <p:cNvSpPr/>
          <p:nvPr/>
        </p:nvSpPr>
        <p:spPr>
          <a:xfrm>
            <a:off x="1508760" y="441655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lógica formal por baixo de todo </a:t>
            </a:r>
            <a:r>
              <a:rPr lang="pt-BR" sz="135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você já escreveu.</a:t>
            </a:r>
            <a:endParaRPr lang="pt-BR" sz="1350" noProof="0" dirty="0"/>
          </a:p>
        </p:txBody>
      </p:sp>
      <p:sp>
        <p:nvSpPr>
          <p:cNvPr id="16" name="Shape 11"/>
          <p:cNvSpPr/>
          <p:nvPr/>
        </p:nvSpPr>
        <p:spPr>
          <a:xfrm>
            <a:off x="640080" y="5221224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53675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08760" y="519379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Prévia dos conectivos</a:t>
            </a:r>
            <a:endParaRPr lang="pt-BR" sz="1800" noProof="0" dirty="0"/>
          </a:p>
        </p:txBody>
      </p:sp>
      <p:sp>
        <p:nvSpPr>
          <p:cNvPr id="19" name="Text 13"/>
          <p:cNvSpPr/>
          <p:nvPr/>
        </p:nvSpPr>
        <p:spPr>
          <a:xfrm>
            <a:off x="1508760" y="553212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gostinho do que vamos formalizar na próxima aula.</a:t>
            </a:r>
            <a:endParaRPr lang="pt-BR" sz="1350" noProof="0" dirty="0"/>
          </a:p>
        </p:txBody>
      </p:sp>
      <p:sp>
        <p:nvSpPr>
          <p:cNvPr id="20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1280160" y="12344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6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lógica, afinal?</a:t>
            </a:r>
            <a:endParaRPr lang="pt-BR" sz="3600" noProof="0" dirty="0"/>
          </a:p>
        </p:txBody>
      </p:sp>
      <p:sp>
        <p:nvSpPr>
          <p:cNvPr id="4" name="Text 2"/>
          <p:cNvSpPr/>
          <p:nvPr/>
        </p:nvSpPr>
        <p:spPr>
          <a:xfrm>
            <a:off x="1737360" y="22402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pt-BR" sz="17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estudo do raciocínio válido: como partir de afirmações que aceitamos como verdadeiras e chegar a conclusões corretas — sem depender do assunto de que estamos falando.</a:t>
            </a:r>
            <a:endParaRPr lang="pt-BR" sz="1700" noProof="0" dirty="0"/>
          </a:p>
        </p:txBody>
      </p:sp>
      <p:sp>
        <p:nvSpPr>
          <p:cNvPr id="5" name="Shape 3"/>
          <p:cNvSpPr/>
          <p:nvPr/>
        </p:nvSpPr>
        <p:spPr>
          <a:xfrm>
            <a:off x="3566160" y="3611880"/>
            <a:ext cx="5029200" cy="777240"/>
          </a:xfrm>
          <a:prstGeom prst="roundRect">
            <a:avLst>
              <a:gd name="adj" fmla="val 49412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3566160" y="36118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50" b="1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Computação, ela é a base de tudo que você constrói.</a:t>
            </a:r>
            <a:endParaRPr lang="pt-BR" sz="1350" noProof="0" dirty="0"/>
          </a:p>
        </p:txBody>
      </p:sp>
      <p:sp>
        <p:nvSpPr>
          <p:cNvPr id="7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742C83-DB98-5E2C-F740-B1B07AEC1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38D0749-EDBF-2E1B-775D-09B7D967E6B0}"/>
              </a:ext>
            </a:extLst>
          </p:cNvPr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DE PARTIDA</a:t>
            </a:r>
            <a:endParaRPr lang="pt-BR" sz="1200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360A76E-27ED-30F6-5234-82ED7092AF9A}"/>
              </a:ext>
            </a:extLst>
          </p:cNvPr>
          <p:cNvSpPr/>
          <p:nvPr/>
        </p:nvSpPr>
        <p:spPr>
          <a:xfrm>
            <a:off x="1280160" y="12344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6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Proposição lógica, afinal?</a:t>
            </a:r>
            <a:endParaRPr lang="pt-BR" sz="36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46B369-FB6E-E193-ECEA-7B8581E42A1F}"/>
              </a:ext>
            </a:extLst>
          </p:cNvPr>
          <p:cNvSpPr/>
          <p:nvPr/>
        </p:nvSpPr>
        <p:spPr>
          <a:xfrm>
            <a:off x="1737360" y="22402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pt-BR" sz="17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Declaração ou sentença, composta por palavras ou símbolos, e que possui valor logico verdadeiro ou falso.</a:t>
            </a:r>
            <a:endParaRPr lang="pt-BR" sz="1700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31F3554-2853-D9C5-3D30-37934DD8DF29}"/>
              </a:ext>
            </a:extLst>
          </p:cNvPr>
          <p:cNvSpPr/>
          <p:nvPr/>
        </p:nvSpPr>
        <p:spPr>
          <a:xfrm>
            <a:off x="3566160" y="3611880"/>
            <a:ext cx="5029200" cy="777240"/>
          </a:xfrm>
          <a:prstGeom prst="roundRect">
            <a:avLst>
              <a:gd name="adj" fmla="val 49412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8FEE9E-4C59-CFCA-A6D7-12056668245D}"/>
              </a:ext>
            </a:extLst>
          </p:cNvPr>
          <p:cNvSpPr/>
          <p:nvPr/>
        </p:nvSpPr>
        <p:spPr>
          <a:xfrm>
            <a:off x="3566160" y="36118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50" b="1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Dicas: </a:t>
            </a:r>
            <a:br>
              <a:rPr lang="pt-BR" sz="1350" b="1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pt-BR" sz="1350" b="1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do verbo</a:t>
            </a:r>
          </a:p>
          <a:p>
            <a:pPr marL="0" indent="0" algn="ctr">
              <a:buNone/>
            </a:pPr>
            <a:r>
              <a:rPr lang="pt-BR" sz="1350" b="1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Sentido completo</a:t>
            </a:r>
            <a:endParaRPr lang="pt-BR" sz="1350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B1BC422-2053-4A96-4FAA-B20ACE809579}"/>
              </a:ext>
            </a:extLst>
          </p:cNvPr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pt-BR" sz="1000" noProof="0" dirty="0"/>
          </a:p>
        </p:txBody>
      </p:sp>
    </p:spTree>
    <p:extLst>
      <p:ext uri="{BB962C8B-B14F-4D97-AF65-F5344CB8AC3E}">
        <p14:creationId xmlns:p14="http://schemas.microsoft.com/office/powerpoint/2010/main" val="478197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ESTÁ EM TUDO QUE VOCÊ FAZ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lógica formal já está no seu código</a:t>
            </a:r>
            <a:endParaRPr lang="pt-BR" sz="27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86968"/>
          </a:xfrm>
          <a:prstGeom prst="roundRect">
            <a:avLst>
              <a:gd name="adj" fmla="val 1030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68680" y="185166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9979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691640"/>
            <a:ext cx="3291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</a:t>
            </a:r>
            <a:endParaRPr lang="pt-BR" sz="1550" noProof="0" dirty="0"/>
          </a:p>
        </p:txBody>
      </p:sp>
      <p:sp>
        <p:nvSpPr>
          <p:cNvPr id="8" name="Text 5"/>
          <p:cNvSpPr/>
          <p:nvPr/>
        </p:nvSpPr>
        <p:spPr>
          <a:xfrm>
            <a:off x="5120640" y="1691640"/>
            <a:ext cx="6217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 err="1">
                <a:solidFill>
                  <a:srgbClr val="6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pt-BR" sz="1250" noProof="0" dirty="0">
                <a:solidFill>
                  <a:srgbClr val="6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pt-BR" sz="1250" noProof="0" dirty="0" err="1">
                <a:solidFill>
                  <a:srgbClr val="6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pt-BR" sz="1250" noProof="0" dirty="0">
                <a:solidFill>
                  <a:srgbClr val="6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o programa decide o que fazer com base em um valor lógico.</a:t>
            </a:r>
            <a:endParaRPr lang="pt-BR" sz="1250" noProof="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10881360" cy="886968"/>
          </a:xfrm>
          <a:prstGeom prst="roundRect">
            <a:avLst>
              <a:gd name="adj" fmla="val 1030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7"/>
          <p:cNvSpPr/>
          <p:nvPr/>
        </p:nvSpPr>
        <p:spPr>
          <a:xfrm>
            <a:off x="868680" y="290322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04952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743200"/>
            <a:ext cx="3291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a banco de dados</a:t>
            </a:r>
            <a:endParaRPr lang="pt-BR" sz="1550" noProof="0" dirty="0"/>
          </a:p>
        </p:txBody>
      </p:sp>
      <p:sp>
        <p:nvSpPr>
          <p:cNvPr id="13" name="Text 9"/>
          <p:cNvSpPr/>
          <p:nvPr/>
        </p:nvSpPr>
        <p:spPr>
          <a:xfrm>
            <a:off x="5120640" y="2743200"/>
            <a:ext cx="6217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6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idade &gt; 18 AND ativo = </a:t>
            </a:r>
            <a:r>
              <a:rPr lang="pt-BR" sz="1250" noProof="0" dirty="0" err="1">
                <a:solidFill>
                  <a:srgbClr val="6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pt-BR" sz="1250" noProof="0" dirty="0"/>
          </a:p>
        </p:txBody>
      </p:sp>
      <p:sp>
        <p:nvSpPr>
          <p:cNvPr id="14" name="Shape 10"/>
          <p:cNvSpPr/>
          <p:nvPr/>
        </p:nvSpPr>
        <p:spPr>
          <a:xfrm>
            <a:off x="640080" y="3794760"/>
            <a:ext cx="10881360" cy="886968"/>
          </a:xfrm>
          <a:prstGeom prst="roundRect">
            <a:avLst>
              <a:gd name="adj" fmla="val 1030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1"/>
          <p:cNvSpPr/>
          <p:nvPr/>
        </p:nvSpPr>
        <p:spPr>
          <a:xfrm>
            <a:off x="868680" y="395478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4101084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794760"/>
            <a:ext cx="3291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digitais</a:t>
            </a:r>
            <a:endParaRPr lang="pt-BR" sz="1550" noProof="0" dirty="0"/>
          </a:p>
        </p:txBody>
      </p:sp>
      <p:sp>
        <p:nvSpPr>
          <p:cNvPr id="18" name="Text 13"/>
          <p:cNvSpPr/>
          <p:nvPr/>
        </p:nvSpPr>
        <p:spPr>
          <a:xfrm>
            <a:off x="5120640" y="3794760"/>
            <a:ext cx="6217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6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matéria-prima do hardware — cada porta lógica é lógica formal em silício.</a:t>
            </a:r>
            <a:endParaRPr lang="pt-BR" sz="1250" noProof="0" dirty="0"/>
          </a:p>
        </p:txBody>
      </p:sp>
      <p:sp>
        <p:nvSpPr>
          <p:cNvPr id="19" name="Shape 14"/>
          <p:cNvSpPr/>
          <p:nvPr/>
        </p:nvSpPr>
        <p:spPr>
          <a:xfrm>
            <a:off x="640080" y="4846320"/>
            <a:ext cx="10881360" cy="886968"/>
          </a:xfrm>
          <a:prstGeom prst="roundRect">
            <a:avLst>
              <a:gd name="adj" fmla="val 1030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5"/>
          <p:cNvSpPr/>
          <p:nvPr/>
        </p:nvSpPr>
        <p:spPr>
          <a:xfrm>
            <a:off x="868680" y="50063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5152644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4846320"/>
            <a:ext cx="32918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programas</a:t>
            </a:r>
            <a:endParaRPr lang="pt-BR" sz="1550" noProof="0" dirty="0"/>
          </a:p>
        </p:txBody>
      </p:sp>
      <p:sp>
        <p:nvSpPr>
          <p:cNvPr id="23" name="Text 17"/>
          <p:cNvSpPr/>
          <p:nvPr/>
        </p:nvSpPr>
        <p:spPr>
          <a:xfrm>
            <a:off x="5120640" y="4846320"/>
            <a:ext cx="621792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6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Provar, formalmente, que um código faz o que promete.</a:t>
            </a:r>
            <a:endParaRPr lang="pt-BR" sz="1250" noProof="0" dirty="0"/>
          </a:p>
        </p:txBody>
      </p:sp>
      <p:sp>
        <p:nvSpPr>
          <p:cNvPr id="24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UNIDADE BÁSICA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9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uma proposição</a:t>
            </a:r>
            <a:endParaRPr lang="pt-BR" sz="29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pt-BR" sz="160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sentença declarativa à qual podemos atribuir exatamente um valor lógico: verdadeiro (V) ou falso (F).</a:t>
            </a:r>
            <a:endParaRPr lang="pt-BR" sz="1600" noProof="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b="1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os dois. Nunca nenhum.</a:t>
            </a:r>
            <a:endParaRPr lang="pt-BR" sz="1600" noProof="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E3FBF5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8104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3566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V</a:t>
            </a:r>
            <a:endParaRPr lang="pt-BR" sz="1300" noProof="0" dirty="0"/>
          </a:p>
        </p:txBody>
      </p:sp>
      <p:sp>
        <p:nvSpPr>
          <p:cNvPr id="9" name="Text 6"/>
          <p:cNvSpPr/>
          <p:nvPr/>
        </p:nvSpPr>
        <p:spPr>
          <a:xfrm>
            <a:off x="1280160" y="39593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1E8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</a:t>
            </a:r>
            <a:endParaRPr lang="pt-BR" sz="1100" noProof="0" dirty="0"/>
          </a:p>
        </p:txBody>
      </p:sp>
      <p:sp>
        <p:nvSpPr>
          <p:cNvPr id="10" name="Shape 7"/>
          <p:cNvSpPr/>
          <p:nvPr/>
        </p:nvSpPr>
        <p:spPr>
          <a:xfrm>
            <a:off x="3337560" y="34290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E3FBF5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78104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77640" y="35661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F</a:t>
            </a:r>
            <a:endParaRPr lang="pt-BR" sz="1300" noProof="0" dirty="0"/>
          </a:p>
        </p:txBody>
      </p:sp>
      <p:sp>
        <p:nvSpPr>
          <p:cNvPr id="13" name="Text 9"/>
          <p:cNvSpPr/>
          <p:nvPr/>
        </p:nvSpPr>
        <p:spPr>
          <a:xfrm>
            <a:off x="3977640" y="39593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1E8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válido</a:t>
            </a:r>
            <a:endParaRPr lang="pt-BR" sz="1100" noProof="0" dirty="0"/>
          </a:p>
        </p:txBody>
      </p:sp>
      <p:sp>
        <p:nvSpPr>
          <p:cNvPr id="14" name="Shape 10"/>
          <p:cNvSpPr/>
          <p:nvPr/>
        </p:nvSpPr>
        <p:spPr>
          <a:xfrm>
            <a:off x="640080" y="46634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BE4E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015484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4800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e F juntos</a:t>
            </a:r>
            <a:endParaRPr lang="pt-BR" sz="1300" noProof="0" dirty="0"/>
          </a:p>
        </p:txBody>
      </p:sp>
      <p:sp>
        <p:nvSpPr>
          <p:cNvPr id="17" name="Text 12"/>
          <p:cNvSpPr/>
          <p:nvPr/>
        </p:nvSpPr>
        <p:spPr>
          <a:xfrm>
            <a:off x="1280160" y="51937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A8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</a:t>
            </a:r>
            <a:endParaRPr lang="pt-BR" sz="1100" noProof="0" dirty="0"/>
          </a:p>
        </p:txBody>
      </p:sp>
      <p:sp>
        <p:nvSpPr>
          <p:cNvPr id="18" name="Shape 13"/>
          <p:cNvSpPr/>
          <p:nvPr/>
        </p:nvSpPr>
        <p:spPr>
          <a:xfrm>
            <a:off x="3337560" y="466344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FBE4E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5015484"/>
            <a:ext cx="34747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77640" y="480060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V nem F</a:t>
            </a:r>
            <a:endParaRPr lang="pt-BR" sz="1300" noProof="0" dirty="0"/>
          </a:p>
        </p:txBody>
      </p:sp>
      <p:sp>
        <p:nvSpPr>
          <p:cNvPr id="21" name="Text 15"/>
          <p:cNvSpPr/>
          <p:nvPr/>
        </p:nvSpPr>
        <p:spPr>
          <a:xfrm>
            <a:off x="3977640" y="51937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A8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</a:t>
            </a:r>
            <a:endParaRPr lang="pt-BR" sz="1100" noProof="0" dirty="0"/>
          </a:p>
        </p:txBody>
      </p:sp>
      <p:sp>
        <p:nvSpPr>
          <p:cNvPr id="22" name="Shape 16"/>
          <p:cNvSpPr/>
          <p:nvPr/>
        </p:nvSpPr>
        <p:spPr>
          <a:xfrm>
            <a:off x="6355080" y="777240"/>
            <a:ext cx="5212080" cy="5532120"/>
          </a:xfrm>
          <a:prstGeom prst="roundRect">
            <a:avLst>
              <a:gd name="adj" fmla="val 2105"/>
            </a:avLst>
          </a:prstGeom>
          <a:solidFill>
            <a:srgbClr val="141B4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17"/>
          <p:cNvSpPr/>
          <p:nvPr/>
        </p:nvSpPr>
        <p:spPr>
          <a:xfrm>
            <a:off x="6720840" y="1097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2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pt-BR" sz="1100" noProof="0" dirty="0"/>
          </a:p>
        </p:txBody>
      </p:sp>
      <p:sp>
        <p:nvSpPr>
          <p:cNvPr id="24" name="Text 18"/>
          <p:cNvSpPr/>
          <p:nvPr/>
        </p:nvSpPr>
        <p:spPr>
          <a:xfrm>
            <a:off x="6720840" y="14173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“São Paulo fica no Brasil.”</a:t>
            </a:r>
            <a:endParaRPr lang="pt-BR" sz="2200" noProof="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48840"/>
            <a:ext cx="457200" cy="4572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315200" y="2148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Verdadeira — tem exatamente um valor lógico.</a:t>
            </a:r>
            <a:endParaRPr lang="pt-BR" sz="1300" noProof="0" dirty="0"/>
          </a:p>
        </p:txBody>
      </p:sp>
      <p:sp>
        <p:nvSpPr>
          <p:cNvPr id="27" name="Text 20"/>
          <p:cNvSpPr/>
          <p:nvPr/>
        </p:nvSpPr>
        <p:spPr>
          <a:xfrm>
            <a:off x="6720840" y="29718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kern="0" spc="2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CONTRAEXEMPLO</a:t>
            </a:r>
            <a:endParaRPr lang="pt-BR" sz="1100" noProof="0" dirty="0"/>
          </a:p>
        </p:txBody>
      </p:sp>
      <p:sp>
        <p:nvSpPr>
          <p:cNvPr id="28" name="Text 21"/>
          <p:cNvSpPr/>
          <p:nvPr/>
        </p:nvSpPr>
        <p:spPr>
          <a:xfrm>
            <a:off x="6720840" y="32918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“Essa cidade é linda.”</a:t>
            </a:r>
            <a:endParaRPr lang="pt-BR" sz="2200" noProof="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023360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315200" y="4023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300" noProof="0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proposição — “linda” é opinião, não tem um valor lógico fixo.</a:t>
            </a:r>
            <a:endParaRPr lang="pt-BR" sz="1300" noProof="0" dirty="0"/>
          </a:p>
        </p:txBody>
      </p:sp>
      <p:sp>
        <p:nvSpPr>
          <p:cNvPr id="31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COLOCANDO À PROVA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proposição?</a:t>
            </a:r>
            <a:endParaRPr lang="pt-BR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 cada sentença: tem exatamente um valor lógico?</a:t>
            </a:r>
            <a:endParaRPr lang="pt-BR" sz="135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77824" y="2084832"/>
            <a:ext cx="512064" cy="512064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877824" y="2084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pt-BR" sz="1500" noProof="0" dirty="0"/>
          </a:p>
        </p:txBody>
      </p:sp>
      <p:sp>
        <p:nvSpPr>
          <p:cNvPr id="8" name="Text 6"/>
          <p:cNvSpPr/>
          <p:nvPr/>
        </p:nvSpPr>
        <p:spPr>
          <a:xfrm>
            <a:off x="1600200" y="2011680"/>
            <a:ext cx="5005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“2 + 2 = 4”</a:t>
            </a:r>
            <a:endParaRPr lang="pt-BR" sz="1450" noProof="0" dirty="0"/>
          </a:p>
        </p:txBody>
      </p:sp>
      <p:sp>
        <p:nvSpPr>
          <p:cNvPr id="9" name="Text 7"/>
          <p:cNvSpPr/>
          <p:nvPr/>
        </p:nvSpPr>
        <p:spPr>
          <a:xfrm>
            <a:off x="6714439" y="2011680"/>
            <a:ext cx="51142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Declarativa, valor V definido.</a:t>
            </a:r>
            <a:endParaRPr lang="pt-BR" sz="1200" noProof="0" dirty="0"/>
          </a:p>
        </p:txBody>
      </p:sp>
      <p:sp>
        <p:nvSpPr>
          <p:cNvPr id="10" name="Shape 8"/>
          <p:cNvSpPr/>
          <p:nvPr/>
        </p:nvSpPr>
        <p:spPr>
          <a:xfrm>
            <a:off x="640080" y="2798064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9"/>
          <p:cNvSpPr/>
          <p:nvPr/>
        </p:nvSpPr>
        <p:spPr>
          <a:xfrm>
            <a:off x="877824" y="2871216"/>
            <a:ext cx="512064" cy="512064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877824" y="2871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pt-BR" sz="1500" noProof="0" dirty="0"/>
          </a:p>
        </p:txBody>
      </p:sp>
      <p:sp>
        <p:nvSpPr>
          <p:cNvPr id="13" name="Text 11"/>
          <p:cNvSpPr/>
          <p:nvPr/>
        </p:nvSpPr>
        <p:spPr>
          <a:xfrm>
            <a:off x="1600200" y="2798064"/>
            <a:ext cx="5005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“Brasília é a capital do Brasil”</a:t>
            </a:r>
            <a:endParaRPr lang="pt-BR" sz="1450" noProof="0" dirty="0"/>
          </a:p>
        </p:txBody>
      </p:sp>
      <p:sp>
        <p:nvSpPr>
          <p:cNvPr id="14" name="Text 12"/>
          <p:cNvSpPr/>
          <p:nvPr/>
        </p:nvSpPr>
        <p:spPr>
          <a:xfrm>
            <a:off x="6714439" y="2798064"/>
            <a:ext cx="51142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Declarativa, valor V definido.</a:t>
            </a:r>
            <a:endParaRPr lang="pt-BR" sz="1200" noProof="0" dirty="0"/>
          </a:p>
        </p:txBody>
      </p:sp>
      <p:sp>
        <p:nvSpPr>
          <p:cNvPr id="15" name="Shape 13"/>
          <p:cNvSpPr/>
          <p:nvPr/>
        </p:nvSpPr>
        <p:spPr>
          <a:xfrm>
            <a:off x="640080" y="3584448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4"/>
          <p:cNvSpPr/>
          <p:nvPr/>
        </p:nvSpPr>
        <p:spPr>
          <a:xfrm>
            <a:off x="877824" y="3657600"/>
            <a:ext cx="512064" cy="512064"/>
          </a:xfrm>
          <a:prstGeom prst="ellipse">
            <a:avLst/>
          </a:prstGeom>
          <a:solidFill>
            <a:srgbClr val="E8B3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877824" y="3657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V/F</a:t>
            </a:r>
            <a:endParaRPr lang="pt-BR" sz="1150" noProof="0" dirty="0"/>
          </a:p>
        </p:txBody>
      </p:sp>
      <p:sp>
        <p:nvSpPr>
          <p:cNvPr id="18" name="Text 16"/>
          <p:cNvSpPr/>
          <p:nvPr/>
        </p:nvSpPr>
        <p:spPr>
          <a:xfrm>
            <a:off x="1600200" y="3584448"/>
            <a:ext cx="5005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“Está chovendo em São Paulo agora”</a:t>
            </a:r>
            <a:endParaRPr lang="pt-BR" sz="1450" noProof="0" dirty="0"/>
          </a:p>
        </p:txBody>
      </p:sp>
      <p:sp>
        <p:nvSpPr>
          <p:cNvPr id="19" name="Text 17"/>
          <p:cNvSpPr/>
          <p:nvPr/>
        </p:nvSpPr>
        <p:spPr>
          <a:xfrm>
            <a:off x="6714439" y="3584448"/>
            <a:ext cx="51142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valor V ou F, mesmo que você não saiba qual.</a:t>
            </a:r>
            <a:endParaRPr lang="pt-BR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640080" y="4370832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9"/>
          <p:cNvSpPr/>
          <p:nvPr/>
        </p:nvSpPr>
        <p:spPr>
          <a:xfrm>
            <a:off x="877824" y="4443984"/>
            <a:ext cx="512064" cy="512064"/>
          </a:xfrm>
          <a:prstGeom prst="ellipse">
            <a:avLst/>
          </a:prstGeom>
          <a:solidFill>
            <a:srgbClr val="8A7FB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877824" y="44439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pt-BR" sz="1500" noProof="0" dirty="0"/>
          </a:p>
        </p:txBody>
      </p:sp>
      <p:sp>
        <p:nvSpPr>
          <p:cNvPr id="23" name="Text 21"/>
          <p:cNvSpPr/>
          <p:nvPr/>
        </p:nvSpPr>
        <p:spPr>
          <a:xfrm>
            <a:off x="1600200" y="4370832"/>
            <a:ext cx="5005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“Feche a porta!”</a:t>
            </a:r>
            <a:endParaRPr lang="pt-BR" sz="1450" noProof="0" dirty="0"/>
          </a:p>
        </p:txBody>
      </p:sp>
      <p:sp>
        <p:nvSpPr>
          <p:cNvPr id="24" name="Text 22"/>
          <p:cNvSpPr/>
          <p:nvPr/>
        </p:nvSpPr>
        <p:spPr>
          <a:xfrm>
            <a:off x="6714439" y="4370832"/>
            <a:ext cx="51142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ordem — não afirma nada.</a:t>
            </a:r>
            <a:endParaRPr lang="pt-BR" sz="1200" noProof="0" dirty="0"/>
          </a:p>
        </p:txBody>
      </p:sp>
      <p:sp>
        <p:nvSpPr>
          <p:cNvPr id="25" name="Shape 23"/>
          <p:cNvSpPr/>
          <p:nvPr/>
        </p:nvSpPr>
        <p:spPr>
          <a:xfrm>
            <a:off x="640080" y="5157216"/>
            <a:ext cx="10881360" cy="658368"/>
          </a:xfrm>
          <a:prstGeom prst="roundRect">
            <a:avLst>
              <a:gd name="adj" fmla="val 1388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4"/>
          <p:cNvSpPr/>
          <p:nvPr/>
        </p:nvSpPr>
        <p:spPr>
          <a:xfrm>
            <a:off x="877824" y="5230368"/>
            <a:ext cx="512064" cy="512064"/>
          </a:xfrm>
          <a:prstGeom prst="ellipse">
            <a:avLst/>
          </a:prstGeom>
          <a:solidFill>
            <a:srgbClr val="8A7FB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5"/>
          <p:cNvSpPr/>
          <p:nvPr/>
        </p:nvSpPr>
        <p:spPr>
          <a:xfrm>
            <a:off x="877824" y="5230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pt-BR" sz="1500" noProof="0" dirty="0"/>
          </a:p>
        </p:txBody>
      </p:sp>
      <p:sp>
        <p:nvSpPr>
          <p:cNvPr id="28" name="Text 26"/>
          <p:cNvSpPr/>
          <p:nvPr/>
        </p:nvSpPr>
        <p:spPr>
          <a:xfrm>
            <a:off x="1600200" y="5157216"/>
            <a:ext cx="500542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“Qual é o seu nome?”</a:t>
            </a:r>
            <a:endParaRPr lang="pt-BR" sz="1450" noProof="0" dirty="0"/>
          </a:p>
        </p:txBody>
      </p:sp>
      <p:sp>
        <p:nvSpPr>
          <p:cNvPr id="29" name="Text 27"/>
          <p:cNvSpPr/>
          <p:nvPr/>
        </p:nvSpPr>
        <p:spPr>
          <a:xfrm>
            <a:off x="6714439" y="5157216"/>
            <a:ext cx="511423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pergunta.</a:t>
            </a:r>
            <a:endParaRPr lang="pt-BR" sz="1200" noProof="0" dirty="0"/>
          </a:p>
        </p:txBody>
      </p:sp>
      <p:sp>
        <p:nvSpPr>
          <p:cNvPr id="30" name="Text 28"/>
          <p:cNvSpPr/>
          <p:nvPr/>
        </p:nvSpPr>
        <p:spPr>
          <a:xfrm>
            <a:off x="640080" y="6016752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  verdadeira      F   falsa      V/F   tem valor, mas não sabemos qual      —   não é proposição</a:t>
            </a:r>
            <a:endParaRPr lang="pt-BR" sz="1100" noProof="0" dirty="0"/>
          </a:p>
        </p:txBody>
      </p:sp>
      <p:sp>
        <p:nvSpPr>
          <p:cNvPr id="31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ESPECIAL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Sentenças abertas</a:t>
            </a:r>
            <a:endParaRPr lang="pt-BR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 é par” tem uma variável livre — por isso ainda não é uma proposição.</a:t>
            </a:r>
            <a:endParaRPr lang="pt-BR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383280" cy="1371600"/>
          </a:xfrm>
          <a:prstGeom prst="roundRect">
            <a:avLst>
              <a:gd name="adj" fmla="val 8000"/>
            </a:avLst>
          </a:prstGeom>
          <a:solidFill>
            <a:srgbClr val="EDEAF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6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é par</a:t>
            </a:r>
            <a:endParaRPr lang="pt-BR" sz="2600" noProof="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i="1" noProof="0" dirty="0">
                <a:solidFill>
                  <a:srgbClr val="8A7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sentença aberta</a:t>
            </a:r>
            <a:endParaRPr lang="pt-BR" sz="1200" noProof="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7033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substitua x por um valor específico</a:t>
            </a:r>
            <a:endParaRPr lang="pt-BR" sz="1150" noProof="0" dirty="0"/>
          </a:p>
        </p:txBody>
      </p:sp>
      <p:sp>
        <p:nvSpPr>
          <p:cNvPr id="10" name="Shape 7"/>
          <p:cNvSpPr/>
          <p:nvPr/>
        </p:nvSpPr>
        <p:spPr>
          <a:xfrm>
            <a:off x="4754880" y="2148840"/>
            <a:ext cx="3108960" cy="2286000"/>
          </a:xfrm>
          <a:prstGeom prst="roundRect">
            <a:avLst>
              <a:gd name="adj" fmla="val 4800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4754880" y="2377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4</a:t>
            </a:r>
            <a:endParaRPr lang="pt-BR" sz="2000" noProof="0" dirty="0"/>
          </a:p>
        </p:txBody>
      </p:sp>
      <p:sp>
        <p:nvSpPr>
          <p:cNvPr id="12" name="Shape 9"/>
          <p:cNvSpPr/>
          <p:nvPr/>
        </p:nvSpPr>
        <p:spPr>
          <a:xfrm>
            <a:off x="5943600" y="3017520"/>
            <a:ext cx="731520" cy="731520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/>
          <p:nvPr/>
        </p:nvSpPr>
        <p:spPr>
          <a:xfrm>
            <a:off x="594360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pt-BR" sz="1500" noProof="0" dirty="0"/>
          </a:p>
        </p:txBody>
      </p:sp>
      <p:sp>
        <p:nvSpPr>
          <p:cNvPr id="14" name="Text 11"/>
          <p:cNvSpPr/>
          <p:nvPr/>
        </p:nvSpPr>
        <p:spPr>
          <a:xfrm>
            <a:off x="475488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é par</a:t>
            </a:r>
            <a:endParaRPr lang="pt-BR" sz="1300" noProof="0" dirty="0"/>
          </a:p>
        </p:txBody>
      </p:sp>
      <p:sp>
        <p:nvSpPr>
          <p:cNvPr id="15" name="Shape 12"/>
          <p:cNvSpPr/>
          <p:nvPr/>
        </p:nvSpPr>
        <p:spPr>
          <a:xfrm>
            <a:off x="8229600" y="2148840"/>
            <a:ext cx="3108960" cy="2286000"/>
          </a:xfrm>
          <a:prstGeom prst="roundRect">
            <a:avLst>
              <a:gd name="adj" fmla="val 4800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/>
          <p:nvPr/>
        </p:nvSpPr>
        <p:spPr>
          <a:xfrm>
            <a:off x="8229600" y="23774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7</a:t>
            </a:r>
            <a:endParaRPr lang="pt-BR" sz="2000" noProof="0" dirty="0"/>
          </a:p>
        </p:txBody>
      </p:sp>
      <p:sp>
        <p:nvSpPr>
          <p:cNvPr id="17" name="Shape 14"/>
          <p:cNvSpPr/>
          <p:nvPr/>
        </p:nvSpPr>
        <p:spPr>
          <a:xfrm>
            <a:off x="9418320" y="3017520"/>
            <a:ext cx="731520" cy="731520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5"/>
          <p:cNvSpPr/>
          <p:nvPr/>
        </p:nvSpPr>
        <p:spPr>
          <a:xfrm>
            <a:off x="941832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pt-BR" sz="1500" noProof="0" dirty="0"/>
          </a:p>
        </p:txBody>
      </p:sp>
      <p:sp>
        <p:nvSpPr>
          <p:cNvPr id="19" name="Text 16"/>
          <p:cNvSpPr/>
          <p:nvPr/>
        </p:nvSpPr>
        <p:spPr>
          <a:xfrm>
            <a:off x="8229600" y="3886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não é par</a:t>
            </a:r>
            <a:endParaRPr lang="pt-BR" sz="1300" noProof="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306324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40080" y="4892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pt-BR" sz="130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depois que x recebe um valor a sentença vira proposição — exatamente como idade &gt;= 18 só é proposição depois que idade tem um valor.</a:t>
            </a:r>
            <a:endParaRPr lang="pt-BR" sz="1300" noProof="0" dirty="0"/>
          </a:p>
        </p:txBody>
      </p:sp>
      <p:sp>
        <p:nvSpPr>
          <p:cNvPr id="22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ESPECIAL</a:t>
            </a:r>
            <a:endParaRPr lang="pt-BR" sz="12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paradoxo do mentiroso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188720" cy="1188720"/>
          </a:xfrm>
          <a:prstGeom prst="ellipse">
            <a:avLst/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2020824"/>
            <a:ext cx="804672" cy="8046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1965960"/>
            <a:ext cx="8503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“Esta frase é falsa.”</a:t>
            </a:r>
            <a:endParaRPr lang="pt-BR" sz="3000" noProof="0" dirty="0"/>
          </a:p>
        </p:txBody>
      </p:sp>
      <p:sp>
        <p:nvSpPr>
          <p:cNvPr id="8" name="Text 5"/>
          <p:cNvSpPr/>
          <p:nvPr/>
        </p:nvSpPr>
        <p:spPr>
          <a:xfrm>
            <a:off x="2148840" y="26517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Tente atribuir um valor a ela.</a:t>
            </a:r>
            <a:endParaRPr lang="pt-BR" sz="1400" noProof="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960120" y="33832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ela for verdadeira... então o que ela diz é verdade — ou seja, ela é falsa. Contradição.</a:t>
            </a:r>
            <a:endParaRPr lang="pt-BR" sz="1400" noProof="0" dirty="0"/>
          </a:p>
        </p:txBody>
      </p:sp>
      <p:sp>
        <p:nvSpPr>
          <p:cNvPr id="11" name="Shape 8"/>
          <p:cNvSpPr/>
          <p:nvPr/>
        </p:nvSpPr>
        <p:spPr>
          <a:xfrm>
            <a:off x="640080" y="42976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960120" y="42976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ela for falsa... então o que ela diz não é verdade — ou seja, ela é verdadeira. Contradição de novo.</a:t>
            </a:r>
            <a:endParaRPr lang="pt-BR" sz="1400" noProof="0" dirty="0"/>
          </a:p>
        </p:txBody>
      </p:sp>
      <p:sp>
        <p:nvSpPr>
          <p:cNvPr id="13" name="Text 10"/>
          <p:cNvSpPr/>
          <p:nvPr/>
        </p:nvSpPr>
        <p:spPr>
          <a:xfrm>
            <a:off x="640080" y="53492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pt-BR" sz="1250" i="1" noProof="0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 não tem um valor lógico consistente — por isso não é uma proposição. É só um lembrete de que a definição exige exatamente um valor, sem exceções.</a:t>
            </a:r>
            <a:endParaRPr lang="pt-BR" sz="1250" noProof="0" dirty="0"/>
          </a:p>
        </p:txBody>
      </p:sp>
      <p:sp>
        <p:nvSpPr>
          <p:cNvPr id="14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CASOS PARA TREINAR O OLHO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Mais exemplos do dia a dia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795528"/>
          </a:xfrm>
          <a:prstGeom prst="roundRect">
            <a:avLst>
              <a:gd name="adj" fmla="val 1149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77824" y="2107692"/>
            <a:ext cx="512064" cy="512064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877824" y="210769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pt-BR" sz="1500" noProof="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500542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“Todo número par é divisível por 2”</a:t>
            </a:r>
            <a:endParaRPr lang="pt-BR" sz="1450" noProof="0" dirty="0"/>
          </a:p>
        </p:txBody>
      </p:sp>
      <p:sp>
        <p:nvSpPr>
          <p:cNvPr id="8" name="Text 6"/>
          <p:cNvSpPr/>
          <p:nvPr/>
        </p:nvSpPr>
        <p:spPr>
          <a:xfrm>
            <a:off x="6714439" y="1965960"/>
            <a:ext cx="5114239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Declarativa, sempre verdadeira.</a:t>
            </a:r>
            <a:endParaRPr lang="pt-B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640080" y="2926080"/>
            <a:ext cx="10881360" cy="795528"/>
          </a:xfrm>
          <a:prstGeom prst="roundRect">
            <a:avLst>
              <a:gd name="adj" fmla="val 1149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8"/>
          <p:cNvSpPr/>
          <p:nvPr/>
        </p:nvSpPr>
        <p:spPr>
          <a:xfrm>
            <a:off x="877824" y="3067812"/>
            <a:ext cx="512064" cy="512064"/>
          </a:xfrm>
          <a:prstGeom prst="ellipse">
            <a:avLst/>
          </a:prstGeom>
          <a:solidFill>
            <a:srgbClr val="8A7FB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877824" y="30678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pt-BR" sz="1500" noProof="0" dirty="0"/>
          </a:p>
        </p:txBody>
      </p:sp>
      <p:sp>
        <p:nvSpPr>
          <p:cNvPr id="12" name="Text 10"/>
          <p:cNvSpPr/>
          <p:nvPr/>
        </p:nvSpPr>
        <p:spPr>
          <a:xfrm>
            <a:off x="1600200" y="2926080"/>
            <a:ext cx="500542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 é um número primo”</a:t>
            </a:r>
            <a:endParaRPr lang="pt-BR" sz="1450" noProof="0" dirty="0"/>
          </a:p>
        </p:txBody>
      </p:sp>
      <p:sp>
        <p:nvSpPr>
          <p:cNvPr id="13" name="Text 11"/>
          <p:cNvSpPr/>
          <p:nvPr/>
        </p:nvSpPr>
        <p:spPr>
          <a:xfrm>
            <a:off x="6714439" y="2926080"/>
            <a:ext cx="5114239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Sentença aberta — depende do valor de x.</a:t>
            </a:r>
            <a:endParaRPr lang="pt-BR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640080" y="3886200"/>
            <a:ext cx="10881360" cy="795528"/>
          </a:xfrm>
          <a:prstGeom prst="roundRect">
            <a:avLst>
              <a:gd name="adj" fmla="val 1149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Shape 13"/>
          <p:cNvSpPr/>
          <p:nvPr/>
        </p:nvSpPr>
        <p:spPr>
          <a:xfrm>
            <a:off x="877824" y="4027932"/>
            <a:ext cx="512064" cy="512064"/>
          </a:xfrm>
          <a:prstGeom prst="ellipse">
            <a:avLst/>
          </a:prstGeom>
          <a:solidFill>
            <a:srgbClr val="8A7FB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877824" y="40279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pt-BR" sz="1500" noProof="0" dirty="0"/>
          </a:p>
        </p:txBody>
      </p:sp>
      <p:sp>
        <p:nvSpPr>
          <p:cNvPr id="17" name="Text 15"/>
          <p:cNvSpPr/>
          <p:nvPr/>
        </p:nvSpPr>
        <p:spPr>
          <a:xfrm>
            <a:off x="1600200" y="3886200"/>
            <a:ext cx="500542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“Uau, que prova difícil!”</a:t>
            </a:r>
            <a:endParaRPr lang="pt-BR" sz="1450" noProof="0" dirty="0"/>
          </a:p>
        </p:txBody>
      </p:sp>
      <p:sp>
        <p:nvSpPr>
          <p:cNvPr id="18" name="Text 16"/>
          <p:cNvSpPr/>
          <p:nvPr/>
        </p:nvSpPr>
        <p:spPr>
          <a:xfrm>
            <a:off x="6714439" y="3886200"/>
            <a:ext cx="5114239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Exclamação — não afirma um fato.</a:t>
            </a:r>
            <a:endParaRPr lang="pt-BR" sz="1200" noProof="0" dirty="0"/>
          </a:p>
        </p:txBody>
      </p:sp>
      <p:sp>
        <p:nvSpPr>
          <p:cNvPr id="19" name="Shape 17"/>
          <p:cNvSpPr/>
          <p:nvPr/>
        </p:nvSpPr>
        <p:spPr>
          <a:xfrm>
            <a:off x="640080" y="4846320"/>
            <a:ext cx="10881360" cy="795528"/>
          </a:xfrm>
          <a:prstGeom prst="roundRect">
            <a:avLst>
              <a:gd name="adj" fmla="val 1149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8"/>
          <p:cNvSpPr/>
          <p:nvPr/>
        </p:nvSpPr>
        <p:spPr>
          <a:xfrm>
            <a:off x="877824" y="4988052"/>
            <a:ext cx="512064" cy="512064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877824" y="498805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pt-BR" sz="1500" noProof="0" dirty="0"/>
          </a:p>
        </p:txBody>
      </p:sp>
      <p:sp>
        <p:nvSpPr>
          <p:cNvPr id="22" name="Text 20"/>
          <p:cNvSpPr/>
          <p:nvPr/>
        </p:nvSpPr>
        <p:spPr>
          <a:xfrm>
            <a:off x="1600200" y="4846320"/>
            <a:ext cx="500542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Sol é uma estrela e a Lua é um planeta”</a:t>
            </a:r>
            <a:endParaRPr lang="pt-BR" sz="1450" noProof="0" dirty="0"/>
          </a:p>
        </p:txBody>
      </p:sp>
      <p:sp>
        <p:nvSpPr>
          <p:cNvPr id="23" name="Text 21"/>
          <p:cNvSpPr/>
          <p:nvPr/>
        </p:nvSpPr>
        <p:spPr>
          <a:xfrm>
            <a:off x="6714439" y="4846320"/>
            <a:ext cx="5114239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Composta: 1ª parte V, 2ª parte F → a soma é falsa.</a:t>
            </a:r>
            <a:endParaRPr lang="pt-BR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pt-BR" sz="125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último exemplo já antecipa a próxima aula: uma proposição composta com “e” só é verdadeira quando as duas partes são verdadeiras.</a:t>
            </a:r>
            <a:endParaRPr lang="pt-BR" sz="1250" noProof="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TUDO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Fluxograma: é proposição?</a:t>
            </a:r>
            <a:endParaRPr lang="pt-BR" sz="3000" noProof="0" dirty="0"/>
          </a:p>
        </p:txBody>
      </p:sp>
      <p:sp>
        <p:nvSpPr>
          <p:cNvPr id="4" name="Shape 2"/>
          <p:cNvSpPr/>
          <p:nvPr/>
        </p:nvSpPr>
        <p:spPr>
          <a:xfrm>
            <a:off x="4221328" y="1508760"/>
            <a:ext cx="3749040" cy="658368"/>
          </a:xfrm>
          <a:prstGeom prst="roundRect">
            <a:avLst>
              <a:gd name="adj" fmla="val 13889"/>
            </a:avLst>
          </a:prstGeom>
          <a:solidFill>
            <a:srgbClr val="141B4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4358488" y="15087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sentença declarativa?</a:t>
            </a:r>
            <a:endParaRPr lang="pt-BR" sz="1300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8" y="22128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27168" y="223113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50" b="1" i="1" noProof="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pt-BR" sz="1050" noProof="0" dirty="0"/>
          </a:p>
        </p:txBody>
      </p:sp>
      <p:sp>
        <p:nvSpPr>
          <p:cNvPr id="8" name="Text 5"/>
          <p:cNvSpPr/>
          <p:nvPr/>
        </p:nvSpPr>
        <p:spPr>
          <a:xfrm>
            <a:off x="8290408" y="2011680"/>
            <a:ext cx="3139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pt-BR" sz="12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 →  não é proposição (ordem, pergunta, exclamação)</a:t>
            </a:r>
            <a:endParaRPr lang="pt-BR" sz="1200" noProof="0" dirty="0"/>
          </a:p>
        </p:txBody>
      </p:sp>
      <p:sp>
        <p:nvSpPr>
          <p:cNvPr id="9" name="Shape 6"/>
          <p:cNvSpPr/>
          <p:nvPr/>
        </p:nvSpPr>
        <p:spPr>
          <a:xfrm>
            <a:off x="4221328" y="2606040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4358488" y="2606040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variável livre</a:t>
            </a:r>
            <a:endParaRPr lang="pt-BR" sz="1300" noProof="0" dirty="0"/>
          </a:p>
          <a:p>
            <a:pPr marL="0" indent="0" algn="ctr">
              <a:lnSpc>
                <a:spcPts val="1500"/>
              </a:lnSpc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(depende de algo não fixado)?</a:t>
            </a:r>
            <a:endParaRPr lang="pt-BR" sz="1300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8" y="336499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27168" y="338328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50" b="1" i="1" noProof="0" dirty="0">
                <a:solidFill>
                  <a:srgbClr val="E55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pt-BR" sz="1050" noProof="0" dirty="0"/>
          </a:p>
        </p:txBody>
      </p:sp>
      <p:sp>
        <p:nvSpPr>
          <p:cNvPr id="13" name="Text 9"/>
          <p:cNvSpPr/>
          <p:nvPr/>
        </p:nvSpPr>
        <p:spPr>
          <a:xfrm>
            <a:off x="8290408" y="3163824"/>
            <a:ext cx="3139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pt-BR" sz="12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 →  sentença aberta (ainda não é proposição)</a:t>
            </a:r>
            <a:endParaRPr lang="pt-BR" sz="1200" noProof="0" dirty="0"/>
          </a:p>
        </p:txBody>
      </p:sp>
      <p:sp>
        <p:nvSpPr>
          <p:cNvPr id="14" name="Shape 10"/>
          <p:cNvSpPr/>
          <p:nvPr/>
        </p:nvSpPr>
        <p:spPr>
          <a:xfrm>
            <a:off x="4221328" y="3758184"/>
            <a:ext cx="3749040" cy="713232"/>
          </a:xfrm>
          <a:prstGeom prst="roundRect">
            <a:avLst>
              <a:gd name="adj" fmla="val 12821"/>
            </a:avLst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1"/>
          <p:cNvSpPr/>
          <p:nvPr/>
        </p:nvSpPr>
        <p:spPr>
          <a:xfrm>
            <a:off x="4358488" y="3758184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 V ou F bem definido —</a:t>
            </a:r>
            <a:endParaRPr lang="pt-BR" sz="1300" noProof="0" dirty="0"/>
          </a:p>
          <a:p>
            <a:pPr marL="0" indent="0" algn="ctr">
              <a:lnSpc>
                <a:spcPts val="1500"/>
              </a:lnSpc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os dois, nunca nenhum?</a:t>
            </a:r>
            <a:endParaRPr lang="pt-BR" sz="1300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8688" y="4517136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27168" y="45354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50" b="1" i="1" noProof="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pt-BR" sz="1050" noProof="0" dirty="0"/>
          </a:p>
        </p:txBody>
      </p:sp>
      <p:sp>
        <p:nvSpPr>
          <p:cNvPr id="18" name="Text 13"/>
          <p:cNvSpPr/>
          <p:nvPr/>
        </p:nvSpPr>
        <p:spPr>
          <a:xfrm>
            <a:off x="8290408" y="4315968"/>
            <a:ext cx="31395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pt-BR" sz="12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 →  paradoxo — também não é proposição</a:t>
            </a:r>
            <a:endParaRPr lang="pt-BR" sz="1200" noProof="0" dirty="0"/>
          </a:p>
        </p:txBody>
      </p:sp>
      <p:sp>
        <p:nvSpPr>
          <p:cNvPr id="19" name="Shape 14"/>
          <p:cNvSpPr/>
          <p:nvPr/>
        </p:nvSpPr>
        <p:spPr>
          <a:xfrm>
            <a:off x="4221328" y="4910328"/>
            <a:ext cx="3749040" cy="640080"/>
          </a:xfrm>
          <a:prstGeom prst="roundRect">
            <a:avLst>
              <a:gd name="adj" fmla="val 14286"/>
            </a:avLst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5"/>
          <p:cNvSpPr/>
          <p:nvPr/>
        </p:nvSpPr>
        <p:spPr>
          <a:xfrm>
            <a:off x="4358488" y="49103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pt-B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proposição!</a:t>
            </a:r>
            <a:endParaRPr lang="pt-BR" sz="1300" noProof="0" dirty="0"/>
          </a:p>
        </p:txBody>
      </p:sp>
      <p:sp>
        <p:nvSpPr>
          <p:cNvPr id="21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CONSTRUINDO FÓRMULAS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8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Proposições simples vs. compostas</a:t>
            </a:r>
            <a:endParaRPr lang="pt-BR" sz="28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(atômica)</a:t>
            </a:r>
            <a:endParaRPr lang="pt-BR" sz="1800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pode ser dividida em partes menores que ainda façam sentido sozinhas.</a:t>
            </a:r>
            <a:endParaRPr lang="pt-BR" sz="1350" noProof="0" dirty="0"/>
          </a:p>
        </p:txBody>
      </p:sp>
      <p:sp>
        <p:nvSpPr>
          <p:cNvPr id="7" name="Shape 5"/>
          <p:cNvSpPr/>
          <p:nvPr/>
        </p:nvSpPr>
        <p:spPr>
          <a:xfrm>
            <a:off x="914400" y="3703320"/>
            <a:ext cx="4709160" cy="594360"/>
          </a:xfrm>
          <a:prstGeom prst="roundRect">
            <a:avLst>
              <a:gd name="adj" fmla="val 53846"/>
            </a:avLst>
          </a:prstGeom>
          <a:solidFill>
            <a:srgbClr val="FFFFFF"/>
          </a:solidFill>
          <a:ln w="1524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“chove”</a:t>
            </a:r>
            <a:endParaRPr lang="pt-BR" sz="1500" noProof="0" dirty="0"/>
          </a:p>
        </p:txBody>
      </p:sp>
      <p:sp>
        <p:nvSpPr>
          <p:cNvPr id="9" name="Shape 7"/>
          <p:cNvSpPr/>
          <p:nvPr/>
        </p:nvSpPr>
        <p:spPr>
          <a:xfrm>
            <a:off x="914400" y="4480560"/>
            <a:ext cx="4709160" cy="594360"/>
          </a:xfrm>
          <a:prstGeom prst="roundRect">
            <a:avLst>
              <a:gd name="adj" fmla="val 53846"/>
            </a:avLst>
          </a:prstGeom>
          <a:solidFill>
            <a:srgbClr val="FFFFFF"/>
          </a:solidFill>
          <a:ln w="1524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914400" y="448056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“estudo”</a:t>
            </a:r>
            <a:endParaRPr lang="pt-BR" sz="1500" noProof="0" dirty="0"/>
          </a:p>
        </p:txBody>
      </p:sp>
      <p:sp>
        <p:nvSpPr>
          <p:cNvPr id="11" name="Shape 9"/>
          <p:cNvSpPr/>
          <p:nvPr/>
        </p:nvSpPr>
        <p:spPr>
          <a:xfrm>
            <a:off x="6263640" y="17373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41B4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10"/>
          <p:cNvSpPr/>
          <p:nvPr/>
        </p:nvSpPr>
        <p:spPr>
          <a:xfrm>
            <a:off x="6537960" y="20116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Composta (molecular)</a:t>
            </a:r>
            <a:endParaRPr lang="pt-BR" sz="1800" noProof="0" dirty="0"/>
          </a:p>
        </p:txBody>
      </p:sp>
      <p:sp>
        <p:nvSpPr>
          <p:cNvPr id="13" name="Text 11"/>
          <p:cNvSpPr/>
          <p:nvPr/>
        </p:nvSpPr>
        <p:spPr>
          <a:xfrm>
            <a:off x="6537960" y="2606040"/>
            <a:ext cx="4709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350" noProof="0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Formada por proposições simples unidas por conectivos.</a:t>
            </a:r>
            <a:endParaRPr lang="pt-BR" sz="1350" noProof="0" dirty="0"/>
          </a:p>
        </p:txBody>
      </p:sp>
      <p:sp>
        <p:nvSpPr>
          <p:cNvPr id="14" name="Shape 12"/>
          <p:cNvSpPr/>
          <p:nvPr/>
        </p:nvSpPr>
        <p:spPr>
          <a:xfrm>
            <a:off x="6537960" y="3703320"/>
            <a:ext cx="4709160" cy="594360"/>
          </a:xfrm>
          <a:prstGeom prst="roundRect">
            <a:avLst>
              <a:gd name="adj" fmla="val 15385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6537960" y="37033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chove</a:t>
            </a:r>
            <a:r>
              <a:rPr lang="pt-BR" sz="1500" b="1" noProof="0" dirty="0">
                <a:solidFill>
                  <a:srgbClr val="C7C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 </a:t>
            </a:r>
            <a:r>
              <a:rPr lang="pt-BR" sz="1500" b="1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estudo</a:t>
            </a:r>
            <a:endParaRPr lang="pt-BR" sz="1500" noProof="0" dirty="0"/>
          </a:p>
        </p:txBody>
      </p:sp>
      <p:sp>
        <p:nvSpPr>
          <p:cNvPr id="16" name="Text 14"/>
          <p:cNvSpPr/>
          <p:nvPr/>
        </p:nvSpPr>
        <p:spPr>
          <a:xfrm>
            <a:off x="6537960" y="4526280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250" i="1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Representamos proposições por letras minúsculas — p, q, r — combinadas por conectivos, do mesmo jeito que operadores combinam números em expressões aritméticas.</a:t>
            </a:r>
            <a:endParaRPr lang="pt-BR" sz="1250" noProof="0" dirty="0"/>
          </a:p>
        </p:txBody>
      </p:sp>
      <p:sp>
        <p:nvSpPr>
          <p:cNvPr id="17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DENTRO DA FÓRMULA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Anatomia de uma proposição composta</a:t>
            </a:r>
            <a:endParaRPr lang="pt-BR" sz="2700" noProof="0" dirty="0"/>
          </a:p>
        </p:txBody>
      </p:sp>
      <p:sp>
        <p:nvSpPr>
          <p:cNvPr id="4" name="Shape 2"/>
          <p:cNvSpPr/>
          <p:nvPr/>
        </p:nvSpPr>
        <p:spPr>
          <a:xfrm>
            <a:off x="1463040" y="23774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1463040" y="248716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600" b="1" noProof="0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pt-BR" sz="4600" noProof="0" dirty="0"/>
          </a:p>
        </p:txBody>
      </p:sp>
      <p:sp>
        <p:nvSpPr>
          <p:cNvPr id="6" name="Text 4"/>
          <p:cNvSpPr/>
          <p:nvPr/>
        </p:nvSpPr>
        <p:spPr>
          <a:xfrm>
            <a:off x="146304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kern="0" spc="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proposição</a:t>
            </a:r>
            <a:endParaRPr lang="pt-BR" sz="1100" noProof="0" dirty="0"/>
          </a:p>
        </p:txBody>
      </p:sp>
      <p:sp>
        <p:nvSpPr>
          <p:cNvPr id="7" name="Shape 5"/>
          <p:cNvSpPr/>
          <p:nvPr/>
        </p:nvSpPr>
        <p:spPr>
          <a:xfrm>
            <a:off x="2642616" y="3749040"/>
            <a:ext cx="18288" cy="320040"/>
          </a:xfrm>
          <a:prstGeom prst="rect">
            <a:avLst/>
          </a:prstGeom>
          <a:solidFill>
            <a:srgbClr val="CBC3E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146304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“estudei”</a:t>
            </a:r>
            <a:endParaRPr lang="pt-BR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4206240" y="2377440"/>
            <a:ext cx="1645920" cy="1371600"/>
          </a:xfrm>
          <a:prstGeom prst="roundRect">
            <a:avLst>
              <a:gd name="adj" fmla="val 8000"/>
            </a:avLst>
          </a:prstGeom>
          <a:solidFill>
            <a:srgbClr val="141B4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4206240" y="2487168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600" b="1" noProof="0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∧</a:t>
            </a:r>
            <a:endParaRPr lang="pt-BR" sz="4600" noProof="0" dirty="0"/>
          </a:p>
        </p:txBody>
      </p:sp>
      <p:sp>
        <p:nvSpPr>
          <p:cNvPr id="11" name="Text 9"/>
          <p:cNvSpPr/>
          <p:nvPr/>
        </p:nvSpPr>
        <p:spPr>
          <a:xfrm>
            <a:off x="4206240" y="327355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kern="0" spc="50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conectivo</a:t>
            </a:r>
            <a:endParaRPr lang="pt-BR" sz="1100" noProof="0" dirty="0"/>
          </a:p>
        </p:txBody>
      </p:sp>
      <p:sp>
        <p:nvSpPr>
          <p:cNvPr id="12" name="Shape 10"/>
          <p:cNvSpPr/>
          <p:nvPr/>
        </p:nvSpPr>
        <p:spPr>
          <a:xfrm>
            <a:off x="5020056" y="3749040"/>
            <a:ext cx="18288" cy="320040"/>
          </a:xfrm>
          <a:prstGeom prst="rect">
            <a:avLst/>
          </a:prstGeom>
          <a:solidFill>
            <a:srgbClr val="CBC3E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4206240" y="4069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“e”</a:t>
            </a:r>
            <a:endParaRPr lang="pt-BR" sz="1300" noProof="0" dirty="0"/>
          </a:p>
        </p:txBody>
      </p:sp>
      <p:sp>
        <p:nvSpPr>
          <p:cNvPr id="14" name="Shape 12"/>
          <p:cNvSpPr/>
          <p:nvPr/>
        </p:nvSpPr>
        <p:spPr>
          <a:xfrm>
            <a:off x="6217920" y="237744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6217920" y="248716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600" b="1" noProof="0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pt-BR" sz="4600" noProof="0" dirty="0"/>
          </a:p>
        </p:txBody>
      </p:sp>
      <p:sp>
        <p:nvSpPr>
          <p:cNvPr id="16" name="Text 14"/>
          <p:cNvSpPr/>
          <p:nvPr/>
        </p:nvSpPr>
        <p:spPr>
          <a:xfrm>
            <a:off x="621792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100" b="1" kern="0" spc="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proposição</a:t>
            </a:r>
            <a:endParaRPr lang="pt-BR" sz="1100" noProof="0" dirty="0"/>
          </a:p>
        </p:txBody>
      </p:sp>
      <p:sp>
        <p:nvSpPr>
          <p:cNvPr id="17" name="Shape 15"/>
          <p:cNvSpPr/>
          <p:nvPr/>
        </p:nvSpPr>
        <p:spPr>
          <a:xfrm>
            <a:off x="7397496" y="3749040"/>
            <a:ext cx="18288" cy="320040"/>
          </a:xfrm>
          <a:prstGeom prst="rect">
            <a:avLst/>
          </a:prstGeom>
          <a:solidFill>
            <a:srgbClr val="CBC3EE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6217920" y="4069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300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“dormi bem”</a:t>
            </a:r>
            <a:endParaRPr lang="pt-BR" sz="1300" noProof="0" dirty="0"/>
          </a:p>
        </p:txBody>
      </p:sp>
      <p:sp>
        <p:nvSpPr>
          <p:cNvPr id="19" name="Shape 17"/>
          <p:cNvSpPr/>
          <p:nvPr/>
        </p:nvSpPr>
        <p:spPr>
          <a:xfrm>
            <a:off x="1463040" y="4663440"/>
            <a:ext cx="7132320" cy="822960"/>
          </a:xfrm>
          <a:prstGeom prst="roundRect">
            <a:avLst>
              <a:gd name="adj" fmla="val 50000"/>
            </a:avLst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8"/>
          <p:cNvSpPr/>
          <p:nvPr/>
        </p:nvSpPr>
        <p:spPr>
          <a:xfrm>
            <a:off x="1463040" y="466344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000" b="1" noProof="0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∧ q</a:t>
            </a:r>
            <a:r>
              <a:rPr lang="pt-BR" sz="2000" noProof="0" dirty="0">
                <a:solidFill>
                  <a:srgbClr val="C7CB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=   </a:t>
            </a:r>
            <a:r>
              <a:rPr lang="pt-BR" sz="2000" i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“estudei e dormi bem”</a:t>
            </a:r>
            <a:endParaRPr lang="pt-BR" sz="2000" noProof="0" dirty="0"/>
          </a:p>
        </p:txBody>
      </p:sp>
      <p:sp>
        <p:nvSpPr>
          <p:cNvPr id="21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JÁ EXISTE NO SEU CÓDIGO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0467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expressão booleana é uma proposição</a:t>
            </a:r>
            <a:endParaRPr lang="pt-BR" sz="27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40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idade &gt;= 18 só é proposição depois que idade tem um valor — exatamente como “x é par” só vira proposição quando x é fixado.</a:t>
            </a:r>
            <a:endParaRPr lang="pt-BR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280660" cy="3931920"/>
          </a:xfrm>
          <a:prstGeom prst="roundRect">
            <a:avLst>
              <a:gd name="adj" fmla="val 3256"/>
            </a:avLst>
          </a:prstGeom>
          <a:solidFill>
            <a:srgbClr val="141B4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96112" y="227685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1097280" y="227685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1298448" y="227685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1554480" y="221742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 err="1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Programa.cs</a:t>
            </a:r>
            <a:endParaRPr lang="pt-BR" sz="1050" noProof="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220370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80720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 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pt-BR" sz="1200" noProof="0" dirty="0"/>
          </a:p>
        </p:txBody>
      </p:sp>
      <p:sp>
        <p:nvSpPr>
          <p:cNvPr id="12" name="Text 9"/>
          <p:cNvSpPr/>
          <p:nvPr/>
        </p:nvSpPr>
        <p:spPr>
          <a:xfrm>
            <a:off x="932688" y="3136392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ativo = </a:t>
            </a: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pt-BR" sz="1200" noProof="0" dirty="0"/>
          </a:p>
        </p:txBody>
      </p:sp>
      <p:sp>
        <p:nvSpPr>
          <p:cNvPr id="13" name="Text 10"/>
          <p:cNvSpPr/>
          <p:nvPr/>
        </p:nvSpPr>
        <p:spPr>
          <a:xfrm>
            <a:off x="932688" y="3465576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maiorDeIdade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idade &gt;= 18;</a:t>
            </a:r>
            <a:endParaRPr lang="pt-BR" sz="1200" noProof="0" dirty="0"/>
          </a:p>
        </p:txBody>
      </p:sp>
      <p:sp>
        <p:nvSpPr>
          <p:cNvPr id="14" name="Text 11"/>
          <p:cNvSpPr/>
          <p:nvPr/>
        </p:nvSpPr>
        <p:spPr>
          <a:xfrm>
            <a:off x="932688" y="3794760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proposição</a:t>
            </a:r>
            <a:endParaRPr lang="pt-BR" sz="1200" noProof="0" dirty="0"/>
          </a:p>
        </p:txBody>
      </p:sp>
      <p:sp>
        <p:nvSpPr>
          <p:cNvPr id="15" name="Text 12"/>
          <p:cNvSpPr/>
          <p:nvPr/>
        </p:nvSpPr>
        <p:spPr>
          <a:xfrm>
            <a:off x="932688" y="4123944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podeAcessar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maiorDeIdade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ativo;</a:t>
            </a:r>
            <a:endParaRPr lang="pt-BR" sz="1200" noProof="0" dirty="0"/>
          </a:p>
        </p:txBody>
      </p:sp>
      <p:sp>
        <p:nvSpPr>
          <p:cNvPr id="16" name="Text 13"/>
          <p:cNvSpPr/>
          <p:nvPr/>
        </p:nvSpPr>
        <p:spPr>
          <a:xfrm>
            <a:off x="932688" y="445312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proposição composta</a:t>
            </a:r>
            <a:endParaRPr lang="pt-BR" sz="1200" noProof="0" dirty="0"/>
          </a:p>
        </p:txBody>
      </p:sp>
      <p:sp>
        <p:nvSpPr>
          <p:cNvPr id="17" name="Text 14"/>
          <p:cNvSpPr/>
          <p:nvPr/>
        </p:nvSpPr>
        <p:spPr>
          <a:xfrm>
            <a:off x="932688" y="4782312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podeAcessar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pt-BR" sz="1200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</a:t>
            </a:r>
            <a:r>
              <a:rPr lang="pt-BR" sz="1200" noProof="0" dirty="0" err="1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pt-BR" sz="1200" noProof="0" dirty="0"/>
          </a:p>
        </p:txBody>
      </p:sp>
      <p:sp>
        <p:nvSpPr>
          <p:cNvPr id="18" name="Shape 15"/>
          <p:cNvSpPr/>
          <p:nvPr/>
        </p:nvSpPr>
        <p:spPr>
          <a:xfrm>
            <a:off x="6240780" y="2057400"/>
            <a:ext cx="5280660" cy="3931920"/>
          </a:xfrm>
          <a:prstGeom prst="roundRect">
            <a:avLst>
              <a:gd name="adj" fmla="val 3256"/>
            </a:avLst>
          </a:prstGeom>
          <a:solidFill>
            <a:srgbClr val="141B4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6"/>
          <p:cNvSpPr/>
          <p:nvPr/>
        </p:nvSpPr>
        <p:spPr>
          <a:xfrm>
            <a:off x="6496812" y="227685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7"/>
          <p:cNvSpPr/>
          <p:nvPr/>
        </p:nvSpPr>
        <p:spPr>
          <a:xfrm>
            <a:off x="6697980" y="227685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8"/>
          <p:cNvSpPr/>
          <p:nvPr/>
        </p:nvSpPr>
        <p:spPr>
          <a:xfrm>
            <a:off x="6899148" y="227685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19"/>
          <p:cNvSpPr/>
          <p:nvPr/>
        </p:nvSpPr>
        <p:spPr>
          <a:xfrm>
            <a:off x="7155180" y="221742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programa.py</a:t>
            </a:r>
            <a:endParaRPr lang="pt-BR" sz="1050" noProof="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2203704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6533388" y="280720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 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pt-BR" sz="1200" noProof="0" dirty="0"/>
          </a:p>
        </p:txBody>
      </p:sp>
      <p:sp>
        <p:nvSpPr>
          <p:cNvPr id="25" name="Text 21"/>
          <p:cNvSpPr/>
          <p:nvPr/>
        </p:nvSpPr>
        <p:spPr>
          <a:xfrm>
            <a:off x="6533388" y="3136392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ativo = </a:t>
            </a: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pt-BR" sz="1200" noProof="0" dirty="0"/>
          </a:p>
        </p:txBody>
      </p:sp>
      <p:sp>
        <p:nvSpPr>
          <p:cNvPr id="26" name="Text 22"/>
          <p:cNvSpPr/>
          <p:nvPr/>
        </p:nvSpPr>
        <p:spPr>
          <a:xfrm>
            <a:off x="6533388" y="3465576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maior_de_idade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idade &gt;= 18</a:t>
            </a:r>
            <a:endParaRPr lang="pt-BR" sz="1200" noProof="0" dirty="0"/>
          </a:p>
        </p:txBody>
      </p:sp>
      <p:sp>
        <p:nvSpPr>
          <p:cNvPr id="27" name="Text 23"/>
          <p:cNvSpPr/>
          <p:nvPr/>
        </p:nvSpPr>
        <p:spPr>
          <a:xfrm>
            <a:off x="6533388" y="3794760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proposição</a:t>
            </a:r>
            <a:endParaRPr lang="pt-BR" sz="1200" noProof="0" dirty="0"/>
          </a:p>
        </p:txBody>
      </p:sp>
      <p:sp>
        <p:nvSpPr>
          <p:cNvPr id="28" name="Text 24"/>
          <p:cNvSpPr/>
          <p:nvPr/>
        </p:nvSpPr>
        <p:spPr>
          <a:xfrm>
            <a:off x="6533388" y="4123944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pode_acessar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maior_de_idade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ativo</a:t>
            </a:r>
            <a:endParaRPr lang="pt-BR" sz="1200" noProof="0" dirty="0"/>
          </a:p>
        </p:txBody>
      </p:sp>
      <p:sp>
        <p:nvSpPr>
          <p:cNvPr id="29" name="Text 25"/>
          <p:cNvSpPr/>
          <p:nvPr/>
        </p:nvSpPr>
        <p:spPr>
          <a:xfrm>
            <a:off x="6533388" y="445312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proposição composta</a:t>
            </a:r>
            <a:endParaRPr lang="pt-BR" sz="1200" noProof="0" dirty="0"/>
          </a:p>
        </p:txBody>
      </p:sp>
      <p:sp>
        <p:nvSpPr>
          <p:cNvPr id="30" name="Text 26"/>
          <p:cNvSpPr/>
          <p:nvPr/>
        </p:nvSpPr>
        <p:spPr>
          <a:xfrm>
            <a:off x="6533388" y="4782312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pode_acessar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pt-BR" sz="1200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</a:t>
            </a:r>
            <a:r>
              <a:rPr lang="pt-BR" sz="1200" noProof="0" dirty="0" err="1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pt-BR" sz="1200" noProof="0" dirty="0"/>
          </a:p>
        </p:txBody>
      </p:sp>
      <p:sp>
        <p:nvSpPr>
          <p:cNvPr id="31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CONTEXTO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7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Mesma ideia: validação de senha</a:t>
            </a:r>
            <a:endParaRPr lang="pt-BR" sz="27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</a:t>
            </a:r>
            <a:r>
              <a:rPr lang="pt-BR" sz="1350" noProof="0" dirty="0" err="1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r>
              <a:rPr lang="pt-BR" sz="135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validação que você já escreveu era, sem que você chamasse assim, uma combinação de proposições.</a:t>
            </a:r>
            <a:endParaRPr lang="pt-BR" sz="135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280660" cy="3931920"/>
          </a:xfrm>
          <a:prstGeom prst="roundRect">
            <a:avLst>
              <a:gd name="adj" fmla="val 3256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96112" y="227685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5"/>
          <p:cNvSpPr/>
          <p:nvPr/>
        </p:nvSpPr>
        <p:spPr>
          <a:xfrm>
            <a:off x="1097280" y="227685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6"/>
          <p:cNvSpPr/>
          <p:nvPr/>
        </p:nvSpPr>
        <p:spPr>
          <a:xfrm>
            <a:off x="1298448" y="227685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1554480" y="221742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 err="1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Senha.cs</a:t>
            </a:r>
            <a:endParaRPr lang="pt-BR" sz="1050" noProof="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7820" y="220370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32688" y="280720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 = </a:t>
            </a:r>
            <a:r>
              <a:rPr lang="pt-BR" sz="1200" noProof="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"abc12345"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pt-BR" sz="1200" noProof="0" dirty="0"/>
          </a:p>
        </p:txBody>
      </p:sp>
      <p:sp>
        <p:nvSpPr>
          <p:cNvPr id="12" name="Text 9"/>
          <p:cNvSpPr/>
          <p:nvPr/>
        </p:nvSpPr>
        <p:spPr>
          <a:xfrm>
            <a:off x="932688" y="3136392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tem8Caracteres = 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senha.Length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8;</a:t>
            </a:r>
            <a:endParaRPr lang="pt-BR" sz="1200" noProof="0" dirty="0"/>
          </a:p>
        </p:txBody>
      </p:sp>
      <p:sp>
        <p:nvSpPr>
          <p:cNvPr id="13" name="Text 10"/>
          <p:cNvSpPr/>
          <p:nvPr/>
        </p:nvSpPr>
        <p:spPr>
          <a:xfrm>
            <a:off x="932688" y="3465576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temNumero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senha.Any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char.IsDigit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pt-BR" sz="1200" noProof="0" dirty="0"/>
          </a:p>
        </p:txBody>
      </p:sp>
      <p:sp>
        <p:nvSpPr>
          <p:cNvPr id="14" name="Text 11"/>
          <p:cNvSpPr/>
          <p:nvPr/>
        </p:nvSpPr>
        <p:spPr>
          <a:xfrm>
            <a:off x="932688" y="3794760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senhaValida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</a:t>
            </a:r>
            <a:endParaRPr lang="pt-BR" sz="1200" noProof="0" dirty="0"/>
          </a:p>
        </p:txBody>
      </p:sp>
      <p:sp>
        <p:nvSpPr>
          <p:cNvPr id="15" name="Text 12"/>
          <p:cNvSpPr/>
          <p:nvPr/>
        </p:nvSpPr>
        <p:spPr>
          <a:xfrm>
            <a:off x="932688" y="4123944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tem8Caracteres &amp;&amp; 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temNumero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pt-BR" sz="1200" noProof="0" dirty="0"/>
          </a:p>
        </p:txBody>
      </p:sp>
      <p:sp>
        <p:nvSpPr>
          <p:cNvPr id="16" name="Text 13"/>
          <p:cNvSpPr/>
          <p:nvPr/>
        </p:nvSpPr>
        <p:spPr>
          <a:xfrm>
            <a:off x="932688" y="445312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senhaValida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r>
              <a:rPr lang="pt-BR" sz="1200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// </a:t>
            </a:r>
            <a:r>
              <a:rPr lang="pt-BR" sz="1200" noProof="0" dirty="0" err="1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pt-BR" sz="1200" noProof="0" dirty="0"/>
          </a:p>
        </p:txBody>
      </p:sp>
      <p:sp>
        <p:nvSpPr>
          <p:cNvPr id="17" name="Shape 14"/>
          <p:cNvSpPr/>
          <p:nvPr/>
        </p:nvSpPr>
        <p:spPr>
          <a:xfrm>
            <a:off x="6240780" y="2057400"/>
            <a:ext cx="5280660" cy="3931920"/>
          </a:xfrm>
          <a:prstGeom prst="roundRect">
            <a:avLst>
              <a:gd name="adj" fmla="val 3256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Shape 15"/>
          <p:cNvSpPr/>
          <p:nvPr/>
        </p:nvSpPr>
        <p:spPr>
          <a:xfrm>
            <a:off x="6496812" y="227685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6"/>
          <p:cNvSpPr/>
          <p:nvPr/>
        </p:nvSpPr>
        <p:spPr>
          <a:xfrm>
            <a:off x="6697980" y="227685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7"/>
          <p:cNvSpPr/>
          <p:nvPr/>
        </p:nvSpPr>
        <p:spPr>
          <a:xfrm>
            <a:off x="6899148" y="227685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8"/>
          <p:cNvSpPr/>
          <p:nvPr/>
        </p:nvSpPr>
        <p:spPr>
          <a:xfrm>
            <a:off x="7155180" y="2217420"/>
            <a:ext cx="38176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senha.py</a:t>
            </a:r>
            <a:endParaRPr lang="pt-BR" sz="1050" noProof="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18520" y="2203704"/>
            <a:ext cx="274320" cy="274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533388" y="280720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 = </a:t>
            </a:r>
            <a:r>
              <a:rPr lang="pt-BR" sz="1200" noProof="0" dirty="0">
                <a:solidFill>
                  <a:srgbClr val="F2C8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"abc12345"</a:t>
            </a:r>
            <a:endParaRPr lang="pt-BR" sz="1200" noProof="0" dirty="0"/>
          </a:p>
        </p:txBody>
      </p:sp>
      <p:sp>
        <p:nvSpPr>
          <p:cNvPr id="24" name="Text 20"/>
          <p:cNvSpPr/>
          <p:nvPr/>
        </p:nvSpPr>
        <p:spPr>
          <a:xfrm>
            <a:off x="6533388" y="3136392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tem_8_caracteres = 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(senha) &gt;= 8</a:t>
            </a:r>
            <a:endParaRPr lang="pt-BR" sz="1200" noProof="0" dirty="0"/>
          </a:p>
        </p:txBody>
      </p:sp>
      <p:sp>
        <p:nvSpPr>
          <p:cNvPr id="25" name="Text 21"/>
          <p:cNvSpPr/>
          <p:nvPr/>
        </p:nvSpPr>
        <p:spPr>
          <a:xfrm>
            <a:off x="6533388" y="3465576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tem_numero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c.isdigit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senha)</a:t>
            </a:r>
            <a:endParaRPr lang="pt-BR" sz="1200" noProof="0" dirty="0"/>
          </a:p>
        </p:txBody>
      </p:sp>
      <p:sp>
        <p:nvSpPr>
          <p:cNvPr id="26" name="Text 22"/>
          <p:cNvSpPr/>
          <p:nvPr/>
        </p:nvSpPr>
        <p:spPr>
          <a:xfrm>
            <a:off x="6533388" y="3794760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senha_valida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tem_8_caracteres </a:t>
            </a:r>
            <a:r>
              <a:rPr lang="pt-BR" sz="1200" noProof="0" dirty="0" err="1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pt-BR" sz="12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pt-BR" sz="1200" noProof="0" dirty="0"/>
          </a:p>
        </p:txBody>
      </p:sp>
      <p:sp>
        <p:nvSpPr>
          <p:cNvPr id="27" name="Text 23"/>
          <p:cNvSpPr/>
          <p:nvPr/>
        </p:nvSpPr>
        <p:spPr>
          <a:xfrm>
            <a:off x="6533388" y="4123944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tem_numero</a:t>
            </a:r>
            <a:endParaRPr lang="pt-BR" sz="1200" noProof="0" dirty="0"/>
          </a:p>
        </p:txBody>
      </p:sp>
      <p:sp>
        <p:nvSpPr>
          <p:cNvPr id="28" name="Text 24"/>
          <p:cNvSpPr/>
          <p:nvPr/>
        </p:nvSpPr>
        <p:spPr>
          <a:xfrm>
            <a:off x="6533388" y="4453128"/>
            <a:ext cx="47320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r>
              <a:rPr lang="pt-BR" sz="1200" noProof="0" dirty="0" err="1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senha_valida</a:t>
            </a:r>
            <a:r>
              <a:rPr lang="pt-BR" sz="12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pt-BR" sz="1200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</a:t>
            </a:r>
            <a:r>
              <a:rPr lang="pt-BR" sz="1200" noProof="0" dirty="0" err="1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pt-BR" sz="1200" noProof="0" dirty="0"/>
          </a:p>
        </p:txBody>
      </p:sp>
      <p:sp>
        <p:nvSpPr>
          <p:cNvPr id="29" name="Text 2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VEM NA PRÓXIMA AULA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Prévia: os cinco conectivos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equivalente lógico de </a:t>
            </a:r>
            <a:r>
              <a:rPr lang="pt-BR" sz="135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t-BR" sz="135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pt-BR" sz="135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r>
              <a:rPr lang="pt-BR" sz="13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das condições que você já escreve em código.</a:t>
            </a:r>
            <a:endParaRPr lang="pt-BR" sz="1350" noProof="0" dirty="0"/>
          </a:p>
        </p:txBody>
      </p:sp>
      <p:sp>
        <p:nvSpPr>
          <p:cNvPr id="5" name="Shape 3"/>
          <p:cNvSpPr/>
          <p:nvPr/>
        </p:nvSpPr>
        <p:spPr>
          <a:xfrm>
            <a:off x="627736" y="22860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627736" y="2468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¬</a:t>
            </a:r>
            <a:endParaRPr lang="pt-BR" sz="4000" noProof="0" dirty="0"/>
          </a:p>
        </p:txBody>
      </p:sp>
      <p:sp>
        <p:nvSpPr>
          <p:cNvPr id="7" name="Text 5"/>
          <p:cNvSpPr/>
          <p:nvPr/>
        </p:nvSpPr>
        <p:spPr>
          <a:xfrm>
            <a:off x="719176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pt-BR" sz="12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Negação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719176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pt-BR" sz="11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“não”</a:t>
            </a:r>
            <a:endParaRPr lang="pt-BR" sz="1150" noProof="0" dirty="0"/>
          </a:p>
        </p:txBody>
      </p:sp>
      <p:sp>
        <p:nvSpPr>
          <p:cNvPr id="9" name="Shape 7"/>
          <p:cNvSpPr/>
          <p:nvPr/>
        </p:nvSpPr>
        <p:spPr>
          <a:xfrm>
            <a:off x="2858872" y="22860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2858872" y="2468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∧</a:t>
            </a:r>
            <a:endParaRPr lang="pt-BR" sz="4000" noProof="0" dirty="0"/>
          </a:p>
        </p:txBody>
      </p:sp>
      <p:sp>
        <p:nvSpPr>
          <p:cNvPr id="11" name="Text 9"/>
          <p:cNvSpPr/>
          <p:nvPr/>
        </p:nvSpPr>
        <p:spPr>
          <a:xfrm>
            <a:off x="2950312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pt-BR" sz="12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Conjunção</a:t>
            </a:r>
            <a:endParaRPr lang="pt-BR" sz="1250" noProof="0" dirty="0"/>
          </a:p>
        </p:txBody>
      </p:sp>
      <p:sp>
        <p:nvSpPr>
          <p:cNvPr id="12" name="Text 10"/>
          <p:cNvSpPr/>
          <p:nvPr/>
        </p:nvSpPr>
        <p:spPr>
          <a:xfrm>
            <a:off x="2950312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pt-BR" sz="11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“e”</a:t>
            </a:r>
            <a:endParaRPr lang="pt-BR" sz="1150" noProof="0" dirty="0"/>
          </a:p>
        </p:txBody>
      </p:sp>
      <p:sp>
        <p:nvSpPr>
          <p:cNvPr id="13" name="Shape 11"/>
          <p:cNvSpPr/>
          <p:nvPr/>
        </p:nvSpPr>
        <p:spPr>
          <a:xfrm>
            <a:off x="5090008" y="22860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5090008" y="2468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∨</a:t>
            </a:r>
            <a:endParaRPr lang="pt-BR" sz="4000" noProof="0" dirty="0"/>
          </a:p>
        </p:txBody>
      </p:sp>
      <p:sp>
        <p:nvSpPr>
          <p:cNvPr id="15" name="Text 13"/>
          <p:cNvSpPr/>
          <p:nvPr/>
        </p:nvSpPr>
        <p:spPr>
          <a:xfrm>
            <a:off x="5181448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pt-BR" sz="12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Disjunção</a:t>
            </a:r>
            <a:endParaRPr lang="pt-BR" sz="1250" noProof="0" dirty="0"/>
          </a:p>
        </p:txBody>
      </p:sp>
      <p:sp>
        <p:nvSpPr>
          <p:cNvPr id="16" name="Text 14"/>
          <p:cNvSpPr/>
          <p:nvPr/>
        </p:nvSpPr>
        <p:spPr>
          <a:xfrm>
            <a:off x="5181448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pt-BR" sz="11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“ou”</a:t>
            </a:r>
            <a:endParaRPr lang="pt-BR" sz="1150" noProof="0" dirty="0"/>
          </a:p>
        </p:txBody>
      </p:sp>
      <p:sp>
        <p:nvSpPr>
          <p:cNvPr id="17" name="Shape 15"/>
          <p:cNvSpPr/>
          <p:nvPr/>
        </p:nvSpPr>
        <p:spPr>
          <a:xfrm>
            <a:off x="7321144" y="22860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6"/>
          <p:cNvSpPr/>
          <p:nvPr/>
        </p:nvSpPr>
        <p:spPr>
          <a:xfrm>
            <a:off x="7321144" y="2468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6C4BC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pt-BR" sz="4000" noProof="0" dirty="0"/>
          </a:p>
        </p:txBody>
      </p:sp>
      <p:sp>
        <p:nvSpPr>
          <p:cNvPr id="19" name="Text 17"/>
          <p:cNvSpPr/>
          <p:nvPr/>
        </p:nvSpPr>
        <p:spPr>
          <a:xfrm>
            <a:off x="7412584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pt-BR" sz="12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Condicional</a:t>
            </a:r>
            <a:endParaRPr lang="pt-BR" sz="1250" noProof="0" dirty="0"/>
          </a:p>
        </p:txBody>
      </p:sp>
      <p:sp>
        <p:nvSpPr>
          <p:cNvPr id="20" name="Text 18"/>
          <p:cNvSpPr/>
          <p:nvPr/>
        </p:nvSpPr>
        <p:spPr>
          <a:xfrm>
            <a:off x="7412584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pt-BR" sz="11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“se... então”</a:t>
            </a:r>
            <a:endParaRPr lang="pt-BR" sz="1150" noProof="0" dirty="0"/>
          </a:p>
        </p:txBody>
      </p:sp>
      <p:sp>
        <p:nvSpPr>
          <p:cNvPr id="21" name="Shape 19"/>
          <p:cNvSpPr/>
          <p:nvPr/>
        </p:nvSpPr>
        <p:spPr>
          <a:xfrm>
            <a:off x="9552280" y="228600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20"/>
          <p:cNvSpPr/>
          <p:nvPr/>
        </p:nvSpPr>
        <p:spPr>
          <a:xfrm>
            <a:off x="9552280" y="246888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↔</a:t>
            </a:r>
            <a:endParaRPr lang="pt-BR" sz="4000" noProof="0" dirty="0"/>
          </a:p>
        </p:txBody>
      </p:sp>
      <p:sp>
        <p:nvSpPr>
          <p:cNvPr id="23" name="Text 21"/>
          <p:cNvSpPr/>
          <p:nvPr/>
        </p:nvSpPr>
        <p:spPr>
          <a:xfrm>
            <a:off x="964372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pt-BR" sz="125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Bicondicional</a:t>
            </a:r>
            <a:endParaRPr lang="pt-BR" sz="1250" noProof="0" dirty="0"/>
          </a:p>
        </p:txBody>
      </p:sp>
      <p:sp>
        <p:nvSpPr>
          <p:cNvPr id="24" name="Text 22"/>
          <p:cNvSpPr/>
          <p:nvPr/>
        </p:nvSpPr>
        <p:spPr>
          <a:xfrm>
            <a:off x="9643720" y="39776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pt-BR" sz="1150" i="1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e somente se”</a:t>
            </a:r>
            <a:endParaRPr lang="pt-BR" sz="1150" noProof="0" dirty="0"/>
          </a:p>
        </p:txBody>
      </p:sp>
      <p:sp>
        <p:nvSpPr>
          <p:cNvPr id="25" name="Text 23"/>
          <p:cNvSpPr/>
          <p:nvPr/>
        </p:nvSpPr>
        <p:spPr>
          <a:xfrm>
            <a:off x="640080" y="49834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5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Formalizamos as tabelas-verdade de cada um deles na próxima aula.</a:t>
            </a:r>
            <a:endParaRPr lang="pt-BR" sz="1250" noProof="0" dirty="0"/>
          </a:p>
        </p:txBody>
      </p:sp>
      <p:sp>
        <p:nvSpPr>
          <p:cNvPr id="26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COMPARANDO SINTAXES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símbolo lógico ao código</a:t>
            </a:r>
            <a:endParaRPr lang="pt-BR" sz="30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conectivos que você acabou de ver já aparecem no seu código, com outro nome.</a:t>
            </a:r>
            <a:endParaRPr lang="pt-BR" sz="1300" noProof="0" dirty="0"/>
          </a:p>
        </p:txBody>
      </p:sp>
      <p:sp>
        <p:nvSpPr>
          <p:cNvPr id="5" name="Text 3"/>
          <p:cNvSpPr/>
          <p:nvPr/>
        </p:nvSpPr>
        <p:spPr>
          <a:xfrm>
            <a:off x="86868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</a:t>
            </a:r>
            <a:endParaRPr lang="pt-BR" sz="1200" noProof="0" dirty="0"/>
          </a:p>
        </p:txBody>
      </p:sp>
      <p:sp>
        <p:nvSpPr>
          <p:cNvPr id="6" name="Shape 4"/>
          <p:cNvSpPr/>
          <p:nvPr/>
        </p:nvSpPr>
        <p:spPr>
          <a:xfrm>
            <a:off x="3931920" y="1819656"/>
            <a:ext cx="347472" cy="34747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72" y="1892808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370832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pt-BR" sz="1200" noProof="0" dirty="0"/>
          </a:p>
        </p:txBody>
      </p:sp>
      <p:sp>
        <p:nvSpPr>
          <p:cNvPr id="9" name="Shape 6"/>
          <p:cNvSpPr/>
          <p:nvPr/>
        </p:nvSpPr>
        <p:spPr>
          <a:xfrm>
            <a:off x="7589520" y="1819656"/>
            <a:ext cx="347472" cy="347472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2" y="1892808"/>
            <a:ext cx="201168" cy="201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28432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pt-BR" sz="1200" noProof="0" dirty="0"/>
          </a:p>
        </p:txBody>
      </p:sp>
      <p:sp>
        <p:nvSpPr>
          <p:cNvPr id="12" name="Shape 8"/>
          <p:cNvSpPr/>
          <p:nvPr/>
        </p:nvSpPr>
        <p:spPr>
          <a:xfrm>
            <a:off x="640080" y="2331720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9"/>
          <p:cNvSpPr/>
          <p:nvPr/>
        </p:nvSpPr>
        <p:spPr>
          <a:xfrm>
            <a:off x="868680" y="233172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  (negação)</a:t>
            </a:r>
            <a:endParaRPr lang="pt-BR" sz="1400" noProof="0" dirty="0"/>
          </a:p>
        </p:txBody>
      </p:sp>
      <p:sp>
        <p:nvSpPr>
          <p:cNvPr id="14" name="Text 10"/>
          <p:cNvSpPr/>
          <p:nvPr/>
        </p:nvSpPr>
        <p:spPr>
          <a:xfrm>
            <a:off x="3931920" y="233172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 err="1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pt-BR" sz="125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</a:t>
            </a:r>
            <a:endParaRPr lang="pt-BR" sz="1250" noProof="0" dirty="0"/>
          </a:p>
        </p:txBody>
      </p:sp>
      <p:sp>
        <p:nvSpPr>
          <p:cNvPr id="15" name="Text 11"/>
          <p:cNvSpPr/>
          <p:nvPr/>
        </p:nvSpPr>
        <p:spPr>
          <a:xfrm>
            <a:off x="7589520" y="2331720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!x</a:t>
            </a:r>
            <a:endParaRPr lang="pt-BR" sz="1250" noProof="0" dirty="0"/>
          </a:p>
        </p:txBody>
      </p:sp>
      <p:sp>
        <p:nvSpPr>
          <p:cNvPr id="16" name="Shape 12"/>
          <p:cNvSpPr/>
          <p:nvPr/>
        </p:nvSpPr>
        <p:spPr>
          <a:xfrm>
            <a:off x="640080" y="2935224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3"/>
          <p:cNvSpPr/>
          <p:nvPr/>
        </p:nvSpPr>
        <p:spPr>
          <a:xfrm>
            <a:off x="868680" y="293522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∧  (conjunção)</a:t>
            </a:r>
            <a:endParaRPr lang="pt-BR" sz="1400" noProof="0" dirty="0"/>
          </a:p>
        </p:txBody>
      </p:sp>
      <p:sp>
        <p:nvSpPr>
          <p:cNvPr id="18" name="Text 14"/>
          <p:cNvSpPr/>
          <p:nvPr/>
        </p:nvSpPr>
        <p:spPr>
          <a:xfrm>
            <a:off x="3931920" y="2935224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r>
              <a:rPr lang="pt-BR" sz="1250" noProof="0" dirty="0" err="1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pt-BR" sz="125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</a:t>
            </a:r>
            <a:endParaRPr lang="pt-BR" sz="1250" noProof="0" dirty="0"/>
          </a:p>
        </p:txBody>
      </p:sp>
      <p:sp>
        <p:nvSpPr>
          <p:cNvPr id="19" name="Text 15"/>
          <p:cNvSpPr/>
          <p:nvPr/>
        </p:nvSpPr>
        <p:spPr>
          <a:xfrm>
            <a:off x="7589520" y="2935224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&amp;&amp; y</a:t>
            </a:r>
            <a:endParaRPr lang="pt-BR" sz="1250" noProof="0" dirty="0"/>
          </a:p>
        </p:txBody>
      </p:sp>
      <p:sp>
        <p:nvSpPr>
          <p:cNvPr id="20" name="Shape 16"/>
          <p:cNvSpPr/>
          <p:nvPr/>
        </p:nvSpPr>
        <p:spPr>
          <a:xfrm>
            <a:off x="640080" y="3538728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7"/>
          <p:cNvSpPr/>
          <p:nvPr/>
        </p:nvSpPr>
        <p:spPr>
          <a:xfrm>
            <a:off x="868680" y="353872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∨  (disjunção)</a:t>
            </a:r>
            <a:endParaRPr lang="pt-BR" sz="1400" noProof="0" dirty="0"/>
          </a:p>
        </p:txBody>
      </p:sp>
      <p:sp>
        <p:nvSpPr>
          <p:cNvPr id="22" name="Text 18"/>
          <p:cNvSpPr/>
          <p:nvPr/>
        </p:nvSpPr>
        <p:spPr>
          <a:xfrm>
            <a:off x="3931920" y="353872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</a:t>
            </a:r>
            <a:r>
              <a:rPr lang="pt-BR" sz="1250" noProof="0" dirty="0" err="1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pt-BR" sz="125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y</a:t>
            </a:r>
            <a:endParaRPr lang="pt-BR" sz="1250" noProof="0" dirty="0"/>
          </a:p>
        </p:txBody>
      </p:sp>
      <p:sp>
        <p:nvSpPr>
          <p:cNvPr id="23" name="Text 19"/>
          <p:cNvSpPr/>
          <p:nvPr/>
        </p:nvSpPr>
        <p:spPr>
          <a:xfrm>
            <a:off x="7589520" y="3538728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|| y</a:t>
            </a:r>
            <a:endParaRPr lang="pt-BR" sz="1250" noProof="0" dirty="0"/>
          </a:p>
        </p:txBody>
      </p:sp>
      <p:sp>
        <p:nvSpPr>
          <p:cNvPr id="24" name="Shape 20"/>
          <p:cNvSpPr/>
          <p:nvPr/>
        </p:nvSpPr>
        <p:spPr>
          <a:xfrm>
            <a:off x="640080" y="4142232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1"/>
          <p:cNvSpPr/>
          <p:nvPr/>
        </p:nvSpPr>
        <p:spPr>
          <a:xfrm>
            <a:off x="868680" y="414223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(condicional)</a:t>
            </a:r>
            <a:endParaRPr lang="pt-BR" sz="1400" noProof="0" dirty="0"/>
          </a:p>
        </p:txBody>
      </p:sp>
      <p:sp>
        <p:nvSpPr>
          <p:cNvPr id="26" name="Text 22"/>
          <p:cNvSpPr/>
          <p:nvPr/>
        </p:nvSpPr>
        <p:spPr>
          <a:xfrm>
            <a:off x="3931920" y="4142232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 err="1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pt-BR" sz="125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x: y</a:t>
            </a:r>
            <a:endParaRPr lang="pt-BR" sz="1250" noProof="0" dirty="0"/>
          </a:p>
        </p:txBody>
      </p:sp>
      <p:sp>
        <p:nvSpPr>
          <p:cNvPr id="27" name="Text 23"/>
          <p:cNvSpPr/>
          <p:nvPr/>
        </p:nvSpPr>
        <p:spPr>
          <a:xfrm>
            <a:off x="7589520" y="4142232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 err="1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pt-BR" sz="125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(x) { y }</a:t>
            </a:r>
            <a:endParaRPr lang="pt-BR" sz="1250" noProof="0" dirty="0"/>
          </a:p>
        </p:txBody>
      </p:sp>
      <p:sp>
        <p:nvSpPr>
          <p:cNvPr id="28" name="Shape 24"/>
          <p:cNvSpPr/>
          <p:nvPr/>
        </p:nvSpPr>
        <p:spPr>
          <a:xfrm>
            <a:off x="640080" y="4745736"/>
            <a:ext cx="10881360" cy="512064"/>
          </a:xfrm>
          <a:prstGeom prst="roundRect">
            <a:avLst>
              <a:gd name="adj" fmla="val 14286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5"/>
          <p:cNvSpPr/>
          <p:nvPr/>
        </p:nvSpPr>
        <p:spPr>
          <a:xfrm>
            <a:off x="868680" y="474573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 (bicondicional)</a:t>
            </a:r>
            <a:endParaRPr lang="pt-BR" sz="1400" noProof="0" dirty="0"/>
          </a:p>
        </p:txBody>
      </p:sp>
      <p:sp>
        <p:nvSpPr>
          <p:cNvPr id="30" name="Text 26"/>
          <p:cNvSpPr/>
          <p:nvPr/>
        </p:nvSpPr>
        <p:spPr>
          <a:xfrm>
            <a:off x="3931920" y="4745736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== y</a:t>
            </a:r>
            <a:endParaRPr lang="pt-BR" sz="1250" noProof="0" dirty="0"/>
          </a:p>
        </p:txBody>
      </p:sp>
      <p:sp>
        <p:nvSpPr>
          <p:cNvPr id="31" name="Text 27"/>
          <p:cNvSpPr/>
          <p:nvPr/>
        </p:nvSpPr>
        <p:spPr>
          <a:xfrm>
            <a:off x="7589520" y="4745736"/>
            <a:ext cx="3566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== y</a:t>
            </a:r>
            <a:endParaRPr lang="pt-BR" sz="1250" noProof="0" dirty="0"/>
          </a:p>
        </p:txBody>
      </p:sp>
      <p:sp>
        <p:nvSpPr>
          <p:cNvPr id="32" name="Text 28"/>
          <p:cNvSpPr/>
          <p:nvPr/>
        </p:nvSpPr>
        <p:spPr>
          <a:xfrm>
            <a:off x="640080" y="54406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sempre que ler &amp;&amp; ou </a:t>
            </a:r>
            <a:r>
              <a:rPr lang="pt-BR" sz="1200" i="1" noProof="0" dirty="0" err="1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</a:t>
            </a:r>
            <a:r>
              <a:rPr lang="pt-BR" sz="120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código, leia mentalmente “e” — o ∧ da lógica proposicional.</a:t>
            </a:r>
            <a:endParaRPr lang="pt-BR" sz="1200" noProof="0" dirty="0"/>
          </a:p>
        </p:txBody>
      </p:sp>
      <p:sp>
        <p:nvSpPr>
          <p:cNvPr id="33" name="Text 2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6C4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7432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4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de praticar</a:t>
            </a:r>
            <a:endParaRPr lang="pt-BR" sz="4000" noProof="0" dirty="0"/>
          </a:p>
        </p:txBody>
      </p:sp>
      <p:sp>
        <p:nvSpPr>
          <p:cNvPr id="7" name="Text 4"/>
          <p:cNvSpPr/>
          <p:nvPr/>
        </p:nvSpPr>
        <p:spPr>
          <a:xfrm>
            <a:off x="2194560" y="3657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50" i="1" noProof="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exercícios, do básico ao desafio — o último te leva de volta à Aula 02.</a:t>
            </a:r>
            <a:endParaRPr lang="pt-BR" sz="155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Proposição ou não?</a:t>
            </a:r>
            <a:endParaRPr lang="pt-BR" sz="2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Classifique cada sentença como proposição ou não, justificando:</a:t>
            </a:r>
            <a:endParaRPr lang="pt-BR" sz="1400" noProof="0" dirty="0"/>
          </a:p>
        </p:txBody>
      </p:sp>
      <p:sp>
        <p:nvSpPr>
          <p:cNvPr id="7" name="Shape 4"/>
          <p:cNvSpPr/>
          <p:nvPr/>
        </p:nvSpPr>
        <p:spPr>
          <a:xfrm>
            <a:off x="640080" y="224028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Shape 5"/>
          <p:cNvSpPr/>
          <p:nvPr/>
        </p:nvSpPr>
        <p:spPr>
          <a:xfrm>
            <a:off x="914400" y="2514600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/>
          <p:nvPr/>
        </p:nvSpPr>
        <p:spPr>
          <a:xfrm>
            <a:off x="9144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pt-BR" sz="1600" noProof="0" dirty="0"/>
          </a:p>
        </p:txBody>
      </p:sp>
      <p:sp>
        <p:nvSpPr>
          <p:cNvPr id="10" name="Text 7"/>
          <p:cNvSpPr/>
          <p:nvPr/>
        </p:nvSpPr>
        <p:spPr>
          <a:xfrm>
            <a:off x="1536192" y="246888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número 7 é primo.”</a:t>
            </a:r>
            <a:endParaRPr lang="pt-BR" sz="1500" noProof="0" dirty="0"/>
          </a:p>
        </p:txBody>
      </p:sp>
      <p:sp>
        <p:nvSpPr>
          <p:cNvPr id="11" name="Shape 8"/>
          <p:cNvSpPr/>
          <p:nvPr/>
        </p:nvSpPr>
        <p:spPr>
          <a:xfrm>
            <a:off x="914400" y="3520440"/>
            <a:ext cx="4709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2E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1051560" y="35204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i="1" noProof="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proposição?  V / F / não é</a:t>
            </a:r>
            <a:endParaRPr lang="pt-BR" sz="1050" noProof="0" dirty="0"/>
          </a:p>
        </p:txBody>
      </p:sp>
      <p:sp>
        <p:nvSpPr>
          <p:cNvPr id="13" name="Shape 10"/>
          <p:cNvSpPr/>
          <p:nvPr/>
        </p:nvSpPr>
        <p:spPr>
          <a:xfrm>
            <a:off x="6263640" y="224028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1"/>
          <p:cNvSpPr/>
          <p:nvPr/>
        </p:nvSpPr>
        <p:spPr>
          <a:xfrm>
            <a:off x="6537960" y="2514600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/>
          <p:cNvSpPr/>
          <p:nvPr/>
        </p:nvSpPr>
        <p:spPr>
          <a:xfrm>
            <a:off x="65379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pt-BR" sz="1600" noProof="0" dirty="0"/>
          </a:p>
        </p:txBody>
      </p:sp>
      <p:sp>
        <p:nvSpPr>
          <p:cNvPr id="16" name="Text 13"/>
          <p:cNvSpPr/>
          <p:nvPr/>
        </p:nvSpPr>
        <p:spPr>
          <a:xfrm>
            <a:off x="7159752" y="246888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“Ajude-me com a lista!”</a:t>
            </a:r>
            <a:endParaRPr lang="pt-BR" sz="1500" noProof="0" dirty="0"/>
          </a:p>
        </p:txBody>
      </p:sp>
      <p:sp>
        <p:nvSpPr>
          <p:cNvPr id="17" name="Shape 14"/>
          <p:cNvSpPr/>
          <p:nvPr/>
        </p:nvSpPr>
        <p:spPr>
          <a:xfrm>
            <a:off x="6537960" y="3520440"/>
            <a:ext cx="4709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2E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5"/>
          <p:cNvSpPr/>
          <p:nvPr/>
        </p:nvSpPr>
        <p:spPr>
          <a:xfrm>
            <a:off x="6675120" y="35204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i="1" noProof="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proposição?  V / F / não é</a:t>
            </a:r>
            <a:endParaRPr lang="pt-BR" sz="1050" noProof="0" dirty="0"/>
          </a:p>
        </p:txBody>
      </p:sp>
      <p:sp>
        <p:nvSpPr>
          <p:cNvPr id="19" name="Shape 16"/>
          <p:cNvSpPr/>
          <p:nvPr/>
        </p:nvSpPr>
        <p:spPr>
          <a:xfrm>
            <a:off x="640080" y="429768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7"/>
          <p:cNvSpPr/>
          <p:nvPr/>
        </p:nvSpPr>
        <p:spPr>
          <a:xfrm>
            <a:off x="914400" y="4572000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8"/>
          <p:cNvSpPr/>
          <p:nvPr/>
        </p:nvSpPr>
        <p:spPr>
          <a:xfrm>
            <a:off x="9144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pt-BR" sz="1600" noProof="0" dirty="0"/>
          </a:p>
        </p:txBody>
      </p:sp>
      <p:sp>
        <p:nvSpPr>
          <p:cNvPr id="22" name="Text 19"/>
          <p:cNvSpPr/>
          <p:nvPr/>
        </p:nvSpPr>
        <p:spPr>
          <a:xfrm>
            <a:off x="1536192" y="452628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 é par.”</a:t>
            </a:r>
            <a:endParaRPr lang="pt-BR" sz="1500" noProof="0" dirty="0"/>
          </a:p>
        </p:txBody>
      </p:sp>
      <p:sp>
        <p:nvSpPr>
          <p:cNvPr id="23" name="Shape 20"/>
          <p:cNvSpPr/>
          <p:nvPr/>
        </p:nvSpPr>
        <p:spPr>
          <a:xfrm>
            <a:off x="914400" y="5577840"/>
            <a:ext cx="4709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2E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1"/>
          <p:cNvSpPr/>
          <p:nvPr/>
        </p:nvSpPr>
        <p:spPr>
          <a:xfrm>
            <a:off x="1051560" y="55778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i="1" noProof="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proposição?  V / F / não é</a:t>
            </a:r>
            <a:endParaRPr lang="pt-BR" sz="1050" noProof="0" dirty="0"/>
          </a:p>
        </p:txBody>
      </p:sp>
      <p:sp>
        <p:nvSpPr>
          <p:cNvPr id="25" name="Shape 22"/>
          <p:cNvSpPr/>
          <p:nvPr/>
        </p:nvSpPr>
        <p:spPr>
          <a:xfrm>
            <a:off x="6263640" y="429768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3"/>
          <p:cNvSpPr/>
          <p:nvPr/>
        </p:nvSpPr>
        <p:spPr>
          <a:xfrm>
            <a:off x="6537960" y="4572000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4"/>
          <p:cNvSpPr/>
          <p:nvPr/>
        </p:nvSpPr>
        <p:spPr>
          <a:xfrm>
            <a:off x="653796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pt-BR" sz="1600" noProof="0" dirty="0"/>
          </a:p>
        </p:txBody>
      </p:sp>
      <p:sp>
        <p:nvSpPr>
          <p:cNvPr id="28" name="Text 25"/>
          <p:cNvSpPr/>
          <p:nvPr/>
        </p:nvSpPr>
        <p:spPr>
          <a:xfrm>
            <a:off x="7159752" y="4526280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 está frio ou não está.”</a:t>
            </a:r>
            <a:endParaRPr lang="pt-BR" sz="1500" noProof="0" dirty="0"/>
          </a:p>
        </p:txBody>
      </p:sp>
      <p:sp>
        <p:nvSpPr>
          <p:cNvPr id="29" name="Shape 26"/>
          <p:cNvSpPr/>
          <p:nvPr/>
        </p:nvSpPr>
        <p:spPr>
          <a:xfrm>
            <a:off x="6537960" y="5577840"/>
            <a:ext cx="4709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D8D2EF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0" name="Text 27"/>
          <p:cNvSpPr/>
          <p:nvPr/>
        </p:nvSpPr>
        <p:spPr>
          <a:xfrm>
            <a:off x="6675120" y="5577840"/>
            <a:ext cx="4434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i="1" noProof="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proposição?  V / F / não é</a:t>
            </a:r>
            <a:endParaRPr lang="pt-BR" sz="1050" noProof="0" dirty="0"/>
          </a:p>
        </p:txBody>
      </p:sp>
      <p:sp>
        <p:nvSpPr>
          <p:cNvPr id="31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1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Proposição ou não?</a:t>
            </a:r>
            <a:endParaRPr lang="pt-BR" sz="2400" noProof="0" dirty="0"/>
          </a:p>
        </p:txBody>
      </p:sp>
      <p:sp>
        <p:nvSpPr>
          <p:cNvPr id="6" name="Shape 3"/>
          <p:cNvSpPr/>
          <p:nvPr/>
        </p:nvSpPr>
        <p:spPr>
          <a:xfrm>
            <a:off x="640080" y="224028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4"/>
          <p:cNvSpPr/>
          <p:nvPr/>
        </p:nvSpPr>
        <p:spPr>
          <a:xfrm>
            <a:off x="914400" y="2514600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pt-BR" sz="1600" noProof="0" dirty="0"/>
          </a:p>
        </p:txBody>
      </p:sp>
      <p:sp>
        <p:nvSpPr>
          <p:cNvPr id="9" name="Text 6"/>
          <p:cNvSpPr/>
          <p:nvPr/>
        </p:nvSpPr>
        <p:spPr>
          <a:xfrm>
            <a:off x="1536192" y="24414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 número 7 é primo.”</a:t>
            </a:r>
            <a:endParaRPr lang="pt-BR" sz="1400" noProof="0" dirty="0"/>
          </a:p>
        </p:txBody>
      </p:sp>
      <p:sp>
        <p:nvSpPr>
          <p:cNvPr id="10" name="Shape 7"/>
          <p:cNvSpPr/>
          <p:nvPr/>
        </p:nvSpPr>
        <p:spPr>
          <a:xfrm>
            <a:off x="5212080" y="2459736"/>
            <a:ext cx="502920" cy="502920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5212080" y="2459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pt-BR" sz="1500" noProof="0" dirty="0"/>
          </a:p>
        </p:txBody>
      </p:sp>
      <p:sp>
        <p:nvSpPr>
          <p:cNvPr id="12" name="Text 9"/>
          <p:cNvSpPr/>
          <p:nvPr/>
        </p:nvSpPr>
        <p:spPr>
          <a:xfrm>
            <a:off x="914400" y="336499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pt-BR" sz="11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é primo — declarativa, valor V definido.</a:t>
            </a:r>
            <a:endParaRPr lang="pt-BR" sz="1150" noProof="0" dirty="0"/>
          </a:p>
        </p:txBody>
      </p:sp>
      <p:sp>
        <p:nvSpPr>
          <p:cNvPr id="13" name="Shape 10"/>
          <p:cNvSpPr/>
          <p:nvPr/>
        </p:nvSpPr>
        <p:spPr>
          <a:xfrm>
            <a:off x="6263640" y="224028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1"/>
          <p:cNvSpPr/>
          <p:nvPr/>
        </p:nvSpPr>
        <p:spPr>
          <a:xfrm>
            <a:off x="6537960" y="2514600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/>
          <p:cNvSpPr/>
          <p:nvPr/>
        </p:nvSpPr>
        <p:spPr>
          <a:xfrm>
            <a:off x="653796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pt-BR" sz="1600" noProof="0" dirty="0"/>
          </a:p>
        </p:txBody>
      </p:sp>
      <p:sp>
        <p:nvSpPr>
          <p:cNvPr id="16" name="Text 13"/>
          <p:cNvSpPr/>
          <p:nvPr/>
        </p:nvSpPr>
        <p:spPr>
          <a:xfrm>
            <a:off x="7159752" y="24414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“Ajude-me com a lista!”</a:t>
            </a:r>
            <a:endParaRPr lang="pt-BR" sz="1400" noProof="0" dirty="0"/>
          </a:p>
        </p:txBody>
      </p:sp>
      <p:sp>
        <p:nvSpPr>
          <p:cNvPr id="17" name="Shape 14"/>
          <p:cNvSpPr/>
          <p:nvPr/>
        </p:nvSpPr>
        <p:spPr>
          <a:xfrm>
            <a:off x="10835640" y="2459736"/>
            <a:ext cx="502920" cy="502920"/>
          </a:xfrm>
          <a:prstGeom prst="ellipse">
            <a:avLst/>
          </a:prstGeom>
          <a:solidFill>
            <a:srgbClr val="8A7FB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5"/>
          <p:cNvSpPr/>
          <p:nvPr/>
        </p:nvSpPr>
        <p:spPr>
          <a:xfrm>
            <a:off x="10835640" y="24597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pt-BR" sz="1500" noProof="0" dirty="0"/>
          </a:p>
        </p:txBody>
      </p:sp>
      <p:sp>
        <p:nvSpPr>
          <p:cNvPr id="19" name="Text 16"/>
          <p:cNvSpPr/>
          <p:nvPr/>
        </p:nvSpPr>
        <p:spPr>
          <a:xfrm>
            <a:off x="6537960" y="336499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pt-BR" sz="11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 pedido — não afirma nada.</a:t>
            </a:r>
            <a:endParaRPr lang="pt-BR" sz="1150" noProof="0" dirty="0"/>
          </a:p>
        </p:txBody>
      </p:sp>
      <p:sp>
        <p:nvSpPr>
          <p:cNvPr id="20" name="Shape 17"/>
          <p:cNvSpPr/>
          <p:nvPr/>
        </p:nvSpPr>
        <p:spPr>
          <a:xfrm>
            <a:off x="640080" y="429768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Shape 18"/>
          <p:cNvSpPr/>
          <p:nvPr/>
        </p:nvSpPr>
        <p:spPr>
          <a:xfrm>
            <a:off x="914400" y="4572000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2" name="Text 19"/>
          <p:cNvSpPr/>
          <p:nvPr/>
        </p:nvSpPr>
        <p:spPr>
          <a:xfrm>
            <a:off x="91440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pt-BR" sz="1600" noProof="0" dirty="0"/>
          </a:p>
        </p:txBody>
      </p:sp>
      <p:sp>
        <p:nvSpPr>
          <p:cNvPr id="23" name="Text 20"/>
          <p:cNvSpPr/>
          <p:nvPr/>
        </p:nvSpPr>
        <p:spPr>
          <a:xfrm>
            <a:off x="1536192" y="44988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“x é par.”</a:t>
            </a:r>
            <a:endParaRPr lang="pt-BR" sz="1400" noProof="0" dirty="0"/>
          </a:p>
        </p:txBody>
      </p:sp>
      <p:sp>
        <p:nvSpPr>
          <p:cNvPr id="24" name="Shape 21"/>
          <p:cNvSpPr/>
          <p:nvPr/>
        </p:nvSpPr>
        <p:spPr>
          <a:xfrm>
            <a:off x="5212080" y="4517136"/>
            <a:ext cx="502920" cy="502920"/>
          </a:xfrm>
          <a:prstGeom prst="ellipse">
            <a:avLst/>
          </a:prstGeom>
          <a:solidFill>
            <a:srgbClr val="8A7FB0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2"/>
          <p:cNvSpPr/>
          <p:nvPr/>
        </p:nvSpPr>
        <p:spPr>
          <a:xfrm>
            <a:off x="5212080" y="4517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pt-BR" sz="1500" noProof="0" dirty="0"/>
          </a:p>
        </p:txBody>
      </p:sp>
      <p:sp>
        <p:nvSpPr>
          <p:cNvPr id="26" name="Text 23"/>
          <p:cNvSpPr/>
          <p:nvPr/>
        </p:nvSpPr>
        <p:spPr>
          <a:xfrm>
            <a:off x="914400" y="542239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pt-BR" sz="11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Sentença aberta — depende do valor de x.</a:t>
            </a:r>
            <a:endParaRPr lang="pt-BR" sz="1150" noProof="0" dirty="0"/>
          </a:p>
        </p:txBody>
      </p:sp>
      <p:sp>
        <p:nvSpPr>
          <p:cNvPr id="27" name="Shape 24"/>
          <p:cNvSpPr/>
          <p:nvPr/>
        </p:nvSpPr>
        <p:spPr>
          <a:xfrm>
            <a:off x="6263640" y="4297680"/>
            <a:ext cx="5257800" cy="1783080"/>
          </a:xfrm>
          <a:prstGeom prst="roundRect">
            <a:avLst>
              <a:gd name="adj" fmla="val 615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8" name="Shape 25"/>
          <p:cNvSpPr/>
          <p:nvPr/>
        </p:nvSpPr>
        <p:spPr>
          <a:xfrm>
            <a:off x="6537960" y="4572000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9" name="Text 26"/>
          <p:cNvSpPr/>
          <p:nvPr/>
        </p:nvSpPr>
        <p:spPr>
          <a:xfrm>
            <a:off x="653796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pt-BR" sz="1600" noProof="0" dirty="0"/>
          </a:p>
        </p:txBody>
      </p:sp>
      <p:sp>
        <p:nvSpPr>
          <p:cNvPr id="30" name="Text 27"/>
          <p:cNvSpPr/>
          <p:nvPr/>
        </p:nvSpPr>
        <p:spPr>
          <a:xfrm>
            <a:off x="7159752" y="44988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“Ou está frio ou não está.”</a:t>
            </a:r>
            <a:endParaRPr lang="pt-BR" sz="1400" noProof="0" dirty="0"/>
          </a:p>
        </p:txBody>
      </p:sp>
      <p:sp>
        <p:nvSpPr>
          <p:cNvPr id="31" name="Shape 28"/>
          <p:cNvSpPr/>
          <p:nvPr/>
        </p:nvSpPr>
        <p:spPr>
          <a:xfrm>
            <a:off x="10835640" y="4517136"/>
            <a:ext cx="502920" cy="502920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32" name="Text 29"/>
          <p:cNvSpPr/>
          <p:nvPr/>
        </p:nvSpPr>
        <p:spPr>
          <a:xfrm>
            <a:off x="10835640" y="45171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pt-BR" sz="1500" noProof="0" dirty="0"/>
          </a:p>
        </p:txBody>
      </p:sp>
      <p:sp>
        <p:nvSpPr>
          <p:cNvPr id="33" name="Text 30"/>
          <p:cNvSpPr/>
          <p:nvPr/>
        </p:nvSpPr>
        <p:spPr>
          <a:xfrm>
            <a:off x="6537960" y="542239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pt-BR" sz="11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Composta (∨ com ¬) — sempre verdadeira: uma tautologia.</a:t>
            </a:r>
            <a:endParaRPr lang="pt-BR" sz="1150" noProof="0" dirty="0"/>
          </a:p>
        </p:txBody>
      </p:sp>
      <p:sp>
        <p:nvSpPr>
          <p:cNvPr id="34" name="Text 3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Simples ou composta?</a:t>
            </a:r>
            <a:endParaRPr lang="pt-BR" sz="2400" noProof="0" dirty="0"/>
          </a:p>
        </p:txBody>
      </p:sp>
      <p:sp>
        <p:nvSpPr>
          <p:cNvPr id="6" name="Shape 3"/>
          <p:cNvSpPr/>
          <p:nvPr/>
        </p:nvSpPr>
        <p:spPr>
          <a:xfrm>
            <a:off x="640080" y="1828800"/>
            <a:ext cx="10881360" cy="3566160"/>
          </a:xfrm>
          <a:prstGeom prst="roundRect">
            <a:avLst>
              <a:gd name="adj" fmla="val 3590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4"/>
          <p:cNvSpPr/>
          <p:nvPr/>
        </p:nvSpPr>
        <p:spPr>
          <a:xfrm>
            <a:off x="1005840" y="214884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pt-BR" sz="1600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sentenças do Exercício 1 que são proposições, quais são simples e quais são compostas? Identifique os conectivos presentes em cada uma das compostas.</a:t>
            </a:r>
            <a:endParaRPr lang="pt-BR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1005840" y="3246120"/>
            <a:ext cx="101498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Shape 6"/>
          <p:cNvSpPr/>
          <p:nvPr/>
        </p:nvSpPr>
        <p:spPr>
          <a:xfrm>
            <a:off x="1234440" y="3474720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35661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3493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</a:t>
            </a:r>
            <a:endParaRPr lang="pt-BR" sz="1300" noProof="0" dirty="0"/>
          </a:p>
        </p:txBody>
      </p:sp>
      <p:sp>
        <p:nvSpPr>
          <p:cNvPr id="12" name="Text 8"/>
          <p:cNvSpPr/>
          <p:nvPr/>
        </p:nvSpPr>
        <p:spPr>
          <a:xfrm>
            <a:off x="1828800" y="3822192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3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item (d) — “Ou está frio ou não está.” — é composta: junta “está frio” com “não está frio” usando ou. E é verdadeira sempre, não importa a temperatura real.</a:t>
            </a:r>
            <a:endParaRPr lang="pt-BR" sz="1300" noProof="0" dirty="0"/>
          </a:p>
        </p:txBody>
      </p:sp>
      <p:sp>
        <p:nvSpPr>
          <p:cNvPr id="13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2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Simples ou composta?</a:t>
            </a:r>
            <a:endParaRPr lang="pt-BR" sz="2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(a) e (d) são proposições — (b) e (c) ficam de fora da classificação.</a:t>
            </a:r>
            <a:endParaRPr lang="pt-BR" sz="1300" noProof="0" dirty="0"/>
          </a:p>
        </p:txBody>
      </p:sp>
      <p:sp>
        <p:nvSpPr>
          <p:cNvPr id="7" name="Shape 4"/>
          <p:cNvSpPr/>
          <p:nvPr/>
        </p:nvSpPr>
        <p:spPr>
          <a:xfrm>
            <a:off x="640080" y="205740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i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 “O número 7 é primo.”</a:t>
            </a:r>
            <a:endParaRPr lang="pt-BR" sz="1500" noProof="0" dirty="0"/>
          </a:p>
        </p:txBody>
      </p:sp>
      <p:sp>
        <p:nvSpPr>
          <p:cNvPr id="9" name="Shape 6"/>
          <p:cNvSpPr/>
          <p:nvPr/>
        </p:nvSpPr>
        <p:spPr>
          <a:xfrm>
            <a:off x="914400" y="301752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651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91440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</a:t>
            </a:r>
            <a:endParaRPr lang="pt-BR" sz="1400" noProof="0" dirty="0"/>
          </a:p>
        </p:txBody>
      </p:sp>
      <p:sp>
        <p:nvSpPr>
          <p:cNvPr id="11" name="Text 8"/>
          <p:cNvSpPr/>
          <p:nvPr/>
        </p:nvSpPr>
        <p:spPr>
          <a:xfrm>
            <a:off x="914400" y="3749040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2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tem conectivo — é uma única afirmação atômica.</a:t>
            </a:r>
            <a:endParaRPr lang="pt-BR" sz="1250" noProof="0" dirty="0"/>
          </a:p>
        </p:txBody>
      </p:sp>
      <p:sp>
        <p:nvSpPr>
          <p:cNvPr id="12" name="Shape 9"/>
          <p:cNvSpPr/>
          <p:nvPr/>
        </p:nvSpPr>
        <p:spPr>
          <a:xfrm>
            <a:off x="6263640" y="2057400"/>
            <a:ext cx="5257800" cy="3383280"/>
          </a:xfrm>
          <a:prstGeom prst="roundRect">
            <a:avLst>
              <a:gd name="adj" fmla="val 3243"/>
            </a:avLst>
          </a:prstGeom>
          <a:solidFill>
            <a:srgbClr val="141B4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/>
          <p:nvPr/>
        </p:nvSpPr>
        <p:spPr>
          <a:xfrm>
            <a:off x="6537960" y="2331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00" b="1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 “Ou está frio ou não está.”</a:t>
            </a:r>
            <a:endParaRPr lang="pt-BR" sz="1500" noProof="0" dirty="0"/>
          </a:p>
        </p:txBody>
      </p:sp>
      <p:sp>
        <p:nvSpPr>
          <p:cNvPr id="14" name="Shape 11"/>
          <p:cNvSpPr/>
          <p:nvPr/>
        </p:nvSpPr>
        <p:spPr>
          <a:xfrm>
            <a:off x="6537960" y="3017520"/>
            <a:ext cx="1920240" cy="502920"/>
          </a:xfrm>
          <a:prstGeom prst="roundRect">
            <a:avLst>
              <a:gd name="adj" fmla="val 50909"/>
            </a:avLst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/>
          <p:cNvSpPr/>
          <p:nvPr/>
        </p:nvSpPr>
        <p:spPr>
          <a:xfrm>
            <a:off x="6537960" y="30175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b="1" noProof="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Composta</a:t>
            </a:r>
            <a:endParaRPr lang="pt-BR" sz="1400" noProof="0" dirty="0"/>
          </a:p>
        </p:txBody>
      </p:sp>
      <p:sp>
        <p:nvSpPr>
          <p:cNvPr id="16" name="Text 13"/>
          <p:cNvSpPr/>
          <p:nvPr/>
        </p:nvSpPr>
        <p:spPr>
          <a:xfrm>
            <a:off x="6537960" y="37490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está frio </a:t>
            </a:r>
            <a:r>
              <a:rPr lang="pt-BR" sz="1400" b="1" noProof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∨ </a:t>
            </a:r>
            <a:r>
              <a:rPr lang="pt-BR" sz="1400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¬está frio</a:t>
            </a:r>
            <a:endParaRPr lang="pt-BR" sz="1400" noProof="0" dirty="0"/>
          </a:p>
        </p:txBody>
      </p:sp>
      <p:sp>
        <p:nvSpPr>
          <p:cNvPr id="17" name="Text 14"/>
          <p:cNvSpPr/>
          <p:nvPr/>
        </p:nvSpPr>
        <p:spPr>
          <a:xfrm>
            <a:off x="6537960" y="420624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50" i="1" noProof="0" dirty="0">
                <a:solidFill>
                  <a:srgbClr val="C7CB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Conectivos: ∨ (disjunção) e ¬ (negação).</a:t>
            </a:r>
            <a:endParaRPr lang="pt-BR" sz="1250" noProof="0" dirty="0"/>
          </a:p>
        </p:txBody>
      </p:sp>
      <p:sp>
        <p:nvSpPr>
          <p:cNvPr id="18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Sentença aberta</a:t>
            </a:r>
            <a:endParaRPr lang="pt-BR" sz="2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4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sentença aberta abaixo, encontre um valor de x que a torne verdadeira e outro que a torne falsa.</a:t>
            </a:r>
            <a:endParaRPr lang="pt-BR" sz="1400" noProof="0" dirty="0"/>
          </a:p>
        </p:txBody>
      </p:sp>
      <p:sp>
        <p:nvSpPr>
          <p:cNvPr id="7" name="Shape 4"/>
          <p:cNvSpPr/>
          <p:nvPr/>
        </p:nvSpPr>
        <p:spPr>
          <a:xfrm>
            <a:off x="4023360" y="233172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EDEAF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4023360" y="23317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30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+ 3 = 10</a:t>
            </a:r>
            <a:endParaRPr lang="pt-BR" sz="3000" noProof="0" dirty="0"/>
          </a:p>
        </p:txBody>
      </p:sp>
      <p:sp>
        <p:nvSpPr>
          <p:cNvPr id="9" name="Shape 6"/>
          <p:cNvSpPr/>
          <p:nvPr/>
        </p:nvSpPr>
        <p:spPr>
          <a:xfrm>
            <a:off x="640080" y="370332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914400" y="39319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que torna V</a:t>
            </a:r>
            <a:endParaRPr lang="pt-BR" sz="1450" noProof="0" dirty="0"/>
          </a:p>
        </p:txBody>
      </p:sp>
      <p:sp>
        <p:nvSpPr>
          <p:cNvPr id="11" name="Shape 8"/>
          <p:cNvSpPr/>
          <p:nvPr/>
        </p:nvSpPr>
        <p:spPr>
          <a:xfrm>
            <a:off x="914400" y="438912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914400" y="4389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AFA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____</a:t>
            </a:r>
            <a:endParaRPr lang="pt-BR" sz="1400" noProof="0" dirty="0"/>
          </a:p>
        </p:txBody>
      </p:sp>
      <p:sp>
        <p:nvSpPr>
          <p:cNvPr id="13" name="Text 10"/>
          <p:cNvSpPr/>
          <p:nvPr/>
        </p:nvSpPr>
        <p:spPr>
          <a:xfrm>
            <a:off x="914400" y="5029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pt-BR" sz="11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 confira: substituindo, a igualdade vira verdadeira.</a:t>
            </a:r>
            <a:endParaRPr lang="pt-BR" sz="1150" noProof="0" dirty="0"/>
          </a:p>
        </p:txBody>
      </p:sp>
      <p:sp>
        <p:nvSpPr>
          <p:cNvPr id="14" name="Shape 11"/>
          <p:cNvSpPr/>
          <p:nvPr/>
        </p:nvSpPr>
        <p:spPr>
          <a:xfrm>
            <a:off x="6263640" y="3703320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/>
          <p:cNvSpPr/>
          <p:nvPr/>
        </p:nvSpPr>
        <p:spPr>
          <a:xfrm>
            <a:off x="6537960" y="39319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que torna F</a:t>
            </a:r>
            <a:endParaRPr lang="pt-BR" sz="1450" noProof="0" dirty="0"/>
          </a:p>
        </p:txBody>
      </p:sp>
      <p:sp>
        <p:nvSpPr>
          <p:cNvPr id="16" name="Shape 13"/>
          <p:cNvSpPr/>
          <p:nvPr/>
        </p:nvSpPr>
        <p:spPr>
          <a:xfrm>
            <a:off x="6537960" y="438912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651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4"/>
          <p:cNvSpPr/>
          <p:nvPr/>
        </p:nvSpPr>
        <p:spPr>
          <a:xfrm>
            <a:off x="6537960" y="4389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400" noProof="0" dirty="0">
                <a:solidFill>
                  <a:srgbClr val="AFA9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____</a:t>
            </a:r>
            <a:endParaRPr lang="pt-BR" sz="1400" noProof="0" dirty="0"/>
          </a:p>
        </p:txBody>
      </p:sp>
      <p:sp>
        <p:nvSpPr>
          <p:cNvPr id="18" name="Text 15"/>
          <p:cNvSpPr/>
          <p:nvPr/>
        </p:nvSpPr>
        <p:spPr>
          <a:xfrm>
            <a:off x="6537960" y="50292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pt-BR" sz="1150" i="1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 confira: substituindo, a igualdade vira falsa.</a:t>
            </a:r>
            <a:endParaRPr lang="pt-BR" sz="1150" noProof="0" dirty="0"/>
          </a:p>
        </p:txBody>
      </p:sp>
      <p:sp>
        <p:nvSpPr>
          <p:cNvPr id="19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3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Sentença aberta</a:t>
            </a:r>
            <a:endParaRPr lang="pt-BR" sz="2400" noProof="0" dirty="0"/>
          </a:p>
        </p:txBody>
      </p:sp>
      <p:sp>
        <p:nvSpPr>
          <p:cNvPr id="6" name="Shape 3"/>
          <p:cNvSpPr/>
          <p:nvPr/>
        </p:nvSpPr>
        <p:spPr>
          <a:xfrm>
            <a:off x="4023360" y="1737360"/>
            <a:ext cx="4114800" cy="914400"/>
          </a:xfrm>
          <a:prstGeom prst="roundRect">
            <a:avLst>
              <a:gd name="adj" fmla="val 12000"/>
            </a:avLst>
          </a:prstGeom>
          <a:solidFill>
            <a:srgbClr val="EDEAF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4"/>
          <p:cNvSpPr/>
          <p:nvPr/>
        </p:nvSpPr>
        <p:spPr>
          <a:xfrm>
            <a:off x="4023360" y="173736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28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+ 3 = 10</a:t>
            </a:r>
            <a:endParaRPr lang="pt-BR" sz="2800" noProof="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/>
          <p:nvPr/>
        </p:nvSpPr>
        <p:spPr>
          <a:xfrm>
            <a:off x="914400" y="3154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que torna V</a:t>
            </a:r>
            <a:endParaRPr lang="pt-BR" sz="1450" noProof="0" dirty="0"/>
          </a:p>
        </p:txBody>
      </p:sp>
      <p:sp>
        <p:nvSpPr>
          <p:cNvPr id="10" name="Shape 7"/>
          <p:cNvSpPr/>
          <p:nvPr/>
        </p:nvSpPr>
        <p:spPr>
          <a:xfrm>
            <a:off x="5120640" y="3108960"/>
            <a:ext cx="502920" cy="502920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5120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pt-BR" sz="1500" noProof="0" dirty="0"/>
          </a:p>
        </p:txBody>
      </p:sp>
      <p:sp>
        <p:nvSpPr>
          <p:cNvPr id="12" name="Shape 9"/>
          <p:cNvSpPr/>
          <p:nvPr/>
        </p:nvSpPr>
        <p:spPr>
          <a:xfrm>
            <a:off x="914400" y="370332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651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0"/>
          <p:cNvSpPr/>
          <p:nvPr/>
        </p:nvSpPr>
        <p:spPr>
          <a:xfrm>
            <a:off x="914400" y="37033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7</a:t>
            </a:r>
            <a:endParaRPr lang="pt-BR" sz="1600" noProof="0" dirty="0"/>
          </a:p>
        </p:txBody>
      </p:sp>
      <p:sp>
        <p:nvSpPr>
          <p:cNvPr id="14" name="Text 11"/>
          <p:cNvSpPr/>
          <p:nvPr/>
        </p:nvSpPr>
        <p:spPr>
          <a:xfrm>
            <a:off x="914400" y="43891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6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+ 3 = 10  ✓</a:t>
            </a:r>
            <a:endParaRPr lang="pt-BR" sz="1300" noProof="0" dirty="0"/>
          </a:p>
        </p:txBody>
      </p:sp>
      <p:sp>
        <p:nvSpPr>
          <p:cNvPr id="15" name="Shape 12"/>
          <p:cNvSpPr/>
          <p:nvPr/>
        </p:nvSpPr>
        <p:spPr>
          <a:xfrm>
            <a:off x="6263640" y="292608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3"/>
          <p:cNvSpPr/>
          <p:nvPr/>
        </p:nvSpPr>
        <p:spPr>
          <a:xfrm>
            <a:off x="6537960" y="315468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que torna F</a:t>
            </a:r>
            <a:endParaRPr lang="pt-BR" sz="1450" noProof="0" dirty="0"/>
          </a:p>
        </p:txBody>
      </p:sp>
      <p:sp>
        <p:nvSpPr>
          <p:cNvPr id="17" name="Shape 14"/>
          <p:cNvSpPr/>
          <p:nvPr/>
        </p:nvSpPr>
        <p:spPr>
          <a:xfrm>
            <a:off x="10744200" y="3108960"/>
            <a:ext cx="502920" cy="502920"/>
          </a:xfrm>
          <a:prstGeom prst="ellipse">
            <a:avLst/>
          </a:prstGeom>
          <a:solidFill>
            <a:srgbClr val="E5533D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5"/>
          <p:cNvSpPr/>
          <p:nvPr/>
        </p:nvSpPr>
        <p:spPr>
          <a:xfrm>
            <a:off x="107442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pt-BR" sz="1500" noProof="0" dirty="0"/>
          </a:p>
        </p:txBody>
      </p:sp>
      <p:sp>
        <p:nvSpPr>
          <p:cNvPr id="19" name="Shape 16"/>
          <p:cNvSpPr/>
          <p:nvPr/>
        </p:nvSpPr>
        <p:spPr>
          <a:xfrm>
            <a:off x="6537960" y="3703320"/>
            <a:ext cx="4709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6510">
            <a:solidFill>
              <a:srgbClr val="6C4BC1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7"/>
          <p:cNvSpPr/>
          <p:nvPr/>
        </p:nvSpPr>
        <p:spPr>
          <a:xfrm>
            <a:off x="6537960" y="37033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0  (ou qualquer x ≠ 7)</a:t>
            </a:r>
            <a:endParaRPr lang="pt-BR" sz="1600" noProof="0" dirty="0"/>
          </a:p>
        </p:txBody>
      </p:sp>
      <p:sp>
        <p:nvSpPr>
          <p:cNvPr id="21" name="Text 18"/>
          <p:cNvSpPr/>
          <p:nvPr/>
        </p:nvSpPr>
        <p:spPr>
          <a:xfrm>
            <a:off x="6537960" y="43891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6B6B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+ 3 = 3 ≠ 10</a:t>
            </a:r>
            <a:endParaRPr lang="pt-BR" sz="1300" noProof="0" dirty="0"/>
          </a:p>
        </p:txBody>
      </p:sp>
      <p:sp>
        <p:nvSpPr>
          <p:cNvPr id="22" name="Text 1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89611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4 · DESAFIO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Voltando à Aula 02</a:t>
            </a:r>
            <a:endParaRPr lang="pt-BR" sz="2400" noProof="0" dirty="0"/>
          </a:p>
        </p:txBody>
      </p:sp>
      <p:sp>
        <p:nvSpPr>
          <p:cNvPr id="6" name="Text 3"/>
          <p:cNvSpPr/>
          <p:nvPr/>
        </p:nvSpPr>
        <p:spPr>
          <a:xfrm>
            <a:off x="640080" y="1645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4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 do desafio das fantasias, na </a:t>
            </a:r>
            <a:r>
              <a:rPr lang="pt-BR" sz="1400" u="sng" noProof="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Aula 02</a:t>
            </a:r>
            <a:r>
              <a:rPr lang="pt-BR" sz="14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Escreva as três pistas em português formal, como proposições, usando:</a:t>
            </a:r>
            <a:endParaRPr lang="pt-BR" sz="1400" noProof="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3502152" cy="685800"/>
          </a:xfrm>
          <a:prstGeom prst="roundRect">
            <a:avLst>
              <a:gd name="adj" fmla="val 13333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 </a:t>
            </a:r>
            <a:r>
              <a:rPr lang="pt-BR" sz="13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“Ana está de pirata”</a:t>
            </a:r>
            <a:endParaRPr lang="pt-BR" sz="1300" noProof="0" dirty="0"/>
          </a:p>
        </p:txBody>
      </p:sp>
      <p:sp>
        <p:nvSpPr>
          <p:cNvPr id="9" name="Shape 6"/>
          <p:cNvSpPr/>
          <p:nvPr/>
        </p:nvSpPr>
        <p:spPr>
          <a:xfrm>
            <a:off x="4288536" y="2331720"/>
            <a:ext cx="3502152" cy="685800"/>
          </a:xfrm>
          <a:prstGeom prst="roundRect">
            <a:avLst>
              <a:gd name="adj" fmla="val 13333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4471416" y="233172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 </a:t>
            </a:r>
            <a:r>
              <a:rPr lang="pt-BR" sz="13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“Bruno está de super-herói”</a:t>
            </a:r>
            <a:endParaRPr lang="pt-BR" sz="1300" noProof="0" dirty="0"/>
          </a:p>
        </p:txBody>
      </p:sp>
      <p:sp>
        <p:nvSpPr>
          <p:cNvPr id="11" name="Shape 8"/>
          <p:cNvSpPr/>
          <p:nvPr/>
        </p:nvSpPr>
        <p:spPr>
          <a:xfrm>
            <a:off x="7936992" y="2331720"/>
            <a:ext cx="3502152" cy="685800"/>
          </a:xfrm>
          <a:prstGeom prst="roundRect">
            <a:avLst>
              <a:gd name="adj" fmla="val 13333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2" name="Text 9"/>
          <p:cNvSpPr/>
          <p:nvPr/>
        </p:nvSpPr>
        <p:spPr>
          <a:xfrm>
            <a:off x="8119872" y="233172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 </a:t>
            </a:r>
            <a:r>
              <a:rPr lang="pt-BR" sz="1300" noProof="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“Caio está de palhaço”</a:t>
            </a:r>
            <a:endParaRPr lang="pt-BR" sz="1300" noProof="0" dirty="0"/>
          </a:p>
        </p:txBody>
      </p:sp>
      <p:sp>
        <p:nvSpPr>
          <p:cNvPr id="13" name="Shape 10"/>
          <p:cNvSpPr/>
          <p:nvPr/>
        </p:nvSpPr>
        <p:spPr>
          <a:xfrm>
            <a:off x="640080" y="33375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1"/>
          <p:cNvSpPr/>
          <p:nvPr/>
        </p:nvSpPr>
        <p:spPr>
          <a:xfrm>
            <a:off x="868680" y="3520440"/>
            <a:ext cx="502920" cy="50292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/>
          <p:cNvSpPr/>
          <p:nvPr/>
        </p:nvSpPr>
        <p:spPr>
          <a:xfrm>
            <a:off x="8686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1800" noProof="0" dirty="0"/>
          </a:p>
        </p:txBody>
      </p:sp>
      <p:sp>
        <p:nvSpPr>
          <p:cNvPr id="16" name="Text 13"/>
          <p:cNvSpPr/>
          <p:nvPr/>
        </p:nvSpPr>
        <p:spPr>
          <a:xfrm>
            <a:off x="1554480" y="33375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não estava vestida de pirata.</a:t>
            </a:r>
            <a:endParaRPr lang="pt-BR" sz="1400" noProof="0" dirty="0"/>
          </a:p>
        </p:txBody>
      </p:sp>
      <p:sp>
        <p:nvSpPr>
          <p:cNvPr id="17" name="Shape 14"/>
          <p:cNvSpPr/>
          <p:nvPr/>
        </p:nvSpPr>
        <p:spPr>
          <a:xfrm>
            <a:off x="7360920" y="3493008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141B41"/>
          </a:solidFill>
          <a:ln w="12700">
            <a:solidFill>
              <a:srgbClr val="4B529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8" name="Text 15"/>
          <p:cNvSpPr/>
          <p:nvPr/>
        </p:nvSpPr>
        <p:spPr>
          <a:xfrm>
            <a:off x="7543800" y="349300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 aqui, em símbolos</a:t>
            </a:r>
            <a:endParaRPr lang="pt-BR" sz="1100" noProof="0" dirty="0"/>
          </a:p>
        </p:txBody>
      </p:sp>
      <p:sp>
        <p:nvSpPr>
          <p:cNvPr id="19" name="Shape 16"/>
          <p:cNvSpPr/>
          <p:nvPr/>
        </p:nvSpPr>
        <p:spPr>
          <a:xfrm>
            <a:off x="640080" y="43434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Shape 17"/>
          <p:cNvSpPr/>
          <p:nvPr/>
        </p:nvSpPr>
        <p:spPr>
          <a:xfrm>
            <a:off x="868680" y="4526280"/>
            <a:ext cx="502920" cy="50292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8"/>
          <p:cNvSpPr/>
          <p:nvPr/>
        </p:nvSpPr>
        <p:spPr>
          <a:xfrm>
            <a:off x="868680" y="4526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1800" noProof="0" dirty="0"/>
          </a:p>
        </p:txBody>
      </p:sp>
      <p:sp>
        <p:nvSpPr>
          <p:cNvPr id="22" name="Text 19"/>
          <p:cNvSpPr/>
          <p:nvPr/>
        </p:nvSpPr>
        <p:spPr>
          <a:xfrm>
            <a:off x="1554480" y="43434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estava de super-herói não é Bruno.</a:t>
            </a:r>
            <a:endParaRPr lang="pt-BR" sz="1400" noProof="0" dirty="0"/>
          </a:p>
        </p:txBody>
      </p:sp>
      <p:sp>
        <p:nvSpPr>
          <p:cNvPr id="23" name="Shape 20"/>
          <p:cNvSpPr/>
          <p:nvPr/>
        </p:nvSpPr>
        <p:spPr>
          <a:xfrm>
            <a:off x="7360920" y="4498848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141B41"/>
          </a:solidFill>
          <a:ln w="12700">
            <a:solidFill>
              <a:srgbClr val="4B529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4" name="Text 21"/>
          <p:cNvSpPr/>
          <p:nvPr/>
        </p:nvSpPr>
        <p:spPr>
          <a:xfrm>
            <a:off x="7543800" y="449884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 aqui, em símbolos</a:t>
            </a:r>
            <a:endParaRPr lang="pt-BR" sz="1100" noProof="0" dirty="0"/>
          </a:p>
        </p:txBody>
      </p:sp>
      <p:sp>
        <p:nvSpPr>
          <p:cNvPr id="25" name="Shape 22"/>
          <p:cNvSpPr/>
          <p:nvPr/>
        </p:nvSpPr>
        <p:spPr>
          <a:xfrm>
            <a:off x="640080" y="53492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6" name="Shape 23"/>
          <p:cNvSpPr/>
          <p:nvPr/>
        </p:nvSpPr>
        <p:spPr>
          <a:xfrm>
            <a:off x="868680" y="5532120"/>
            <a:ext cx="502920" cy="50292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7" name="Text 24"/>
          <p:cNvSpPr/>
          <p:nvPr/>
        </p:nvSpPr>
        <p:spPr>
          <a:xfrm>
            <a:off x="868680" y="5532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1800" noProof="0" dirty="0"/>
          </a:p>
        </p:txBody>
      </p:sp>
      <p:sp>
        <p:nvSpPr>
          <p:cNvPr id="28" name="Text 25"/>
          <p:cNvSpPr/>
          <p:nvPr/>
        </p:nvSpPr>
        <p:spPr>
          <a:xfrm>
            <a:off x="1554480" y="534924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não estava de palhaço nem de super-herói.</a:t>
            </a:r>
            <a:endParaRPr lang="pt-BR" sz="1400" noProof="0" dirty="0"/>
          </a:p>
        </p:txBody>
      </p:sp>
      <p:sp>
        <p:nvSpPr>
          <p:cNvPr id="29" name="Shape 26"/>
          <p:cNvSpPr/>
          <p:nvPr/>
        </p:nvSpPr>
        <p:spPr>
          <a:xfrm>
            <a:off x="7360920" y="5504688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141B41"/>
          </a:solidFill>
          <a:ln w="12700">
            <a:solidFill>
              <a:srgbClr val="4B5299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0" name="Text 27"/>
          <p:cNvSpPr/>
          <p:nvPr/>
        </p:nvSpPr>
        <p:spPr>
          <a:xfrm>
            <a:off x="7543800" y="550468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escreva aqui, em símbolos</a:t>
            </a:r>
            <a:endParaRPr lang="pt-BR" sz="1100" noProof="0" dirty="0"/>
          </a:p>
        </p:txBody>
      </p:sp>
      <p:sp>
        <p:nvSpPr>
          <p:cNvPr id="31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b="1" kern="0" spc="15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4</a:t>
            </a:r>
            <a:endParaRPr lang="pt-BR" sz="1200" noProof="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Voltando à Aula 02</a:t>
            </a:r>
            <a:endParaRPr lang="pt-BR" sz="2400" noProof="0" dirty="0"/>
          </a:p>
        </p:txBody>
      </p:sp>
      <p:sp>
        <p:nvSpPr>
          <p:cNvPr id="6" name="Shape 3"/>
          <p:cNvSpPr/>
          <p:nvPr/>
        </p:nvSpPr>
        <p:spPr>
          <a:xfrm>
            <a:off x="640080" y="17373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7" name="Shape 4"/>
          <p:cNvSpPr/>
          <p:nvPr/>
        </p:nvSpPr>
        <p:spPr>
          <a:xfrm>
            <a:off x="868680" y="1920240"/>
            <a:ext cx="502920" cy="50292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8686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1800" noProof="0" dirty="0"/>
          </a:p>
        </p:txBody>
      </p:sp>
      <p:sp>
        <p:nvSpPr>
          <p:cNvPr id="9" name="Text 6"/>
          <p:cNvSpPr/>
          <p:nvPr/>
        </p:nvSpPr>
        <p:spPr>
          <a:xfrm>
            <a:off x="1554480" y="173736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não estava vestida de pirata.</a:t>
            </a:r>
            <a:endParaRPr lang="pt-BR" sz="1400" noProof="0" dirty="0"/>
          </a:p>
        </p:txBody>
      </p:sp>
      <p:sp>
        <p:nvSpPr>
          <p:cNvPr id="10" name="Shape 7"/>
          <p:cNvSpPr/>
          <p:nvPr/>
        </p:nvSpPr>
        <p:spPr>
          <a:xfrm>
            <a:off x="7360920" y="1892808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141B41"/>
          </a:solidFill>
          <a:ln w="16510">
            <a:solidFill>
              <a:srgbClr val="2FE6C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7360920" y="189280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¬p</a:t>
            </a:r>
            <a:endParaRPr lang="pt-BR" sz="1600" noProof="0" dirty="0"/>
          </a:p>
        </p:txBody>
      </p:sp>
      <p:sp>
        <p:nvSpPr>
          <p:cNvPr id="12" name="Shape 9"/>
          <p:cNvSpPr/>
          <p:nvPr/>
        </p:nvSpPr>
        <p:spPr>
          <a:xfrm>
            <a:off x="640080" y="27432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Shape 10"/>
          <p:cNvSpPr/>
          <p:nvPr/>
        </p:nvSpPr>
        <p:spPr>
          <a:xfrm>
            <a:off x="868680" y="2926080"/>
            <a:ext cx="502920" cy="50292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86868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1800" noProof="0" dirty="0"/>
          </a:p>
        </p:txBody>
      </p:sp>
      <p:sp>
        <p:nvSpPr>
          <p:cNvPr id="15" name="Text 12"/>
          <p:cNvSpPr/>
          <p:nvPr/>
        </p:nvSpPr>
        <p:spPr>
          <a:xfrm>
            <a:off x="1554480" y="274320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estava de super-herói não é Bruno.</a:t>
            </a:r>
            <a:endParaRPr lang="pt-BR" sz="1400" noProof="0" dirty="0"/>
          </a:p>
        </p:txBody>
      </p:sp>
      <p:sp>
        <p:nvSpPr>
          <p:cNvPr id="16" name="Shape 13"/>
          <p:cNvSpPr/>
          <p:nvPr/>
        </p:nvSpPr>
        <p:spPr>
          <a:xfrm>
            <a:off x="7360920" y="2898648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141B41"/>
          </a:solidFill>
          <a:ln w="16510">
            <a:solidFill>
              <a:srgbClr val="2FE6C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4"/>
          <p:cNvSpPr/>
          <p:nvPr/>
        </p:nvSpPr>
        <p:spPr>
          <a:xfrm>
            <a:off x="7360920" y="289864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¬q</a:t>
            </a:r>
            <a:endParaRPr lang="pt-BR" sz="1600" noProof="0" dirty="0"/>
          </a:p>
        </p:txBody>
      </p:sp>
      <p:sp>
        <p:nvSpPr>
          <p:cNvPr id="18" name="Shape 15"/>
          <p:cNvSpPr/>
          <p:nvPr/>
        </p:nvSpPr>
        <p:spPr>
          <a:xfrm>
            <a:off x="640080" y="37490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232C63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9" name="Shape 16"/>
          <p:cNvSpPr/>
          <p:nvPr/>
        </p:nvSpPr>
        <p:spPr>
          <a:xfrm>
            <a:off x="868680" y="3931920"/>
            <a:ext cx="502920" cy="50292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7"/>
          <p:cNvSpPr/>
          <p:nvPr/>
        </p:nvSpPr>
        <p:spPr>
          <a:xfrm>
            <a:off x="86868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800" b="1" noProof="0" dirty="0">
                <a:solidFill>
                  <a:srgbClr val="141B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1800" noProof="0" dirty="0"/>
          </a:p>
        </p:txBody>
      </p:sp>
      <p:sp>
        <p:nvSpPr>
          <p:cNvPr id="21" name="Text 18"/>
          <p:cNvSpPr/>
          <p:nvPr/>
        </p:nvSpPr>
        <p:spPr>
          <a:xfrm>
            <a:off x="1554480" y="3749040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Caio não estava de palhaço nem de super-herói.</a:t>
            </a:r>
            <a:endParaRPr lang="pt-BR" sz="1400" noProof="0" dirty="0"/>
          </a:p>
        </p:txBody>
      </p:sp>
      <p:sp>
        <p:nvSpPr>
          <p:cNvPr id="22" name="Shape 19"/>
          <p:cNvSpPr/>
          <p:nvPr/>
        </p:nvSpPr>
        <p:spPr>
          <a:xfrm>
            <a:off x="7360920" y="3904488"/>
            <a:ext cx="3977640" cy="566928"/>
          </a:xfrm>
          <a:prstGeom prst="roundRect">
            <a:avLst>
              <a:gd name="adj" fmla="val 12903"/>
            </a:avLst>
          </a:prstGeom>
          <a:solidFill>
            <a:srgbClr val="141B41"/>
          </a:solidFill>
          <a:ln w="16510">
            <a:solidFill>
              <a:srgbClr val="2FE6C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3" name="Text 20"/>
          <p:cNvSpPr/>
          <p:nvPr/>
        </p:nvSpPr>
        <p:spPr>
          <a:xfrm>
            <a:off x="7360920" y="3904488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600" b="1" noProof="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¬r ∧ ¬s</a:t>
            </a:r>
            <a:endParaRPr lang="pt-BR" sz="1600" noProof="0" dirty="0"/>
          </a:p>
        </p:txBody>
      </p:sp>
      <p:sp>
        <p:nvSpPr>
          <p:cNvPr id="24" name="Shape 21"/>
          <p:cNvSpPr/>
          <p:nvPr/>
        </p:nvSpPr>
        <p:spPr>
          <a:xfrm>
            <a:off x="640080" y="48006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5" name="Text 22"/>
          <p:cNvSpPr/>
          <p:nvPr/>
        </p:nvSpPr>
        <p:spPr>
          <a:xfrm>
            <a:off x="960120" y="48006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pt-BR" sz="1250" b="1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</a:t>
            </a:r>
            <a:r>
              <a:rPr lang="pt-BR" sz="1250" noProof="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“Caio está de super-herói” — uma letra extra: a pista 3 combina duas negações que não cabem só em </a:t>
            </a:r>
            <a:r>
              <a:rPr lang="pt-BR" sz="1250" b="1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pt-BR" sz="1250" noProof="0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pt-BR" sz="1250" noProof="0" dirty="0"/>
          </a:p>
        </p:txBody>
      </p:sp>
      <p:sp>
        <p:nvSpPr>
          <p:cNvPr id="26" name="Text 23"/>
          <p:cNvSpPr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pt-BR" sz="1200" i="1" noProof="0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da Aula 02: Ana = super-herói, Bruno = palhaço, Caio = pirata — por isso ¬p, ¬q, ¬r e ¬s são todas verdadeiras.</a:t>
            </a:r>
            <a:endParaRPr lang="pt-BR" sz="1200" noProof="0" dirty="0"/>
          </a:p>
        </p:txBody>
      </p:sp>
      <p:sp>
        <p:nvSpPr>
          <p:cNvPr id="27" name="Text 2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pt-BR" sz="3200" noProof="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 — teoria</a:t>
            </a:r>
            <a:endParaRPr lang="pt-BR" sz="14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896112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459736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89864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ROSEN, K. H.</a:t>
            </a:r>
            <a:endParaRPr lang="pt-BR" sz="1450" noProof="0" dirty="0"/>
          </a:p>
        </p:txBody>
      </p:sp>
      <p:sp>
        <p:nvSpPr>
          <p:cNvPr id="9" name="Text 6"/>
          <p:cNvSpPr/>
          <p:nvPr/>
        </p:nvSpPr>
        <p:spPr>
          <a:xfrm>
            <a:off x="896112" y="352044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Discreta e suas Aplicações. 7. ed. Porto Alegre: AMGH/McGraw-Hill — cap. Lógica Proposicional (introdução).</a:t>
            </a:r>
            <a:endParaRPr lang="pt-BR" sz="1200" noProof="0" dirty="0"/>
          </a:p>
        </p:txBody>
      </p:sp>
      <p:sp>
        <p:nvSpPr>
          <p:cNvPr id="10" name="Shape 7"/>
          <p:cNvSpPr/>
          <p:nvPr/>
        </p:nvSpPr>
        <p:spPr>
          <a:xfrm>
            <a:off x="4379976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Shape 8"/>
          <p:cNvSpPr/>
          <p:nvPr/>
        </p:nvSpPr>
        <p:spPr>
          <a:xfrm>
            <a:off x="4636008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459736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289864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GERSTING, J. L.</a:t>
            </a:r>
            <a:endParaRPr lang="pt-BR" sz="1450" noProof="0" dirty="0"/>
          </a:p>
        </p:txBody>
      </p:sp>
      <p:sp>
        <p:nvSpPr>
          <p:cNvPr id="14" name="Text 10"/>
          <p:cNvSpPr/>
          <p:nvPr/>
        </p:nvSpPr>
        <p:spPr>
          <a:xfrm>
            <a:off x="4636008" y="352044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Matemáticos para a Ciência da Computação. LTC — cap. Lógica.</a:t>
            </a:r>
            <a:endParaRPr lang="pt-BR" sz="1200" noProof="0" dirty="0"/>
          </a:p>
        </p:txBody>
      </p:sp>
      <p:sp>
        <p:nvSpPr>
          <p:cNvPr id="15" name="Shape 11"/>
          <p:cNvSpPr/>
          <p:nvPr/>
        </p:nvSpPr>
        <p:spPr>
          <a:xfrm>
            <a:off x="8119872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Shape 12"/>
          <p:cNvSpPr/>
          <p:nvPr/>
        </p:nvSpPr>
        <p:spPr>
          <a:xfrm>
            <a:off x="8375904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45973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2898648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4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COPI, I. M.; COHEN, C.</a:t>
            </a:r>
            <a:endParaRPr lang="pt-BR" sz="1450" noProof="0" dirty="0"/>
          </a:p>
        </p:txBody>
      </p:sp>
      <p:sp>
        <p:nvSpPr>
          <p:cNvPr id="19" name="Text 14"/>
          <p:cNvSpPr/>
          <p:nvPr/>
        </p:nvSpPr>
        <p:spPr>
          <a:xfrm>
            <a:off x="8375904" y="3520440"/>
            <a:ext cx="302666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 à Lógica. Mestre </a:t>
            </a:r>
            <a:r>
              <a:rPr lang="pt-BR" sz="1200" noProof="0" dirty="0" err="1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</a:t>
            </a:r>
            <a:r>
              <a:rPr lang="pt-BR" sz="12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capítulos iniciais sobre proposições e argumentos.</a:t>
            </a:r>
            <a:endParaRPr lang="pt-BR" sz="1200" noProof="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pt-BR" sz="1200" b="1" kern="0" spc="200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pt-BR" sz="1200" noProof="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e vídeos</a:t>
            </a:r>
            <a:endParaRPr lang="pt-BR" sz="3200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Shape 3"/>
          <p:cNvSpPr/>
          <p:nvPr/>
        </p:nvSpPr>
        <p:spPr>
          <a:xfrm>
            <a:off x="89611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093976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expressões booleanas</a:t>
            </a:r>
            <a:endParaRPr lang="pt-BR" sz="1550" noProof="0" dirty="0"/>
          </a:p>
        </p:txBody>
      </p:sp>
      <p:sp>
        <p:nvSpPr>
          <p:cNvPr id="8" name="Text 5"/>
          <p:cNvSpPr/>
          <p:nvPr/>
        </p:nvSpPr>
        <p:spPr>
          <a:xfrm>
            <a:off x="896112" y="2971800"/>
            <a:ext cx="47457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pt-BR" sz="125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Operadores de comparação</a:t>
            </a:r>
            <a:r>
              <a:rPr lang="pt-BR" sz="12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docs.python.org</a:t>
            </a:r>
            <a:endParaRPr lang="pt-BR" sz="1250" noProof="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pt-BR" sz="125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Operadores booleanos </a:t>
            </a:r>
            <a:r>
              <a:rPr lang="pt-BR" sz="1250" u="sng" noProof="0" dirty="0" err="1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and</a:t>
            </a:r>
            <a:r>
              <a:rPr lang="pt-BR" sz="125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/ </a:t>
            </a:r>
            <a:r>
              <a:rPr lang="pt-BR" sz="1250" u="sng" noProof="0" dirty="0" err="1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</a:t>
            </a:r>
            <a:r>
              <a:rPr lang="pt-BR" sz="125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/ </a:t>
            </a:r>
            <a:r>
              <a:rPr lang="pt-BR" sz="1250" u="sng" noProof="0" dirty="0" err="1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not</a:t>
            </a:r>
            <a:r>
              <a:rPr lang="pt-BR" sz="12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docs.python.org</a:t>
            </a:r>
            <a:endParaRPr lang="pt-BR" sz="1250" noProof="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3F1FB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Shape 7"/>
          <p:cNvSpPr/>
          <p:nvPr/>
        </p:nvSpPr>
        <p:spPr>
          <a:xfrm>
            <a:off x="651967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976" y="2093976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1967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550" b="1" noProof="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pt-BR" sz="1550" noProof="0" dirty="0"/>
          </a:p>
        </p:txBody>
      </p:sp>
      <p:sp>
        <p:nvSpPr>
          <p:cNvPr id="13" name="Text 9"/>
          <p:cNvSpPr/>
          <p:nvPr/>
        </p:nvSpPr>
        <p:spPr>
          <a:xfrm>
            <a:off x="6519672" y="2971800"/>
            <a:ext cx="47457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pt-BR" sz="125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Canal Me Salva!</a:t>
            </a:r>
            <a:r>
              <a:rPr lang="pt-BR" sz="12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vídeos introdutórios sobre lógica proposicional e raciocínio lógico.</a:t>
            </a:r>
            <a:endParaRPr lang="pt-BR" sz="1250" noProof="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pt-BR" sz="1250" u="sng" noProof="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Raciocínio lógico para concursos</a:t>
            </a:r>
            <a:r>
              <a:rPr lang="pt-BR" sz="125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ótimos para fixar o conceito de proposição com muitos exemplos.</a:t>
            </a:r>
            <a:endParaRPr lang="pt-BR" sz="1250" noProof="0" dirty="0"/>
          </a:p>
        </p:txBody>
      </p:sp>
      <p:sp>
        <p:nvSpPr>
          <p:cNvPr id="14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pt-BR" sz="1000" noProof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3" name="Shape 1"/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ln w="19050">
            <a:solidFill>
              <a:srgbClr val="2FE6C7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77240" cy="777240"/>
          </a:xfrm>
          <a:prstGeom prst="ellipse">
            <a:avLst/>
          </a:prstGeom>
          <a:solidFill>
            <a:srgbClr val="2FE6C7"/>
          </a:solidFill>
          <a:ln/>
        </p:spPr>
        <p:txBody>
          <a:bodyPr/>
          <a:lstStyle/>
          <a:p>
            <a:endParaRPr lang="pt-B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197864"/>
            <a:ext cx="484632" cy="484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70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b="1" kern="0" spc="300" noProof="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PARADA</a:t>
            </a:r>
            <a:endParaRPr lang="pt-BR" sz="1300" noProof="0" dirty="0"/>
          </a:p>
        </p:txBody>
      </p:sp>
      <p:sp>
        <p:nvSpPr>
          <p:cNvPr id="7" name="Text 4"/>
          <p:cNvSpPr/>
          <p:nvPr/>
        </p:nvSpPr>
        <p:spPr>
          <a:xfrm>
            <a:off x="160020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600" noProof="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Proposições lógicas e tabela-verdade dos conectivos</a:t>
            </a:r>
            <a:endParaRPr lang="pt-BR" sz="1600" noProof="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pt-BR" sz="30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conectivos, cinco tabelas — e o vocabulário para formalizar tudo o que vimos hoje.</a:t>
            </a:r>
            <a:endParaRPr lang="pt-BR" sz="3000" noProof="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2000" b="1" noProof="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 p   ∧   q   ∨   r   →   s   ↔   t</a:t>
            </a:r>
            <a:endParaRPr lang="pt-BR" sz="20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kern="0" spc="100" noProof="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  ·  Aula 03</a:t>
            </a:r>
            <a:endParaRPr lang="pt-BR" sz="115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2891</Words>
  <Application>Microsoft Office PowerPoint</Application>
  <PresentationFormat>Widescreen</PresentationFormat>
  <Paragraphs>424</Paragraphs>
  <Slides>29</Slides>
  <Notes>29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</cp:lastModifiedBy>
  <cp:revision>2</cp:revision>
  <dcterms:created xsi:type="dcterms:W3CDTF">2026-08-04T21:08:09Z</dcterms:created>
  <dcterms:modified xsi:type="dcterms:W3CDTF">2026-08-13T19:41:51Z</dcterms:modified>
</cp:coreProperties>
</file>