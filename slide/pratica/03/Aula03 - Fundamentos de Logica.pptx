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8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237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perguntando: quantas vezes hoje vocês já escreveram algo que só pode ser verdadeiro ou falso, sem perceber?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Prometer desde já o gancho final: o desafio das fantasias da Aula 02 vai voltar como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hoje não é filosofia abstrata, é o alicerce prático do que vem a seguir no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89BD4-F986-3977-6A45-82FD1B065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F39E5-E300-9412-7CD0-97D12BC55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E9558-200E-3A48-3A00-AEE51C605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hoje não é filosofia abstrata, é o alicerce prático do que vem a seguir no curso.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67066-A236-FA0F-4992-C9576EDAE5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24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 turma achar, em código que já escreveram, um exemplo de cada uma dessas quatro categorias.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contraexemplo é o gancho perfeito para a tabela de classificação que vem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 no caso 'está chovendo' — a turma tende a achar que precisa SABER o valor para ser proposição. Não precisa.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direta para o próximo bloco de código: variável livre = variável sem valor atribuído ainda.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Diversão proposital: deixar a turma tentar 'resolver' o paradoxo por 30 segundos antes de revelar que não tem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esse último exemplo — ele será o primeiro caso trabalhado na tabela-verdade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fluxograma com um exemplo novo, escolhido pela turma, do início ao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na analogia matemática: assim como 2 + 3 combina números, p ∧ q combina proposições.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cada parte poderia ser substituída por qualquer outra proposição — a fórmula é sobre a estrutura, não sobre 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das duas linhas é a proposição simples e qual é a composta? A turma já deve saber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tem_8_caracteres e tem_numero são proposições simples; senha_valida é a composta que as combina com 'e'.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entrar em tabela-verdade ainda — só apresentar os nomes e símbolos, para a turma reconhecer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é o elo entre a notação formal e o código — vale voltar a ele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os exercícios podem ser feitos em dupla — o objetivo é discutir a classificação, não só chegar na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 minutos individualmente antes de discutir em voz alta — inclusive o item (d), que é uma composta sempre verdadeira.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(d) é uma tautologia — proposição composta que é sempre verdadeira, independente do valor das partes.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(d) é o mais rico: é uma tautologia (sempre verdadeira) — vale antecipar essa palavra sem se aprofundar.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itens (b) e (c) do Exercício 1 não entram aqui porque não são proposições — não há o que classificar.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única: x = 7 é o único valor que torna a igualdade verdadeira — qualquer outro valor serve para o lado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= 7 é o único valor que torna a igualdade verdadeira; qualquer outro valor serve para o lado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introduzir 's' é uma decisão válida — o exercício original só deu 3 letras, mas a pista 3 exige uma quarta.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é o livro-texto oficial; os outros dois são apoio para quem quiser outra explicação do mesmo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de apoio — úteis principalmente para quem quer ver o mesmo conceito explicado com outras palavras.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convidando quem resolveu o exercício 4 a compartilhar a notação que usou — vamos formalizar isso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nhpaiva.github.io/una-mca-zensical-202602/turma-202602/02-aula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results?search_query=raciocinio+logico+proposi%C3%A7%C3%B5es+o+que+%C3%A9" TargetMode="External"/><Relationship Id="rId3" Type="http://schemas.openxmlformats.org/officeDocument/2006/relationships/image" Target="../media/image16.png"/><Relationship Id="rId7" Type="http://schemas.openxmlformats.org/officeDocument/2006/relationships/hyperlink" Target="https://www.youtube.com/results?search_query=me+salva+l%C3%B3gica+proposiciona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hyperlink" Target="https://docs.python.org/3/reference/expressions.html#boolean-operations" TargetMode="External"/><Relationship Id="rId4" Type="http://schemas.openxmlformats.org/officeDocument/2006/relationships/hyperlink" Target="https://docs.python.org/3/library/stdtypes.html#comparison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pt-BR" sz="1400" noProof="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6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03</a:t>
            </a:r>
            <a:endParaRPr lang="pt-BR" sz="6400" noProof="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pt-BR" sz="25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linha de código que você já escreveu começa com uma pergunta: isso é verdadeiro ou falso?</a:t>
            </a:r>
            <a:endParaRPr lang="pt-B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  ·   VALOR LÓGICO   ·   V / F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ROTEIRO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pt-BR" sz="38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proposição</a:t>
            </a:r>
            <a:endParaRPr lang="pt-BR" sz="1800" noProof="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tão importante quanto, o que não é uma proposição.</a:t>
            </a:r>
            <a:endParaRPr lang="pt-BR" sz="135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vs. compostas</a:t>
            </a:r>
            <a:endParaRPr lang="pt-BR" sz="1800" noProof="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proposições pequenas se combinam em fórmulas maiores.</a:t>
            </a:r>
            <a:endParaRPr lang="pt-BR" sz="1350" noProof="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quem programa</a:t>
            </a:r>
            <a:endParaRPr lang="pt-BR" sz="1800" noProof="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 formal por baixo de todo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você já escreveu.</a:t>
            </a:r>
            <a:endParaRPr lang="pt-BR" sz="1350" noProof="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Prévia dos conectivos</a:t>
            </a:r>
            <a:endParaRPr lang="pt-BR" sz="1800" noProof="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gostinho do que vamos formalizar na próxima aula.</a:t>
            </a:r>
            <a:endParaRPr lang="pt-BR" sz="1350" noProof="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1280160" y="1234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lógica, afinal?</a:t>
            </a:r>
            <a:endParaRPr lang="pt-BR" sz="3600" noProof="0" dirty="0"/>
          </a:p>
        </p:txBody>
      </p:sp>
      <p:sp>
        <p:nvSpPr>
          <p:cNvPr id="4" name="Text 2"/>
          <p:cNvSpPr/>
          <p:nvPr/>
        </p:nvSpPr>
        <p:spPr>
          <a:xfrm>
            <a:off x="1737360" y="22402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500"/>
              </a:lnSpc>
              <a:buNone/>
            </a:pPr>
            <a:r>
              <a:rPr lang="pt-BR" sz="17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estudo do raciocínio válido: como partir de afirmações que aceitamos como verdadeiras e chegar a conclusões corretas — sem depender do assunto de que estamos falando.</a:t>
            </a:r>
            <a:endParaRPr lang="pt-BR" sz="1700" noProof="0" dirty="0"/>
          </a:p>
        </p:txBody>
      </p:sp>
      <p:sp>
        <p:nvSpPr>
          <p:cNvPr id="5" name="Shape 3"/>
          <p:cNvSpPr/>
          <p:nvPr/>
        </p:nvSpPr>
        <p:spPr>
          <a:xfrm>
            <a:off x="3566160" y="3611880"/>
            <a:ext cx="5029200" cy="777240"/>
          </a:xfrm>
          <a:prstGeom prst="roundRect">
            <a:avLst>
              <a:gd name="adj" fmla="val 49412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3566160" y="3611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Computação, ela é a base de tudo que você constrói.</a:t>
            </a:r>
            <a:endParaRPr lang="pt-BR" sz="1350" noProof="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742C83-DB98-5E2C-F740-B1B07AEC1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8D0749-EDBF-2E1B-775D-09B7D967E6B0}"/>
              </a:ext>
            </a:extLst>
          </p:cNvPr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pt-BR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60A76E-27ED-30F6-5234-82ED7092AF9A}"/>
              </a:ext>
            </a:extLst>
          </p:cNvPr>
          <p:cNvSpPr/>
          <p:nvPr/>
        </p:nvSpPr>
        <p:spPr>
          <a:xfrm>
            <a:off x="1280160" y="1234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Proposição lógica, afinal?</a:t>
            </a:r>
            <a:endParaRPr lang="pt-BR" sz="36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46B369-FB6E-E193-ECEA-7B8581E42A1F}"/>
              </a:ext>
            </a:extLst>
          </p:cNvPr>
          <p:cNvSpPr/>
          <p:nvPr/>
        </p:nvSpPr>
        <p:spPr>
          <a:xfrm>
            <a:off x="1737360" y="22402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500"/>
              </a:lnSpc>
              <a:buNone/>
            </a:pPr>
            <a:r>
              <a:rPr lang="pt-BR" sz="17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Declaração ou sentença, composta por palavras ou símbolos, e que possui valor logico verdadeiro ou falso.</a:t>
            </a:r>
            <a:endParaRPr lang="pt-BR" sz="17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31F3554-2853-D9C5-3D30-37934DD8DF29}"/>
              </a:ext>
            </a:extLst>
          </p:cNvPr>
          <p:cNvSpPr/>
          <p:nvPr/>
        </p:nvSpPr>
        <p:spPr>
          <a:xfrm>
            <a:off x="3566160" y="3611880"/>
            <a:ext cx="5029200" cy="777240"/>
          </a:xfrm>
          <a:prstGeom prst="roundRect">
            <a:avLst>
              <a:gd name="adj" fmla="val 49412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8FEE9E-4C59-CFCA-A6D7-12056668245D}"/>
              </a:ext>
            </a:extLst>
          </p:cNvPr>
          <p:cNvSpPr/>
          <p:nvPr/>
        </p:nvSpPr>
        <p:spPr>
          <a:xfrm>
            <a:off x="3566160" y="3611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Dicas: </a:t>
            </a:r>
            <a:b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 verbo</a:t>
            </a:r>
          </a:p>
          <a:p>
            <a:pPr marL="0" indent="0" algn="ctr">
              <a:buNone/>
            </a:pPr>
            <a:r>
              <a:rPr lang="pt-BR" sz="135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Sentido completo</a:t>
            </a:r>
            <a:endParaRPr lang="pt-BR" sz="13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B1BC422-2053-4A96-4FAA-B20ACE809579}"/>
              </a:ext>
            </a:extLst>
          </p:cNvPr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000" noProof="0" dirty="0"/>
          </a:p>
        </p:txBody>
      </p:sp>
    </p:spTree>
    <p:extLst>
      <p:ext uri="{BB962C8B-B14F-4D97-AF65-F5344CB8AC3E}">
        <p14:creationId xmlns:p14="http://schemas.microsoft.com/office/powerpoint/2010/main" val="478197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ESTÁ EM TUDO QUE VOCÊ FAZ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lógica formal já está no seu código</a:t>
            </a:r>
            <a:endParaRPr lang="pt-BR" sz="27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68680" y="18516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19979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916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</a:t>
            </a:r>
            <a:endParaRPr lang="pt-BR" sz="1550" noProof="0" dirty="0"/>
          </a:p>
        </p:txBody>
      </p:sp>
      <p:sp>
        <p:nvSpPr>
          <p:cNvPr id="8" name="Text 5"/>
          <p:cNvSpPr/>
          <p:nvPr/>
        </p:nvSpPr>
        <p:spPr>
          <a:xfrm>
            <a:off x="5120640" y="16916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— o programa decide o que fazer com base em um valor lógico.</a:t>
            </a:r>
            <a:endParaRPr lang="pt-BR" sz="125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868680" y="29032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0495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7432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a banco de dados</a:t>
            </a:r>
            <a:endParaRPr lang="pt-BR" sz="1550" noProof="0" dirty="0"/>
          </a:p>
        </p:txBody>
      </p:sp>
      <p:sp>
        <p:nvSpPr>
          <p:cNvPr id="13" name="Text 9"/>
          <p:cNvSpPr/>
          <p:nvPr/>
        </p:nvSpPr>
        <p:spPr>
          <a:xfrm>
            <a:off x="5120640" y="27432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idade &gt; 18 AND ativo = </a:t>
            </a: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50" noProof="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1"/>
          <p:cNvSpPr/>
          <p:nvPr/>
        </p:nvSpPr>
        <p:spPr>
          <a:xfrm>
            <a:off x="868680" y="39547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10108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37947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digitais</a:t>
            </a:r>
            <a:endParaRPr lang="pt-BR" sz="1550" noProof="0" dirty="0"/>
          </a:p>
        </p:txBody>
      </p:sp>
      <p:sp>
        <p:nvSpPr>
          <p:cNvPr id="18" name="Text 13"/>
          <p:cNvSpPr/>
          <p:nvPr/>
        </p:nvSpPr>
        <p:spPr>
          <a:xfrm>
            <a:off x="5120640" y="37947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matéria-prima do hardware — cada porta lógica é lógica formal em silício.</a:t>
            </a:r>
            <a:endParaRPr lang="pt-BR" sz="1250" noProof="0" dirty="0"/>
          </a:p>
        </p:txBody>
      </p:sp>
      <p:sp>
        <p:nvSpPr>
          <p:cNvPr id="19" name="Shape 14"/>
          <p:cNvSpPr/>
          <p:nvPr/>
        </p:nvSpPr>
        <p:spPr>
          <a:xfrm>
            <a:off x="640080" y="484632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5"/>
          <p:cNvSpPr/>
          <p:nvPr/>
        </p:nvSpPr>
        <p:spPr>
          <a:xfrm>
            <a:off x="868680" y="50063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526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84632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 programas</a:t>
            </a:r>
            <a:endParaRPr lang="pt-BR" sz="1550" noProof="0" dirty="0"/>
          </a:p>
        </p:txBody>
      </p:sp>
      <p:sp>
        <p:nvSpPr>
          <p:cNvPr id="23" name="Text 17"/>
          <p:cNvSpPr/>
          <p:nvPr/>
        </p:nvSpPr>
        <p:spPr>
          <a:xfrm>
            <a:off x="5120640" y="484632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Provar, formalmente, que um código faz o que promete.</a:t>
            </a:r>
            <a:endParaRPr lang="pt-BR" sz="1250" noProof="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UNIDADE BÁSICA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9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proposição</a:t>
            </a:r>
            <a:endParaRPr lang="pt-BR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pt-BR" sz="16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 à qual podemos atribuir exatamente um valor lógico: verdadeiro (V) ou falso (F).</a:t>
            </a:r>
            <a:endParaRPr lang="pt-BR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dois. Nunca nenhum.</a:t>
            </a:r>
            <a:endParaRPr lang="pt-BR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8104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</a:t>
            </a:r>
            <a:endParaRPr lang="pt-BR" sz="1300" noProof="0" dirty="0"/>
          </a:p>
        </p:txBody>
      </p:sp>
      <p:sp>
        <p:nvSpPr>
          <p:cNvPr id="9" name="Text 6"/>
          <p:cNvSpPr/>
          <p:nvPr/>
        </p:nvSpPr>
        <p:spPr>
          <a:xfrm>
            <a:off x="128016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pt-BR" sz="1100" noProof="0" dirty="0"/>
          </a:p>
        </p:txBody>
      </p:sp>
      <p:sp>
        <p:nvSpPr>
          <p:cNvPr id="10" name="Shape 7"/>
          <p:cNvSpPr/>
          <p:nvPr/>
        </p:nvSpPr>
        <p:spPr>
          <a:xfrm>
            <a:off x="333756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378104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</a:t>
            </a:r>
            <a:endParaRPr lang="pt-BR" sz="1300" noProof="0" dirty="0"/>
          </a:p>
        </p:txBody>
      </p:sp>
      <p:sp>
        <p:nvSpPr>
          <p:cNvPr id="13" name="Text 9"/>
          <p:cNvSpPr/>
          <p:nvPr/>
        </p:nvSpPr>
        <p:spPr>
          <a:xfrm>
            <a:off x="397764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pt-BR" sz="1100" noProof="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01548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e F juntos</a:t>
            </a:r>
            <a:endParaRPr lang="pt-BR" sz="1300" noProof="0" dirty="0"/>
          </a:p>
        </p:txBody>
      </p:sp>
      <p:sp>
        <p:nvSpPr>
          <p:cNvPr id="17" name="Text 12"/>
          <p:cNvSpPr/>
          <p:nvPr/>
        </p:nvSpPr>
        <p:spPr>
          <a:xfrm>
            <a:off x="128016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pt-BR" sz="1100" noProof="0" dirty="0"/>
          </a:p>
        </p:txBody>
      </p:sp>
      <p:sp>
        <p:nvSpPr>
          <p:cNvPr id="18" name="Shape 13"/>
          <p:cNvSpPr/>
          <p:nvPr/>
        </p:nvSpPr>
        <p:spPr>
          <a:xfrm>
            <a:off x="333756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5015484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97764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V nem F</a:t>
            </a:r>
            <a:endParaRPr lang="pt-BR" sz="1300" noProof="0" dirty="0"/>
          </a:p>
        </p:txBody>
      </p:sp>
      <p:sp>
        <p:nvSpPr>
          <p:cNvPr id="21" name="Text 15"/>
          <p:cNvSpPr/>
          <p:nvPr/>
        </p:nvSpPr>
        <p:spPr>
          <a:xfrm>
            <a:off x="397764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pt-BR" sz="1100" noProof="0" dirty="0"/>
          </a:p>
        </p:txBody>
      </p:sp>
      <p:sp>
        <p:nvSpPr>
          <p:cNvPr id="22" name="Shape 16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17"/>
          <p:cNvSpPr/>
          <p:nvPr/>
        </p:nvSpPr>
        <p:spPr>
          <a:xfrm>
            <a:off x="672084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pt-BR" sz="1100" noProof="0" dirty="0"/>
          </a:p>
        </p:txBody>
      </p:sp>
      <p:sp>
        <p:nvSpPr>
          <p:cNvPr id="24" name="Text 18"/>
          <p:cNvSpPr/>
          <p:nvPr/>
        </p:nvSpPr>
        <p:spPr>
          <a:xfrm>
            <a:off x="6720840" y="14173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“São Paulo fica no Brasil.”</a:t>
            </a:r>
            <a:endParaRPr lang="pt-BR" sz="2200" noProof="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4884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Verdadeira — tem exatamente um valor lógico.</a:t>
            </a:r>
            <a:endParaRPr lang="pt-BR" sz="1300" noProof="0" dirty="0"/>
          </a:p>
        </p:txBody>
      </p:sp>
      <p:sp>
        <p:nvSpPr>
          <p:cNvPr id="27" name="Text 20"/>
          <p:cNvSpPr/>
          <p:nvPr/>
        </p:nvSpPr>
        <p:spPr>
          <a:xfrm>
            <a:off x="6720840" y="2971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CONTRAEXEMPLO</a:t>
            </a:r>
            <a:endParaRPr lang="pt-BR" sz="1100" noProof="0" dirty="0"/>
          </a:p>
        </p:txBody>
      </p:sp>
      <p:sp>
        <p:nvSpPr>
          <p:cNvPr id="28" name="Text 21"/>
          <p:cNvSpPr/>
          <p:nvPr/>
        </p:nvSpPr>
        <p:spPr>
          <a:xfrm>
            <a:off x="6720840" y="32918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“Essa cidade é linda.”</a:t>
            </a:r>
            <a:endParaRPr lang="pt-BR" sz="2200" noProof="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3152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30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proposição — “linda” é opinião, não tem um valor lógico fixo.</a:t>
            </a:r>
            <a:endParaRPr lang="pt-BR" sz="1300" noProof="0" dirty="0"/>
          </a:p>
        </p:txBody>
      </p:sp>
      <p:sp>
        <p:nvSpPr>
          <p:cNvPr id="31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COLOCANDO À PROVA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proposição?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sentença: tem exatamente um valor lógico?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77824" y="208483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877824" y="2084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1600200" y="2011680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 + 2 = 4”</a:t>
            </a:r>
            <a:endParaRPr lang="pt-BR" sz="1450" noProof="0" dirty="0"/>
          </a:p>
        </p:txBody>
      </p:sp>
      <p:sp>
        <p:nvSpPr>
          <p:cNvPr id="9" name="Text 7"/>
          <p:cNvSpPr/>
          <p:nvPr/>
        </p:nvSpPr>
        <p:spPr>
          <a:xfrm>
            <a:off x="6714439" y="2011680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pt-BR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877824" y="2871216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877824" y="2871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1600200" y="2798064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“Brasília é a capital do Brasil”</a:t>
            </a:r>
            <a:endParaRPr lang="pt-BR" sz="1450" noProof="0" dirty="0"/>
          </a:p>
        </p:txBody>
      </p:sp>
      <p:sp>
        <p:nvSpPr>
          <p:cNvPr id="14" name="Text 12"/>
          <p:cNvSpPr/>
          <p:nvPr/>
        </p:nvSpPr>
        <p:spPr>
          <a:xfrm>
            <a:off x="6714439" y="2798064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pt-BR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640080" y="3584448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877824" y="3657600"/>
            <a:ext cx="512064" cy="512064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877824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V/F</a:t>
            </a:r>
            <a:endParaRPr lang="pt-BR" sz="1150" noProof="0" dirty="0"/>
          </a:p>
        </p:txBody>
      </p:sp>
      <p:sp>
        <p:nvSpPr>
          <p:cNvPr id="18" name="Text 16"/>
          <p:cNvSpPr/>
          <p:nvPr/>
        </p:nvSpPr>
        <p:spPr>
          <a:xfrm>
            <a:off x="1600200" y="3584448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“Está chovendo em São Paulo agora”</a:t>
            </a:r>
            <a:endParaRPr lang="pt-BR" sz="1450" noProof="0" dirty="0"/>
          </a:p>
        </p:txBody>
      </p:sp>
      <p:sp>
        <p:nvSpPr>
          <p:cNvPr id="19" name="Text 17"/>
          <p:cNvSpPr/>
          <p:nvPr/>
        </p:nvSpPr>
        <p:spPr>
          <a:xfrm>
            <a:off x="6714439" y="3584448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valor V ou F, mesmo que você não saiba qual.</a:t>
            </a:r>
            <a:endParaRPr lang="pt-B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9"/>
          <p:cNvSpPr/>
          <p:nvPr/>
        </p:nvSpPr>
        <p:spPr>
          <a:xfrm>
            <a:off x="877824" y="4443984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877824" y="4443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3" name="Text 21"/>
          <p:cNvSpPr/>
          <p:nvPr/>
        </p:nvSpPr>
        <p:spPr>
          <a:xfrm>
            <a:off x="1600200" y="4370832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“Feche a porta!”</a:t>
            </a:r>
            <a:endParaRPr lang="pt-BR" sz="1450" noProof="0" dirty="0"/>
          </a:p>
        </p:txBody>
      </p:sp>
      <p:sp>
        <p:nvSpPr>
          <p:cNvPr id="24" name="Text 22"/>
          <p:cNvSpPr/>
          <p:nvPr/>
        </p:nvSpPr>
        <p:spPr>
          <a:xfrm>
            <a:off x="6714439" y="4370832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ordem — não afirma nada.</a:t>
            </a:r>
            <a:endParaRPr lang="pt-B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640080" y="5157216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877824" y="5230368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/>
          <p:nvPr/>
        </p:nvSpPr>
        <p:spPr>
          <a:xfrm>
            <a:off x="877824" y="5230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8" name="Text 26"/>
          <p:cNvSpPr/>
          <p:nvPr/>
        </p:nvSpPr>
        <p:spPr>
          <a:xfrm>
            <a:off x="1600200" y="5157216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é o seu nome?”</a:t>
            </a:r>
            <a:endParaRPr lang="pt-BR" sz="1450" noProof="0" dirty="0"/>
          </a:p>
        </p:txBody>
      </p:sp>
      <p:sp>
        <p:nvSpPr>
          <p:cNvPr id="29" name="Text 27"/>
          <p:cNvSpPr/>
          <p:nvPr/>
        </p:nvSpPr>
        <p:spPr>
          <a:xfrm>
            <a:off x="6714439" y="5157216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pergunta.</a:t>
            </a:r>
            <a:endParaRPr lang="pt-BR" sz="1200" noProof="0" dirty="0"/>
          </a:p>
        </p:txBody>
      </p:sp>
      <p:sp>
        <p:nvSpPr>
          <p:cNvPr id="30" name="Text 28"/>
          <p:cNvSpPr/>
          <p:nvPr/>
        </p:nvSpPr>
        <p:spPr>
          <a:xfrm>
            <a:off x="640080" y="6016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 verdadeira      F   falsa      V/F   tem valor, mas não sabemos qual      —   não é proposição</a:t>
            </a:r>
            <a:endParaRPr lang="pt-BR" sz="1100" noProof="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Sentenças abertas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par” tem uma variável livre — por isso ainda não é uma proposição.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é par</a:t>
            </a:r>
            <a:endParaRPr lang="pt-BR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8A7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</a:t>
            </a:r>
            <a:endParaRPr lang="pt-BR" sz="1200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7033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substitua x por um valor específico</a:t>
            </a:r>
            <a:endParaRPr lang="pt-BR" sz="1150" noProof="0" dirty="0"/>
          </a:p>
        </p:txBody>
      </p:sp>
      <p:sp>
        <p:nvSpPr>
          <p:cNvPr id="10" name="Shape 7"/>
          <p:cNvSpPr/>
          <p:nvPr/>
        </p:nvSpPr>
        <p:spPr>
          <a:xfrm>
            <a:off x="475488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475488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4</a:t>
            </a:r>
            <a:endParaRPr lang="pt-BR" sz="2000" noProof="0" dirty="0"/>
          </a:p>
        </p:txBody>
      </p:sp>
      <p:sp>
        <p:nvSpPr>
          <p:cNvPr id="12" name="Shape 9"/>
          <p:cNvSpPr/>
          <p:nvPr/>
        </p:nvSpPr>
        <p:spPr>
          <a:xfrm>
            <a:off x="5943600" y="3017520"/>
            <a:ext cx="731520" cy="7315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594360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4" name="Text 11"/>
          <p:cNvSpPr/>
          <p:nvPr/>
        </p:nvSpPr>
        <p:spPr>
          <a:xfrm>
            <a:off x="475488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 par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822960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22960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pt-BR" sz="2000" noProof="0" dirty="0"/>
          </a:p>
        </p:txBody>
      </p:sp>
      <p:sp>
        <p:nvSpPr>
          <p:cNvPr id="17" name="Shape 14"/>
          <p:cNvSpPr/>
          <p:nvPr/>
        </p:nvSpPr>
        <p:spPr>
          <a:xfrm>
            <a:off x="9418320" y="3017520"/>
            <a:ext cx="731520" cy="731520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941832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19" name="Text 16"/>
          <p:cNvSpPr/>
          <p:nvPr/>
        </p:nvSpPr>
        <p:spPr>
          <a:xfrm>
            <a:off x="822960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não é par</a:t>
            </a:r>
            <a:endParaRPr lang="pt-BR" sz="1300" noProof="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30632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pt-BR" sz="13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 que x recebe um valor a sentença vira proposição — exatamente como idade &gt;= 18 só é proposição depois que idade tem um valor.</a:t>
            </a:r>
            <a:endParaRPr lang="pt-BR" sz="1300" noProof="0" dirty="0"/>
          </a:p>
        </p:txBody>
      </p:sp>
      <p:sp>
        <p:nvSpPr>
          <p:cNvPr id="22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pt-BR" sz="1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paradoxo do mentiroso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88720" cy="1188720"/>
          </a:xfrm>
          <a:prstGeom prst="ellipse">
            <a:avLst/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020824"/>
            <a:ext cx="804672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48840" y="1965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“Esta frase é falsa.”</a:t>
            </a:r>
            <a:endParaRPr lang="pt-BR" sz="3000" noProof="0" dirty="0"/>
          </a:p>
        </p:txBody>
      </p:sp>
      <p:sp>
        <p:nvSpPr>
          <p:cNvPr id="8" name="Text 5"/>
          <p:cNvSpPr/>
          <p:nvPr/>
        </p:nvSpPr>
        <p:spPr>
          <a:xfrm>
            <a:off x="2148840" y="265176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Tente atribuir um valor a ela.</a:t>
            </a:r>
            <a:endParaRPr lang="pt-BR" sz="140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60120" y="3383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verdadeira... então o que ela diz é verdade — ou seja, ela é falsa. Contradição.</a:t>
            </a:r>
            <a:endParaRPr lang="pt-BR" sz="1400" noProof="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960120" y="4297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falsa... então o que ela diz não é verdade — ou seja, ela é verdadeira. Contradição de novo.</a:t>
            </a:r>
            <a:endParaRPr lang="pt-BR" sz="1400" noProof="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não tem um valor lógico consistente — por isso não é uma proposição. É só um lembrete de que a definição exige exatamente um valor, sem exceções.</a:t>
            </a:r>
            <a:endParaRPr lang="pt-BR" sz="1250" noProof="0" dirty="0"/>
          </a:p>
        </p:txBody>
      </p:sp>
      <p:sp>
        <p:nvSpPr>
          <p:cNvPr id="14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CASOS PARA TREINAR O OLHO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exemplos do dia a dia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77824" y="210769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877824" y="21076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número par é divisível por 2”</a:t>
            </a:r>
            <a:endParaRPr lang="pt-BR" sz="1450" noProof="0" dirty="0"/>
          </a:p>
        </p:txBody>
      </p:sp>
      <p:sp>
        <p:nvSpPr>
          <p:cNvPr id="8" name="Text 6"/>
          <p:cNvSpPr/>
          <p:nvPr/>
        </p:nvSpPr>
        <p:spPr>
          <a:xfrm>
            <a:off x="6714439" y="196596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sempre verdadeira.</a:t>
            </a:r>
            <a:endParaRPr lang="pt-B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877824" y="306781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77824" y="30678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1600200" y="292608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um número primo”</a:t>
            </a:r>
            <a:endParaRPr lang="pt-BR" sz="1450" noProof="0" dirty="0"/>
          </a:p>
        </p:txBody>
      </p:sp>
      <p:sp>
        <p:nvSpPr>
          <p:cNvPr id="13" name="Text 11"/>
          <p:cNvSpPr/>
          <p:nvPr/>
        </p:nvSpPr>
        <p:spPr>
          <a:xfrm>
            <a:off x="6714439" y="292608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pt-BR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877824" y="402793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77824" y="40279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1600200" y="388620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“Uau, que prova difícil!”</a:t>
            </a:r>
            <a:endParaRPr lang="pt-BR" sz="1450" noProof="0" dirty="0"/>
          </a:p>
        </p:txBody>
      </p:sp>
      <p:sp>
        <p:nvSpPr>
          <p:cNvPr id="18" name="Text 16"/>
          <p:cNvSpPr/>
          <p:nvPr/>
        </p:nvSpPr>
        <p:spPr>
          <a:xfrm>
            <a:off x="6714439" y="388620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Exclamação — não afirma um fato.</a:t>
            </a:r>
            <a:endParaRPr lang="pt-BR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877824" y="4988052"/>
            <a:ext cx="512064" cy="512064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877824" y="49880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1600200" y="484632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Sol é uma estrela e a Lua é um planeta”</a:t>
            </a:r>
            <a:endParaRPr lang="pt-BR" sz="1450" noProof="0" dirty="0"/>
          </a:p>
        </p:txBody>
      </p:sp>
      <p:sp>
        <p:nvSpPr>
          <p:cNvPr id="23" name="Text 21"/>
          <p:cNvSpPr/>
          <p:nvPr/>
        </p:nvSpPr>
        <p:spPr>
          <a:xfrm>
            <a:off x="6714439" y="484632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Composta: 1ª parte V, 2ª parte F → a soma é falsa.</a:t>
            </a:r>
            <a:endParaRPr lang="pt-BR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último exemplo já antecipa a próxima aula: uma proposição composta com “e” só é verdadeira quando as duas partes são verdadeiras.</a:t>
            </a:r>
            <a:endParaRPr lang="pt-BR" sz="1250" noProof="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Fluxograma: é proposição?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4221328" y="1508760"/>
            <a:ext cx="3749040" cy="658368"/>
          </a:xfrm>
          <a:prstGeom prst="roundRect">
            <a:avLst>
              <a:gd name="adj" fmla="val 13889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4358488" y="15087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declarativa?</a:t>
            </a:r>
            <a:endParaRPr lang="pt-BR" sz="1300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22128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27168" y="22311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pt-BR" sz="1050" noProof="0" dirty="0"/>
          </a:p>
        </p:txBody>
      </p:sp>
      <p:sp>
        <p:nvSpPr>
          <p:cNvPr id="8" name="Text 5"/>
          <p:cNvSpPr/>
          <p:nvPr/>
        </p:nvSpPr>
        <p:spPr>
          <a:xfrm>
            <a:off x="8290408" y="2011680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não é proposição (ordem, pergunta, exclamação)</a:t>
            </a:r>
            <a:endParaRPr lang="pt-BR" sz="1200" noProof="0" dirty="0"/>
          </a:p>
        </p:txBody>
      </p:sp>
      <p:sp>
        <p:nvSpPr>
          <p:cNvPr id="9" name="Shape 6"/>
          <p:cNvSpPr/>
          <p:nvPr/>
        </p:nvSpPr>
        <p:spPr>
          <a:xfrm>
            <a:off x="4221328" y="2606040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4358488" y="260604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variável livre</a:t>
            </a:r>
            <a:endParaRPr lang="pt-BR" sz="1300" noProof="0" dirty="0"/>
          </a:p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(depende de algo não fixado)?</a:t>
            </a:r>
            <a:endParaRPr lang="pt-BR" sz="1300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3364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27168" y="33832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pt-BR" sz="1050" noProof="0" dirty="0"/>
          </a:p>
        </p:txBody>
      </p:sp>
      <p:sp>
        <p:nvSpPr>
          <p:cNvPr id="13" name="Text 9"/>
          <p:cNvSpPr/>
          <p:nvPr/>
        </p:nvSpPr>
        <p:spPr>
          <a:xfrm>
            <a:off x="8290408" y="3163824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 →  sentença aberta (ainda não é proposição)</a:t>
            </a:r>
            <a:endParaRPr lang="pt-BR" sz="1200" noProof="0" dirty="0"/>
          </a:p>
        </p:txBody>
      </p:sp>
      <p:sp>
        <p:nvSpPr>
          <p:cNvPr id="14" name="Shape 10"/>
          <p:cNvSpPr/>
          <p:nvPr/>
        </p:nvSpPr>
        <p:spPr>
          <a:xfrm>
            <a:off x="4221328" y="375818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1"/>
          <p:cNvSpPr/>
          <p:nvPr/>
        </p:nvSpPr>
        <p:spPr>
          <a:xfrm>
            <a:off x="4358488" y="37581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 ou F bem definido —</a:t>
            </a:r>
            <a:endParaRPr lang="pt-BR" sz="1300" noProof="0" dirty="0"/>
          </a:p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dois, nunca nenhum?</a:t>
            </a:r>
            <a:endParaRPr lang="pt-BR" sz="1300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451713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27168" y="45354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pt-BR" sz="1050" noProof="0" dirty="0"/>
          </a:p>
        </p:txBody>
      </p:sp>
      <p:sp>
        <p:nvSpPr>
          <p:cNvPr id="18" name="Text 13"/>
          <p:cNvSpPr/>
          <p:nvPr/>
        </p:nvSpPr>
        <p:spPr>
          <a:xfrm>
            <a:off x="8290408" y="4315968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paradoxo — também não é proposição</a:t>
            </a:r>
            <a:endParaRPr lang="pt-BR" sz="1200" noProof="0" dirty="0"/>
          </a:p>
        </p:txBody>
      </p:sp>
      <p:sp>
        <p:nvSpPr>
          <p:cNvPr id="19" name="Shape 14"/>
          <p:cNvSpPr/>
          <p:nvPr/>
        </p:nvSpPr>
        <p:spPr>
          <a:xfrm>
            <a:off x="4221328" y="4910328"/>
            <a:ext cx="3749040" cy="640080"/>
          </a:xfrm>
          <a:prstGeom prst="roundRect">
            <a:avLst>
              <a:gd name="adj" fmla="val 14286"/>
            </a:avLst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5"/>
          <p:cNvSpPr/>
          <p:nvPr/>
        </p:nvSpPr>
        <p:spPr>
          <a:xfrm>
            <a:off x="4358488" y="4910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proposição!</a:t>
            </a:r>
            <a:endParaRPr lang="pt-BR" sz="1300" noProof="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FÓRMULAS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Proposições simples vs. compostas</a:t>
            </a:r>
            <a:endParaRPr lang="pt-BR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(atômica)</a:t>
            </a:r>
            <a:endParaRPr lang="pt-BR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pode ser dividida em partes menores que ainda façam sentido sozinhas.</a:t>
            </a:r>
            <a:endParaRPr lang="pt-BR" sz="1350" noProof="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“chove”</a:t>
            </a:r>
            <a:endParaRPr lang="pt-BR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914400" y="448056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“estudo”</a:t>
            </a:r>
            <a:endParaRPr lang="pt-BR" sz="1500" noProof="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53796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(molecular)</a:t>
            </a:r>
            <a:endParaRPr lang="pt-BR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Formada por proposições simples unidas por conectivos.</a:t>
            </a:r>
            <a:endParaRPr lang="pt-BR" sz="1350" noProof="0" dirty="0"/>
          </a:p>
        </p:txBody>
      </p:sp>
      <p:sp>
        <p:nvSpPr>
          <p:cNvPr id="14" name="Shape 12"/>
          <p:cNvSpPr/>
          <p:nvPr/>
        </p:nvSpPr>
        <p:spPr>
          <a:xfrm>
            <a:off x="6537960" y="3703320"/>
            <a:ext cx="4709160" cy="594360"/>
          </a:xfrm>
          <a:prstGeom prst="roundRect">
            <a:avLst>
              <a:gd name="adj" fmla="val 1538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653796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chove</a:t>
            </a:r>
            <a:r>
              <a:rPr lang="pt-BR" sz="1500" b="1" noProof="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r>
              <a:rPr lang="pt-BR" sz="15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</a:t>
            </a:r>
            <a:endParaRPr lang="pt-B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6537960" y="452628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Representamos proposições por letras minúsculas — p, q, r — combinadas por conectivos, do mesmo jeito que operadores combinam números em expressões aritméticas.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 DA FÓRMULA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proposição composta</a:t>
            </a:r>
            <a:endParaRPr lang="pt-BR" sz="2700" noProof="0" dirty="0"/>
          </a:p>
        </p:txBody>
      </p:sp>
      <p:sp>
        <p:nvSpPr>
          <p:cNvPr id="4" name="Shape 2"/>
          <p:cNvSpPr/>
          <p:nvPr/>
        </p:nvSpPr>
        <p:spPr>
          <a:xfrm>
            <a:off x="146304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146304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pt-BR" sz="4600" noProof="0" dirty="0"/>
          </a:p>
        </p:txBody>
      </p:sp>
      <p:sp>
        <p:nvSpPr>
          <p:cNvPr id="6" name="Text 4"/>
          <p:cNvSpPr/>
          <p:nvPr/>
        </p:nvSpPr>
        <p:spPr>
          <a:xfrm>
            <a:off x="146304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pt-BR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264261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46304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“estudei”</a:t>
            </a:r>
            <a:endParaRPr lang="pt-B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206240" y="2377440"/>
            <a:ext cx="1645920" cy="13716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206240" y="248716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pt-BR" sz="4600" noProof="0" dirty="0"/>
          </a:p>
        </p:txBody>
      </p:sp>
      <p:sp>
        <p:nvSpPr>
          <p:cNvPr id="11" name="Text 9"/>
          <p:cNvSpPr/>
          <p:nvPr/>
        </p:nvSpPr>
        <p:spPr>
          <a:xfrm>
            <a:off x="4206240" y="3273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</a:t>
            </a:r>
            <a:endParaRPr lang="pt-B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005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2062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pt-BR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621792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621792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pt-BR" sz="4600" noProof="0" dirty="0"/>
          </a:p>
        </p:txBody>
      </p:sp>
      <p:sp>
        <p:nvSpPr>
          <p:cNvPr id="16" name="Text 14"/>
          <p:cNvSpPr/>
          <p:nvPr/>
        </p:nvSpPr>
        <p:spPr>
          <a:xfrm>
            <a:off x="621792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pt-B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739749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62179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“dormi bem”</a:t>
            </a:r>
            <a:endParaRPr lang="pt-B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1463040" y="4663440"/>
            <a:ext cx="7132320" cy="822960"/>
          </a:xfrm>
          <a:prstGeom prst="roundRect">
            <a:avLst>
              <a:gd name="adj" fmla="val 50000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1463040" y="46634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∧ q</a:t>
            </a:r>
            <a:r>
              <a:rPr lang="pt-BR" sz="2000" noProof="0" dirty="0">
                <a:solidFill>
                  <a:srgbClr val="C7CB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r>
              <a:rPr lang="pt-BR" sz="2000" i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“estudei e dormi bem”</a:t>
            </a:r>
            <a:endParaRPr lang="pt-BR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EXISTE NO SEU CÓDIGO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expressão booleana é uma proposição</a:t>
            </a:r>
            <a:endParaRPr lang="pt-BR" sz="27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&gt;= 18 só é proposição depois que idade tem um valor — exatamente como “x é par” só vira proposição quando x é fixado.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Programa.cs</a:t>
            </a:r>
            <a:endParaRPr lang="pt-BR" sz="1050" noProof="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maiorDeIdade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idade &gt;= 18;</a:t>
            </a:r>
            <a:endParaRPr lang="pt-BR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</a:t>
            </a:r>
            <a:endParaRPr lang="pt-BR" sz="1200" noProof="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maiorDeIdade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ativo;</a:t>
            </a:r>
            <a:endParaRPr lang="pt-BR" sz="1200" noProof="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 composta</a:t>
            </a:r>
            <a:endParaRPr lang="pt-BR" sz="1200" noProof="0" dirty="0"/>
          </a:p>
        </p:txBody>
      </p:sp>
      <p:sp>
        <p:nvSpPr>
          <p:cNvPr id="17" name="Text 14"/>
          <p:cNvSpPr/>
          <p:nvPr/>
        </p:nvSpPr>
        <p:spPr>
          <a:xfrm>
            <a:off x="9326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18" name="Shape 15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8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19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programa.py</a:t>
            </a:r>
            <a:endParaRPr lang="pt-BR" sz="1050" noProof="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pt-BR" sz="1200" noProof="0" dirty="0"/>
          </a:p>
        </p:txBody>
      </p:sp>
      <p:sp>
        <p:nvSpPr>
          <p:cNvPr id="25" name="Text 21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26" name="Text 22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maior_de_idade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idade &gt;= 18</a:t>
            </a:r>
            <a:endParaRPr lang="pt-BR" sz="1200" noProof="0" dirty="0"/>
          </a:p>
        </p:txBody>
      </p:sp>
      <p:sp>
        <p:nvSpPr>
          <p:cNvPr id="27" name="Text 23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</a:t>
            </a:r>
            <a:endParaRPr lang="pt-BR" sz="1200" noProof="0" dirty="0"/>
          </a:p>
        </p:txBody>
      </p:sp>
      <p:sp>
        <p:nvSpPr>
          <p:cNvPr id="28" name="Text 24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maior_de_idade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endParaRPr lang="pt-BR" sz="1200" noProof="0" dirty="0"/>
          </a:p>
        </p:txBody>
      </p:sp>
      <p:sp>
        <p:nvSpPr>
          <p:cNvPr id="29" name="Text 25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 composta</a:t>
            </a:r>
            <a:endParaRPr lang="pt-BR" sz="1200" noProof="0" dirty="0"/>
          </a:p>
        </p:txBody>
      </p:sp>
      <p:sp>
        <p:nvSpPr>
          <p:cNvPr id="30" name="Text 26"/>
          <p:cNvSpPr/>
          <p:nvPr/>
        </p:nvSpPr>
        <p:spPr>
          <a:xfrm>
            <a:off x="65333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31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 CONTEXTO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ideia: validação de senha</a:t>
            </a:r>
            <a:endParaRPr lang="pt-BR" sz="27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lang="pt-BR" sz="1350" noProof="0" dirty="0" err="1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r>
              <a:rPr lang="pt-BR" sz="135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validação que você já escreveu era, sem que você chamasse assim, uma combinação de proposições.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Senha.cs</a:t>
            </a:r>
            <a:endParaRPr lang="pt-BR" sz="1050" noProof="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r>
              <a:rPr lang="pt-BR" sz="1200" noProof="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tem8Caracteres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senha.Length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8;</a:t>
            </a:r>
            <a:endParaRPr lang="pt-BR" sz="12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senha.Any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char.IsDigit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pt-BR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pt-BR" sz="1200" noProof="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tem8Caracteres &amp;&amp;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17" name="Shape 14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5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senha.py</a:t>
            </a:r>
            <a:endParaRPr lang="pt-BR" sz="1050" noProof="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r>
              <a:rPr lang="pt-BR" sz="1200" noProof="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endParaRPr lang="pt-BR" sz="1200" noProof="0" dirty="0"/>
          </a:p>
        </p:txBody>
      </p:sp>
      <p:sp>
        <p:nvSpPr>
          <p:cNvPr id="24" name="Text 20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tem_8_caracteres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(senha) &gt;= 8</a:t>
            </a:r>
            <a:endParaRPr lang="pt-BR" sz="1200" noProof="0" dirty="0"/>
          </a:p>
        </p:txBody>
      </p:sp>
      <p:sp>
        <p:nvSpPr>
          <p:cNvPr id="25" name="Text 21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c.isdigit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senha)</a:t>
            </a:r>
            <a:endParaRPr lang="pt-BR" sz="1200" noProof="0" dirty="0"/>
          </a:p>
        </p:txBody>
      </p:sp>
      <p:sp>
        <p:nvSpPr>
          <p:cNvPr id="26" name="Text 22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senha_valida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tem_8_caracteres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pt-BR" sz="1200" noProof="0" dirty="0"/>
          </a:p>
        </p:txBody>
      </p:sp>
      <p:sp>
        <p:nvSpPr>
          <p:cNvPr id="27" name="Text 23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tem_numero</a:t>
            </a:r>
            <a:endParaRPr lang="pt-BR" sz="1200" noProof="0" dirty="0"/>
          </a:p>
        </p:txBody>
      </p:sp>
      <p:sp>
        <p:nvSpPr>
          <p:cNvPr id="28" name="Text 24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senha_valida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29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NA PRÓXIMA AULA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Prévia: os cinco conectivos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equivalente lógico de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das condições que você já escreve em código.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27736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27736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pt-BR" sz="4000" noProof="0" dirty="0"/>
          </a:p>
        </p:txBody>
      </p:sp>
      <p:sp>
        <p:nvSpPr>
          <p:cNvPr id="7" name="Text 5"/>
          <p:cNvSpPr/>
          <p:nvPr/>
        </p:nvSpPr>
        <p:spPr>
          <a:xfrm>
            <a:off x="719176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</a:t>
            </a:r>
            <a:endParaRPr lang="pt-BR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719176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</a:t>
            </a:r>
            <a:endParaRPr lang="pt-BR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2858872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2858872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pt-BR" sz="4000" noProof="0" dirty="0"/>
          </a:p>
        </p:txBody>
      </p:sp>
      <p:sp>
        <p:nvSpPr>
          <p:cNvPr id="11" name="Text 9"/>
          <p:cNvSpPr/>
          <p:nvPr/>
        </p:nvSpPr>
        <p:spPr>
          <a:xfrm>
            <a:off x="2950312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Conjunção</a:t>
            </a:r>
            <a:endParaRPr lang="pt-BR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295031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5090008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090008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pt-BR" sz="4000" noProof="0" dirty="0"/>
          </a:p>
        </p:txBody>
      </p:sp>
      <p:sp>
        <p:nvSpPr>
          <p:cNvPr id="15" name="Text 13"/>
          <p:cNvSpPr/>
          <p:nvPr/>
        </p:nvSpPr>
        <p:spPr>
          <a:xfrm>
            <a:off x="5181448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Disjunção</a:t>
            </a:r>
            <a:endParaRPr lang="pt-BR" sz="1250" noProof="0" dirty="0"/>
          </a:p>
        </p:txBody>
      </p:sp>
      <p:sp>
        <p:nvSpPr>
          <p:cNvPr id="16" name="Text 14"/>
          <p:cNvSpPr/>
          <p:nvPr/>
        </p:nvSpPr>
        <p:spPr>
          <a:xfrm>
            <a:off x="518144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</a:t>
            </a:r>
            <a:endParaRPr lang="pt-BR" sz="1150" noProof="0" dirty="0"/>
          </a:p>
        </p:txBody>
      </p:sp>
      <p:sp>
        <p:nvSpPr>
          <p:cNvPr id="17" name="Shape 15"/>
          <p:cNvSpPr/>
          <p:nvPr/>
        </p:nvSpPr>
        <p:spPr>
          <a:xfrm>
            <a:off x="7321144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7321144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4000" noProof="0" dirty="0"/>
          </a:p>
        </p:txBody>
      </p:sp>
      <p:sp>
        <p:nvSpPr>
          <p:cNvPr id="19" name="Text 17"/>
          <p:cNvSpPr/>
          <p:nvPr/>
        </p:nvSpPr>
        <p:spPr>
          <a:xfrm>
            <a:off x="7412584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</a:t>
            </a:r>
            <a:endParaRPr lang="pt-BR" sz="1250" noProof="0" dirty="0"/>
          </a:p>
        </p:txBody>
      </p:sp>
      <p:sp>
        <p:nvSpPr>
          <p:cNvPr id="20" name="Text 18"/>
          <p:cNvSpPr/>
          <p:nvPr/>
        </p:nvSpPr>
        <p:spPr>
          <a:xfrm>
            <a:off x="741258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</a:t>
            </a:r>
            <a:endParaRPr lang="pt-BR" sz="1150" noProof="0" dirty="0"/>
          </a:p>
        </p:txBody>
      </p:sp>
      <p:sp>
        <p:nvSpPr>
          <p:cNvPr id="21" name="Shape 19"/>
          <p:cNvSpPr/>
          <p:nvPr/>
        </p:nvSpPr>
        <p:spPr>
          <a:xfrm>
            <a:off x="9552280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9552280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pt-BR" sz="4000" noProof="0" dirty="0"/>
          </a:p>
        </p:txBody>
      </p:sp>
      <p:sp>
        <p:nvSpPr>
          <p:cNvPr id="23" name="Text 21"/>
          <p:cNvSpPr/>
          <p:nvPr/>
        </p:nvSpPr>
        <p:spPr>
          <a:xfrm>
            <a:off x="964372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Bicondicional</a:t>
            </a:r>
            <a:endParaRPr lang="pt-BR" sz="1250" noProof="0" dirty="0"/>
          </a:p>
        </p:txBody>
      </p:sp>
      <p:sp>
        <p:nvSpPr>
          <p:cNvPr id="24" name="Text 22"/>
          <p:cNvSpPr/>
          <p:nvPr/>
        </p:nvSpPr>
        <p:spPr>
          <a:xfrm>
            <a:off x="964372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pt-BR" sz="1150" noProof="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Formalizamos as tabelas-verdade de cada um deles na próxima aula.</a:t>
            </a:r>
            <a:endParaRPr lang="pt-BR" sz="1250" noProof="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símbolo lógico ao código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conectivos que você acabou de ver já aparecem no seu código, com outro nome.</a:t>
            </a:r>
            <a:endParaRPr lang="pt-B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</a:t>
            </a:r>
            <a:endParaRPr lang="pt-BR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pt-BR" sz="1200" noProof="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pt-BR" sz="1200" noProof="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  (negação)</a:t>
            </a:r>
            <a:endParaRPr lang="pt-BR" sz="1400" noProof="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pt-BR" sz="1250" noProof="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!x</a:t>
            </a:r>
            <a:endParaRPr lang="pt-BR" sz="1250" noProof="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∧  (conjunção)</a:t>
            </a:r>
            <a:endParaRPr lang="pt-BR" sz="1400" noProof="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pt-BR" sz="1250" noProof="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&amp;&amp; y</a:t>
            </a:r>
            <a:endParaRPr lang="pt-BR" sz="1250" noProof="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∨  (disjunção)</a:t>
            </a:r>
            <a:endParaRPr lang="pt-BR" sz="1400" noProof="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pt-BR" sz="1250" noProof="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|| y</a:t>
            </a:r>
            <a:endParaRPr lang="pt-BR" sz="1250" noProof="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(condicional)</a:t>
            </a:r>
            <a:endParaRPr lang="pt-BR" sz="1400" noProof="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x: y</a:t>
            </a:r>
            <a:endParaRPr lang="pt-BR" sz="1250" noProof="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{ y }</a:t>
            </a:r>
            <a:endParaRPr lang="pt-BR" sz="1250" noProof="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(bicondicional)</a:t>
            </a:r>
            <a:endParaRPr lang="pt-BR" sz="1400" noProof="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pt-BR" sz="1250" noProof="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pt-BR" sz="1250" noProof="0" dirty="0"/>
          </a:p>
        </p:txBody>
      </p:sp>
      <p:sp>
        <p:nvSpPr>
          <p:cNvPr id="32" name="Text 28"/>
          <p:cNvSpPr/>
          <p:nvPr/>
        </p:nvSpPr>
        <p:spPr>
          <a:xfrm>
            <a:off x="640080" y="5440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sempre que ler &amp;&amp; ou </a:t>
            </a:r>
            <a:r>
              <a:rPr lang="pt-BR" sz="1200" i="1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2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código, leia mentalmente “e” — o ∧ da lógica proposicional.</a:t>
            </a:r>
            <a:endParaRPr lang="pt-BR" sz="1200" noProof="0" dirty="0"/>
          </a:p>
        </p:txBody>
      </p:sp>
      <p:sp>
        <p:nvSpPr>
          <p:cNvPr id="33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pt-BR" sz="4000" noProof="0" dirty="0"/>
          </a:p>
        </p:txBody>
      </p:sp>
      <p:sp>
        <p:nvSpPr>
          <p:cNvPr id="7" name="Text 4"/>
          <p:cNvSpPr/>
          <p:nvPr/>
        </p:nvSpPr>
        <p:spPr>
          <a:xfrm>
            <a:off x="219456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50" i="1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exercícios, do básico ao desafio — o último te leva de volta à Aula 02.</a:t>
            </a:r>
            <a:endParaRPr lang="pt-BR" sz="15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 como proposição ou não, justificando: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5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pt-BR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153619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pt-BR" sz="1500" noProof="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105156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pt-BR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715975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pt-BR" sz="1500" noProof="0" dirty="0"/>
          </a:p>
        </p:txBody>
      </p:sp>
      <p:sp>
        <p:nvSpPr>
          <p:cNvPr id="17" name="Shape 14"/>
          <p:cNvSpPr/>
          <p:nvPr/>
        </p:nvSpPr>
        <p:spPr>
          <a:xfrm>
            <a:off x="653796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667512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19" name="Shape 16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pt-BR" sz="1600" noProof="0" dirty="0"/>
          </a:p>
        </p:txBody>
      </p:sp>
      <p:sp>
        <p:nvSpPr>
          <p:cNvPr id="22" name="Text 19"/>
          <p:cNvSpPr/>
          <p:nvPr/>
        </p:nvSpPr>
        <p:spPr>
          <a:xfrm>
            <a:off x="153619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pt-BR" sz="1500" noProof="0" dirty="0"/>
          </a:p>
        </p:txBody>
      </p:sp>
      <p:sp>
        <p:nvSpPr>
          <p:cNvPr id="23" name="Shape 20"/>
          <p:cNvSpPr/>
          <p:nvPr/>
        </p:nvSpPr>
        <p:spPr>
          <a:xfrm>
            <a:off x="91440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1"/>
          <p:cNvSpPr/>
          <p:nvPr/>
        </p:nvSpPr>
        <p:spPr>
          <a:xfrm>
            <a:off x="105156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25" name="Shape 22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3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4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pt-BR" sz="1600" noProof="0" dirty="0"/>
          </a:p>
        </p:txBody>
      </p:sp>
      <p:sp>
        <p:nvSpPr>
          <p:cNvPr id="28" name="Text 25"/>
          <p:cNvSpPr/>
          <p:nvPr/>
        </p:nvSpPr>
        <p:spPr>
          <a:xfrm>
            <a:off x="715975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pt-BR" sz="1500" noProof="0" dirty="0"/>
          </a:p>
        </p:txBody>
      </p:sp>
      <p:sp>
        <p:nvSpPr>
          <p:cNvPr id="29" name="Shape 26"/>
          <p:cNvSpPr/>
          <p:nvPr/>
        </p:nvSpPr>
        <p:spPr>
          <a:xfrm>
            <a:off x="653796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7"/>
          <p:cNvSpPr/>
          <p:nvPr/>
        </p:nvSpPr>
        <p:spPr>
          <a:xfrm>
            <a:off x="667512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pt-BR" sz="1600" noProof="0" dirty="0"/>
          </a:p>
        </p:txBody>
      </p:sp>
      <p:sp>
        <p:nvSpPr>
          <p:cNvPr id="9" name="Text 6"/>
          <p:cNvSpPr/>
          <p:nvPr/>
        </p:nvSpPr>
        <p:spPr>
          <a:xfrm>
            <a:off x="153619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pt-BR" sz="1400" noProof="0" dirty="0"/>
          </a:p>
        </p:txBody>
      </p:sp>
      <p:sp>
        <p:nvSpPr>
          <p:cNvPr id="10" name="Shape 7"/>
          <p:cNvSpPr/>
          <p:nvPr/>
        </p:nvSpPr>
        <p:spPr>
          <a:xfrm>
            <a:off x="5212080" y="24597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521208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2" name="Text 9"/>
          <p:cNvSpPr/>
          <p:nvPr/>
        </p:nvSpPr>
        <p:spPr>
          <a:xfrm>
            <a:off x="91440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é primo — declarativa, valor V definido.</a:t>
            </a:r>
            <a:endParaRPr lang="pt-BR" sz="1150" noProof="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pt-BR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715975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pt-BR" sz="1400" noProof="0" dirty="0"/>
          </a:p>
        </p:txBody>
      </p:sp>
      <p:sp>
        <p:nvSpPr>
          <p:cNvPr id="17" name="Shape 14"/>
          <p:cNvSpPr/>
          <p:nvPr/>
        </p:nvSpPr>
        <p:spPr>
          <a:xfrm>
            <a:off x="10835640" y="24597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1083564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9" name="Text 16"/>
          <p:cNvSpPr/>
          <p:nvPr/>
        </p:nvSpPr>
        <p:spPr>
          <a:xfrm>
            <a:off x="653796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— não afirma nada.</a:t>
            </a:r>
            <a:endParaRPr lang="pt-BR" sz="1150" noProof="0" dirty="0"/>
          </a:p>
        </p:txBody>
      </p:sp>
      <p:sp>
        <p:nvSpPr>
          <p:cNvPr id="20" name="Shape 17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8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19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pt-BR" sz="1600" noProof="0" dirty="0"/>
          </a:p>
        </p:txBody>
      </p:sp>
      <p:sp>
        <p:nvSpPr>
          <p:cNvPr id="23" name="Text 20"/>
          <p:cNvSpPr/>
          <p:nvPr/>
        </p:nvSpPr>
        <p:spPr>
          <a:xfrm>
            <a:off x="153619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pt-BR" sz="1400" noProof="0" dirty="0"/>
          </a:p>
        </p:txBody>
      </p:sp>
      <p:sp>
        <p:nvSpPr>
          <p:cNvPr id="24" name="Shape 21"/>
          <p:cNvSpPr/>
          <p:nvPr/>
        </p:nvSpPr>
        <p:spPr>
          <a:xfrm>
            <a:off x="5212080" y="45171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2"/>
          <p:cNvSpPr/>
          <p:nvPr/>
        </p:nvSpPr>
        <p:spPr>
          <a:xfrm>
            <a:off x="521208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6" name="Text 23"/>
          <p:cNvSpPr/>
          <p:nvPr/>
        </p:nvSpPr>
        <p:spPr>
          <a:xfrm>
            <a:off x="91440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pt-BR" sz="1150" noProof="0" dirty="0"/>
          </a:p>
        </p:txBody>
      </p:sp>
      <p:sp>
        <p:nvSpPr>
          <p:cNvPr id="27" name="Shape 24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Shape 25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6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pt-BR" sz="1600" noProof="0" dirty="0"/>
          </a:p>
        </p:txBody>
      </p:sp>
      <p:sp>
        <p:nvSpPr>
          <p:cNvPr id="30" name="Text 27"/>
          <p:cNvSpPr/>
          <p:nvPr/>
        </p:nvSpPr>
        <p:spPr>
          <a:xfrm>
            <a:off x="715975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pt-BR" sz="1400" noProof="0" dirty="0"/>
          </a:p>
        </p:txBody>
      </p:sp>
      <p:sp>
        <p:nvSpPr>
          <p:cNvPr id="31" name="Shape 28"/>
          <p:cNvSpPr/>
          <p:nvPr/>
        </p:nvSpPr>
        <p:spPr>
          <a:xfrm>
            <a:off x="10835640" y="45171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29"/>
          <p:cNvSpPr/>
          <p:nvPr/>
        </p:nvSpPr>
        <p:spPr>
          <a:xfrm>
            <a:off x="1083564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33" name="Text 30"/>
          <p:cNvSpPr/>
          <p:nvPr/>
        </p:nvSpPr>
        <p:spPr>
          <a:xfrm>
            <a:off x="653796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(∨ com ¬) — sempre verdadeira: uma tautologia.</a:t>
            </a:r>
            <a:endParaRPr lang="pt-BR" sz="1150" noProof="0" dirty="0"/>
          </a:p>
        </p:txBody>
      </p:sp>
      <p:sp>
        <p:nvSpPr>
          <p:cNvPr id="34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3566160"/>
          </a:xfrm>
          <a:prstGeom prst="roundRect">
            <a:avLst>
              <a:gd name="adj" fmla="val 359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pt-BR" sz="16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sentenças do Exercício 1 que são proposições, quais são simples e quais são compostas? Identifique os conectivos presentes em cada uma das compostas.</a:t>
            </a:r>
            <a:endParaRPr lang="pt-BR" sz="1600" noProof="0" dirty="0"/>
          </a:p>
        </p:txBody>
      </p:sp>
      <p:sp>
        <p:nvSpPr>
          <p:cNvPr id="8" name="Shape 5"/>
          <p:cNvSpPr/>
          <p:nvPr/>
        </p:nvSpPr>
        <p:spPr>
          <a:xfrm>
            <a:off x="1005840" y="3246120"/>
            <a:ext cx="101498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6"/>
          <p:cNvSpPr/>
          <p:nvPr/>
        </p:nvSpPr>
        <p:spPr>
          <a:xfrm>
            <a:off x="1234440" y="347472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5661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</a:t>
            </a:r>
            <a:endParaRPr lang="pt-BR" sz="1300" noProof="0" dirty="0"/>
          </a:p>
        </p:txBody>
      </p:sp>
      <p:sp>
        <p:nvSpPr>
          <p:cNvPr id="12" name="Text 8"/>
          <p:cNvSpPr/>
          <p:nvPr/>
        </p:nvSpPr>
        <p:spPr>
          <a:xfrm>
            <a:off x="1828800" y="3822192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(d) — “Ou está frio ou não está.” — é composta: junta “está frio” com “não está frio” usando ou. E é verdadeira sempre, não importa a temperatura real.</a:t>
            </a:r>
            <a:endParaRPr lang="pt-BR" sz="1300" noProof="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(a) e (d) são proposições — (b) e (c) ficam de fora da classificação.</a:t>
            </a:r>
            <a:endParaRPr lang="pt-BR" sz="13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“O número 7 é primo.”</a:t>
            </a:r>
            <a:endParaRPr lang="pt-BR" sz="1500" noProof="0" dirty="0"/>
          </a:p>
        </p:txBody>
      </p:sp>
      <p:sp>
        <p:nvSpPr>
          <p:cNvPr id="9" name="Shape 6"/>
          <p:cNvSpPr/>
          <p:nvPr/>
        </p:nvSpPr>
        <p:spPr>
          <a:xfrm>
            <a:off x="91440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1440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pt-BR" sz="1400" noProof="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conectivo — é uma única afirmação atômica.</a:t>
            </a:r>
            <a:endParaRPr lang="pt-BR" sz="1250" noProof="0" dirty="0"/>
          </a:p>
        </p:txBody>
      </p:sp>
      <p:sp>
        <p:nvSpPr>
          <p:cNvPr id="12" name="Shape 9"/>
          <p:cNvSpPr/>
          <p:nvPr/>
        </p:nvSpPr>
        <p:spPr>
          <a:xfrm>
            <a:off x="626364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653796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“Ou está frio ou não está.”</a:t>
            </a:r>
            <a:endParaRPr lang="pt-BR" sz="1500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</a:t>
            </a:r>
            <a:endParaRPr lang="pt-BR" sz="1400" noProof="0" dirty="0"/>
          </a:p>
        </p:txBody>
      </p:sp>
      <p:sp>
        <p:nvSpPr>
          <p:cNvPr id="16" name="Text 13"/>
          <p:cNvSpPr/>
          <p:nvPr/>
        </p:nvSpPr>
        <p:spPr>
          <a:xfrm>
            <a:off x="6537960" y="37490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 frio </a:t>
            </a:r>
            <a:r>
              <a:rPr lang="pt-BR" sz="14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∨ </a:t>
            </a:r>
            <a:r>
              <a:rPr lang="pt-BR" sz="14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¬está frio</a:t>
            </a:r>
            <a:endParaRPr lang="pt-BR" sz="1400" noProof="0" dirty="0"/>
          </a:p>
        </p:txBody>
      </p:sp>
      <p:sp>
        <p:nvSpPr>
          <p:cNvPr id="17" name="Text 14"/>
          <p:cNvSpPr/>
          <p:nvPr/>
        </p:nvSpPr>
        <p:spPr>
          <a:xfrm>
            <a:off x="6537960" y="42062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Conectivos: ∨ (disjunção) e ¬ (negação).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sentença aberta abaixo, encontre um valor de x que a torne verdadeira e outro que a torne falsa.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4023360" y="233172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402336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pt-BR" sz="300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1440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pt-BR" sz="1450" noProof="0" dirty="0"/>
          </a:p>
        </p:txBody>
      </p:sp>
      <p:sp>
        <p:nvSpPr>
          <p:cNvPr id="11" name="Shape 8"/>
          <p:cNvSpPr/>
          <p:nvPr/>
        </p:nvSpPr>
        <p:spPr>
          <a:xfrm>
            <a:off x="91440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91440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noProof="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pt-BR" sz="1400" noProof="0" dirty="0"/>
          </a:p>
        </p:txBody>
      </p:sp>
      <p:sp>
        <p:nvSpPr>
          <p:cNvPr id="13" name="Text 10"/>
          <p:cNvSpPr/>
          <p:nvPr/>
        </p:nvSpPr>
        <p:spPr>
          <a:xfrm>
            <a:off x="91440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verdadeira.</a:t>
            </a:r>
            <a:endParaRPr lang="pt-BR" sz="1150" noProof="0" dirty="0"/>
          </a:p>
        </p:txBody>
      </p:sp>
      <p:sp>
        <p:nvSpPr>
          <p:cNvPr id="14" name="Shape 11"/>
          <p:cNvSpPr/>
          <p:nvPr/>
        </p:nvSpPr>
        <p:spPr>
          <a:xfrm>
            <a:off x="626364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pt-BR" sz="1450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653796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noProof="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pt-BR" sz="1400" noProof="0" dirty="0"/>
          </a:p>
        </p:txBody>
      </p:sp>
      <p:sp>
        <p:nvSpPr>
          <p:cNvPr id="18" name="Text 15"/>
          <p:cNvSpPr/>
          <p:nvPr/>
        </p:nvSpPr>
        <p:spPr>
          <a:xfrm>
            <a:off x="653796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falsa.</a:t>
            </a:r>
            <a:endParaRPr lang="pt-BR" sz="1150" noProof="0" dirty="0"/>
          </a:p>
        </p:txBody>
      </p:sp>
      <p:sp>
        <p:nvSpPr>
          <p:cNvPr id="19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4023360" y="173736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4023360" y="17373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pt-BR" sz="280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pt-BR" sz="1450" noProof="0" dirty="0"/>
          </a:p>
        </p:txBody>
      </p:sp>
      <p:sp>
        <p:nvSpPr>
          <p:cNvPr id="10" name="Shape 7"/>
          <p:cNvSpPr/>
          <p:nvPr/>
        </p:nvSpPr>
        <p:spPr>
          <a:xfrm>
            <a:off x="5120640" y="3108960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5120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2" name="Shape 9"/>
          <p:cNvSpPr/>
          <p:nvPr/>
        </p:nvSpPr>
        <p:spPr>
          <a:xfrm>
            <a:off x="91440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91440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pt-BR" sz="1600" noProof="0" dirty="0"/>
          </a:p>
        </p:txBody>
      </p:sp>
      <p:sp>
        <p:nvSpPr>
          <p:cNvPr id="14" name="Text 11"/>
          <p:cNvSpPr/>
          <p:nvPr/>
        </p:nvSpPr>
        <p:spPr>
          <a:xfrm>
            <a:off x="91440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+ 3 = 10  ✓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626364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653796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pt-BR" sz="1450" noProof="0" dirty="0"/>
          </a:p>
        </p:txBody>
      </p:sp>
      <p:sp>
        <p:nvSpPr>
          <p:cNvPr id="17" name="Shape 14"/>
          <p:cNvSpPr/>
          <p:nvPr/>
        </p:nvSpPr>
        <p:spPr>
          <a:xfrm>
            <a:off x="10744200" y="3108960"/>
            <a:ext cx="502920" cy="502920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107442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19" name="Shape 16"/>
          <p:cNvSpPr/>
          <p:nvPr/>
        </p:nvSpPr>
        <p:spPr>
          <a:xfrm>
            <a:off x="653796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7"/>
          <p:cNvSpPr/>
          <p:nvPr/>
        </p:nvSpPr>
        <p:spPr>
          <a:xfrm>
            <a:off x="653796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0  (ou qualquer x ≠ 7)</a:t>
            </a:r>
            <a:endParaRPr lang="pt-BR" sz="1600" noProof="0" dirty="0"/>
          </a:p>
        </p:txBody>
      </p:sp>
      <p:sp>
        <p:nvSpPr>
          <p:cNvPr id="21" name="Text 18"/>
          <p:cNvSpPr/>
          <p:nvPr/>
        </p:nvSpPr>
        <p:spPr>
          <a:xfrm>
            <a:off x="653796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+ 3 = 3 ≠ 10</a:t>
            </a:r>
            <a:endParaRPr lang="pt-BR" sz="1300" noProof="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Lembra do desafio das fantasias, na </a:t>
            </a:r>
            <a:r>
              <a:rPr lang="pt-BR" sz="1400" u="sng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02</a:t>
            </a:r>
            <a:r>
              <a:rPr lang="pt-BR" sz="14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Escreva as três pistas em português formal, como proposições, usando: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“Ana está de pirata”</a:t>
            </a:r>
            <a:endParaRPr lang="pt-BR" sz="1300" noProof="0" dirty="0"/>
          </a:p>
        </p:txBody>
      </p:sp>
      <p:sp>
        <p:nvSpPr>
          <p:cNvPr id="9" name="Shape 6"/>
          <p:cNvSpPr/>
          <p:nvPr/>
        </p:nvSpPr>
        <p:spPr>
          <a:xfrm>
            <a:off x="4288536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4471416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“Bruno está de super-herói”</a:t>
            </a:r>
            <a:endParaRPr lang="pt-BR" sz="1300" noProof="0" dirty="0"/>
          </a:p>
        </p:txBody>
      </p:sp>
      <p:sp>
        <p:nvSpPr>
          <p:cNvPr id="11" name="Shape 8"/>
          <p:cNvSpPr/>
          <p:nvPr/>
        </p:nvSpPr>
        <p:spPr>
          <a:xfrm>
            <a:off x="7936992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8119872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“Caio está de palhaço”</a:t>
            </a:r>
            <a:endParaRPr lang="pt-BR" sz="1300" noProof="0" dirty="0"/>
          </a:p>
        </p:txBody>
      </p:sp>
      <p:sp>
        <p:nvSpPr>
          <p:cNvPr id="13" name="Shape 10"/>
          <p:cNvSpPr/>
          <p:nvPr/>
        </p:nvSpPr>
        <p:spPr>
          <a:xfrm>
            <a:off x="640080" y="33375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868680" y="35204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800" noProof="0" dirty="0"/>
          </a:p>
        </p:txBody>
      </p:sp>
      <p:sp>
        <p:nvSpPr>
          <p:cNvPr id="16" name="Text 13"/>
          <p:cNvSpPr/>
          <p:nvPr/>
        </p:nvSpPr>
        <p:spPr>
          <a:xfrm>
            <a:off x="1554480" y="33375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pt-BR" sz="1400" noProof="0" dirty="0"/>
          </a:p>
        </p:txBody>
      </p:sp>
      <p:sp>
        <p:nvSpPr>
          <p:cNvPr id="17" name="Shape 14"/>
          <p:cNvSpPr/>
          <p:nvPr/>
        </p:nvSpPr>
        <p:spPr>
          <a:xfrm>
            <a:off x="7360920" y="34930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7543800" y="34930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19" name="Shape 16"/>
          <p:cNvSpPr/>
          <p:nvPr/>
        </p:nvSpPr>
        <p:spPr>
          <a:xfrm>
            <a:off x="640080" y="43434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868680" y="45262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8686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800" noProof="0" dirty="0"/>
          </a:p>
        </p:txBody>
      </p:sp>
      <p:sp>
        <p:nvSpPr>
          <p:cNvPr id="22" name="Text 19"/>
          <p:cNvSpPr/>
          <p:nvPr/>
        </p:nvSpPr>
        <p:spPr>
          <a:xfrm>
            <a:off x="1554480" y="4343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pt-BR" sz="1400" noProof="0" dirty="0"/>
          </a:p>
        </p:txBody>
      </p:sp>
      <p:sp>
        <p:nvSpPr>
          <p:cNvPr id="23" name="Shape 20"/>
          <p:cNvSpPr/>
          <p:nvPr/>
        </p:nvSpPr>
        <p:spPr>
          <a:xfrm>
            <a:off x="7360920" y="44988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1"/>
          <p:cNvSpPr/>
          <p:nvPr/>
        </p:nvSpPr>
        <p:spPr>
          <a:xfrm>
            <a:off x="7543800" y="449884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3"/>
          <p:cNvSpPr/>
          <p:nvPr/>
        </p:nvSpPr>
        <p:spPr>
          <a:xfrm>
            <a:off x="868680" y="55321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4"/>
          <p:cNvSpPr/>
          <p:nvPr/>
        </p:nvSpPr>
        <p:spPr>
          <a:xfrm>
            <a:off x="868680" y="5532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800" noProof="0" dirty="0"/>
          </a:p>
        </p:txBody>
      </p:sp>
      <p:sp>
        <p:nvSpPr>
          <p:cNvPr id="28" name="Text 25"/>
          <p:cNvSpPr/>
          <p:nvPr/>
        </p:nvSpPr>
        <p:spPr>
          <a:xfrm>
            <a:off x="1554480" y="53492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pt-BR" sz="1400" noProof="0" dirty="0"/>
          </a:p>
        </p:txBody>
      </p:sp>
      <p:sp>
        <p:nvSpPr>
          <p:cNvPr id="29" name="Shape 26"/>
          <p:cNvSpPr/>
          <p:nvPr/>
        </p:nvSpPr>
        <p:spPr>
          <a:xfrm>
            <a:off x="7360920" y="55046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7"/>
          <p:cNvSpPr/>
          <p:nvPr/>
        </p:nvSpPr>
        <p:spPr>
          <a:xfrm>
            <a:off x="7543800" y="55046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800" noProof="0" dirty="0"/>
          </a:p>
        </p:txBody>
      </p:sp>
      <p:sp>
        <p:nvSpPr>
          <p:cNvPr id="9" name="Text 6"/>
          <p:cNvSpPr/>
          <p:nvPr/>
        </p:nvSpPr>
        <p:spPr>
          <a:xfrm>
            <a:off x="1554480" y="17373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pt-BR" sz="1400" noProof="0" dirty="0"/>
          </a:p>
        </p:txBody>
      </p:sp>
      <p:sp>
        <p:nvSpPr>
          <p:cNvPr id="10" name="Shape 7"/>
          <p:cNvSpPr/>
          <p:nvPr/>
        </p:nvSpPr>
        <p:spPr>
          <a:xfrm>
            <a:off x="7360920" y="18928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7360920" y="1892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pt-BR" sz="1600" noProof="0" dirty="0"/>
          </a:p>
        </p:txBody>
      </p:sp>
      <p:sp>
        <p:nvSpPr>
          <p:cNvPr id="12" name="Shape 9"/>
          <p:cNvSpPr/>
          <p:nvPr/>
        </p:nvSpPr>
        <p:spPr>
          <a:xfrm>
            <a:off x="640080" y="27432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0"/>
          <p:cNvSpPr/>
          <p:nvPr/>
        </p:nvSpPr>
        <p:spPr>
          <a:xfrm>
            <a:off x="868680" y="29260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8686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800" noProof="0" dirty="0"/>
          </a:p>
        </p:txBody>
      </p:sp>
      <p:sp>
        <p:nvSpPr>
          <p:cNvPr id="15" name="Text 12"/>
          <p:cNvSpPr/>
          <p:nvPr/>
        </p:nvSpPr>
        <p:spPr>
          <a:xfrm>
            <a:off x="1554480" y="2743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pt-BR" sz="1400" noProof="0" dirty="0"/>
          </a:p>
        </p:txBody>
      </p:sp>
      <p:sp>
        <p:nvSpPr>
          <p:cNvPr id="16" name="Shape 13"/>
          <p:cNvSpPr/>
          <p:nvPr/>
        </p:nvSpPr>
        <p:spPr>
          <a:xfrm>
            <a:off x="7360920" y="28986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7360920" y="28986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¬q</a:t>
            </a:r>
            <a:endParaRPr lang="pt-BR" sz="1600" noProof="0" dirty="0"/>
          </a:p>
        </p:txBody>
      </p:sp>
      <p:sp>
        <p:nvSpPr>
          <p:cNvPr id="18" name="Shape 15"/>
          <p:cNvSpPr/>
          <p:nvPr/>
        </p:nvSpPr>
        <p:spPr>
          <a:xfrm>
            <a:off x="640080" y="37490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868680" y="39319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7"/>
          <p:cNvSpPr/>
          <p:nvPr/>
        </p:nvSpPr>
        <p:spPr>
          <a:xfrm>
            <a:off x="8686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800" noProof="0" dirty="0"/>
          </a:p>
        </p:txBody>
      </p:sp>
      <p:sp>
        <p:nvSpPr>
          <p:cNvPr id="21" name="Text 18"/>
          <p:cNvSpPr/>
          <p:nvPr/>
        </p:nvSpPr>
        <p:spPr>
          <a:xfrm>
            <a:off x="1554480" y="37490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pt-BR" sz="1400" noProof="0" dirty="0"/>
          </a:p>
        </p:txBody>
      </p:sp>
      <p:sp>
        <p:nvSpPr>
          <p:cNvPr id="22" name="Shape 19"/>
          <p:cNvSpPr/>
          <p:nvPr/>
        </p:nvSpPr>
        <p:spPr>
          <a:xfrm>
            <a:off x="7360920" y="39044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0"/>
          <p:cNvSpPr/>
          <p:nvPr/>
        </p:nvSpPr>
        <p:spPr>
          <a:xfrm>
            <a:off x="7360920" y="39044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¬r ∧ ¬s</a:t>
            </a:r>
            <a:endParaRPr lang="pt-BR" sz="1600" noProof="0" dirty="0"/>
          </a:p>
        </p:txBody>
      </p:sp>
      <p:sp>
        <p:nvSpPr>
          <p:cNvPr id="24" name="Shape 21"/>
          <p:cNvSpPr/>
          <p:nvPr/>
        </p:nvSpPr>
        <p:spPr>
          <a:xfrm>
            <a:off x="640080" y="480060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2"/>
          <p:cNvSpPr/>
          <p:nvPr/>
        </p:nvSpPr>
        <p:spPr>
          <a:xfrm>
            <a:off x="960120" y="4800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b="1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pt-BR" sz="125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“Caio está de super-herói” — uma letra extra: a pista 3 combina duas negações que não cabem só em </a:t>
            </a:r>
            <a:r>
              <a:rPr lang="pt-BR" sz="1250" b="1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pt-BR" sz="125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1250" noProof="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da Aula 02: Ana = super-herói, Bruno = palhaço, Caio = pirata — por isso ¬p, ¬q, ¬r e ¬s são todas verdadeiras.</a:t>
            </a:r>
            <a:endParaRPr lang="pt-BR" sz="1200" noProof="0" dirty="0"/>
          </a:p>
        </p:txBody>
      </p:sp>
      <p:sp>
        <p:nvSpPr>
          <p:cNvPr id="27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pt-BR" sz="1450" noProof="0" dirty="0"/>
          </a:p>
        </p:txBody>
      </p:sp>
      <p:sp>
        <p:nvSpPr>
          <p:cNvPr id="9" name="Text 6"/>
          <p:cNvSpPr/>
          <p:nvPr/>
        </p:nvSpPr>
        <p:spPr>
          <a:xfrm>
            <a:off x="896112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Porto Alegre: AMGH/McGraw-Hill — cap. Lógica Proposicional (introdução).</a:t>
            </a:r>
            <a:endParaRPr lang="pt-BR" sz="1200" noProof="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pt-BR" sz="1450" noProof="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Lógica.</a:t>
            </a:r>
            <a:endParaRPr lang="pt-BR" sz="1200" noProof="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COPI, I. M.; COHEN, C.</a:t>
            </a:r>
            <a:endParaRPr lang="pt-BR" sz="1450" noProof="0" dirty="0"/>
          </a:p>
        </p:txBody>
      </p:sp>
      <p:sp>
        <p:nvSpPr>
          <p:cNvPr id="19" name="Text 14"/>
          <p:cNvSpPr/>
          <p:nvPr/>
        </p:nvSpPr>
        <p:spPr>
          <a:xfrm>
            <a:off x="8375904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Lógica. Mestre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capítulos iniciais sobre proposições e argumentos.</a:t>
            </a:r>
            <a:endParaRPr lang="pt-BR" sz="1200" noProof="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pt-BR" sz="32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expressões booleanas</a:t>
            </a:r>
            <a:endParaRPr lang="pt-BR" sz="1550" noProof="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de comparação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pt-BR" sz="1250" noProof="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booleanos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/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</a:t>
            </a: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/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pt-BR" sz="1250" noProof="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pt-BR" sz="1550" noProof="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Canal Me Salva!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vídeos introdutórios sobre lógica proposicional e raciocínio lógico.</a:t>
            </a:r>
            <a:endParaRPr lang="pt-BR" sz="1250" noProof="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Raciocínio lógico para concursos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ótimos para fixar o conceito de proposição com muitos exemplos.</a:t>
            </a:r>
            <a:endParaRPr lang="pt-BR" sz="1250" noProof="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pt-B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lógicas e tabela-verdade dos conectivos</a:t>
            </a:r>
            <a:endParaRPr lang="pt-BR" sz="16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pt-BR" sz="3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conectivos, cinco tabelas — e o vocabulário para formalizar tudo o que vimos hoje.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 p   ∧   q   ∨   r   →   s   ↔   t</a:t>
            </a:r>
            <a:endParaRPr lang="pt-BR" sz="2000" noProof="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03</a:t>
            </a:r>
            <a:endParaRPr lang="pt-BR" sz="11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2891</Words>
  <Application>Microsoft Office PowerPoint</Application>
  <PresentationFormat>Widescreen</PresentationFormat>
  <Paragraphs>424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2</cp:revision>
  <dcterms:created xsi:type="dcterms:W3CDTF">2026-08-04T21:08:09Z</dcterms:created>
  <dcterms:modified xsi:type="dcterms:W3CDTF">2026-08-20T17:53:22Z</dcterms:modified>
</cp:coreProperties>
</file>