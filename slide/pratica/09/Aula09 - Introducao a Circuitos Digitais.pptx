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3044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sem elo direto de continuidade na apresentação — segue direto do que já vimos de álgebra booleana (Aula 06) e K-maps (Aula 07).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aula em que tudo o que foi abstrato até aqui vira componente físico de verdade.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conteúdo novo de lógica — é a mesma matemática, agora com um pé no mundo físico.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os símbolos são os mesmos da Aula 04 — só o contexto muda, de proposição para porta.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mesma ideia do Nand2Tetris — construir um computador inteiro a partir de uma única porta.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fica pronto negando o resultado do NAND duas vezes — a segunda negação vem do próprio NAND aplicado ao já-negado.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mesma checagem cruzada que fizemos com álgebra e K-map nas aulas anteriores — só que agora provando algo sobre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apontar para trás no material: cada seta desse fluxo já foi ensinada como aula própria.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colunas saem as duas expressões diretamente, igual sempre fizemos com SOP.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um circuito combinacional puro: sem realimentação, sem memória — a saída depende só da entrada atual.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todo circuito "novo" daqui pra frente vai ser recombinação de portas que a turma já domina.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Mesma base de sempre: ^ é XOR, &amp; é AND, em Python e em C#.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Rodar de verdade: as 4 linhas de saída batem com a tabela do Slide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linhas porque agora são 3 variáveis de entrada — mesmo princípio de sempre.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Confirmar mentalmente com uma linha da tabela do Slide 14, por exemplo A=1,B=1,Cin=1: S=1, Cout=1.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Exatamente o que o Exercício 4 pede para implementar em código — este diagrama é o gabarito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encadeamento é literalmente como somamos à mão: unidade, depois dezena, carregando o "vai um".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hora para perguntar: onde mais a turma já usou um desses sem perceber?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gabarito no slide seguinte — resolver antes de virar a página.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fórmula já apareceu no Slide 9 da Aula 07 — a resposta deve soar familiar.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nem todo circuito precisa de várias portas — às vezes a simplificação leva de volta a uma única.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Rodar half_adder(a,b) para as 4 combinações e comparar linha por linha.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bateu igual, a implementação está correta — se não, o erro está em trocar XOR por AND ou vice-versa.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do Slide 6 já dá a resposta pronta — o exercício é só traduzir para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função usa só nand() e as funções já definidas antes dela — nenhum operador booleano "de fora" é usado.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gabarito está no próximo slide — deixar a turma tentar completar as duas linhas antes de revelar.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8 combinações devem bater exatamente com a tabela do Slide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Nand2Tetris é a referência que literalmente parte de NAND e chega a um computador completo, jogo de palavras incluído.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exatamente como fornecidos pelo professor — nenhuma URL foi inventada.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sem teaser de próxima aula — a numeração do material fonte (Aula 09) não encadeia diretamente com a Aula 07 desta série.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nand2tetris.org/" TargetMode="Externa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results?search_query=computerphile+logic+gates+nand" TargetMode="External"/><Relationship Id="rId3" Type="http://schemas.openxmlformats.org/officeDocument/2006/relationships/image" Target="../media/image19.png"/><Relationship Id="rId7" Type="http://schemas.openxmlformats.org/officeDocument/2006/relationships/hyperlink" Target="https://www.youtube.com/results?search_query=nand2tetris+half+adder+full+adder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results?search_query=ben+eater+8+bit+computer+logic+gates" TargetMode="External"/><Relationship Id="rId5" Type="http://schemas.openxmlformats.org/officeDocument/2006/relationships/image" Target="../media/image20.png"/><Relationship Id="rId4" Type="http://schemas.openxmlformats.org/officeDocument/2006/relationships/hyperlink" Target="https://docs.python.org/3/reference/expressions.html#binary-bitwise-operations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5669280" cy="5669280"/>
          </a:xfrm>
          <a:prstGeom prst="ellipse">
            <a:avLst/>
          </a:prstGeom>
          <a:ln w="19050">
            <a:solidFill>
              <a:srgbClr val="2FE6C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663440"/>
            <a:ext cx="3108960" cy="3108960"/>
          </a:xfrm>
          <a:prstGeom prst="ellipse">
            <a:avLst/>
          </a:prstGeom>
          <a:ln w="19050">
            <a:solidFill>
              <a:srgbClr val="6C4BC1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9921240" y="-182880"/>
            <a:ext cx="23774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2331720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09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a Circuitos Digitais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álgebra booleana às portas físicas — e do meio somador ao coração de qualquer processador.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   OR    NOT    NAND    NOR    XOR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09 · ROTEIRO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Nesta aula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112264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202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Portas lógicas e seus símbolos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463040" y="238658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operação booleana, agora como componente físico.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081528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22783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303580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tabela-verdade ao circuito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463040" y="350215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completo: especificação → expressão → circuito.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197096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343400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15137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 somador (half adder)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463040" y="46177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circuito aritmético — soma dois bits.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5312664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5458968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526694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álgebra booleana é a base do hardware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463040" y="573328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literal simplificado vira, literalmente, uma porta a menos.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sabemos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Axiomas booleanos, simplificação algébrica e mapas de Karnaugh já são ferramentas conhecidas.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554480" y="2286000"/>
            <a:ext cx="9052560" cy="1371600"/>
          </a:xfrm>
          <a:prstGeom prst="roundRect">
            <a:avLst>
              <a:gd name="adj" fmla="val 8000"/>
            </a:avLst>
          </a:prstGeom>
          <a:solidFill>
            <a:srgbClr val="F3F1F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514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 y      x · y      x̄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3154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operações, sempre sobre {0, 1}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22452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4114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cada uma dessas operações ganha um corpo físico — a porta lógica.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OPERAÇÃO BOOLEANA A COMPONENTE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Portas lógicas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operação booleana da Aula 06 vira uma porta física: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Símbolo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∧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só se todas entradas =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∨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 alguma entrada =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¬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⊼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NOT(AND)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⊽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NOT(OR)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⊕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 entradas diferentes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572000" cy="45720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FATO SURPREENDENTE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92928" y="123444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376" y="138988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514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NAND é universal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920240" y="352044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circuito pode ser construído só com portas NAND (ou só NOR). Isso simplifica a fabricação de chips: uma linha de produção especializada numa única porta.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PROVANDO O FATO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NAND é universal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Escrevendo NAND(x,y) = (x·y)‾, conseguimos montar NOT, AND e OR só com ela: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3F1F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0" y="201168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x̄ = NAND(x, x)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0" y="201168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(x·x)‾ = x̄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3F1F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004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377440" y="320040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xy = NAND(NAND(x,y), NAND(x,y))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03920" y="320040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 seguido de NOT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3F1F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38912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377440" y="43891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 y = NAND(x̄, ȳ)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438912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Morgan: (x̄·ȳ)‾ = x+y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CONFIRMANDO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e OR, construídos só com NAND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colunas construídas batem exatamente com AND e OR de verdade.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2103120"/>
          <a:ext cx="868680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NAND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 via NAND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 via NAND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linhas, duas fórmulas confirmadas — sem precisar de nenhuma outra porta física.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JUNTANDO O SEMESTRE INTEIRO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lógica ao circuito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circuito combinacional implementa uma função booleana — o fluxo conecta tudo o que vimos até aqui.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F3F1F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718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31720" y="2834640"/>
            <a:ext cx="256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87752" y="283464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F3F1FB"/>
          </a:solidFill>
          <a:ln/>
        </p:spPr>
      </p:sp>
      <p:sp>
        <p:nvSpPr>
          <p:cNvPr id="9" name="Text 7"/>
          <p:cNvSpPr/>
          <p:nvPr/>
        </p:nvSpPr>
        <p:spPr>
          <a:xfrm>
            <a:off x="2679192" y="29718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Tabela-verdade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79192" y="3584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62272" y="2834640"/>
            <a:ext cx="256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18304" y="283464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F3F1FB"/>
          </a:solidFill>
          <a:ln/>
        </p:spPr>
      </p:sp>
      <p:sp>
        <p:nvSpPr>
          <p:cNvPr id="13" name="Text 11"/>
          <p:cNvSpPr/>
          <p:nvPr/>
        </p:nvSpPr>
        <p:spPr>
          <a:xfrm>
            <a:off x="4809744" y="29718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Expressão / SOP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9744" y="3584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92824" y="2834640"/>
            <a:ext cx="256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48856" y="283464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F3F1FB"/>
          </a:solidFill>
          <a:ln/>
        </p:spPr>
      </p:sp>
      <p:sp>
        <p:nvSpPr>
          <p:cNvPr id="17" name="Text 15"/>
          <p:cNvSpPr/>
          <p:nvPr/>
        </p:nvSpPr>
        <p:spPr>
          <a:xfrm>
            <a:off x="6940296" y="29718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Simplificação / K-map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0296" y="3584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07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723376" y="2834640"/>
            <a:ext cx="256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979408" y="283464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141B41"/>
          </a:solidFill>
          <a:ln/>
        </p:spPr>
      </p:sp>
      <p:sp>
        <p:nvSpPr>
          <p:cNvPr id="21" name="Text 19"/>
          <p:cNvSpPr/>
          <p:nvPr/>
        </p:nvSpPr>
        <p:spPr>
          <a:xfrm>
            <a:off x="9070848" y="29718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com portas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70848" y="3584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09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seta já foi construída em uma aula diferente — hoje fechamos o ciclo.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CIRCUITO ARITMÉTICO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Meio somador (Half Adder)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dois bits A e B, produzindo a soma S e o "vai-um" (carry) C: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2103120"/>
          <a:ext cx="5943600" cy="91440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1737360" y="4892040"/>
            <a:ext cx="8686800" cy="914400"/>
          </a:xfrm>
          <a:prstGeom prst="roundRect">
            <a:avLst>
              <a:gd name="adj" fmla="val 12000"/>
            </a:avLst>
          </a:prstGeom>
          <a:solidFill>
            <a:srgbClr val="141B41"/>
          </a:solidFill>
          <a:ln/>
        </p:spPr>
      </p:sp>
      <p:sp>
        <p:nvSpPr>
          <p:cNvPr id="9" name="Text 5"/>
          <p:cNvSpPr/>
          <p:nvPr/>
        </p:nvSpPr>
        <p:spPr>
          <a:xfrm>
            <a:off x="1737360" y="48920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A ⊕ B          C = A · B</a:t>
            </a:r>
            <a:endParaRPr lang="en-US" sz="2200" dirty="0"/>
          </a:p>
        </p:txBody>
      </p:sp>
      <p:sp>
        <p:nvSpPr>
          <p:cNvPr id="7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VIRANDO CIRCUITO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meio somador em portas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mesmas entradas A, B alimentam duas portas diferentes, em paralelo: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2377440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3F1F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774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377440" y="23774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80360" y="237744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2FE6C7"/>
          </a:solidFill>
          <a:ln/>
        </p:spPr>
      </p:sp>
      <p:sp>
        <p:nvSpPr>
          <p:cNvPr id="9" name="Text 7"/>
          <p:cNvSpPr/>
          <p:nvPr/>
        </p:nvSpPr>
        <p:spPr>
          <a:xfrm>
            <a:off x="2880360" y="23774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XOR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66360" y="23774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669280" y="2400300"/>
            <a:ext cx="822960" cy="822960"/>
          </a:xfrm>
          <a:prstGeom prst="ellipse">
            <a:avLst/>
          </a:prstGeom>
          <a:solidFill>
            <a:srgbClr val="6C4BC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24003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840480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3F1F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404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377440" y="38404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880360" y="384048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6C4BC1"/>
          </a:solidFill>
          <a:ln/>
        </p:spPr>
      </p:sp>
      <p:sp>
        <p:nvSpPr>
          <p:cNvPr id="17" name="Text 15"/>
          <p:cNvSpPr/>
          <p:nvPr/>
        </p:nvSpPr>
        <p:spPr>
          <a:xfrm>
            <a:off x="2880360" y="3840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66360" y="38404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669280" y="3863340"/>
            <a:ext cx="822960" cy="822960"/>
          </a:xfrm>
          <a:prstGeom prst="ellipse">
            <a:avLst/>
          </a:prstGeom>
          <a:solidFill>
            <a:srgbClr val="141B4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38633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portas, duas saídas — nenhuma delas depende da outra.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MOMENTO DE RECONHECIMENTO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877824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Nada disso é novo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é exatamente o XOR que já vimos na Aula 06, e C é um simples AND. O meio somador nada mais é do que duas portas já conhecidas, combinadas.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1554480" y="2834640"/>
            <a:ext cx="9052560" cy="1188720"/>
          </a:xfrm>
          <a:prstGeom prst="roundRect">
            <a:avLst>
              <a:gd name="adj" fmla="val 9231"/>
            </a:avLst>
          </a:prstGeom>
          <a:solidFill>
            <a:srgbClr val="232C63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0" y="2834640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meio somador = XOR + AND, sem nada mais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C4B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389120"/>
            <a:ext cx="3291840" cy="3291840"/>
          </a:xfrm>
          <a:prstGeom prst="ellipse">
            <a:avLst/>
          </a:prstGeom>
          <a:ln w="19050">
            <a:solidFill>
              <a:srgbClr val="2FE6C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92928" y="128016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520" y="144475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6060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Simulando o meio somador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103120" y="36118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existir em silício, todo circuito é simulado em código — as mesmas operações bit a bit que já usamos desde a Aula 06.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 SOMADOR EM 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half_adder / HalfAdder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e AND, exatamente como nas expressões do Slide 9.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80660" cy="3200400"/>
          </a:xfrm>
          <a:prstGeom prst="roundRect">
            <a:avLst>
              <a:gd name="adj" fmla="val 4000"/>
            </a:avLst>
          </a:prstGeom>
          <a:solidFill>
            <a:srgbClr val="232C63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32257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32257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32257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26314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HalfAdder.cs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224942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2788920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(int soma, int carry) </a:t>
            </a:r>
            <a:r>
              <a:rPr lang="en-US" sz="12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HalfAdder(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32688" y="3118104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a, int b)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2688" y="3447288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32688" y="3776472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soma = a ^ b;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2688" y="4105656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carry = a &amp; b;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32688" y="4434840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(soma, carry);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2688" y="4764024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40780" y="2103120"/>
            <a:ext cx="5280660" cy="3520440"/>
          </a:xfrm>
          <a:prstGeom prst="roundRect">
            <a:avLst>
              <a:gd name="adj" fmla="val 3636"/>
            </a:avLst>
          </a:prstGeom>
          <a:solidFill>
            <a:srgbClr val="232C63"/>
          </a:solidFill>
          <a:ln/>
        </p:spPr>
      </p:sp>
      <p:sp>
        <p:nvSpPr>
          <p:cNvPr id="19" name="Shape 16"/>
          <p:cNvSpPr/>
          <p:nvPr/>
        </p:nvSpPr>
        <p:spPr>
          <a:xfrm>
            <a:off x="6496812" y="232257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20" name="Shape 17"/>
          <p:cNvSpPr/>
          <p:nvPr/>
        </p:nvSpPr>
        <p:spPr>
          <a:xfrm>
            <a:off x="6697980" y="232257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21" name="Shape 18"/>
          <p:cNvSpPr/>
          <p:nvPr/>
        </p:nvSpPr>
        <p:spPr>
          <a:xfrm>
            <a:off x="6899148" y="232257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22" name="Text 19"/>
          <p:cNvSpPr/>
          <p:nvPr/>
        </p:nvSpPr>
        <p:spPr>
          <a:xfrm>
            <a:off x="7155180" y="226314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half_adder.py</a:t>
            </a:r>
            <a:endParaRPr lang="en-US" sz="105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2249424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533388" y="2788920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2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half_adder(a, b):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533388" y="3118104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soma  = a ^ b        </a:t>
            </a:r>
            <a:r>
              <a:rPr lang="en-US" sz="120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XOR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533388" y="3447288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carry = a &amp; b        </a:t>
            </a:r>
            <a:r>
              <a:rPr lang="en-US" sz="120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533388" y="3776472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2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soma, carry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533388" y="4105656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533388" y="4434840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12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r>
              <a:rPr lang="en-US" sz="12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12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1):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533388" y="4764024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</a:t>
            </a:r>
            <a:r>
              <a:rPr lang="en-US" sz="12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</a:t>
            </a:r>
            <a:r>
              <a:rPr lang="en-US" sz="12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12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1):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533388" y="5093208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print(a, b, </a:t>
            </a:r>
            <a:r>
              <a:rPr lang="en-US" sz="120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"-&gt;"</a:t>
            </a:r>
            <a:r>
              <a:rPr lang="en-US" sz="12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half_adder(a, b))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PASSO ALÉM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Somador completo (Full Adder)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meio somador não considera um "vai-um" de entrada. O full adder soma A, B e Cin: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0" y="1965960"/>
          <a:ext cx="68580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Cin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COLUNAS PARA A FÓRMULA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Expressões do full adder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41B4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A ⊕ B ⊕ Cin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41B4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0632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= AB + Cin(A ⊕ B)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vale 1 quando A e B já são 1, ou quando o carry de entrada "empurra" a soma A⊕B para 1.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CONSTRUINDO COM O QUE JÁ TEMOS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adder = dois half adders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Encadeando dois meios somadores e um OR para combinar os carries: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3F1F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377440" y="21031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80360" y="210312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6C4BC1"/>
          </a:solidFill>
          <a:ln/>
        </p:spPr>
      </p:sp>
      <p:sp>
        <p:nvSpPr>
          <p:cNvPr id="9" name="Text 7"/>
          <p:cNvSpPr/>
          <p:nvPr/>
        </p:nvSpPr>
        <p:spPr>
          <a:xfrm>
            <a:off x="2880360" y="21031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1º half adder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66360" y="21031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669280" y="2125980"/>
            <a:ext cx="822960" cy="822960"/>
          </a:xfrm>
          <a:prstGeom prst="ellipse">
            <a:avLst/>
          </a:prstGeom>
          <a:solidFill>
            <a:srgbClr val="141B4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21259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383280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3F1F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832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s1, Cin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377440" y="33832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880360" y="338328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6C4BC1"/>
          </a:solidFill>
          <a:ln/>
        </p:spPr>
      </p:sp>
      <p:sp>
        <p:nvSpPr>
          <p:cNvPr id="17" name="Text 15"/>
          <p:cNvSpPr/>
          <p:nvPr/>
        </p:nvSpPr>
        <p:spPr>
          <a:xfrm>
            <a:off x="2880360" y="3383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2º half adder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66360" y="33832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669280" y="3406140"/>
            <a:ext cx="822960" cy="822960"/>
          </a:xfrm>
          <a:prstGeom prst="ellipse">
            <a:avLst/>
          </a:prstGeom>
          <a:solidFill>
            <a:srgbClr val="141B4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34061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663440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3F1F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6634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c1, c2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377440" y="46634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2880360" y="466344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2FE6C7"/>
          </a:solidFill>
          <a:ln/>
        </p:spPr>
      </p:sp>
      <p:sp>
        <p:nvSpPr>
          <p:cNvPr id="25" name="Text 23"/>
          <p:cNvSpPr/>
          <p:nvPr/>
        </p:nvSpPr>
        <p:spPr>
          <a:xfrm>
            <a:off x="2880360" y="46634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166360" y="46634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669280" y="4686300"/>
            <a:ext cx="822960" cy="822960"/>
          </a:xfrm>
          <a:prstGeom prst="ellipse">
            <a:avLst/>
          </a:prstGeom>
          <a:solidFill>
            <a:srgbClr val="141B41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0" y="46863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= carry do 1º half adder     c2 = carry do 2º half adder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ESCALANDO PARA N BITS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877824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soma de 1 bit à ULA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Encadeando n full adders — o Cout de um vira o Cin do próximo — construímos somadores de n bits: a base da ULA (unidade lógica e aritmética) de qualquer processador.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23748" y="301752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232C63"/>
          </a:solidFill>
          <a:ln w="12700">
            <a:solidFill>
              <a:srgbClr val="2FE6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3748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 bit0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26868" y="26517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→ Cin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826868" y="3017520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604108" y="301752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232C63"/>
          </a:solidFill>
          <a:ln w="12700">
            <a:solidFill>
              <a:srgbClr val="2FE6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04108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 bit1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07228" y="26517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→ Cin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07228" y="3017520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484468" y="301752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232C63"/>
          </a:solidFill>
          <a:ln w="12700">
            <a:solidFill>
              <a:srgbClr val="2FE6C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84468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 bit2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587588" y="26517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→ Cin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587588" y="3017520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9364828" y="301752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232C63"/>
          </a:solidFill>
          <a:ln w="12700">
            <a:solidFill>
              <a:srgbClr val="2FE6C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364828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 bit3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bit soma o que sobrou do bit anterior — exatamente como somar à mão, coluna por coluna.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Aplicações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3F1FB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194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 / CPU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Somadores, comparadores e multiplexadores são circuitos booleanos.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1688" y="192024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3F1FB"/>
          </a:solidFill>
          <a:ln/>
        </p:spPr>
      </p:sp>
      <p:sp>
        <p:nvSpPr>
          <p:cNvPr id="10" name="Text 7"/>
          <p:cNvSpPr/>
          <p:nvPr/>
        </p:nvSpPr>
        <p:spPr>
          <a:xfrm>
            <a:off x="4590288" y="2194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Memórias e registradores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90288" y="2834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Portas realimentadas guardam bits.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83296" y="192024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3F1FB"/>
          </a:solidFill>
          <a:ln/>
        </p:spPr>
      </p:sp>
      <p:sp>
        <p:nvSpPr>
          <p:cNvPr id="13" name="Text 10"/>
          <p:cNvSpPr/>
          <p:nvPr/>
        </p:nvSpPr>
        <p:spPr>
          <a:xfrm>
            <a:off x="8311896" y="2194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11896" y="2834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Decodificadores traduzem instruções em sinais.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6C4B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389120"/>
            <a:ext cx="3291840" cy="3291840"/>
          </a:xfrm>
          <a:prstGeom prst="ellipse">
            <a:avLst/>
          </a:prstGeom>
          <a:ln w="19050">
            <a:solidFill>
              <a:srgbClr val="2FE6C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08" y="1554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27432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 de praticar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828800" y="36576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exercícios: circuito, meio somador, NAND universal e um desafio com full adder.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Desenhando o circuito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Desenhe (ou descreva) o circuito de f = Ā·B + A·B̄. Que porta única equivale a ele?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194560" y="2514600"/>
            <a:ext cx="7772400" cy="960120"/>
          </a:xfrm>
          <a:prstGeom prst="roundRect">
            <a:avLst>
              <a:gd name="adj" fmla="val 11429"/>
            </a:avLst>
          </a:prstGeom>
          <a:solidFill>
            <a:srgbClr val="EDEAF7"/>
          </a:solidFill>
          <a:ln/>
        </p:spPr>
      </p:sp>
      <p:sp>
        <p:nvSpPr>
          <p:cNvPr id="8" name="Text 5"/>
          <p:cNvSpPr/>
          <p:nvPr/>
        </p:nvSpPr>
        <p:spPr>
          <a:xfrm>
            <a:off x="2194560" y="25146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Ā·B + A·B̄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40080" y="384048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0233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(portas usadas):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_______________________________________________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49377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única equivalente: _______________________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Desenhando o circuito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14400" y="2103120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3F1FB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1031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377440" y="21031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880360" y="210312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2FE6C7"/>
          </a:solidFill>
          <a:ln/>
        </p:spPr>
      </p:sp>
      <p:sp>
        <p:nvSpPr>
          <p:cNvPr id="10" name="Text 7"/>
          <p:cNvSpPr/>
          <p:nvPr/>
        </p:nvSpPr>
        <p:spPr>
          <a:xfrm>
            <a:off x="2880360" y="21031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XOR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166360" y="21031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69280" y="2125980"/>
            <a:ext cx="822960" cy="822960"/>
          </a:xfrm>
          <a:prstGeom prst="ellipse">
            <a:avLst/>
          </a:prstGeom>
          <a:solidFill>
            <a:srgbClr val="6C4BC1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0" y="21259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0080" y="3383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Ā·B + A·B̄ é exatamente a definição de XOR — o circuito inteiro colapsa numa única porta.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2194560" y="4023360"/>
            <a:ext cx="7772400" cy="777240"/>
          </a:xfrm>
          <a:prstGeom prst="roundRect">
            <a:avLst>
              <a:gd name="adj" fmla="val 14118"/>
            </a:avLst>
          </a:prstGeom>
          <a:solidFill>
            <a:srgbClr val="141B41"/>
          </a:solidFill>
          <a:ln/>
        </p:spPr>
      </p:sp>
      <p:sp>
        <p:nvSpPr>
          <p:cNvPr id="16" name="Text 13"/>
          <p:cNvSpPr/>
          <p:nvPr/>
        </p:nvSpPr>
        <p:spPr>
          <a:xfrm>
            <a:off x="2194560" y="40233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E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 equivalente: XOR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do meio somador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a tabela-verdade do meio somador e confira contra a função Python da aula.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0" y="2468880"/>
          <a:ext cx="68580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do meio somador</a:t>
            </a:r>
            <a:endParaRPr lang="en-US" sz="2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0" y="1828800"/>
          <a:ext cx="6858000" cy="9144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Idêntica ao Slide 9 e à saída de half_adder(a, b) para as 4 combinações.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NAND universal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que NAND é universal: implemente NOT, AND e OR usando apenas NAND, em Python (defina só def nand(x, y): return 1 - (x &amp; y) e construa o resto a partir dela).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108813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8D2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6112" y="273405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9" name="Shape 6"/>
          <p:cNvSpPr/>
          <p:nvPr/>
        </p:nvSpPr>
        <p:spPr>
          <a:xfrm>
            <a:off x="1097280" y="273405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273405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11" name="Text 8"/>
          <p:cNvSpPr/>
          <p:nvPr/>
        </p:nvSpPr>
        <p:spPr>
          <a:xfrm>
            <a:off x="155448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nand_universal.py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14400" y="31089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40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nand(x, y): </a:t>
            </a:r>
            <a:r>
              <a:rPr lang="en-US" sz="140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40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1 - (x &amp; y)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3566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A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not_(x): return ____________________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A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and_(x, y): return ____________________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" y="4480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A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or_(x, y): return ____________________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NAND universal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14400" y="1737360"/>
            <a:ext cx="10332720" cy="2651760"/>
          </a:xfrm>
          <a:prstGeom prst="roundRect">
            <a:avLst>
              <a:gd name="adj" fmla="val 4828"/>
            </a:avLst>
          </a:prstGeom>
          <a:solidFill>
            <a:srgbClr val="232C63"/>
          </a:solidFill>
          <a:ln/>
        </p:spPr>
      </p:sp>
      <p:sp>
        <p:nvSpPr>
          <p:cNvPr id="7" name="Shape 4"/>
          <p:cNvSpPr/>
          <p:nvPr/>
        </p:nvSpPr>
        <p:spPr>
          <a:xfrm>
            <a:off x="1170432" y="195681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8" name="Shape 5"/>
          <p:cNvSpPr/>
          <p:nvPr/>
        </p:nvSpPr>
        <p:spPr>
          <a:xfrm>
            <a:off x="1371600" y="195681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9" name="Shape 6"/>
          <p:cNvSpPr/>
          <p:nvPr/>
        </p:nvSpPr>
        <p:spPr>
          <a:xfrm>
            <a:off x="1572768" y="195681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10" name="Text 7"/>
          <p:cNvSpPr/>
          <p:nvPr/>
        </p:nvSpPr>
        <p:spPr>
          <a:xfrm>
            <a:off x="1828800" y="1897380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nand_universal.py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18836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07008" y="242316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4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nand(x, y): </a:t>
            </a:r>
            <a:r>
              <a:rPr lang="en-US" sz="14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4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1 - (x &amp; y)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07008" y="280720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4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not_(x): </a:t>
            </a:r>
            <a:r>
              <a:rPr lang="en-US" sz="14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4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nand(x, x)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207008" y="319125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4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and_(x, y): </a:t>
            </a:r>
            <a:r>
              <a:rPr lang="en-US" sz="14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4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nand(nand(x, y), nand(x, y))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207008" y="357530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4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or_(x, y): </a:t>
            </a:r>
            <a:r>
              <a:rPr lang="en-US" sz="14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4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nand(not_(x), not_(y))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0080" y="4572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Equivalente em C#: Nand, Not, And e Or seguem a mesma composição, linha a linha.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89611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4 · DESAFIO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adder de verdade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full_adder(a, b, carry_in) encadeando duas chamadas de half_adder. Teste todas as 8 combinações de a, b, carry_in.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828800" y="2514600"/>
            <a:ext cx="8503920" cy="777240"/>
          </a:xfrm>
          <a:prstGeom prst="roundRect">
            <a:avLst>
              <a:gd name="adj" fmla="val 14118"/>
            </a:avLst>
          </a:prstGeom>
          <a:solidFill>
            <a:srgbClr val="232C63"/>
          </a:solidFill>
          <a:ln w="12700">
            <a:solidFill>
              <a:srgbClr val="4B52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03120" y="251460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veja o diagrama do Slide 16 — dois half_adder e um OR nos carries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520440"/>
            <a:ext cx="10881360" cy="2377440"/>
          </a:xfrm>
          <a:prstGeom prst="roundRect">
            <a:avLst>
              <a:gd name="adj" fmla="val 3846"/>
            </a:avLst>
          </a:prstGeom>
          <a:solidFill>
            <a:srgbClr val="232C63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373989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1" name="Shape 8"/>
          <p:cNvSpPr/>
          <p:nvPr/>
        </p:nvSpPr>
        <p:spPr>
          <a:xfrm>
            <a:off x="1097280" y="373989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12" name="Shape 9"/>
          <p:cNvSpPr/>
          <p:nvPr/>
        </p:nvSpPr>
        <p:spPr>
          <a:xfrm>
            <a:off x="1298448" y="373989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13" name="Text 10"/>
          <p:cNvSpPr/>
          <p:nvPr/>
        </p:nvSpPr>
        <p:spPr>
          <a:xfrm>
            <a:off x="1554480" y="3703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full_adder.py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5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full_adder(a, b, carry_in):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4400" y="4526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s1, c1 = half_adder(a, b)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s2, c2 = ____________________________________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4400" y="5349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____________________________________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adder de verdade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10881360" cy="2606040"/>
          </a:xfrm>
          <a:prstGeom prst="roundRect">
            <a:avLst>
              <a:gd name="adj" fmla="val 4912"/>
            </a:avLst>
          </a:prstGeom>
          <a:solidFill>
            <a:srgbClr val="232C63"/>
          </a:solidFill>
          <a:ln/>
        </p:spPr>
      </p:sp>
      <p:sp>
        <p:nvSpPr>
          <p:cNvPr id="7" name="Shape 4"/>
          <p:cNvSpPr/>
          <p:nvPr/>
        </p:nvSpPr>
        <p:spPr>
          <a:xfrm>
            <a:off x="896112" y="195681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8" name="Shape 5"/>
          <p:cNvSpPr/>
          <p:nvPr/>
        </p:nvSpPr>
        <p:spPr>
          <a:xfrm>
            <a:off x="1097280" y="195681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9" name="Shape 6"/>
          <p:cNvSpPr/>
          <p:nvPr/>
        </p:nvSpPr>
        <p:spPr>
          <a:xfrm>
            <a:off x="1298448" y="195681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10" name="Text 7"/>
          <p:cNvSpPr/>
          <p:nvPr/>
        </p:nvSpPr>
        <p:spPr>
          <a:xfrm>
            <a:off x="1554480" y="189738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full_adder.py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8836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688" y="23957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3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full_adder(a, b, carry_in):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932688" y="276148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s1, c1 = half_adder(a, b)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932688" y="3127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s2, c2 = half_adder(s1, carry_in)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932688" y="349300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= c1 | c2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932688" y="38587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3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s2, cout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EB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Teste: for a in (0,1): for b in (0,1): for cin in (0,1): print(a,b,cin,full_adder(a,b,cin))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e c2 nunca valem 1 ao mesmo tempo — por isso o | (OR) nunca perde informação.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Livros — teoria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31343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459736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898648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TOCCI, R. J.; WIDMER, N. S.; MOSS, G. 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96112" y="3749040"/>
            <a:ext cx="3026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Digitais: princípios e aplicações. Pearson — portas lógicas e circuitos combinacionais.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79976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</p:sp>
      <p:sp>
        <p:nvSpPr>
          <p:cNvPr id="11" name="Shape 8"/>
          <p:cNvSpPr/>
          <p:nvPr/>
        </p:nvSpPr>
        <p:spPr>
          <a:xfrm>
            <a:off x="4636008" y="231343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2459736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2898648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IDOETA, I. V.; CAPUANO, F. G.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636008" y="3749040"/>
            <a:ext cx="3026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de Eletrônica Digital. Érica — cap. Circuitos combinacionais (meio somador e somador completo).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19872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</p:sp>
      <p:sp>
        <p:nvSpPr>
          <p:cNvPr id="16" name="Shape 12"/>
          <p:cNvSpPr/>
          <p:nvPr/>
        </p:nvSpPr>
        <p:spPr>
          <a:xfrm>
            <a:off x="8375904" y="231343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459736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75904" y="2898648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NISAN, N.; SCHOCKEN, 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375904" y="3749040"/>
            <a:ext cx="3026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Elements of Computing Systems (Nand2Tetris) — construindo um computador a partir de portas NAND.</a:t>
            </a:r>
            <a:r>
              <a:rPr lang="en-US" sz="115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50" u="sng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https://www.nand2tetris.org/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Documentação e vídeos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3F1FB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4767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093976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532888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operadores bit a bit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96112" y="2971800"/>
            <a:ext cx="47457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u="sng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^, &amp; e | (bitwise operations)</a:t>
            </a: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base de todo circuito simulado.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3F1FB"/>
          </a:solidFill>
          <a:ln/>
        </p:spPr>
      </p:sp>
      <p:sp>
        <p:nvSpPr>
          <p:cNvPr id="10" name="Shape 7"/>
          <p:cNvSpPr/>
          <p:nvPr/>
        </p:nvSpPr>
        <p:spPr>
          <a:xfrm>
            <a:off x="6519672" y="194767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976" y="2093976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19672" y="2532888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19672" y="2971800"/>
            <a:ext cx="47457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u="sng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Ben Eater — computador de 8 bits</a:t>
            </a: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portas lógicas em hardware real.</a:t>
            </a:r>
            <a:endParaRPr lang="en-US" sz="1200" dirty="0"/>
          </a:p>
          <a:p>
            <a:pPr marL="0" indent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u="sng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Nand2Tetris — half e full adder</a:t>
            </a: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construindo a partir de NAND.</a:t>
            </a:r>
            <a:endParaRPr lang="en-US" sz="1200" dirty="0"/>
          </a:p>
          <a:p>
            <a:pPr marL="0" indent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u="sng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Computerphile — por que NAND é universal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4206240"/>
            <a:ext cx="3840480" cy="3840480"/>
          </a:xfrm>
          <a:prstGeom prst="ellipse">
            <a:avLst/>
          </a:prstGeom>
          <a:ln w="19050">
            <a:solidFill>
              <a:srgbClr val="2FE6C7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51560"/>
            <a:ext cx="777240" cy="7772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887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1704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FECHANDO O CICLO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00200" y="1463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proposição lógica ao circuito de verdade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a matemática discreta</a:t>
            </a:r>
            <a:endParaRPr lang="en-US" sz="32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aqui já vira hardware.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XOR de duas proposições ao somador de um processador inteiro — é a mesma lógica, em escalas diferentes.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100" dirty="0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  ·  Aula 09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2594</Words>
  <Application>Microsoft Office PowerPoint</Application>
  <PresentationFormat>Widescreen</PresentationFormat>
  <Paragraphs>471</Paragraphs>
  <Slides>30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daniel</cp:lastModifiedBy>
  <cp:revision>1</cp:revision>
  <dcterms:created xsi:type="dcterms:W3CDTF">2026-08-05T13:03:12Z</dcterms:created>
  <dcterms:modified xsi:type="dcterms:W3CDTF">2026-08-13T19:42:53Z</dcterms:modified>
</cp:coreProperties>
</file>