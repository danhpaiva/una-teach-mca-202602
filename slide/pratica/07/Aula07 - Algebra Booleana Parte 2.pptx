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678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9930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Recapitular rápido: na Aula 06 vimos axiomas e simplificação algébrica passo a passo. Hoje ganhamos um atalho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K-map é o coração visual da aula — reservar bastante tempo para a turma desenhar junto.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Provocar: e se a gente pudesse ver essa simplificação sem fazer conta nenhuma?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Uma vez que se entende mintermo, montar o SOP de qualquer tabela-verdade vira mecânico.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x̄y vem da linha (0,1): x é 0 → x̄; y é 1 → y. xȳ vem da linha (1,0): x é 1 → x; y é 0 → 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nome oficial é K-map — abreviação que vamos usar no resto da aula.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grupo cobre uma variável que 'sai' porque ela muda de valor dentro do grupo — só sobra a que fica fixa.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código Gray troca a ordem das duas colunas do meio — é a única mudança necessária.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x e y desaparecem porque os dois variam dentro do grupo — só z fica fixo em 1 em toda a região coberta.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 4+ variáveis a topologia vira um torus — linhas também se tocam nas bordas, além das colunas.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é o checklist que a turma pode usar em qualquer K-map, de 2 a 5 variáveis.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Exemplo extremo de propósito — deixa claro o efeito de tratar um X como 1 sem precisar de um mapa maior.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é preciso desenhar um K-map de 5 variáveis na aula — só deixar claro onde o método humano para de escalar.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frase final é literal: a próxima aula de conteúdo mostra o circuito de verdade.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Este slide funciona como checklist mental: qual ferramenta puxar primeiro, dependendo da situação.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Diferente das aulas anteriores, aqui não há uma versão C# tão estabelecida quanto o SymPy em Python — vale mencionar isso com transparência.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Rodar de verdade: o resultado é x̄y + xz — uma boa checagem cruzada para quem quiser praticar mais K-maps em casa.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exercício tem gabarito no slide seguinte — resolver antes de virar a página.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condições descrevem exatamente a tabela do slide 5 — a resposta deve soar familiar.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Mesma fórmula do exemplo do Slide 5 — o XOR é a operação que só é verdadeira quando as entradas diferem.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Dica se travar: NAND(x,y) = 1 - AND(x,y) — só há um zero no mapa inteiro.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Mesmo resultado que a De Morgan da Aula 06 — o K-map só chega lá visualmente, sem os passos algébricos.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m_i é o mintermo cujo índice, em binário, é (x,y,z) — m4=100, m5=101, m6=110, m7=111, m3=011.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célula x=0,yz=11 (m3) só se agrupa com x=1,yz=11 — não há outro grupo de tamanho 2 disponível para ela.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gabarito está no próximo slide — deixar a turma tentar desenhar antes de revelar.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XOR é o exemplo clássico de função que o K-map não consegue reduzir — cada mintermo fica "sozinho".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Título da Aula 08 vem da própria frase de encerramento desta aula ('virar fios e portas de verdade na próxima aula de conteúdo') — não é inventado.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Tocci, Widmer e Moss entra pela primeira vez — referência clássica de sistemas digitais, muito focada em K-map com exemplos de circuito.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 exatamente como fornecidos pelo professor — nenhuma URL foi inventada.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Fechar reforçando: cada grupo do K-map já é, literalmente, o desenho de uma porta lógica.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hyperlink" Target="https://www.youtube.com/results?search_query=dont+care+karnaugh+map+simplification" TargetMode="Externa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results?search_query=mapa+de+karnaugh+2+3+4+vari%C3%A1veis+exemplos" TargetMode="External"/><Relationship Id="rId5" Type="http://schemas.openxmlformats.org/officeDocument/2006/relationships/image" Target="../media/image18.png"/><Relationship Id="rId4" Type="http://schemas.openxmlformats.org/officeDocument/2006/relationships/hyperlink" Target="https://docs.sympy.org/latest/modules/logic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377440"/>
            <a:ext cx="5669280" cy="5669280"/>
          </a:xfrm>
          <a:prstGeom prst="ellipse">
            <a:avLst/>
          </a:prstGeom>
          <a:ln w="19050">
            <a:solidFill>
              <a:srgbClr val="2FE6C7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663440"/>
            <a:ext cx="3108960" cy="3108960"/>
          </a:xfrm>
          <a:prstGeom prst="ellipse">
            <a:avLst/>
          </a:prstGeom>
          <a:ln w="19050">
            <a:solidFill>
              <a:srgbClr val="6C4BC1">
                <a:alpha val="60000"/>
              </a:srgbClr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alphaModFix amt="22000"/>
          </a:blip>
          <a:stretch>
            <a:fillRect/>
          </a:stretch>
        </p:blipFill>
        <p:spPr>
          <a:xfrm>
            <a:off x="9829800" y="-228600"/>
            <a:ext cx="2468880" cy="24688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515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94360" y="2331720"/>
            <a:ext cx="9144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Aula 07</a:t>
            </a:r>
            <a:endParaRPr lang="en-US" sz="64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e suas Aplicações — Parte 2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40080" y="43434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mintermos a mapas de Karnaugh — simplificando fórmulas booleanas visualmente, sem álgebra passo a passo.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40080" y="5943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     K-map     don't care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 · ROTEIRO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Nesta aula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2157984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8760" y="196596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normal soma de produtos (SOP)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508760" y="24688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tabela-verdade vira uma fórmula, de forma mecânica.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333756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483864"/>
            <a:ext cx="329184" cy="32918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329184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Mapas de Karnaugh para simplificar visualmente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1508760" y="379476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grade onde a simplificação aparece a olho nu.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0080" y="4663440"/>
            <a:ext cx="621792" cy="621792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809744"/>
            <a:ext cx="329184" cy="3291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508760" y="4617720"/>
            <a:ext cx="9692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7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Aplicações práticas da simplificação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508760" y="512064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literais, menos portas, menos custo de hardware.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paramos na Aula 06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Vimos os axiomas booleanos e simplificamos expressões passo a passo, com álgebra pura.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1554480" y="2286000"/>
            <a:ext cx="9052560" cy="1371600"/>
          </a:xfrm>
          <a:prstGeom prst="roundRect">
            <a:avLst>
              <a:gd name="adj" fmla="val 8000"/>
            </a:avLst>
          </a:prstGeom>
          <a:solidFill>
            <a:srgbClr val="F3F1FB"/>
          </a:solidFill>
          <a:ln/>
        </p:spPr>
      </p:sp>
      <p:sp>
        <p:nvSpPr>
          <p:cNvPr id="6" name="Text 4"/>
          <p:cNvSpPr/>
          <p:nvPr/>
        </p:nvSpPr>
        <p:spPr>
          <a:xfrm>
            <a:off x="1828800" y="2514600"/>
            <a:ext cx="8503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xy + x̄z + yz  =  xy + x̄z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828800" y="3154680"/>
            <a:ext cx="8503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teorema do consenso — vários passos de álgebra até chegar aqui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4114800"/>
            <a:ext cx="457200" cy="457200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24528"/>
            <a:ext cx="237744" cy="2377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80160" y="4114800"/>
            <a:ext cx="9784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a mesma simplificação, mas "vista" numa grade — sem escrever um único passo de álgebra.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 TABELA-VERDADE À EXPRESSÃO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49808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896112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é um mintermo</a:t>
            </a:r>
            <a:endParaRPr lang="en-US" sz="2700" dirty="0"/>
          </a:p>
        </p:txBody>
      </p:sp>
      <p:sp>
        <p:nvSpPr>
          <p:cNvPr id="6" name="Text 3"/>
          <p:cNvSpPr/>
          <p:nvPr/>
        </p:nvSpPr>
        <p:spPr>
          <a:xfrm>
            <a:off x="640080" y="1481328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mintermo é um produto (AND) que vale 1 em exatamente uma linha da tabela-verdade — usando a variável direta quando ela é 1, e complementada quando é 0.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640080" y="2331720"/>
            <a:ext cx="10881360" cy="1371600"/>
          </a:xfrm>
          <a:prstGeom prst="roundRect">
            <a:avLst>
              <a:gd name="adj" fmla="val 8000"/>
            </a:avLst>
          </a:prstGeom>
          <a:solidFill>
            <a:srgbClr val="141B41"/>
          </a:solidFill>
          <a:ln/>
        </p:spPr>
      </p:sp>
      <p:sp>
        <p:nvSpPr>
          <p:cNvPr id="8" name="Text 5"/>
          <p:cNvSpPr/>
          <p:nvPr/>
        </p:nvSpPr>
        <p:spPr>
          <a:xfrm>
            <a:off x="914400" y="251460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E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= 1, y = 0, z = 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297180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8E93C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mintermo: </a:t>
            </a:r>
            <a:r>
              <a:rPr lang="en-US" sz="24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 · ȳ · z</a:t>
            </a:r>
            <a:endParaRPr lang="en-US" sz="2400" dirty="0"/>
          </a:p>
        </p:txBody>
      </p:sp>
      <p:sp>
        <p:nvSpPr>
          <p:cNvPr id="10" name="Shape 7"/>
          <p:cNvSpPr/>
          <p:nvPr/>
        </p:nvSpPr>
        <p:spPr>
          <a:xfrm>
            <a:off x="640080" y="39776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F3F1FB"/>
          </a:solidFill>
          <a:ln/>
        </p:spPr>
      </p:sp>
      <p:sp>
        <p:nvSpPr>
          <p:cNvPr id="11" name="Text 8"/>
          <p:cNvSpPr/>
          <p:nvPr/>
        </p:nvSpPr>
        <p:spPr>
          <a:xfrm>
            <a:off x="914400" y="3977640"/>
            <a:ext cx="10332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soma de produtos (SOP) é a soma (OR) dos mintermos de todas as linhas em que a fórmula vale 1.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— CONSTRUINDO O SOP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XOR, como soma de produtos</a:t>
            </a:r>
            <a:endParaRPr lang="en-US" sz="27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60020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37947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 = 1 em (x=0, y=1) e (x=1, y=0), então:</a:t>
            </a:r>
            <a:endParaRPr lang="en-US" sz="1400" dirty="0"/>
          </a:p>
        </p:txBody>
      </p:sp>
      <p:sp>
        <p:nvSpPr>
          <p:cNvPr id="4" name="Shape 3"/>
          <p:cNvSpPr/>
          <p:nvPr/>
        </p:nvSpPr>
        <p:spPr>
          <a:xfrm>
            <a:off x="640080" y="4206240"/>
            <a:ext cx="10881360" cy="1005840"/>
          </a:xfrm>
          <a:prstGeom prst="roundRect">
            <a:avLst>
              <a:gd name="adj" fmla="val 10909"/>
            </a:avLst>
          </a:prstGeom>
          <a:solidFill>
            <a:srgbClr val="141B41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4206240"/>
            <a:ext cx="10424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x̄y + xȳ</a:t>
            </a:r>
            <a:endParaRPr lang="en-US" sz="3000" dirty="0"/>
          </a:p>
        </p:txBody>
      </p:sp>
      <p:sp>
        <p:nvSpPr>
          <p:cNvPr id="8" name="Text 5"/>
          <p:cNvSpPr/>
          <p:nvPr/>
        </p:nvSpPr>
        <p:spPr>
          <a:xfrm>
            <a:off x="640080" y="53949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esta fórmula — ela volta no desafio, mais adiante.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28016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8376" y="1435608"/>
            <a:ext cx="694944" cy="6949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60604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Mapas de Karnaugh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920240" y="3611880"/>
            <a:ext cx="8321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reorganização visual da tabela-verdade em que células adjacentes diferem em apenas uma variável — isso permite "ver" simplificações que, na álgebra pura, exigiriam vários passos.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DE 2 VARIÁVEIS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Agrupando os 1s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Para f(x, y) = x + y (equivale a OR):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10312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97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148072" y="3593592"/>
            <a:ext cx="3419856" cy="1225296"/>
          </a:xfrm>
          <a:prstGeom prst="roundRect">
            <a:avLst>
              <a:gd name="adj" fmla="val 10448"/>
            </a:avLst>
          </a:prstGeom>
          <a:ln w="38100">
            <a:solidFill>
              <a:srgbClr val="6C4BC1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793992" y="2496312"/>
            <a:ext cx="1773936" cy="2322576"/>
          </a:xfrm>
          <a:prstGeom prst="roundRect">
            <a:avLst>
              <a:gd name="adj" fmla="val 7216"/>
            </a:avLst>
          </a:prstGeom>
          <a:ln w="38100">
            <a:solidFill>
              <a:srgbClr val="141B41"/>
            </a:solidFill>
            <a:prstDash val="solid"/>
          </a:ln>
        </p:spPr>
      </p:sp>
      <p:sp>
        <p:nvSpPr>
          <p:cNvPr id="5" name="Text 5"/>
          <p:cNvSpPr/>
          <p:nvPr/>
        </p:nvSpPr>
        <p:spPr>
          <a:xfrm>
            <a:off x="640080" y="5029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x=1 → sobra x     </a:t>
            </a:r>
            <a:r>
              <a:rPr lang="en-US" sz="140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y=1 → sobra y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44068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grupos, somados, cobrem os três 1s: x + y.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DE 3 VARIÁVEIS · ANTES DE MONTAR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código Gray, e não binário?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Colunas vizinhas no mapa precisam diferir em só uma variável — nem toda ordem garante isso.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21488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ordem binária normal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409548" y="25146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/>
        </p:spPr>
      </p:sp>
      <p:sp>
        <p:nvSpPr>
          <p:cNvPr id="7" name="Text 5"/>
          <p:cNvSpPr/>
          <p:nvPr/>
        </p:nvSpPr>
        <p:spPr>
          <a:xfrm>
            <a:off x="1409548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832708" y="25146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BE4E1"/>
          </a:solidFill>
          <a:ln w="19050">
            <a:solidFill>
              <a:srgbClr val="E55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832708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255868" y="25146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BE4E1"/>
          </a:solidFill>
          <a:ln w="19050">
            <a:solidFill>
              <a:srgbClr val="E553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55868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83A2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8679028" y="251460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/>
        </p:spPr>
      </p:sp>
      <p:sp>
        <p:nvSpPr>
          <p:cNvPr id="13" name="Text 11"/>
          <p:cNvSpPr/>
          <p:nvPr/>
        </p:nvSpPr>
        <p:spPr>
          <a:xfrm>
            <a:off x="8679028" y="251460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83A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e 10 parecem vizinhas, mas diferem em 2 bits — a regra do K-map quebra aqui.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40080" y="3931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Gray (usado no K-map)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409548" y="42976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/>
        </p:spPr>
      </p:sp>
      <p:sp>
        <p:nvSpPr>
          <p:cNvPr id="17" name="Text 15"/>
          <p:cNvSpPr/>
          <p:nvPr/>
        </p:nvSpPr>
        <p:spPr>
          <a:xfrm>
            <a:off x="1409548" y="4297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3832708" y="42976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/>
        </p:spPr>
      </p:sp>
      <p:sp>
        <p:nvSpPr>
          <p:cNvPr id="19" name="Text 17"/>
          <p:cNvSpPr/>
          <p:nvPr/>
        </p:nvSpPr>
        <p:spPr>
          <a:xfrm>
            <a:off x="3832708" y="4297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6255868" y="42976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/>
        </p:spPr>
      </p:sp>
      <p:sp>
        <p:nvSpPr>
          <p:cNvPr id="21" name="Text 19"/>
          <p:cNvSpPr/>
          <p:nvPr/>
        </p:nvSpPr>
        <p:spPr>
          <a:xfrm>
            <a:off x="6255868" y="4297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8679028" y="4297680"/>
            <a:ext cx="2103120" cy="685800"/>
          </a:xfrm>
          <a:prstGeom prst="roundRect">
            <a:avLst>
              <a:gd name="adj" fmla="val 13333"/>
            </a:avLst>
          </a:prstGeom>
          <a:solidFill>
            <a:srgbClr val="F3F1FB"/>
          </a:solidFill>
          <a:ln/>
        </p:spPr>
      </p:sp>
      <p:sp>
        <p:nvSpPr>
          <p:cNvPr id="23" name="Text 21"/>
          <p:cNvSpPr/>
          <p:nvPr/>
        </p:nvSpPr>
        <p:spPr>
          <a:xfrm>
            <a:off x="8679028" y="429768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1B2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1E8A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vizinho troca só 1 bit por vez — inclusive a volta de 10 para 00.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K-MAP DE 3 VARIÁVEIS · EXEMPLO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Quatro mintermos, um literal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6C4BC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Simplificar f(x, y, z) = x̄ȳz + x̄yz + xȳz + xyz:</a:t>
            </a:r>
            <a:endParaRPr lang="en-US" sz="13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05740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782312" y="2450592"/>
            <a:ext cx="2871216" cy="2048256"/>
          </a:xfrm>
          <a:prstGeom prst="roundRect">
            <a:avLst>
              <a:gd name="adj" fmla="val 6250"/>
            </a:avLst>
          </a:prstGeom>
          <a:ln w="38100">
            <a:solidFill>
              <a:srgbClr val="6C4BC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4544568"/>
            <a:ext cx="10881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grupo cobre as colunas 01 e 11 (y varia, z é sempre 1) nas duas linhas de x (x também varia).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2194560" y="5074920"/>
            <a:ext cx="7772400" cy="777240"/>
          </a:xfrm>
          <a:prstGeom prst="roundRect">
            <a:avLst>
              <a:gd name="adj" fmla="val 14118"/>
            </a:avLst>
          </a:prstGeom>
          <a:solidFill>
            <a:srgbClr val="141B41"/>
          </a:solidFill>
          <a:ln/>
        </p:spPr>
      </p:sp>
      <p:sp>
        <p:nvSpPr>
          <p:cNvPr id="9" name="Text 6"/>
          <p:cNvSpPr/>
          <p:nvPr/>
        </p:nvSpPr>
        <p:spPr>
          <a:xfrm>
            <a:off x="2194560" y="50749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z</a:t>
            </a:r>
            <a:endParaRPr lang="en-US" sz="2600" dirty="0"/>
          </a:p>
        </p:txBody>
      </p:sp>
      <p:sp>
        <p:nvSpPr>
          <p:cNvPr id="5" name="Text 7"/>
          <p:cNvSpPr/>
          <p:nvPr/>
        </p:nvSpPr>
        <p:spPr>
          <a:xfrm>
            <a:off x="640080" y="59436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Bem mais simples que a soma de 4 mintermos original!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BORDAS DO MAPA SE TOCAM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Adjacência circular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K-map é topologicamente um cilindro: a última coluna é vizinha da primeira.</a:t>
            </a:r>
            <a:endParaRPr lang="en-US" sz="13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10312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01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3410712" y="2496312"/>
            <a:ext cx="1499616" cy="2048256"/>
          </a:xfrm>
          <a:prstGeom prst="roundRect">
            <a:avLst>
              <a:gd name="adj" fmla="val 8537"/>
            </a:avLst>
          </a:prstGeom>
          <a:ln w="38100">
            <a:solidFill>
              <a:srgbClr val="E8B324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7525512" y="2496312"/>
            <a:ext cx="1499616" cy="2048256"/>
          </a:xfrm>
          <a:prstGeom prst="roundRect">
            <a:avLst>
              <a:gd name="adj" fmla="val 8537"/>
            </a:avLst>
          </a:prstGeom>
          <a:ln w="38100">
            <a:solidFill>
              <a:srgbClr val="E8B324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22960" y="4663440"/>
            <a:ext cx="502920" cy="502920"/>
          </a:xfrm>
          <a:prstGeom prst="ellipse">
            <a:avLst/>
          </a:prstGeom>
          <a:solidFill>
            <a:srgbClr val="E8B324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256" y="4745736"/>
            <a:ext cx="338328" cy="33832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54480" y="4572000"/>
            <a:ext cx="9966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coluna 10 (última) é adjacente à coluna 00 (primeira) — elas diferem só em y (z fica em 0 nas duas). Vale testar esses agrupamentos "que dão a volta".</a:t>
            </a:r>
            <a:endParaRPr lang="en-US" sz="1350" dirty="0"/>
          </a:p>
        </p:txBody>
      </p:sp>
      <p:sp>
        <p:nvSpPr>
          <p:cNvPr id="5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CONSOLIDANDO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Regra prática de agrupamento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38528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385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00200" y="169164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Agrupe 1s adjacentes em blocos de 2ⁿ células (1, 2, 4, 8...).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278892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3F1FB"/>
          </a:solidFill>
          <a:ln/>
        </p:spPr>
      </p:sp>
      <p:sp>
        <p:nvSpPr>
          <p:cNvPr id="9" name="Shape 7"/>
          <p:cNvSpPr/>
          <p:nvPr/>
        </p:nvSpPr>
        <p:spPr>
          <a:xfrm>
            <a:off x="868680" y="3035808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30358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00200" y="278892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Prefira os maiores blocos possíveis — menos literais na expressão final.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0080" y="388620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3F1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68680" y="4133088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4" name="Text 12"/>
          <p:cNvSpPr/>
          <p:nvPr/>
        </p:nvSpPr>
        <p:spPr>
          <a:xfrm>
            <a:off x="868680" y="41330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00200" y="388620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variável desaparece do grupo se ela muda de valor dentro dele; as que não mudam formam o produto daquele grupo.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4983480"/>
            <a:ext cx="10881360" cy="960120"/>
          </a:xfrm>
          <a:prstGeom prst="roundRect">
            <a:avLst>
              <a:gd name="adj" fmla="val 9524"/>
            </a:avLst>
          </a:prstGeom>
          <a:solidFill>
            <a:srgbClr val="F3F1FB"/>
          </a:solidFill>
          <a:ln/>
        </p:spPr>
      </p:sp>
      <p:sp>
        <p:nvSpPr>
          <p:cNvPr id="17" name="Shape 15"/>
          <p:cNvSpPr/>
          <p:nvPr/>
        </p:nvSpPr>
        <p:spPr>
          <a:xfrm>
            <a:off x="868680" y="5230368"/>
            <a:ext cx="457200" cy="457200"/>
          </a:xfrm>
          <a:prstGeom prst="ellipse">
            <a:avLst/>
          </a:prstGeom>
          <a:solidFill>
            <a:srgbClr val="6C4BC1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5230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600200" y="4983480"/>
            <a:ext cx="96926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(OR) os produtos de todos os grupos necessários para cobrir todos os 1s.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NÃO IMPORTA O VALOR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48640" cy="54864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56032" cy="2560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82296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Condições "don't care"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640080" y="150876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Às vezes uma combinação de entrada nunca acontece na prática (ex.: um sensor que não pode fisicamente registrar certos valores). Marcamos essas células com X e escolhemos livremente se elas "valem" 0 ou 1 — o que ajuda a formar grupos maiores.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60604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9A6B1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F3D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5148072" y="2999232"/>
            <a:ext cx="3419856" cy="2231136"/>
          </a:xfrm>
          <a:prstGeom prst="roundRect">
            <a:avLst>
              <a:gd name="adj" fmla="val 5738"/>
            </a:avLst>
          </a:prstGeom>
          <a:ln w="38100">
            <a:solidFill>
              <a:srgbClr val="E8B324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30352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 ilustrativo: se aceitarmos X = 1, o mapa inteiro vira um único grupo — a expressão colapsa para a constante 1.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40080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X só é usado a favor da simplificação; nunca é obrigatório cobri-lo.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ESCALANDO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87782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77240"/>
            <a:ext cx="97840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com 4 ou mais variáveis?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40080" y="16002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K-map cresce para 4×4 (16 células) com 4 variáveis, seguindo as mesmas regras — as linhas também passam a se tocar nas bordas, e a topologia vira um torus em vez de um cilindro.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1554480" y="2651760"/>
            <a:ext cx="9052560" cy="1005840"/>
          </a:xfrm>
          <a:prstGeom prst="roundRect">
            <a:avLst>
              <a:gd name="adj" fmla="val 10909"/>
            </a:avLst>
          </a:prstGeom>
          <a:solidFill>
            <a:srgbClr val="232C63"/>
          </a:solidFill>
          <a:ln w="12700">
            <a:solidFill>
              <a:srgbClr val="4B52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28800" y="2651760"/>
            <a:ext cx="8503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de 5-6 variáveis, o K-map fica impraticável de desenhar à mão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39319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8E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 exatamente aí que entram algoritmos como Quine-McCluskey e ferramentas de software — o assunto da próxima seção.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ISSO IMPORTA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 grade ao mundo real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1837944"/>
            <a:ext cx="274320" cy="2743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6459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literais, menos portas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17320" y="203911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literal a menos numa expressão simplificada é, em geral, uma porta lógica a menos no circuito final — menor custo, menor consumo, menor chance de falha.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40080" y="3063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" y="3209544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30175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industrial</a:t>
            </a:r>
            <a:endParaRPr lang="en-US" sz="1550" dirty="0"/>
          </a:p>
        </p:txBody>
      </p:sp>
      <p:sp>
        <p:nvSpPr>
          <p:cNvPr id="11" name="Text 7"/>
          <p:cNvSpPr/>
          <p:nvPr/>
        </p:nvSpPr>
        <p:spPr>
          <a:xfrm>
            <a:off x="1417320" y="341071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Ferramentas de projeto de chips fazem esse tipo de simplificação automaticamente, em escala de milhões de variáveis — o K-map é a versão "à mão" do mesmo princípio.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6384" y="4581144"/>
            <a:ext cx="274320" cy="2743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4389120"/>
            <a:ext cx="978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do curso</a:t>
            </a:r>
            <a:endParaRPr lang="en-US" sz="1550" dirty="0"/>
          </a:p>
        </p:txBody>
      </p:sp>
      <p:sp>
        <p:nvSpPr>
          <p:cNvPr id="15" name="Text 10"/>
          <p:cNvSpPr/>
          <p:nvPr/>
        </p:nvSpPr>
        <p:spPr>
          <a:xfrm>
            <a:off x="1417320" y="4782312"/>
            <a:ext cx="978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Veremos isso virar fios e portas de verdade na próxima aula de conteúdo.</a:t>
            </a:r>
            <a:endParaRPr lang="en-US" sz="1250" dirty="0"/>
          </a:p>
        </p:txBody>
      </p:sp>
      <p:sp>
        <p:nvSpPr>
          <p:cNvPr id="16" name="Text 11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JUNTANDO OS DOIS MÉTODOS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 e K-map, lado a lado</a:t>
            </a:r>
            <a:endParaRPr lang="en-US" sz="28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881360" cy="9144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343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Soma de produtos (SOP)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Mapa de Karnaugh (K-map)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 de partida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Tabela-verdade, linha por linha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mesma tabela, reorganizada em grade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Como simplifica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Álgebra: axiomas e teoremas, passo a passo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Visual: agrupar 1s adjacentes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para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Poucas variáveis ou provar uma equivalência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a 4 variáveis, simplificar rápido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Limite prático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Cresce em número de passos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1B1B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Fica difícil de desenhar acima de 5-6 variáveis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7000" marR="127000" marT="50800" marB="50800"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prática, os dois se completam: SOP garante que nada se perde; K-map mostra onde cortar.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206240"/>
            <a:ext cx="4023360" cy="402336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CONFERINDO COM CÓDIGO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592928" y="118872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7520" y="1353312"/>
            <a:ext cx="676656" cy="67665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514600"/>
            <a:ext cx="9418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se o K-map estiver errado?</a:t>
            </a:r>
            <a:endParaRPr lang="en-US" sz="3000" dirty="0"/>
          </a:p>
        </p:txBody>
      </p:sp>
      <p:sp>
        <p:nvSpPr>
          <p:cNvPr id="7" name="Text 4"/>
          <p:cNvSpPr/>
          <p:nvPr/>
        </p:nvSpPr>
        <p:spPr>
          <a:xfrm>
            <a:off x="2103120" y="3520440"/>
            <a:ext cx="7955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500" i="1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 uma forma de conferir uma simplificação feita à mão: bibliotecas de álgebra simbólica, que aplicam os mesmos axiomas automaticamente.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SYMPY · ÁLGEBRA SIMBÓLICA EM PYTHON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Conferindo uma simplificação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existe uma biblioteca de álgebra simbólica tão consolidada em C# quanto o SymPy em Python — por isso, só desta vez, o exemplo fica só em Python.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280160" y="2286000"/>
            <a:ext cx="9601200" cy="3291840"/>
          </a:xfrm>
          <a:prstGeom prst="roundRect">
            <a:avLst>
              <a:gd name="adj" fmla="val 3889"/>
            </a:avLst>
          </a:prstGeom>
          <a:solidFill>
            <a:srgbClr val="232C63"/>
          </a:solidFill>
          <a:ln/>
        </p:spPr>
      </p:sp>
      <p:sp>
        <p:nvSpPr>
          <p:cNvPr id="6" name="Shape 4"/>
          <p:cNvSpPr/>
          <p:nvPr/>
        </p:nvSpPr>
        <p:spPr>
          <a:xfrm>
            <a:off x="1536192" y="2505456"/>
            <a:ext cx="109728" cy="109728"/>
          </a:xfrm>
          <a:prstGeom prst="ellipse">
            <a:avLst/>
          </a:prstGeom>
          <a:solidFill>
            <a:srgbClr val="E5533D"/>
          </a:solidFill>
          <a:ln/>
        </p:spPr>
      </p:sp>
      <p:sp>
        <p:nvSpPr>
          <p:cNvPr id="7" name="Shape 5"/>
          <p:cNvSpPr/>
          <p:nvPr/>
        </p:nvSpPr>
        <p:spPr>
          <a:xfrm>
            <a:off x="1737360" y="2505456"/>
            <a:ext cx="109728" cy="109728"/>
          </a:xfrm>
          <a:prstGeom prst="ellipse">
            <a:avLst/>
          </a:prstGeom>
          <a:solidFill>
            <a:srgbClr val="E8B324"/>
          </a:solidFill>
          <a:ln/>
        </p:spPr>
      </p:sp>
      <p:sp>
        <p:nvSpPr>
          <p:cNvPr id="8" name="Shape 6"/>
          <p:cNvSpPr/>
          <p:nvPr/>
        </p:nvSpPr>
        <p:spPr>
          <a:xfrm>
            <a:off x="1938528" y="2505456"/>
            <a:ext cx="109728" cy="109728"/>
          </a:xfrm>
          <a:prstGeom prst="ellipse">
            <a:avLst/>
          </a:prstGeom>
          <a:solidFill>
            <a:srgbClr val="3EBD59"/>
          </a:solidFill>
          <a:ln/>
        </p:spPr>
      </p:sp>
      <p:sp>
        <p:nvSpPr>
          <p:cNvPr id="9" name="Text 7"/>
          <p:cNvSpPr/>
          <p:nvPr/>
        </p:nvSpPr>
        <p:spPr>
          <a:xfrm>
            <a:off x="2194560" y="2446020"/>
            <a:ext cx="8138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8A90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conferindo_sympy.py</a:t>
            </a:r>
            <a:endParaRPr lang="en-US" sz="10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78440" y="2432304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72768" y="297180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sympy </a:t>
            </a: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symbols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1572768" y="330098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</a:t>
            </a: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sympy.logic </a:t>
            </a:r>
            <a:r>
              <a:rPr lang="en-US" sz="1250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 </a:t>
            </a: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SOPform, simplify_logic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572768" y="363016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1572768" y="3959352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x, y, z = symbols(</a:t>
            </a:r>
            <a:r>
              <a:rPr lang="en-US" sz="1250" dirty="0">
                <a:solidFill>
                  <a:srgbClr val="9FE6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"x y z"</a:t>
            </a: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572768" y="4288536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1572768" y="4617720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mintermos onde f(x,y,z) = 1, na ordem (x,y,z)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1572768" y="4946904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expressao = SOPform([x, y, z], [[0,1,0], [0,1,1], [1,0,1], [1,1,1]])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1572768" y="5276088"/>
            <a:ext cx="9052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7E5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print(simplify_logic(expressao))  </a:t>
            </a:r>
            <a:r>
              <a:rPr lang="en-US" sz="1250" dirty="0">
                <a:solidFill>
                  <a:srgbClr val="6F7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confere se bate com o K-map feito à mão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6C4B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94560"/>
            <a:ext cx="5486400" cy="5486400"/>
          </a:xfrm>
          <a:prstGeom prst="ellipse">
            <a:avLst/>
          </a:prstGeom>
          <a:ln w="1905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645920" y="4389120"/>
            <a:ext cx="3291840" cy="3291840"/>
          </a:xfrm>
          <a:prstGeom prst="ellipse">
            <a:avLst/>
          </a:prstGeom>
          <a:ln w="19050">
            <a:solidFill>
              <a:srgbClr val="2FE6C7">
                <a:alpha val="5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92928" y="1371600"/>
            <a:ext cx="1005840" cy="10058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808" y="1554480"/>
            <a:ext cx="640080" cy="6400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274320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Hora de praticar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1828800" y="3657600"/>
            <a:ext cx="8503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i="1" dirty="0">
                <a:solidFill>
                  <a:srgbClr val="E4DF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Quatro exercícios: montar SOP, dois K-maps e um desafio sobre o XOR.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soma de produtos de f(x, y) que vale 1 apenas quando x = 0 e y = 1, ou quando x = 1 e y = 0. Que operação lógica conhecida é essa?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606040"/>
            <a:ext cx="1088136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8D2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27889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SOP: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68680" y="32461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_______________________________________________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379476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conhecida: _______________________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SOP</a:t>
            </a:r>
            <a:endParaRPr lang="en-US" sz="24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651760" y="1828800"/>
          <a:ext cx="6858000" cy="91440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</a:t>
                      </a:r>
                      <a:endParaRPr lang="en-US" sz="15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6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1463040" y="4937760"/>
            <a:ext cx="9235440" cy="1051560"/>
          </a:xfrm>
          <a:prstGeom prst="roundRect">
            <a:avLst>
              <a:gd name="adj" fmla="val 10435"/>
            </a:avLst>
          </a:prstGeom>
          <a:solidFill>
            <a:srgbClr val="141B41"/>
          </a:solidFill>
          <a:ln/>
        </p:spPr>
      </p:sp>
      <p:sp>
        <p:nvSpPr>
          <p:cNvPr id="8" name="Text 4"/>
          <p:cNvSpPr/>
          <p:nvPr/>
        </p:nvSpPr>
        <p:spPr>
          <a:xfrm>
            <a:off x="1783080" y="4937760"/>
            <a:ext cx="85953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SOP: </a:t>
            </a:r>
            <a:r>
              <a:rPr lang="en-US" sz="22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x̄y + xȳ</a:t>
            </a:r>
            <a:r>
              <a:rPr lang="en-US" sz="2200" dirty="0">
                <a:solidFill>
                  <a:srgbClr val="C7CBE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→     </a:t>
            </a:r>
            <a:r>
              <a:rPr lang="en-US" sz="22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XOR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K-map de 2 variáveis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K-map de f(x, y) = (xy)‾ (NAND) e simplifique visualmente, se possível.</a:t>
            </a:r>
            <a:endParaRPr lang="en-US" sz="14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46888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1663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Preencha as células com os valores de NAND(x,y) antes de procurar os grupos.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K-map de 2 variáveis</a:t>
            </a:r>
            <a:endParaRPr lang="en-US" sz="24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92024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148072" y="2313432"/>
            <a:ext cx="3419856" cy="1133856"/>
          </a:xfrm>
          <a:prstGeom prst="roundRect">
            <a:avLst>
              <a:gd name="adj" fmla="val 11290"/>
            </a:avLst>
          </a:prstGeom>
          <a:ln w="38100">
            <a:solidFill>
              <a:srgbClr val="6C4BC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5148072" y="2313432"/>
            <a:ext cx="1773936" cy="2139696"/>
          </a:xfrm>
          <a:prstGeom prst="roundRect">
            <a:avLst>
              <a:gd name="adj" fmla="val 7216"/>
            </a:avLst>
          </a:prstGeom>
          <a:ln w="38100">
            <a:solidFill>
              <a:srgbClr val="141B4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46634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x=0 → x̄     </a:t>
            </a:r>
            <a:r>
              <a:rPr lang="en-US" sz="13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y=0 → ȳ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2194560" y="5166360"/>
            <a:ext cx="7772400" cy="777240"/>
          </a:xfrm>
          <a:prstGeom prst="roundRect">
            <a:avLst>
              <a:gd name="adj" fmla="val 14118"/>
            </a:avLst>
          </a:prstGeom>
          <a:solidFill>
            <a:srgbClr val="141B41"/>
          </a:solidFill>
          <a:ln/>
        </p:spPr>
      </p:sp>
      <p:sp>
        <p:nvSpPr>
          <p:cNvPr id="11" name="Text 7"/>
          <p:cNvSpPr/>
          <p:nvPr/>
        </p:nvSpPr>
        <p:spPr>
          <a:xfrm>
            <a:off x="2194560" y="516636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NAND(x,y) = x̄ + ȳ</a:t>
            </a:r>
            <a:endParaRPr lang="en-US" sz="2400" dirty="0"/>
          </a:p>
        </p:txBody>
      </p:sp>
      <p:sp>
        <p:nvSpPr>
          <p:cNvPr id="12" name="Text 8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K-map de 3 variáveis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K-map de f(x, y, z) que vale 1 nos mintermos m3, m4, m5, m6, m7 — ou seja, (x,y,z) = (0,1,1), (1,0,0), (1,0,1), (1,1,0) e (1,1,1) — e 0 nas demais. Encontre a expressão simplificada.</a:t>
            </a:r>
            <a:endParaRPr lang="en-US" sz="135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278892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FA9C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?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5321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AFA9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com o exemplo da aula (Slide 9) depois de preencher.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EBD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K-map de 3 variáveis</a:t>
            </a:r>
            <a:endParaRPr lang="en-US" sz="24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86000" y="1783080"/>
          <a:ext cx="6675120" cy="914400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yz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144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9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19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3410712" y="3090672"/>
            <a:ext cx="5614416" cy="1042416"/>
          </a:xfrm>
          <a:prstGeom prst="roundRect">
            <a:avLst>
              <a:gd name="adj" fmla="val 12281"/>
            </a:avLst>
          </a:prstGeom>
          <a:ln w="38100">
            <a:solidFill>
              <a:srgbClr val="6C4BC1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6153912" y="2176272"/>
            <a:ext cx="1499616" cy="1956816"/>
          </a:xfrm>
          <a:prstGeom prst="roundRect">
            <a:avLst>
              <a:gd name="adj" fmla="val 8537"/>
            </a:avLst>
          </a:prstGeom>
          <a:ln w="38100">
            <a:solidFill>
              <a:srgbClr val="141B41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42062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x=1 → x     </a:t>
            </a:r>
            <a:r>
              <a:rPr lang="en-US" sz="1350" b="1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■ </a:t>
            </a:r>
            <a:r>
              <a:rPr lang="en-US" sz="1350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coluna 11 → yz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2194560" y="4663440"/>
            <a:ext cx="7772400" cy="777240"/>
          </a:xfrm>
          <a:prstGeom prst="roundRect">
            <a:avLst>
              <a:gd name="adj" fmla="val 14118"/>
            </a:avLst>
          </a:prstGeom>
          <a:solidFill>
            <a:srgbClr val="141B41"/>
          </a:solidFill>
          <a:ln/>
        </p:spPr>
      </p:sp>
      <p:sp>
        <p:nvSpPr>
          <p:cNvPr id="11" name="Text 7"/>
          <p:cNvSpPr/>
          <p:nvPr/>
        </p:nvSpPr>
        <p:spPr>
          <a:xfrm>
            <a:off x="2194560" y="46634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FE6C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 = x + yz</a:t>
            </a:r>
            <a:endParaRPr lang="en-US" sz="2600" dirty="0"/>
          </a:p>
        </p:txBody>
      </p:sp>
      <p:sp>
        <p:nvSpPr>
          <p:cNvPr id="12" name="Text 8"/>
          <p:cNvSpPr/>
          <p:nvPr/>
        </p:nvSpPr>
        <p:spPr>
          <a:xfrm>
            <a:off x="640080" y="55778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mintermos viraram 2 termos — mais rico que o exemplo da aula, que virou um literal só.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89611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4572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EXERCÍCIO 4 · DESAFIO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XOR contra-ataca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640080" y="169164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Pegue a expressão original do XOR (x̄y + xȳ) e tente simplificá-la com um K-map de 2 variáveis. O que acontece? Por que o XOR é "resistente" à simplificação por agrupamento?</a:t>
            </a:r>
            <a:endParaRPr lang="en-US" sz="14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260604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5156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640080" y="53035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Monte o mapa e procure dois 1s adjacentes — eles existem?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566928" cy="566928"/>
          </a:xfrm>
          <a:prstGeom prst="ellipse">
            <a:avLst/>
          </a:prstGeom>
          <a:solidFill>
            <a:srgbClr val="3EBD59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384" y="923544"/>
            <a:ext cx="274320" cy="2743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17320" y="7772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GABARITO · EXERCÍCIO 4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417320" y="103327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XOR contra-ataca</a:t>
            </a:r>
            <a:endParaRPr lang="en-US" sz="2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31920" y="1783080"/>
          <a:ext cx="4572000" cy="914400"/>
        </p:xfrm>
        <a:graphic>
          <a:graphicData uri="http://schemas.openxmlformats.org/drawingml/2006/table">
            <a:tbl>
              <a:tblPr/>
              <a:tblGrid>
                <a:gridCol w="1280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8E93C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 \ 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B4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y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58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x =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C4BC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1E8A57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B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2200" b="1" dirty="0">
                          <a:solidFill>
                            <a:srgbClr val="A83A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</a:t>
                      </a:r>
                      <a:endParaRPr lang="en-US" sz="22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anchor="ctr">
                    <a:lnL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434840"/>
            <a:ext cx="10881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900"/>
              </a:lnSpc>
              <a:buNone/>
            </a:pPr>
            <a:r>
              <a:rPr lang="en-US" sz="135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1s ficam em cantos opostos (diagonal) — cada um só tem 0s como vizinhos. Não existe bloco de tamanho 2 (nem maior) para nenhum dos dois.</a:t>
            </a:r>
            <a:endParaRPr lang="en-US" sz="1350" dirty="0"/>
          </a:p>
        </p:txBody>
      </p:sp>
      <p:sp>
        <p:nvSpPr>
          <p:cNvPr id="8" name="Shape 4"/>
          <p:cNvSpPr/>
          <p:nvPr/>
        </p:nvSpPr>
        <p:spPr>
          <a:xfrm>
            <a:off x="1554480" y="5257800"/>
            <a:ext cx="9052560" cy="868680"/>
          </a:xfrm>
          <a:prstGeom prst="roundRect">
            <a:avLst>
              <a:gd name="adj" fmla="val 12632"/>
            </a:avLst>
          </a:prstGeom>
          <a:solidFill>
            <a:srgbClr val="232C63"/>
          </a:solidFill>
          <a:ln/>
        </p:spPr>
      </p:sp>
      <p:sp>
        <p:nvSpPr>
          <p:cNvPr id="9" name="Text 5"/>
          <p:cNvSpPr/>
          <p:nvPr/>
        </p:nvSpPr>
        <p:spPr>
          <a:xfrm>
            <a:off x="1828800" y="5257800"/>
            <a:ext cx="8503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FE6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SOP permanece a forma mais simples: x̄y + xȳ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CHECK-IN DE ROTA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estamos no semestre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23160" y="3502152"/>
            <a:ext cx="7315200" cy="36576"/>
          </a:xfrm>
          <a:prstGeom prst="rect">
            <a:avLst/>
          </a:prstGeom>
          <a:solidFill>
            <a:srgbClr val="DAD5F0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3108960"/>
            <a:ext cx="822960" cy="822960"/>
          </a:xfrm>
          <a:prstGeom prst="ellipse">
            <a:avLst/>
          </a:prstGeom>
          <a:solidFill>
            <a:srgbClr val="B8AEE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324612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0584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06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4389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1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— Parte 1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367528" y="2286000"/>
            <a:ext cx="1463040" cy="384048"/>
          </a:xfrm>
          <a:prstGeom prst="roundRect">
            <a:avLst>
              <a:gd name="adj" fmla="val 50000"/>
            </a:avLst>
          </a:prstGeom>
          <a:solidFill>
            <a:srgbClr val="2FE6C7"/>
          </a:solidFill>
          <a:ln/>
        </p:spPr>
      </p:sp>
      <p:sp>
        <p:nvSpPr>
          <p:cNvPr id="10" name="Text 7"/>
          <p:cNvSpPr/>
          <p:nvPr/>
        </p:nvSpPr>
        <p:spPr>
          <a:xfrm>
            <a:off x="5367528" y="2286000"/>
            <a:ext cx="1463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50" dirty="0">
                <a:solidFill>
                  <a:srgbClr val="141B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ESTÁ AQUI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504688" y="2926080"/>
            <a:ext cx="1188720" cy="1188720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96712" y="3118104"/>
            <a:ext cx="804672" cy="80467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01768" y="42062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07</a:t>
            </a:r>
            <a:endParaRPr lang="en-US" sz="1550" dirty="0"/>
          </a:p>
        </p:txBody>
      </p:sp>
      <p:sp>
        <p:nvSpPr>
          <p:cNvPr id="14" name="Text 10"/>
          <p:cNvSpPr/>
          <p:nvPr/>
        </p:nvSpPr>
        <p:spPr>
          <a:xfrm>
            <a:off x="4727448" y="4526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Álgebra Booleana — Parte 2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9189720" y="3108960"/>
            <a:ext cx="822960" cy="8229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6C4BC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00032" y="33192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503920" y="4069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08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7955280" y="43891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lógicos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i="1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de simplificar no papel e na grade, a Aula 08 mostra tudo isso virando fios e portas de verdade.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Referências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4475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Livros — teoria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459736"/>
            <a:ext cx="182880" cy="1828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289864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IDOETA, I. V.; CAPUANO, F. G.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96112" y="374904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Elementos de Eletrônica Digital. Érica — cap. Mapas de Karnaugh.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79976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1" name="Shape 8"/>
          <p:cNvSpPr/>
          <p:nvPr/>
        </p:nvSpPr>
        <p:spPr>
          <a:xfrm>
            <a:off x="4636008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2312" y="2459736"/>
            <a:ext cx="182880" cy="1828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289864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TOCCI, R. J.; WIDMER, N. S.; MOSS, G. L.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36008" y="374904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Sistemas Digitais: princípios e aplicações. Pearson — simplificação por mapa de Karnaugh.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8119872" y="2057400"/>
            <a:ext cx="3538728" cy="4023360"/>
          </a:xfrm>
          <a:prstGeom prst="roundRect">
            <a:avLst>
              <a:gd name="adj" fmla="val 3101"/>
            </a:avLst>
          </a:prstGeom>
          <a:solidFill>
            <a:srgbClr val="F3F1FB"/>
          </a:solidFill>
          <a:ln/>
        </p:spPr>
      </p:sp>
      <p:sp>
        <p:nvSpPr>
          <p:cNvPr id="16" name="Shape 12"/>
          <p:cNvSpPr/>
          <p:nvPr/>
        </p:nvSpPr>
        <p:spPr>
          <a:xfrm>
            <a:off x="8375904" y="231343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2208" y="2459736"/>
            <a:ext cx="182880" cy="18288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75904" y="2898648"/>
            <a:ext cx="302666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30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ROSEN, K. H.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8375904" y="3749040"/>
            <a:ext cx="3026664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Discreta e suas Aplicações. 7. ed. AMGH/McGraw-Hill — cap. Álgebra Booleana (formas normais e simplificação).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IR ALÉM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B1B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Documentação e vídeos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5" name="Shape 3"/>
          <p:cNvSpPr/>
          <p:nvPr/>
        </p:nvSpPr>
        <p:spPr>
          <a:xfrm>
            <a:off x="89611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2416" y="2093976"/>
            <a:ext cx="182880" cy="1828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9611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— SymPy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89611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sympy.logic — simplificação simbólica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SOPform e simplify_logic.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263640" y="1691640"/>
            <a:ext cx="5257800" cy="4251960"/>
          </a:xfrm>
          <a:prstGeom prst="roundRect">
            <a:avLst>
              <a:gd name="adj" fmla="val 2581"/>
            </a:avLst>
          </a:prstGeom>
          <a:solidFill>
            <a:srgbClr val="F3F1FB"/>
          </a:solidFill>
          <a:ln/>
        </p:spPr>
      </p:sp>
      <p:sp>
        <p:nvSpPr>
          <p:cNvPr id="10" name="Shape 7"/>
          <p:cNvSpPr/>
          <p:nvPr/>
        </p:nvSpPr>
        <p:spPr>
          <a:xfrm>
            <a:off x="6519672" y="1947672"/>
            <a:ext cx="475488" cy="475488"/>
          </a:xfrm>
          <a:prstGeom prst="ellipse">
            <a:avLst/>
          </a:prstGeom>
          <a:solidFill>
            <a:srgbClr val="6C4BC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65976" y="2093976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519672" y="2532888"/>
            <a:ext cx="47457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B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6519672" y="2971800"/>
            <a:ext cx="4745736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Mapas de Karnaugh — 2, 3 e 4 variáveis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exemplos passo a passo.</a:t>
            </a:r>
            <a:endParaRPr lang="en-US" sz="1250" dirty="0"/>
          </a:p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250" u="sng" dirty="0">
                <a:solidFill>
                  <a:srgbClr val="6C4BC1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Condições "don't care"</a:t>
            </a:r>
            <a:r>
              <a:rPr lang="en-US" sz="125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em mapas de Karnaugh.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1368735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6B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41B4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011680"/>
            <a:ext cx="5486400" cy="5486400"/>
          </a:xfrm>
          <a:prstGeom prst="ellipse">
            <a:avLst/>
          </a:prstGeom>
          <a:ln w="19050">
            <a:solidFill>
              <a:srgbClr val="6C4BC1">
                <a:alpha val="5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509760" y="4206240"/>
            <a:ext cx="3840480" cy="3840480"/>
          </a:xfrm>
          <a:prstGeom prst="ellipse">
            <a:avLst/>
          </a:prstGeom>
          <a:ln w="19050">
            <a:solidFill>
              <a:srgbClr val="2FE6C7">
                <a:alpha val="5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051560"/>
            <a:ext cx="777240" cy="777240"/>
          </a:xfrm>
          <a:prstGeom prst="ellipse">
            <a:avLst/>
          </a:prstGeom>
          <a:solidFill>
            <a:srgbClr val="2FE6C7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18872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1704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2FE6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PARADA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600200" y="14630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BC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Circuitos lógicos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640080" y="2606040"/>
            <a:ext cx="10058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mapa de Karnaugh</a:t>
            </a:r>
            <a:endParaRPr lang="en-US" sz="3200" dirty="0"/>
          </a:p>
          <a:p>
            <a:pPr marL="0" indent="0">
              <a:lnSpc>
                <a:spcPts val="38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 fios e portas de verdade.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640080" y="416052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i="1" dirty="0">
                <a:solidFill>
                  <a:srgbClr val="AEB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Guarde a regra prática de agrupamento — é exatamente o roteiro que vamos seguir para desenhar circuitos com menos portas.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0080" y="6172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kern="0" spc="100" dirty="0">
                <a:solidFill>
                  <a:srgbClr val="6F7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 Computacional Aplicada  ·  Aula 07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2822</Words>
  <Application>Microsoft Office PowerPoint</Application>
  <PresentationFormat>Widescreen</PresentationFormat>
  <Paragraphs>419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5" baseType="lpstr">
      <vt:lpstr>Arial</vt:lpstr>
      <vt:lpstr>Calibri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daniel</cp:lastModifiedBy>
  <cp:revision>1</cp:revision>
  <dcterms:created xsi:type="dcterms:W3CDTF">2026-08-05T12:40:42Z</dcterms:created>
  <dcterms:modified xsi:type="dcterms:W3CDTF">2026-08-13T19:42:40Z</dcterms:modified>
</cp:coreProperties>
</file>