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Recapitular rápido: na Aula 04 vimos os cinco conectivos isolados. Hoje combinamos vários numa fórmula só.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Avisar que não tem conectivo novo hoje — é 100% aplicação do que já foi visto na Aula 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alguém não lembra de algum símbolo, este é o momento de perguntar antes de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gráfico é ilustrativo, mas 2^n é fato matemático exato, não estimativa.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hábito evita o erro clássico de tentar calcular a fórmula inteira mentalmente, linha a linha.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Guardar esta tabela — o Exercício 3, mais adiante, usa exatamente esta fórmula em um contexto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são rótulos sobre a fórmula inteira, olhando a coluna final completa — não sobre uma linha isolada.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três exemplos reaparecem mais à frente já verificados em código — vale guardar de cabeça.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reconstruído para esta aula: representa o modus ponens, a regra de inferência mais usada em toda a matemática — “se p implica q, e p é verdade, então q é verdade”.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Vamos reencontrar esta mesma lei em forma de álgebra na Aula 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 como ponte para a próxima aula — não entrar em detalhes de álgebra proposicional ainda.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Badges na ordem p, q, r — deixar claro que r depende de uma escolha da pessoa, não só da lógica da fórmula.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funciona como checklist mental na hora de classificar qualquer fórmula nova.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Motivação antes do código: o ganho não é só velocidade, é confiabilidade — o computador não se distrai no meio da tabela.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Combinacoes(n) em C# é o nosso substituto caseiro do itertools.product — mesma ideia, sem biblioteca pronta.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Rodar de verdade no VS Code — as 8 linhas de saída batem com a tabela do Slide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chamadas de teste imprimem exatamente os três exemplos do Slide 8 — tautologia, contradição, contingência.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hora para lembrar: 2^n cresce rápido — dobrando a cada variável nova (crescimento exponencial).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gabarito no slide seguinte — resolver antes de virar a página.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Depois de preencher, confira rodando tabela_verdade / TabelaVerdade com a mesma fórmula.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Fórmula reconstruída para este exercício (não fazia parte do material original) — é a transitividade da implicação em 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Fórmulas autoradas para este exercício, uma de cada categoria — não estavam no material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Confira em código: Classificar / classificar deve devolver exatamente estes três rótulos.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fórmula é exatamente a mesma do Slide 6 — só que agora em contexto de frase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Ligação direta com a tabela do Slide 6 — a mesma fórmula, agora com significado.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gabarito está no próximo slide — deixar a turma tentar antes de revelar.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colunas finais são idênticas nas 4 linhas — sao_equivalentes deve devolver True, confirmando De Morgan.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Título e tema da Aula 06 vieram do próprio texto desta aula ('vamos reencontrar De Morgan como álgebra') — não é um dado inventado.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Scheinerman entra pela primeira vez nesta aula — boa fonte alternativa para quem quer outra explicação de tautologia/contradição.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exatamente como fornecidos pelo professor — nenhuma URL foi inventada.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reforçando que classificar fórmulas continua sendo útil mesmo depois que a álgebra proposicional entrar em cena.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itertools.html#itertools.product" TargetMode="External"/><Relationship Id="rId3" Type="http://schemas.openxmlformats.org/officeDocument/2006/relationships/hyperlink" Target="https://docs.python.org/3/library/functions.html#all" TargetMode="External"/><Relationship Id="rId5" Type="http://schemas.openxmlformats.org/officeDocument/2006/relationships/hyperlink" Target="https://www.youtube.com/results?search_query=exerc%C3%ADcios+tabela+verdade+tautologia+contradi%C3%A7%C3%A3o+conting%C3%AAncia" TargetMode="External"/><Relationship Id="rId6" Type="http://schemas.openxmlformats.org/officeDocument/2006/relationships/hyperlink" Target="https://www.youtube.com/results?search_query=leis+de+morgan+l%C3%B3gica+tabela+verdade" TargetMode="External"/><Relationship Id="rId1" Type="http://schemas.openxmlformats.org/officeDocument/2006/relationships/image" Target="../media/image-30-1.png"/><Relationship Id="rId4" Type="http://schemas.openxmlformats.org/officeDocument/2006/relationships/image" Target="../media/image-30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5669280" cy="5669280"/>
          </a:xfrm>
          <a:prstGeom prst="ellipse">
            <a:avLst/>
          </a:prstGeom>
          <a:ln w="19050">
            <a:solidFill>
              <a:srgbClr val="2FE6C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663440"/>
            <a:ext cx="3108960" cy="3108960"/>
          </a:xfrm>
          <a:prstGeom prst="ellipse">
            <a:avLst/>
          </a:prstGeom>
          <a:ln w="19050">
            <a:solidFill>
              <a:srgbClr val="6C4BC1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9692640" y="-320040"/>
            <a:ext cx="265176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2331720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05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das tabelas-verdade em exercícios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conectivos isolados a fórmulas inteiras — e três rótulos que classificam qualquer uma delas.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tautologia   ·   contradição   ·   contingência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· ROTEIRO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Nesta aula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157984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6596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Montando tabelas-verdade de fórmulas com vários conectivos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08760" y="24688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processo de sempre, aplicado passo a passo, coluna por coluna.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337560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483864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2918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Tautologia, contradição e contingência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08760" y="37947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rótulos que classificam qualquer fórmula lógica pelo seu padrão de valores.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663440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80974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61772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Verificando tudo automaticamente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08760" y="51206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Gerando e testando cada combinação possível em C# (e em Python, para comparar).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paramos na Aula 04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Vimos os cinco conectivos e a tabela-verdade de cada um, isoladamente.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27736" y="228600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3F1FB"/>
          </a:solidFill>
          <a:ln/>
        </p:spPr>
      </p:sp>
      <p:sp>
        <p:nvSpPr>
          <p:cNvPr id="6" name="Text 4"/>
          <p:cNvSpPr/>
          <p:nvPr/>
        </p:nvSpPr>
        <p:spPr>
          <a:xfrm>
            <a:off x="627736" y="2423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¬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19176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“não”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58872" y="228600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3F1FB"/>
          </a:solidFill>
          <a:ln/>
        </p:spPr>
      </p:sp>
      <p:sp>
        <p:nvSpPr>
          <p:cNvPr id="9" name="Text 7"/>
          <p:cNvSpPr/>
          <p:nvPr/>
        </p:nvSpPr>
        <p:spPr>
          <a:xfrm>
            <a:off x="2858872" y="2423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∧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950312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90008" y="228600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3F1FB"/>
          </a:solidFill>
          <a:ln/>
        </p:spPr>
      </p:sp>
      <p:sp>
        <p:nvSpPr>
          <p:cNvPr id="12" name="Text 10"/>
          <p:cNvSpPr/>
          <p:nvPr/>
        </p:nvSpPr>
        <p:spPr>
          <a:xfrm>
            <a:off x="5090008" y="2423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∨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181448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21144" y="228600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3F1FB"/>
          </a:solidFill>
          <a:ln/>
        </p:spPr>
      </p:sp>
      <p:sp>
        <p:nvSpPr>
          <p:cNvPr id="15" name="Text 13"/>
          <p:cNvSpPr/>
          <p:nvPr/>
        </p:nvSpPr>
        <p:spPr>
          <a:xfrm>
            <a:off x="7321144" y="2423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412584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“se... então”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552280" y="228600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3F1FB"/>
          </a:solidFill>
          <a:ln/>
        </p:spPr>
      </p:sp>
      <p:sp>
        <p:nvSpPr>
          <p:cNvPr id="18" name="Text 16"/>
          <p:cNvSpPr/>
          <p:nvPr/>
        </p:nvSpPr>
        <p:spPr>
          <a:xfrm>
            <a:off x="9552280" y="2423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64372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e somente se”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590288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80160" y="4480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combinar vários desses símbolos numa fórmula só, e dar nome ao que ela representa.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CRESCENDO EM COMPLEXIDADE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Fórmulas com múltiplos conectivos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</a:t>
            </a:r>
            <a:pPr indent="0" marL="0">
              <a:lnSpc>
                <a:spcPts val="1900"/>
              </a:lnSpc>
              <a:buNone/>
            </a:pPr>
            <a:r>
              <a:rPr lang="en-US" sz="1400" b="1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proposições simples, a tabela-verdade tem </a:t>
            </a:r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2ⁿ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linhas — uma para cada combinação possível de valores.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5452110"/>
            <a:ext cx="914400" cy="354330"/>
          </a:xfrm>
          <a:prstGeom prst="roundRect">
            <a:avLst>
              <a:gd name="adj" fmla="val 20645"/>
            </a:avLst>
          </a:prstGeom>
          <a:solidFill>
            <a:srgbClr val="F3F1FB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506806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linhas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59161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1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194560" y="5097780"/>
            <a:ext cx="914400" cy="708660"/>
          </a:xfrm>
          <a:prstGeom prst="roundRect">
            <a:avLst>
              <a:gd name="adj" fmla="val 10323"/>
            </a:avLst>
          </a:prstGeom>
          <a:solidFill>
            <a:srgbClr val="F3F1FB"/>
          </a:solidFill>
          <a:ln/>
        </p:spPr>
      </p:sp>
      <p:sp>
        <p:nvSpPr>
          <p:cNvPr id="11" name="Text 8"/>
          <p:cNvSpPr/>
          <p:nvPr/>
        </p:nvSpPr>
        <p:spPr>
          <a:xfrm>
            <a:off x="1920240" y="47137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linhas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194560" y="59161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566160" y="4389120"/>
            <a:ext cx="914400" cy="1417320"/>
          </a:xfrm>
          <a:prstGeom prst="roundRect">
            <a:avLst>
              <a:gd name="adj" fmla="val 8000"/>
            </a:avLst>
          </a:prstGeom>
          <a:solidFill>
            <a:srgbClr val="6C4BC1"/>
          </a:solidFill>
          <a:ln/>
        </p:spPr>
      </p:sp>
      <p:sp>
        <p:nvSpPr>
          <p:cNvPr id="14" name="Text 11"/>
          <p:cNvSpPr/>
          <p:nvPr/>
        </p:nvSpPr>
        <p:spPr>
          <a:xfrm>
            <a:off x="3291840" y="40050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linhas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566160" y="59161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3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937760" y="2971800"/>
            <a:ext cx="914400" cy="2834640"/>
          </a:xfrm>
          <a:prstGeom prst="roundRect">
            <a:avLst>
              <a:gd name="adj" fmla="val 8000"/>
            </a:avLst>
          </a:prstGeom>
          <a:solidFill>
            <a:srgbClr val="F3F1FB"/>
          </a:solidFill>
          <a:ln/>
        </p:spPr>
      </p:sp>
      <p:sp>
        <p:nvSpPr>
          <p:cNvPr id="17" name="Text 14"/>
          <p:cNvSpPr/>
          <p:nvPr/>
        </p:nvSpPr>
        <p:spPr>
          <a:xfrm>
            <a:off x="4663440" y="25877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linhas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937760" y="59161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4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337560" y="36118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FE6C7"/>
          </a:solidFill>
          <a:ln/>
        </p:spPr>
      </p:sp>
      <p:sp>
        <p:nvSpPr>
          <p:cNvPr id="20" name="Text 17"/>
          <p:cNvSpPr/>
          <p:nvPr/>
        </p:nvSpPr>
        <p:spPr>
          <a:xfrm>
            <a:off x="3337560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09360" y="283464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montar a tabela de (p ∧ q) → r passo a passo (3 variáveis → 8 linhas).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309360" y="37947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4-5 variáveis já é impraticável fazer à mão — é aí que o código entra, mais tarde nesta aula.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572000" cy="45720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MONTAR A TABELA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92928" y="123444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664" y="140817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514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por colunas, não por linha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377440" y="352044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Preencha uma coluna auxiliar inteira — por exemplo, todo o p ∧ q — antes de passar para a próxima. É mais fácil não errar do que calcular linha por linha, tentando fazer tudo de uma vez.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108960" y="4937760"/>
            <a:ext cx="5943600" cy="777240"/>
          </a:xfrm>
          <a:prstGeom prst="roundRect">
            <a:avLst>
              <a:gd name="adj" fmla="val 14118"/>
            </a:avLst>
          </a:prstGeom>
          <a:solidFill>
            <a:srgbClr val="232C63"/>
          </a:solidFill>
          <a:ln/>
        </p:spPr>
      </p:sp>
      <p:sp>
        <p:nvSpPr>
          <p:cNvPr id="9" name="Text 6"/>
          <p:cNvSpPr/>
          <p:nvPr/>
        </p:nvSpPr>
        <p:spPr>
          <a:xfrm>
            <a:off x="3108960" y="49377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ordem sugerida: colunas de p, q, r  →  colunas auxiliares  →  coluna final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Montando (p ∧ q) → 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variáveis → 8 linhas. Primeiro as colunas de p, q, r; depois a auxiliar p ∧ q; por último, a fórmula inteira.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011680"/>
          <a:ext cx="96012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∧ q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(p ∧ q) → r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uma linha dá F: quando p ∧ q é verdadeira mas a promessa (r) não se cumpre.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RÓTULOS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Tautologia, contradição e contingência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montar a coluna final, ela sempre se encaixa em um destes três padrões.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29000" cy="3291840"/>
          </a:xfrm>
          <a:prstGeom prst="roundRect">
            <a:avLst>
              <a:gd name="adj" fmla="val 3889"/>
            </a:avLst>
          </a:prstGeom>
          <a:solidFill>
            <a:srgbClr val="F3F1FB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2423160"/>
            <a:ext cx="822960" cy="822960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9404" y="2569464"/>
            <a:ext cx="530352" cy="530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20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Tautologia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40233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fórmula é sempre verdadeira, para qualquer combinação de valores.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1688" y="2057400"/>
            <a:ext cx="3429000" cy="3291840"/>
          </a:xfrm>
          <a:prstGeom prst="roundRect">
            <a:avLst>
              <a:gd name="adj" fmla="val 3889"/>
            </a:avLst>
          </a:prstGeom>
          <a:solidFill>
            <a:srgbClr val="F3F1FB"/>
          </a:solidFill>
          <a:ln/>
        </p:spPr>
      </p:sp>
      <p:sp>
        <p:nvSpPr>
          <p:cNvPr id="11" name="Shape 8"/>
          <p:cNvSpPr/>
          <p:nvPr/>
        </p:nvSpPr>
        <p:spPr>
          <a:xfrm>
            <a:off x="5664708" y="2423160"/>
            <a:ext cx="822960" cy="822960"/>
          </a:xfrm>
          <a:prstGeom prst="ellipse">
            <a:avLst/>
          </a:prstGeom>
          <a:solidFill>
            <a:srgbClr val="E553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012" y="2569464"/>
            <a:ext cx="530352" cy="5303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44568" y="3520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Contradição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81728" y="40233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fórmula é sempre falsa, para qualquer combinação de valores.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057400"/>
            <a:ext cx="3429000" cy="3291840"/>
          </a:xfrm>
          <a:prstGeom prst="roundRect">
            <a:avLst>
              <a:gd name="adj" fmla="val 3889"/>
            </a:avLst>
          </a:prstGeom>
          <a:solidFill>
            <a:srgbClr val="F3F1FB"/>
          </a:solidFill>
          <a:ln/>
        </p:spPr>
      </p:sp>
      <p:sp>
        <p:nvSpPr>
          <p:cNvPr id="16" name="Shape 12"/>
          <p:cNvSpPr/>
          <p:nvPr/>
        </p:nvSpPr>
        <p:spPr>
          <a:xfrm>
            <a:off x="9386316" y="2423160"/>
            <a:ext cx="822960" cy="822960"/>
          </a:xfrm>
          <a:prstGeom prst="ellipse">
            <a:avLst/>
          </a:prstGeom>
          <a:solidFill>
            <a:srgbClr val="E8B32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2620" y="2569464"/>
            <a:ext cx="530352" cy="5303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66176" y="3520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403336" y="40233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dos valores — às vezes verdadeira, às vezes falsa.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RECONHECENDO NA PRÁTICA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exemplo de cada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298448"/>
          </a:xfrm>
          <a:prstGeom prst="roundRect">
            <a:avLst>
              <a:gd name="adj" fmla="val 8451"/>
            </a:avLst>
          </a:prstGeom>
          <a:solidFill>
            <a:srgbClr val="E3FBF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20824"/>
            <a:ext cx="640080" cy="640080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130552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∨ ¬p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023360" y="1856232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E8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V → tautologia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766560" y="1856232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princípio do terceiro excluído: “p ou não-p” nunca falha.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136392"/>
            <a:ext cx="10881360" cy="1298448"/>
          </a:xfrm>
          <a:prstGeom prst="roundRect">
            <a:avLst>
              <a:gd name="adj" fmla="val 8451"/>
            </a:avLst>
          </a:prstGeom>
          <a:solidFill>
            <a:srgbClr val="FBE4E1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3465576"/>
            <a:ext cx="640080" cy="640080"/>
          </a:xfrm>
          <a:prstGeom prst="ellipse">
            <a:avLst/>
          </a:prstGeom>
          <a:solidFill>
            <a:srgbClr val="E553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3575304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3009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∧ ¬p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4023360" y="3300984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A8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F → contradição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766560" y="3300984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dá para p e não-p serem verdadeiras ao mesmo tempo.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4581144"/>
            <a:ext cx="10881360" cy="1298448"/>
          </a:xfrm>
          <a:prstGeom prst="roundRect">
            <a:avLst>
              <a:gd name="adj" fmla="val 8451"/>
            </a:avLst>
          </a:prstGeom>
          <a:solidFill>
            <a:srgbClr val="FCF3DC"/>
          </a:solidFill>
          <a:ln/>
        </p:spPr>
      </p:sp>
      <p:sp>
        <p:nvSpPr>
          <p:cNvPr id="17" name="Shape 13"/>
          <p:cNvSpPr/>
          <p:nvPr/>
        </p:nvSpPr>
        <p:spPr>
          <a:xfrm>
            <a:off x="868680" y="4910328"/>
            <a:ext cx="640080" cy="640080"/>
          </a:xfrm>
          <a:prstGeom prst="ellipse">
            <a:avLst/>
          </a:prstGeom>
          <a:solidFill>
            <a:srgbClr val="E8B32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5020056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7457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→ q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4023360" y="4745736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9A6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 → contingência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766560" y="4745736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condicional que já vimos na Aula 04 — nem sempre V, nem sempre F.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877824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Tautologias sustentam raciocínios válidos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tautologia representa um raciocínio válido por estrutura, independente do assunto — não importa o que p e q signifiquem, ela nunca falha. É esse tipo de fórmula que sustenta regras de inferência confiáveis, como o modus ponens: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566160" y="2560320"/>
            <a:ext cx="5029200" cy="777240"/>
          </a:xfrm>
          <a:prstGeom prst="roundRect">
            <a:avLst>
              <a:gd name="adj" fmla="val 14118"/>
            </a:avLst>
          </a:prstGeom>
          <a:solidFill>
            <a:srgbClr val="232C63"/>
          </a:solidFill>
          <a:ln w="12700">
            <a:solidFill>
              <a:srgbClr val="2FE6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66160" y="25603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E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((p → q) ∧ p) → q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0" y="3566160"/>
          <a:ext cx="6858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→ q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(p → q) ∧ p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((p → q) ∧ p) → q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FÓRMULAS 'IGUAIS' POR TABELA-VERDADE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Lei de De Morgan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Monte lado a lado ¬(p ∧ q) e ¬p ∨ ¬q: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20574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¬(p ∧ q)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¬p ∨ ¬q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1463040" y="5257800"/>
            <a:ext cx="9235440" cy="914400"/>
          </a:xfrm>
          <a:prstGeom prst="roundRect">
            <a:avLst>
              <a:gd name="adj" fmla="val 12000"/>
            </a:avLst>
          </a:prstGeom>
          <a:solidFill>
            <a:srgbClr val="F3F1FB"/>
          </a:solidFill>
          <a:ln/>
        </p:spPr>
      </p:sp>
      <p:sp>
        <p:nvSpPr>
          <p:cNvPr id="9" name="Text 5"/>
          <p:cNvSpPr/>
          <p:nvPr/>
        </p:nvSpPr>
        <p:spPr>
          <a:xfrm>
            <a:off x="1783080" y="52578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colunas finais são idênticas — as fórmulas são logicamente equivalentes, mesmo parecendo diferentes escritas.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C4B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389120"/>
            <a:ext cx="3291840" cy="3291840"/>
          </a:xfrm>
          <a:prstGeom prst="ellipse">
            <a:avLst/>
          </a:prstGeom>
          <a:ln w="19050">
            <a:solidFill>
              <a:srgbClr val="2FE6C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92928" y="128016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7520" y="144475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6060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Tabela-verdade hoje, álgebra amanhã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194560" y="3566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 também pode ser provada manipulando símbolos, sem tabela nenhuma — é a mesma ideia de hoje, só que com outra ferramenta. Isso é o assunto da Aula 06.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 NO DIA A DIA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 chove ou está frio, leve casaco”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5361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p: “chove”     q: “está frio”     r: “levo casaco”     regra ideal: (p ∨ q) → r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FCF3DC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2404872"/>
            <a:ext cx="640080" cy="640080"/>
          </a:xfrm>
          <a:prstGeom prst="ellipse">
            <a:avLst/>
          </a:prstGeom>
          <a:solidFill>
            <a:srgbClr val="E8B32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514600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28600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que essa fórmula é uma contingência: ela pode dar V ou F dependendo se você realmente segue a recomendação (r) nas situações em que ela se aplica (p ∨ q).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0080" y="3840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de uma tautologia, aqui o valor da fórmula depende de um fato do mundo real — você ter levado o casaco ou não — e não só da estrutura lógica.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572000"/>
            <a:ext cx="420624" cy="420624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1188720" y="4572000"/>
            <a:ext cx="420624" cy="420624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15" name="Text 11"/>
          <p:cNvSpPr/>
          <p:nvPr/>
        </p:nvSpPr>
        <p:spPr>
          <a:xfrm>
            <a:off x="1188720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1737360" y="4572000"/>
            <a:ext cx="420624" cy="420624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17" name="Text 13"/>
          <p:cNvSpPr/>
          <p:nvPr/>
        </p:nvSpPr>
        <p:spPr>
          <a:xfrm>
            <a:off x="1737360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2377440" y="455371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Chove, mas você não leva casaco — a promessa falhou.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0080" y="5084064"/>
            <a:ext cx="420624" cy="420624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20" name="Text 16"/>
          <p:cNvSpPr/>
          <p:nvPr/>
        </p:nvSpPr>
        <p:spPr>
          <a:xfrm>
            <a:off x="640080" y="5084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1188720" y="5084064"/>
            <a:ext cx="420624" cy="420624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22" name="Text 18"/>
          <p:cNvSpPr/>
          <p:nvPr/>
        </p:nvSpPr>
        <p:spPr>
          <a:xfrm>
            <a:off x="1188720" y="5084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1737360" y="5084064"/>
            <a:ext cx="420624" cy="420624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24" name="Text 20"/>
          <p:cNvSpPr/>
          <p:nvPr/>
        </p:nvSpPr>
        <p:spPr>
          <a:xfrm>
            <a:off x="1737360" y="5084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2377440" y="506577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chove, mas está frio, e você leva casaco — cumpriu.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40080" y="5596128"/>
            <a:ext cx="420624" cy="420624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27" name="Text 23"/>
          <p:cNvSpPr/>
          <p:nvPr/>
        </p:nvSpPr>
        <p:spPr>
          <a:xfrm>
            <a:off x="640080" y="5596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1188720" y="5596128"/>
            <a:ext cx="420624" cy="420624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29" name="Text 25"/>
          <p:cNvSpPr/>
          <p:nvPr/>
        </p:nvSpPr>
        <p:spPr>
          <a:xfrm>
            <a:off x="1188720" y="5596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1737360" y="5596128"/>
            <a:ext cx="420624" cy="420624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31" name="Text 27"/>
          <p:cNvSpPr/>
          <p:nvPr/>
        </p:nvSpPr>
        <p:spPr>
          <a:xfrm>
            <a:off x="1737360" y="5596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2377440" y="5577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chove, nem está frio — a recomendação não se aplica; vacuamente V.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JUNTANDO TUDO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rótulos, lado a lado</a:t>
            </a:r>
            <a:endParaRPr lang="en-US" sz="2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1828800"/>
                <a:gridCol w="50292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Coluna final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reconhecer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EBD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Tautologia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sempre V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∨ ¬p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 linha da tabela dá V — sem exceção.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55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Contradição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sempre 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∧ ¬p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 linha da tabela dá F — sem exceção.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8B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Contingência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varia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→ q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 pelo menos um V e pelo menos um F na coluna.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166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esta tabela — ela é a cola dos Exercícios 1 e 2, mais adiante.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DE FAZER À MÃO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92928" y="118872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7520" y="135331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514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Verificando tudo com código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103120" y="35204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uma tabela de 8 linhas na mão dá para fazer. De 16, já cansa. De 32, ninguém faz duas vezes sem errar. Em vez disso, geramos todas as combinações possíveis e avaliamos a fórmula em cada uma.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GERAR AS COMBINAÇÕES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combinação de V e F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C# escrevemos essa geração manualmente; em Python, o itertools já resolve isso pronto.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80660" cy="3931920"/>
          </a:xfrm>
          <a:prstGeom prst="roundRect">
            <a:avLst>
              <a:gd name="adj" fmla="val 3256"/>
            </a:avLst>
          </a:prstGeom>
          <a:solidFill>
            <a:srgbClr val="232C63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18541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18541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18541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12598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Combinacoes.cs</a:t>
            </a:r>
            <a:endParaRPr lang="en-US" sz="10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7820" y="211226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2651760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IEnumerable&lt;bool[]&gt; 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Combinacoes(int n)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32688" y="2962656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32688" y="3273552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 i = 0; i &lt; (1 &lt;&lt; n); i++)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32688" y="3584448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32688" y="3895344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v = </a:t>
            </a:r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bool[n];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32688" y="4206240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 j = 0; j &lt; n; j++)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32688" y="4517136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v[j] = (i &amp; (1 &lt;&lt; j)) != 0;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32688" y="4828032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return 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v;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32688" y="5138928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32688" y="5449824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40780" y="1965960"/>
            <a:ext cx="5280660" cy="2377440"/>
          </a:xfrm>
          <a:prstGeom prst="roundRect">
            <a:avLst>
              <a:gd name="adj" fmla="val 5385"/>
            </a:avLst>
          </a:prstGeom>
          <a:solidFill>
            <a:srgbClr val="232C63"/>
          </a:solidFill>
          <a:ln/>
        </p:spPr>
      </p:sp>
      <p:sp>
        <p:nvSpPr>
          <p:cNvPr id="22" name="Shape 19"/>
          <p:cNvSpPr/>
          <p:nvPr/>
        </p:nvSpPr>
        <p:spPr>
          <a:xfrm>
            <a:off x="6496812" y="218541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23" name="Shape 20"/>
          <p:cNvSpPr/>
          <p:nvPr/>
        </p:nvSpPr>
        <p:spPr>
          <a:xfrm>
            <a:off x="6697980" y="218541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24" name="Shape 21"/>
          <p:cNvSpPr/>
          <p:nvPr/>
        </p:nvSpPr>
        <p:spPr>
          <a:xfrm>
            <a:off x="6899148" y="218541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25" name="Text 22"/>
          <p:cNvSpPr/>
          <p:nvPr/>
        </p:nvSpPr>
        <p:spPr>
          <a:xfrm>
            <a:off x="7155180" y="212598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combinacoes.py</a:t>
            </a:r>
            <a:endParaRPr lang="en-US" sz="105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112264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533388" y="2679192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itertools </a:t>
            </a:r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533388" y="3008376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533388" y="3337560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 </a:t>
            </a:r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product([</a:t>
            </a:r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repeat=n):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533388" y="3666744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print(valores)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533388" y="4480560"/>
            <a:ext cx="4732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6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Ex.: n = 2 → (True, True), (True, False), (False, True), (False, False)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Ideia: cada número de 0 a 2ⁿ-1, lido em binário, já é uma combinação de V/F.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MONTAR A TABELA INTEIRA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uma combinação para a tabela toda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percorrer todas as combinações e avaliar a fórmula em cada uma.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80660" cy="4389120"/>
          </a:xfrm>
          <a:prstGeom prst="roundRect">
            <a:avLst>
              <a:gd name="adj" fmla="val 2917"/>
            </a:avLst>
          </a:prstGeom>
          <a:solidFill>
            <a:srgbClr val="232C63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04825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04825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04825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98882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TabelaVerdade.cs</a:t>
            </a:r>
            <a:endParaRPr lang="en-US" sz="10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7820" y="197510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2423160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bool </a:t>
            </a:r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Implica(bool p, bool q) =&gt; !p || q;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32688" y="2679192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32688" y="2935224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</a:t>
            </a:r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TabelaVerdade(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32688" y="3191256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Func&lt;bool[], bool&gt; formula, int n)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32688" y="3447288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932688" y="3703320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foreach </a:t>
            </a:r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(var v in Combinacoes(n))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932688" y="3959352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932688" y="4215384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$"{string.Join(" ", v)} -&gt; {formula(v)}");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932688" y="4471416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32688" y="4727448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32688" y="4983480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(p ^ q) -&gt; r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932688" y="5239512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Func&lt;bool[], bool&gt; formula =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932688" y="5495544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=&gt; Implica(v[0] &amp;&amp; v[1], v[2]);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32688" y="5751576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TabelaVerdade(formula, 3);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240780" y="1828800"/>
            <a:ext cx="5280660" cy="3657600"/>
          </a:xfrm>
          <a:prstGeom prst="roundRect">
            <a:avLst>
              <a:gd name="adj" fmla="val 3500"/>
            </a:avLst>
          </a:prstGeom>
          <a:solidFill>
            <a:srgbClr val="232C63"/>
          </a:solidFill>
          <a:ln/>
        </p:spPr>
      </p:sp>
      <p:sp>
        <p:nvSpPr>
          <p:cNvPr id="26" name="Shape 23"/>
          <p:cNvSpPr/>
          <p:nvPr/>
        </p:nvSpPr>
        <p:spPr>
          <a:xfrm>
            <a:off x="6496812" y="204825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27" name="Shape 24"/>
          <p:cNvSpPr/>
          <p:nvPr/>
        </p:nvSpPr>
        <p:spPr>
          <a:xfrm>
            <a:off x="6697980" y="204825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28" name="Shape 25"/>
          <p:cNvSpPr/>
          <p:nvPr/>
        </p:nvSpPr>
        <p:spPr>
          <a:xfrm>
            <a:off x="6899148" y="204825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29" name="Text 26"/>
          <p:cNvSpPr/>
          <p:nvPr/>
        </p:nvSpPr>
        <p:spPr>
          <a:xfrm>
            <a:off x="7155180" y="198882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tabela_verdade.py</a:t>
            </a:r>
            <a:endParaRPr lang="en-US" sz="105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975104"/>
            <a:ext cx="274320" cy="2743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533388" y="2423160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implica(p, q):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6533388" y="2679192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</a:t>
            </a:r>
            <a:pPr indent="0" marL="0">
              <a:buNone/>
            </a:pPr>
            <a:r>
              <a:rPr lang="en-US" sz="9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</a:t>
            </a:r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p) </a:t>
            </a:r>
            <a:pPr indent="0" marL="0">
              <a:buNone/>
            </a:pPr>
            <a:r>
              <a:rPr lang="en-US" sz="9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</a:t>
            </a:r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533388" y="2935224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533388" y="3191256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tabela_verdade(formula, n_variaveis):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6533388" y="3447288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</a:t>
            </a:r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 </a:t>
            </a:r>
            <a:pPr indent="0" marL="0">
              <a:buNone/>
            </a:pPr>
            <a:r>
              <a:rPr lang="en-US" sz="9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product([</a:t>
            </a:r>
            <a:pPr indent="0" marL="0">
              <a:buNone/>
            </a:pPr>
            <a:r>
              <a:rPr lang="en-US" sz="9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9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repeat=n_variaveis):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6533388" y="3703320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resultado = formula(*valores)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6533388" y="3959352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print(valores, "-&gt;", resultado)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6533388" y="4215384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6533388" y="4471416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(p ^ q) -&gt; r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6533388" y="4727448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 = </a:t>
            </a:r>
            <a:pPr indent="0" marL="0">
              <a:buNone/>
            </a:pPr>
            <a:r>
              <a:rPr lang="en-US" sz="9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</a:t>
            </a:r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p, q, r: implica(p and q, r)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6533388" y="4983480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tabela_verdade(formula, 3)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CLASSIFICAR AUTOMATICAMENTE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Tautologia, contradição ou contingência?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Junte todos os resultados numa lista e verifique se são todos V, todos F, ou nem um nem outro.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80660" cy="3931920"/>
          </a:xfrm>
          <a:prstGeom prst="roundRect">
            <a:avLst>
              <a:gd name="adj" fmla="val 3256"/>
            </a:avLst>
          </a:prstGeom>
          <a:solidFill>
            <a:srgbClr val="232C63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04825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04825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04825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98882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Classificar.cs</a:t>
            </a:r>
            <a:endParaRPr lang="en-US" sz="10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7820" y="197510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2395728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string 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Classificar(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32688" y="2642616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Func&lt;bool[], bool&gt; formula, int n)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32688" y="2889504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32688" y="3136392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r = Combinacoes(n).Select(formula).ToList();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32688" y="3383280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(r.All(x =&gt; x)) </a:t>
            </a:r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"tautologia";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32688" y="3630168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(r.All(x =&gt; !x)) </a:t>
            </a:r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"contradição";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32688" y="3877056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"contingência";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32688" y="4123944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32688" y="4370832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32688" y="4617720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Console.WriteLine(Classificar(v =&gt; v[0] || !v[0], 1));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32688" y="4864608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Console.WriteLine(Classificar(v =&gt; v[0] &amp;&amp; !v[0], 1));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32688" y="5111496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32688" y="5358384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Classificar(v =&gt; Implica(v[0], v[1]), 2));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240780" y="1828800"/>
            <a:ext cx="5280660" cy="3931920"/>
          </a:xfrm>
          <a:prstGeom prst="roundRect">
            <a:avLst>
              <a:gd name="adj" fmla="val 3256"/>
            </a:avLst>
          </a:prstGeom>
          <a:solidFill>
            <a:srgbClr val="232C63"/>
          </a:solidFill>
          <a:ln/>
        </p:spPr>
      </p:sp>
      <p:sp>
        <p:nvSpPr>
          <p:cNvPr id="25" name="Shape 22"/>
          <p:cNvSpPr/>
          <p:nvPr/>
        </p:nvSpPr>
        <p:spPr>
          <a:xfrm>
            <a:off x="6496812" y="204825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26" name="Shape 23"/>
          <p:cNvSpPr/>
          <p:nvPr/>
        </p:nvSpPr>
        <p:spPr>
          <a:xfrm>
            <a:off x="6697980" y="204825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27" name="Shape 24"/>
          <p:cNvSpPr/>
          <p:nvPr/>
        </p:nvSpPr>
        <p:spPr>
          <a:xfrm>
            <a:off x="6899148" y="204825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28" name="Text 25"/>
          <p:cNvSpPr/>
          <p:nvPr/>
        </p:nvSpPr>
        <p:spPr>
          <a:xfrm>
            <a:off x="7155180" y="198882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classificar.py</a:t>
            </a:r>
            <a:endParaRPr lang="en-US" sz="105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975104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533388" y="2395728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classificar(formula, n_variaveis):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533388" y="2642616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combos = product([</a:t>
            </a:r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repeat=n_variaveis)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533388" y="2889504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resultados = [formula(*v) </a:t>
            </a:r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</a:t>
            </a:r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combos]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6533388" y="3136392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all(resultados):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533388" y="3383280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"tautologia"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533388" y="3630168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any(resultados):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533388" y="3877056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"contradição"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6533388" y="4123944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"contingência"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533388" y="4370832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6533388" y="4617720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print(classificar(</a:t>
            </a:r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p: p </a:t>
            </a:r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p), 1))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6533388" y="4864608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print(classificar(</a:t>
            </a:r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p: p </a:t>
            </a:r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p), 1))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6533388" y="5111496"/>
            <a:ext cx="47320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print(classificar(</a:t>
            </a:r>
            <a:pPr indent="0" marL="0">
              <a:buNone/>
            </a:pPr>
            <a:r>
              <a:rPr lang="en-US" sz="9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</a:t>
            </a:r>
            <a:pPr indent="0" marL="0">
              <a:buNone/>
            </a:pPr>
            <a:r>
              <a:rPr lang="en-US" sz="9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p, q: implica(p, q), 2))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737360"/>
            <a:ext cx="10881360" cy="3566160"/>
          </a:xfrm>
          <a:prstGeom prst="roundRect">
            <a:avLst>
              <a:gd name="adj" fmla="val 3590"/>
            </a:avLst>
          </a:prstGeom>
          <a:solidFill>
            <a:srgbClr val="141B41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121408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20848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escala para qualquer número de variáveis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14400" y="27432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Classificar / classificar funciona para 4, 5 ou 10 variáveis — só muda o n. É impraticável fazer isso à mão além de 3 ou 4 variáveis, mas é trivial em código: o computador não se importa se são 8 linhas ou 1024.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14400" y="4114800"/>
            <a:ext cx="9692640" cy="960120"/>
          </a:xfrm>
          <a:prstGeom prst="roundRect">
            <a:avLst>
              <a:gd name="adj" fmla="val 9524"/>
            </a:avLst>
          </a:prstGeom>
          <a:solidFill>
            <a:srgbClr val="232C63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411480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variáveis → 4 linhas          5 variáveis → 32 linhas          10 variáveis → 1024 linhas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6C4B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389120"/>
            <a:ext cx="3291840" cy="3291840"/>
          </a:xfrm>
          <a:prstGeom prst="ellipse">
            <a:avLst/>
          </a:prstGeom>
          <a:ln w="19050">
            <a:solidFill>
              <a:srgbClr val="2FE6C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92928" y="137160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08" y="15544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27432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 de praticar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828800" y="36576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exercícios: montar tabela, classificar, traduzir e um desafio de equivalência.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Montando à mão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a tabela-verdade completa de (p → q) ∧ (q → r) — 3 variáveis, 8 linhas. Preencha por colunas: primeiro p → q, depois q → r, por último a conjunção.</a:t>
            </a:r>
            <a:endParaRPr lang="en-US" sz="13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423160"/>
          <a:ext cx="106070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1554480"/>
                <a:gridCol w="1554480"/>
                <a:gridCol w="4754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→ q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 → 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(p → q) ∧ (q → r)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Montando à mão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83080"/>
          <a:ext cx="10607040" cy="914400"/>
        </p:xfrm>
        <a:graphic>
          <a:graphicData uri="http://schemas.openxmlformats.org/drawingml/2006/table">
            <a:tbl>
              <a:tblPr/>
              <a:tblGrid>
                <a:gridCol w="1767840"/>
                <a:gridCol w="1767840"/>
                <a:gridCol w="1767840"/>
                <a:gridCol w="1767840"/>
                <a:gridCol w="1767840"/>
                <a:gridCol w="1767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→ q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 → r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(p → q) ∧ (q → r)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contingência: 4 linhas dão V, 4 dão F. Repare que quando p é F, p → q já é sempre V — só o resto decide.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Classificando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Classifique cada fórmula como tautologia, contradição ou contingência.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3F1FB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33172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54480" y="233172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→ (q → p)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680960" y="23317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5661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3F1FB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56616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54480" y="356616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 ∧ q) ∧ ¬(p ∨ q)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680960" y="356616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48006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3F1FB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80060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554480" y="480060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 → q) ∧ q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680960" y="48006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Classificando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881360" cy="1298448"/>
          </a:xfrm>
          <a:prstGeom prst="roundRect">
            <a:avLst>
              <a:gd name="adj" fmla="val 7042"/>
            </a:avLst>
          </a:prstGeom>
          <a:solidFill>
            <a:srgbClr val="E3FBF5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783080"/>
            <a:ext cx="457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→ (q → p)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2404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Tautologia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120640" y="1783080"/>
            <a:ext cx="6309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 é V, a implicação já fecha em V. Se p é F, o condicional externo é vacuamente V.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227832"/>
            <a:ext cx="10881360" cy="1298448"/>
          </a:xfrm>
          <a:prstGeom prst="roundRect">
            <a:avLst>
              <a:gd name="adj" fmla="val 7042"/>
            </a:avLst>
          </a:prstGeom>
          <a:solidFill>
            <a:srgbClr val="FBE4E1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227832"/>
            <a:ext cx="457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71600" y="33649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 ∧ q) ∧ ¬(p ∨ q)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71600" y="38496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Contradição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120640" y="3227832"/>
            <a:ext cx="6309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 p ∧ q verdadeiro e, ao mesmo tempo, p ∨ q falso — impossível simultaneamente.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4672584"/>
            <a:ext cx="10881360" cy="1298448"/>
          </a:xfrm>
          <a:prstGeom prst="roundRect">
            <a:avLst>
              <a:gd name="adj" fmla="val 7042"/>
            </a:avLst>
          </a:prstGeom>
          <a:solidFill>
            <a:srgbClr val="FCF3DC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672584"/>
            <a:ext cx="457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71600" y="48097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 → q) ∧ q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371600" y="52943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120640" y="4672584"/>
            <a:ext cx="6309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V,V → V ; V,F → F ; F,V → V ; F,F → F — mistura de V e F.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Traduzindo e verificando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737360" y="1783080"/>
            <a:ext cx="8686800" cy="960120"/>
          </a:xfrm>
          <a:prstGeom prst="roundRect">
            <a:avLst>
              <a:gd name="adj" fmla="val 11429"/>
            </a:avLst>
          </a:prstGeom>
          <a:solidFill>
            <a:srgbClr val="F3F1FB"/>
          </a:solidFill>
          <a:ln/>
        </p:spPr>
      </p:sp>
      <p:sp>
        <p:nvSpPr>
          <p:cNvPr id="7" name="Text 4"/>
          <p:cNvSpPr/>
          <p:nvPr/>
        </p:nvSpPr>
        <p:spPr>
          <a:xfrm>
            <a:off x="1737360" y="178308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 estudo e durmo bem, então passo.”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40080" y="2880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como uma fórmula de 3 variáveis. Depois, use tabela_verdade / TabelaVerdade para encontrar uma linha em que a fórmula é falsa.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61188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6C4B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794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4297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61688" y="361188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6C4BC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0288" y="3794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90288" y="4297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83296" y="361188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6C4BC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11896" y="3794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311896" y="4297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D2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52578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e linha falsa encontrada: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Traduzindo e verificando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3F1FB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20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“estudo”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61688" y="178308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3F1FB"/>
          </a:solidFill>
          <a:ln/>
        </p:spPr>
      </p:sp>
      <p:sp>
        <p:nvSpPr>
          <p:cNvPr id="10" name="Text 7"/>
          <p:cNvSpPr/>
          <p:nvPr/>
        </p:nvSpPr>
        <p:spPr>
          <a:xfrm>
            <a:off x="4590288" y="1920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590288" y="2514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“durmo bem”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83296" y="178308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3F1FB"/>
          </a:solidFill>
          <a:ln/>
        </p:spPr>
      </p:sp>
      <p:sp>
        <p:nvSpPr>
          <p:cNvPr id="13" name="Text 10"/>
          <p:cNvSpPr/>
          <p:nvPr/>
        </p:nvSpPr>
        <p:spPr>
          <a:xfrm>
            <a:off x="8311896" y="1920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311896" y="2514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“passo”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352044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141B41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35204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E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 ∧ q) → r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4663440"/>
          <a:ext cx="5029200" cy="914400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  <a:gridCol w="1257300"/>
                <a:gridCol w="12573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(p ∧ q) → r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linha falsa: estudei e dormi bem, mas não passei — a promessa foi quebrada.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89611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4 · DESAFIO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Fórmulas equivalentes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uma função SaoEquivalentes(f, g, n) / sao_equivalentes(f, g, n) que devolva true/True quando duas fórmulas de n variáveis produzirem a mesma coluna de resultados. Use-a para confirmar que ¬(p ∧ q) e ¬p ∨ ¬q são equivalentes.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194560" y="2651760"/>
            <a:ext cx="7772400" cy="777240"/>
          </a:xfrm>
          <a:prstGeom prst="roundRect">
            <a:avLst>
              <a:gd name="adj" fmla="val 14118"/>
            </a:avLst>
          </a:prstGeom>
          <a:solidFill>
            <a:srgbClr val="232C63"/>
          </a:solidFill>
          <a:ln w="12700">
            <a:solidFill>
              <a:srgbClr val="4B52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0" y="26517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compare formula(v) com f(v) e g(v) para toda combinação v gerada por Combinacoes(n)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703320"/>
            <a:ext cx="10881360" cy="2194560"/>
          </a:xfrm>
          <a:prstGeom prst="roundRect">
            <a:avLst>
              <a:gd name="adj" fmla="val 4167"/>
            </a:avLst>
          </a:prstGeom>
          <a:solidFill>
            <a:srgbClr val="232C63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392277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11" name="Shape 8"/>
          <p:cNvSpPr/>
          <p:nvPr/>
        </p:nvSpPr>
        <p:spPr>
          <a:xfrm>
            <a:off x="1097280" y="392277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12" name="Shape 9"/>
          <p:cNvSpPr/>
          <p:nvPr/>
        </p:nvSpPr>
        <p:spPr>
          <a:xfrm>
            <a:off x="1298448" y="392277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13" name="Text 10"/>
          <p:cNvSpPr/>
          <p:nvPr/>
        </p:nvSpPr>
        <p:spPr>
          <a:xfrm>
            <a:off x="1554480" y="3886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sao_equivalentes.py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14400" y="4297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15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sao_equivalentes(f, g, n):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4400" y="4709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____________________________________________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sao_equivalentes(lambda p,q: not(p and q), lambda p,q: (not p) or (not q), 2) deve dar True.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Fórmulas equivalentes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10881360" cy="1874520"/>
          </a:xfrm>
          <a:prstGeom prst="roundRect">
            <a:avLst>
              <a:gd name="adj" fmla="val 6829"/>
            </a:avLst>
          </a:prstGeom>
          <a:solidFill>
            <a:srgbClr val="232C63"/>
          </a:solidFill>
          <a:ln/>
        </p:spPr>
      </p:sp>
      <p:sp>
        <p:nvSpPr>
          <p:cNvPr id="7" name="Shape 4"/>
          <p:cNvSpPr/>
          <p:nvPr/>
        </p:nvSpPr>
        <p:spPr>
          <a:xfrm>
            <a:off x="896112" y="195681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8" name="Shape 5"/>
          <p:cNvSpPr/>
          <p:nvPr/>
        </p:nvSpPr>
        <p:spPr>
          <a:xfrm>
            <a:off x="1097280" y="195681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9" name="Shape 6"/>
          <p:cNvSpPr/>
          <p:nvPr/>
        </p:nvSpPr>
        <p:spPr>
          <a:xfrm>
            <a:off x="1298448" y="195681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10" name="Text 7"/>
          <p:cNvSpPr/>
          <p:nvPr/>
        </p:nvSpPr>
        <p:spPr>
          <a:xfrm>
            <a:off x="1554480" y="189738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sao_equivalentes.py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8836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2688" y="23957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13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sao_equivalentes(f, g, n):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932688" y="276148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combos = product([</a:t>
            </a:r>
            <a:pPr indent="0" marL="0">
              <a:buNone/>
            </a:pPr>
            <a:r>
              <a:rPr lang="en-US" sz="13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3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3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repeat=n)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932688" y="3127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buNone/>
            </a:pPr>
            <a:r>
              <a:rPr lang="en-US" sz="13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all(f(*v) == g(*v) </a:t>
            </a:r>
            <a:pPr indent="0" marL="0">
              <a:buNone/>
            </a:pPr>
            <a:r>
              <a:rPr lang="en-US" sz="13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pPr indent="0" marL="0">
              <a:buNone/>
            </a:pPr>
            <a:r>
              <a:rPr lang="en-US" sz="13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</a:t>
            </a:r>
            <a:pPr indent="0" marL="0">
              <a:buNone/>
            </a:pPr>
            <a:r>
              <a:rPr lang="en-US" sz="13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indent="0" marL="0">
              <a:buNone/>
            </a:pPr>
            <a:r>
              <a:rPr lang="en-US" sz="13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combos)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40080" y="3657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Equivalente em C#:  SaoEquivalentes(f, g, n) =&gt; Combinacoes(n).All(v =&gt; f(v) == g(v));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0" y="4251960"/>
          <a:ext cx="6858000" cy="914400"/>
        </p:xfrm>
        <a:graphic>
          <a:graphicData uri="http://schemas.openxmlformats.org/drawingml/2006/table">
            <a:tbl>
              <a:tblPr/>
              <a:tblGrid>
                <a:gridCol w="1714500"/>
                <a:gridCol w="1714500"/>
                <a:gridCol w="1714500"/>
                <a:gridCol w="17145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¬(p ∧ q)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¬p ∨ ¬q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</a:tbl>
          </a:graphicData>
        </a:graphic>
      </p:graphicFrame>
      <p:sp>
        <p:nvSpPr>
          <p:cNvPr id="17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DE ROTA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 no semestre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423160" y="3502152"/>
            <a:ext cx="7315200" cy="36576"/>
          </a:xfrm>
          <a:prstGeom prst="rect">
            <a:avLst/>
          </a:prstGeom>
          <a:solidFill>
            <a:srgbClr val="DAD5F0"/>
          </a:solidFill>
          <a:ln/>
        </p:spPr>
      </p:sp>
      <p:sp>
        <p:nvSpPr>
          <p:cNvPr id="5" name="Shape 3"/>
          <p:cNvSpPr/>
          <p:nvPr/>
        </p:nvSpPr>
        <p:spPr>
          <a:xfrm>
            <a:off x="1691640" y="3108960"/>
            <a:ext cx="822960" cy="822960"/>
          </a:xfrm>
          <a:prstGeom prst="ellipse">
            <a:avLst/>
          </a:prstGeom>
          <a:solidFill>
            <a:srgbClr val="B8AE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32461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4069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389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Tabela-verdade dos conectivos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67528" y="22860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2FE6C7"/>
          </a:solidFill>
          <a:ln/>
        </p:spPr>
      </p:sp>
      <p:sp>
        <p:nvSpPr>
          <p:cNvPr id="10" name="Text 7"/>
          <p:cNvSpPr/>
          <p:nvPr/>
        </p:nvSpPr>
        <p:spPr>
          <a:xfrm>
            <a:off x="5367528" y="22860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ESTÁ AQUI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04688" y="2926080"/>
            <a:ext cx="1188720" cy="118872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3136392"/>
            <a:ext cx="768096" cy="7680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01768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727448" y="4526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das tabelas-verdade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9189720" y="310896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C4BC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33192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4069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955280" y="4389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proposicional (equivalências)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saber montar e classificar tabelas, a Aula 06 troca a tabela por manipulação simbólica.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Livros — teoria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31343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459736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898648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ROSEN, K. H.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6112" y="3520440"/>
            <a:ext cx="30266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Discreta e suas Aplicações. 7. ed. AMGH/McGraw-Hill — cap. Lógica Proposicional (tautologias, contradições, contingências).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79976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</p:sp>
      <p:sp>
        <p:nvSpPr>
          <p:cNvPr id="11" name="Shape 8"/>
          <p:cNvSpPr/>
          <p:nvPr/>
        </p:nvSpPr>
        <p:spPr>
          <a:xfrm>
            <a:off x="4636008" y="231343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459736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6008" y="2898648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GERSTING, J. L.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36008" y="3520440"/>
            <a:ext cx="30266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Matemáticos para a Ciência da Computação. LTC — cap. Lógica.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19872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</p:sp>
      <p:sp>
        <p:nvSpPr>
          <p:cNvPr id="16" name="Shape 12"/>
          <p:cNvSpPr/>
          <p:nvPr/>
        </p:nvSpPr>
        <p:spPr>
          <a:xfrm>
            <a:off x="8375904" y="231343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459736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75904" y="2898648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SCHEINERMAN, E. R.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75904" y="3520440"/>
            <a:ext cx="30266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Discreta: uma introdução. Cengage — seção sobre tabelas-verdade e classificação de fórmulas.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Documentação e vídeos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3F1FB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4767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093976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532888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combinações e agregação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96112" y="2971800"/>
            <a:ext cx="47457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u="sng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itertools.product</a:t>
            </a:r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gera todas as combinações de valores.</a:t>
            </a:r>
            <a:endParaRPr lang="en-US" sz="1250" dirty="0"/>
          </a:p>
          <a:p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u="sng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all() e any()</a:t>
            </a:r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base de classificar().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3F1FB"/>
          </a:solidFill>
          <a:ln/>
        </p:spPr>
      </p:sp>
      <p:sp>
        <p:nvSpPr>
          <p:cNvPr id="10" name="Shape 7"/>
          <p:cNvSpPr/>
          <p:nvPr/>
        </p:nvSpPr>
        <p:spPr>
          <a:xfrm>
            <a:off x="6519672" y="194767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2093976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19672" y="2532888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19672" y="2971800"/>
            <a:ext cx="47457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u="sng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Exercícios resolvidos de tabela-verdade</a:t>
            </a:r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tautologia, contradição, contingência.</a:t>
            </a:r>
            <a:endParaRPr lang="en-US" sz="1250" dirty="0"/>
          </a:p>
          <a:p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u="sng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Leis de De Morgan</a:t>
            </a:r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explicadas com tabela-verdade.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4206240"/>
            <a:ext cx="3840480" cy="3840480"/>
          </a:xfrm>
          <a:prstGeom prst="ellipse">
            <a:avLst/>
          </a:prstGeom>
          <a:ln w="19050">
            <a:solidFill>
              <a:srgbClr val="2FE6C7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51560"/>
            <a:ext cx="777240" cy="7772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197864"/>
            <a:ext cx="484632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170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PARADA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00200" y="1463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proposicional (equivalências lógicas)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De Morgan de hoje,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provada sem tabela nenhuma.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a tabela-mestra de tautologia/contradição/contingência — ela continua valendo o semestre inteiro.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6F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  ·  Aula 05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2026-08-05T11:54:55Z</dcterms:created>
  <dcterms:modified xsi:type="dcterms:W3CDTF">2026-08-05T11:54:55Z</dcterms:modified>
</cp:coreProperties>
</file>