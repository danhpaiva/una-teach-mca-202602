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Boas-vindas à disciplina. Apresentar o professor, o objetivo geral da UC e o tom do semestre antes de entrar nos detalhes.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os quatro tópicos do roteiro rapidamente — é só um mapa do que vem a seguir, sem entrar em detalhes ainda.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 que os quatro itens da direita são o fio condutor do semestre: lógica -&gt; álgebra booleana -&gt; circuitos -&gt; grafos/árvores -&gt; estruturas de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 os dois exemplos em tempo real (VS Code para C#, .NET Fiddle ou terminal para Python), alterando estudou/dormiu_bem para false e mostrando a saída mudar nas duas linguagens.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este glossário como referência rápida sempre que alternar entre os exemplos em Python e C# no resto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para a turma identificar, em voz alta, onde já viram cada um desses exemplos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que A1 e A3 têm material próprio; aqui é só o mapa de conteúdo e prática semana 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Voltar a esta lista no fim da unidade como checklist de autoavaliação.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der tempo, mostrar rapidamente o dotnetfiddle.net funcionando ao vivo, como alternativa a quem ainda não instalou o VS Code. Python aparece nesta aula só como comparação de sintaxe — a ferramenta principal do curso é C#.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Convidar um voluntário a rodar isso ao vivo — um em C# no VS Code, outro em Python — e comparar as duas saídas testando diferentes combinações de idade/acompanhado.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Divulgar o canal oficial (Classroom/Discord/etc.) e os horários de atendimento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2 minutos no início da próxima aula para checar quem concluiu cada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Estes materiais são de apoio — não é necessário ler tudo antes da próxima aula, só o essencial do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reforçando o checklist da próxima aula e abrindo espaço para últimas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692640" y="-320040"/>
            <a:ext cx="2651760" cy="2651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01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e apresentação da UC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formal, estruturas discretas e o código que sustenta tudo o que você vai construir.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  ·   C#   ·   Git &amp; GitHub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01 · 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2020824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470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a UC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508760" y="218541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a Unidade Curricular e por que ela existe no seu curso.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2990088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3136392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9626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do semestre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508760" y="330098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aulas, atividades e a atividade em grupo se encaixam no calendário.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105656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4251960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07822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que vamos usar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508760" y="441655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Code, C# e ferramentas online para transformar teoria em código.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40080" y="5221224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5367528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51937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e entregas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1508760" y="55321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tirar dúvidas de conteúdo e onde entregar as atividades.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PORQUÊ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9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“Matemática</a:t>
            </a:r>
            <a:endParaRPr lang="en-US" sz="2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9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Computacional Aplicada”?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sistema que você vai construir na sua carreira — de um app simples a um motor de busca — é, por baixo dos panos, lógica formal e estruturas discretas rodando em silício.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703320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UC existe para te dar o vocabulário e o raciocínio que sustentam tudo isso — e que vão aparecer de novo nas próximas disciplinas do curso.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55080" y="777240"/>
            <a:ext cx="5212080" cy="5532120"/>
          </a:xfrm>
          <a:prstGeom prst="roundRect">
            <a:avLst>
              <a:gd name="adj" fmla="val 2105"/>
            </a:avLst>
          </a:prstGeom>
          <a:solidFill>
            <a:srgbClr val="F3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0" y="1097280"/>
            <a:ext cx="512064" cy="51206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4" y="1243584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06640" y="1051560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um if funciona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406640" y="1536192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proposicional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675120" y="2395728"/>
            <a:ext cx="512064" cy="51206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424" y="254203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06640" y="2350008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um processador soma números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406640" y="283464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booleana e circuitos digitais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675120" y="3694176"/>
            <a:ext cx="512064" cy="51206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424" y="3840480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06640" y="3648456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redes e mapas viram código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7406640" y="413308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Grafos e árvores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675120" y="4992624"/>
            <a:ext cx="512064" cy="51206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24" y="5138928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06640" y="4946904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isso conecta com o que vem depois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7406640" y="5431536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Estruturas de dados e algoritmos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JÁ SABE MAIS DO QUE PENSA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Você já usa isso, mesmo sem saber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vez que você escreve um if com and / &amp;&amp;, está avaliando uma proposição composta — só que em sintaxes diferentes. Esta UC coloca nome e rigor no que você já intui, em qualquer linguagem.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141B41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2768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2768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2768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21742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Programa.cs</a:t>
            </a:r>
            <a:endParaRPr lang="en-US" sz="10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220370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92608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</a:t>
            </a:r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estudou = </a:t>
            </a:r>
            <a:pPr indent="0" marL="0">
              <a:buNone/>
            </a:pPr>
            <a:r>
              <a:rPr lang="en-US" sz="13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932688" y="329184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</a:t>
            </a:r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dormiuBem = </a:t>
            </a:r>
            <a:pPr indent="0" marL="0">
              <a:buNone/>
            </a:pPr>
            <a:r>
              <a:rPr lang="en-US" sz="13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932688" y="365760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32688" y="402336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(estudou &amp;&amp; dormiuBem)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932688" y="438912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932688" y="475488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</a:t>
            </a:r>
            <a:pPr indent="0" marL="0">
              <a:buNone/>
            </a:pPr>
            <a:r>
              <a:rPr lang="en-US" sz="135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"Passou!"</a:t>
            </a:r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932688" y="512064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6240780" y="205740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141B41"/>
          </a:solidFill>
          <a:ln/>
        </p:spPr>
      </p:sp>
      <p:sp>
        <p:nvSpPr>
          <p:cNvPr id="19" name="Shape 16"/>
          <p:cNvSpPr/>
          <p:nvPr/>
        </p:nvSpPr>
        <p:spPr>
          <a:xfrm>
            <a:off x="6496812" y="22768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6697980" y="22768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21" name="Shape 18"/>
          <p:cNvSpPr/>
          <p:nvPr/>
        </p:nvSpPr>
        <p:spPr>
          <a:xfrm>
            <a:off x="6899148" y="22768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22" name="Text 19"/>
          <p:cNvSpPr/>
          <p:nvPr/>
        </p:nvSpPr>
        <p:spPr>
          <a:xfrm>
            <a:off x="7155180" y="221742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programa.py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203704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533388" y="292608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estudou = </a:t>
            </a:r>
            <a:pPr indent="0" marL="0">
              <a:buNone/>
            </a:pPr>
            <a:r>
              <a:rPr lang="en-US" sz="13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6533388" y="329184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dormiu_bem = </a:t>
            </a:r>
            <a:pPr indent="0" marL="0">
              <a:buNone/>
            </a:pPr>
            <a:r>
              <a:rPr lang="en-US" sz="13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350" dirty="0"/>
          </a:p>
        </p:txBody>
      </p:sp>
      <p:sp>
        <p:nvSpPr>
          <p:cNvPr id="26" name="Text 22"/>
          <p:cNvSpPr/>
          <p:nvPr/>
        </p:nvSpPr>
        <p:spPr>
          <a:xfrm>
            <a:off x="6533388" y="365760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</p:txBody>
      </p:sp>
      <p:sp>
        <p:nvSpPr>
          <p:cNvPr id="27" name="Text 23"/>
          <p:cNvSpPr/>
          <p:nvPr/>
        </p:nvSpPr>
        <p:spPr>
          <a:xfrm>
            <a:off x="6533388" y="402336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estudou </a:t>
            </a:r>
            <a:pPr indent="0" marL="0">
              <a:buNone/>
            </a:pPr>
            <a:r>
              <a:rPr lang="en-US" sz="13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</a:t>
            </a:r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dormiu_bem:</a:t>
            </a:r>
            <a:endParaRPr lang="en-US" sz="1350" dirty="0"/>
          </a:p>
        </p:txBody>
      </p:sp>
      <p:sp>
        <p:nvSpPr>
          <p:cNvPr id="28" name="Text 24"/>
          <p:cNvSpPr/>
          <p:nvPr/>
        </p:nvSpPr>
        <p:spPr>
          <a:xfrm>
            <a:off x="6533388" y="438912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</a:t>
            </a:r>
            <a:pPr indent="0" marL="0">
              <a:buNone/>
            </a:pPr>
            <a:r>
              <a:rPr lang="en-US" sz="135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"Passou!"</a:t>
            </a:r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533388" y="475488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</p:txBody>
      </p:sp>
      <p:sp>
        <p:nvSpPr>
          <p:cNvPr id="30" name="Text 26"/>
          <p:cNvSpPr/>
          <p:nvPr/>
        </p:nvSpPr>
        <p:spPr>
          <a:xfrm>
            <a:off x="6533388" y="5120640"/>
            <a:ext cx="4732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mesmo resultado, sintaxe mais curta</a:t>
            </a:r>
            <a:endParaRPr lang="en-US" sz="1350" dirty="0"/>
          </a:p>
        </p:txBody>
      </p:sp>
      <p:sp>
        <p:nvSpPr>
          <p:cNvPr id="31" name="Text 27"/>
          <p:cNvSpPr/>
          <p:nvPr/>
        </p:nvSpPr>
        <p:spPr>
          <a:xfrm>
            <a:off x="640080" y="60990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lógica proposicional, duas sintaxes: chaves e ; em C# — dois pontos e indentação em Python.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SINTAXES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linguagens, a mesma lógica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vai ver os mesmos exemplos em Python e em C# ao longo da aula — este é o glossário rápido de tradução entre as duas sintaxes.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931920" y="1819656"/>
            <a:ext cx="347472" cy="34747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5072" y="1892808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370832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589520" y="1819656"/>
            <a:ext cx="347472" cy="34747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2" y="1892808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28432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" y="233172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13" name="Text 9"/>
          <p:cNvSpPr/>
          <p:nvPr/>
        </p:nvSpPr>
        <p:spPr>
          <a:xfrm>
            <a:off x="868680" y="233172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Verdadeiro / falso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931920" y="2331720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 /  False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589520" y="233172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 /  false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40080" y="2935224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17" name="Text 13"/>
          <p:cNvSpPr/>
          <p:nvPr/>
        </p:nvSpPr>
        <p:spPr>
          <a:xfrm>
            <a:off x="868680" y="29352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/ OU / NÃO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931920" y="2935224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 /  or  /  not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7589520" y="2935224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  /  ||  /  !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40080" y="353872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21" name="Text 17"/>
          <p:cNvSpPr/>
          <p:nvPr/>
        </p:nvSpPr>
        <p:spPr>
          <a:xfrm>
            <a:off x="868680" y="35387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condicional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931920" y="353872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e indentação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7589520" y="3538728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 chaves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" y="4142232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25" name="Text 21"/>
          <p:cNvSpPr/>
          <p:nvPr/>
        </p:nvSpPr>
        <p:spPr>
          <a:xfrm>
            <a:off x="868680" y="41422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Imprimir na tela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3931920" y="4142232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print("texto")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7589520" y="4142232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Console.WriteLine("texto")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40080" y="474573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29" name="Text 25"/>
          <p:cNvSpPr/>
          <p:nvPr/>
        </p:nvSpPr>
        <p:spPr>
          <a:xfrm>
            <a:off x="868680" y="474573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Comentário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3931920" y="4745736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comentário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7589520" y="4745736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comentário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640080" y="534924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33" name="Text 29"/>
          <p:cNvSpPr/>
          <p:nvPr/>
        </p:nvSpPr>
        <p:spPr>
          <a:xfrm>
            <a:off x="868680" y="534924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 da instrução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3931920" y="5349240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quebra de linha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7589520" y="534924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(ponto e vírgula)</a:t>
            </a:r>
            <a:endParaRPr lang="en-US" sz="1200" dirty="0"/>
          </a:p>
        </p:txBody>
      </p:sp>
      <p:sp>
        <p:nvSpPr>
          <p:cNvPr id="36" name="Text 32"/>
          <p:cNvSpPr/>
          <p:nvPr/>
        </p:nvSpPr>
        <p:spPr>
          <a:xfrm>
            <a:off x="640080" y="60441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Dica: volte a este quadro sempre que trocar de exemplo entre as duas linguagens.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QUADRO PARA O MUNDO REAL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cada assunto aparece fora da sala de aula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73936"/>
            <a:ext cx="493776" cy="493776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920240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9164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proposicional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480560" y="1691640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validação de formulário — if (idade &gt;= 18 &amp;&amp; cpfValido)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2478024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822960" y="2560320"/>
            <a:ext cx="493776" cy="493776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2706624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247802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booleana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480560" y="2478024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de banco de dados — WHERE ativo = true AND saldo &gt; 0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264408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3F1FB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3346704"/>
            <a:ext cx="493776" cy="493776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3493008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326440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Circuitos digitais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4480560" y="3264408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processador do seu celular — portas lógicas, literalmente, em silício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4050792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3F1FB"/>
          </a:solidFill>
          <a:ln/>
        </p:spPr>
      </p:sp>
      <p:sp>
        <p:nvSpPr>
          <p:cNvPr id="20" name="Shape 15"/>
          <p:cNvSpPr/>
          <p:nvPr/>
        </p:nvSpPr>
        <p:spPr>
          <a:xfrm>
            <a:off x="822960" y="4133088"/>
            <a:ext cx="493776" cy="493776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4279392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08760" y="405079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4480560" y="4050792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Rotas do Google Maps, feed de recomendação, rede de amigos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640080" y="4837176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3F1FB"/>
          </a:solidFill>
          <a:ln/>
        </p:spPr>
      </p:sp>
      <p:sp>
        <p:nvSpPr>
          <p:cNvPr id="25" name="Shape 19"/>
          <p:cNvSpPr/>
          <p:nvPr/>
        </p:nvSpPr>
        <p:spPr>
          <a:xfrm>
            <a:off x="822960" y="4919472"/>
            <a:ext cx="493776" cy="493776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" y="5065776"/>
            <a:ext cx="201168" cy="20116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08760" y="483717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Árvores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480560" y="4837176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Pastas do computador, índice de um banco de dados, o DOM de uma página web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640080" y="56967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desses exemplos é abstrato: cada um é um sistema real que você já usou esta semana.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ATÉ AQUI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semestre está organizado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trilho segue o calendário real do semestre — incluindo aulas de busca ativa, atividades práticas, orientação de trabalho e avaliações.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42519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350008"/>
            <a:ext cx="530352" cy="53035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496312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2350008"/>
            <a:ext cx="2441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299008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proposicional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booleana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Circuitos digitais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Grafos e árvores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Fechamento: estruturas de dados e algoritmos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79976" y="2057400"/>
            <a:ext cx="3538728" cy="42519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4654296" y="2350008"/>
            <a:ext cx="530352" cy="53035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496312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40096" y="2350008"/>
            <a:ext cx="2441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654296" y="3108960"/>
            <a:ext cx="299008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de código em C# no VS Code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Tabelas-verdade verificadas por programação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de portas lógicas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de grafos e árvores em código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de fechamento conectando tudo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19872" y="2057400"/>
            <a:ext cx="3538728" cy="42519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394192" y="2350008"/>
            <a:ext cx="530352" cy="53035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496" y="2496312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79992" y="2350008"/>
            <a:ext cx="2441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394192" y="3108960"/>
            <a:ext cx="299008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— avaliação individual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— atividade aplicada, em grupo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Tratadas em material didático separado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e peso: a definir pelo professor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 DESTA TRILHA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você deve conseguir fazer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12064" cy="512064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112264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6060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e interpretar tabelas-verdade.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63640" y="169164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1965960"/>
            <a:ext cx="512064" cy="512064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2112264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37960" y="26060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Simplificar expressões booleanas e projetar circuitos simples.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38862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13" name="Shape 9"/>
          <p:cNvSpPr/>
          <p:nvPr/>
        </p:nvSpPr>
        <p:spPr>
          <a:xfrm>
            <a:off x="914400" y="4160520"/>
            <a:ext cx="512064" cy="512064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4306824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480060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problemas do mundo real com grafos e árvores.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263640" y="38862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17" name="Shape 12"/>
          <p:cNvSpPr/>
          <p:nvPr/>
        </p:nvSpPr>
        <p:spPr>
          <a:xfrm>
            <a:off x="6537960" y="4160520"/>
            <a:ext cx="512064" cy="512064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306824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537960" y="480060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Explicar, com suas palavras, por que essas ferramentas aparecem em estruturas de dados e algoritmos do dia a dia.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NA MASSA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Ferramentas que vamos usar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programar em C# para transformar teoria em código verificável.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14600" cy="3566160"/>
          </a:xfrm>
          <a:prstGeom prst="roundRect">
            <a:avLst>
              <a:gd name="adj" fmla="val 4364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1508760" y="2560320"/>
            <a:ext cx="777240" cy="7772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4208" y="2715768"/>
            <a:ext cx="466344" cy="4663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566160"/>
            <a:ext cx="21854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41248" y="4023360"/>
            <a:ext cx="21122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editor de código no dia a dia da disciplina.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401568" y="2148840"/>
            <a:ext cx="2514600" cy="3566160"/>
          </a:xfrm>
          <a:prstGeom prst="roundRect">
            <a:avLst>
              <a:gd name="adj" fmla="val 4364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4270248" y="2560320"/>
            <a:ext cx="777240" cy="7772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715768"/>
            <a:ext cx="466344" cy="4663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566160"/>
            <a:ext cx="21854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602736" y="4023360"/>
            <a:ext cx="21122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linguagem que vamos usar para colocar a teoria em prática.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63056" y="2148840"/>
            <a:ext cx="2514600" cy="3566160"/>
          </a:xfrm>
          <a:prstGeom prst="roundRect">
            <a:avLst>
              <a:gd name="adj" fmla="val 4364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7031736" y="2560320"/>
            <a:ext cx="777240" cy="7772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184" y="2715768"/>
            <a:ext cx="466344" cy="4663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27648" y="3566160"/>
            <a:ext cx="21854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online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364224" y="4023360"/>
            <a:ext cx="21122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dotnetfiddle.net e repl.it — para testar código sem instalar nada.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8924544" y="2148840"/>
            <a:ext cx="2514600" cy="3566160"/>
          </a:xfrm>
          <a:prstGeom prst="roundRect">
            <a:avLst>
              <a:gd name="adj" fmla="val 4364"/>
            </a:avLst>
          </a:prstGeom>
          <a:solidFill>
            <a:srgbClr val="F3F1FB"/>
          </a:solidFill>
          <a:ln/>
        </p:spPr>
      </p:sp>
      <p:sp>
        <p:nvSpPr>
          <p:cNvPr id="21" name="Shape 16"/>
          <p:cNvSpPr/>
          <p:nvPr/>
        </p:nvSpPr>
        <p:spPr>
          <a:xfrm>
            <a:off x="9793224" y="2560320"/>
            <a:ext cx="777240" cy="7772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8672" y="2715768"/>
            <a:ext cx="466344" cy="46634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89136" y="3566160"/>
            <a:ext cx="21854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9125712" y="4023360"/>
            <a:ext cx="21122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versionar seu código e entregar as atividades.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Mais um exemplo: condições encadeadas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280660" cy="3291840"/>
          </a:xfrm>
          <a:prstGeom prst="roundRect">
            <a:avLst>
              <a:gd name="adj" fmla="val 3889"/>
            </a:avLst>
          </a:prstGeom>
          <a:solidFill>
            <a:srgbClr val="232C63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2311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22311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7" name="Shape 5"/>
          <p:cNvSpPr/>
          <p:nvPr/>
        </p:nvSpPr>
        <p:spPr>
          <a:xfrm>
            <a:off x="1298448" y="22311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217170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Ingresso.cs</a:t>
            </a:r>
            <a:endParaRPr lang="en-US" sz="10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2157984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32688" y="276148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 =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2688" y="309067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temIngresso =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acompanhado =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74904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entra se tem ingresso E (maior OU acompanhado)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407822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podeEntrar = temIngresso &amp;&amp;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32688" y="44074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(idade &gt;= 18 || acompanhado);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32688" y="47365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Console.WriteLine(podeEntrar);</a:t>
            </a:r>
            <a:pPr indent="0" marL="0">
              <a:buNone/>
            </a:pPr>
            <a:r>
              <a:rPr lang="en-US" sz="12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// True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40780" y="2011680"/>
            <a:ext cx="5280660" cy="3291840"/>
          </a:xfrm>
          <a:prstGeom prst="roundRect">
            <a:avLst>
              <a:gd name="adj" fmla="val 3889"/>
            </a:avLst>
          </a:prstGeom>
          <a:solidFill>
            <a:srgbClr val="232C63"/>
          </a:solidFill>
          <a:ln/>
        </p:spPr>
      </p:sp>
      <p:sp>
        <p:nvSpPr>
          <p:cNvPr id="18" name="Shape 15"/>
          <p:cNvSpPr/>
          <p:nvPr/>
        </p:nvSpPr>
        <p:spPr>
          <a:xfrm>
            <a:off x="6496812" y="22311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7980" y="22311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20" name="Shape 17"/>
          <p:cNvSpPr/>
          <p:nvPr/>
        </p:nvSpPr>
        <p:spPr>
          <a:xfrm>
            <a:off x="6899148" y="22311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21" name="Text 18"/>
          <p:cNvSpPr/>
          <p:nvPr/>
        </p:nvSpPr>
        <p:spPr>
          <a:xfrm>
            <a:off x="7155180" y="217170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ingresso.py</a:t>
            </a:r>
            <a:endParaRPr lang="en-US" sz="105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157984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533388" y="276148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 =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6533388" y="309067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tem_ingresso =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533388" y="341985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acompanhado =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6533388" y="374904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entra se tem ingresso E (maior OU acompanhado)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533388" y="407822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pode_entrar = tem_ingresso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6533388" y="44074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idade &gt;= 18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acompanhado)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6533388" y="47365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print(pode_entrar)</a:t>
            </a:r>
            <a:pPr indent="0" marL="0">
              <a:buNone/>
            </a:pPr>
            <a:r>
              <a:rPr lang="en-US" sz="12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True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40080" y="544068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232C63"/>
          </a:solidFill>
          <a:ln/>
        </p:spPr>
      </p:sp>
      <p:sp>
        <p:nvSpPr>
          <p:cNvPr id="31" name="Shape 27"/>
          <p:cNvSpPr/>
          <p:nvPr/>
        </p:nvSpPr>
        <p:spPr>
          <a:xfrm>
            <a:off x="868680" y="5641848"/>
            <a:ext cx="457200" cy="45720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742432"/>
            <a:ext cx="256032" cy="256032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1508760" y="5596128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você mesmo</a:t>
            </a:r>
            <a:endParaRPr lang="en-US" sz="1350" dirty="0"/>
          </a:p>
        </p:txBody>
      </p:sp>
      <p:sp>
        <p:nvSpPr>
          <p:cNvPr id="34" name="Text 29"/>
          <p:cNvSpPr/>
          <p:nvPr/>
        </p:nvSpPr>
        <p:spPr>
          <a:xfrm>
            <a:off x="1508760" y="58978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fórmula lógica, com parênteses, nas duas linguagens. Rode os dois trechos e mude acompanhado para True (Python) ou true (C#) — no VS Code, no .NET Fiddle ou no replit.</a:t>
            </a:r>
            <a:endParaRPr lang="en-US" sz="1150" dirty="0"/>
          </a:p>
        </p:txBody>
      </p:sp>
      <p:sp>
        <p:nvSpPr>
          <p:cNvPr id="35" name="Text 3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tirar dúvidas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03520" cy="4434840"/>
          </a:xfrm>
          <a:prstGeom prst="roundRect">
            <a:avLst>
              <a:gd name="adj" fmla="val 2474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112264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606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perguntar, tente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306324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Reler a seção da aula relacionada à sua dúvida.</a:t>
            </a:r>
            <a:endParaRPr lang="en-US" sz="1350" dirty="0"/>
          </a:p>
          <a:p>
            <a:pPr marL="177800" indent="-1778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o código de exemplo você mesmo, alterando os valores.</a:t>
            </a:r>
            <a:endParaRPr lang="en-US" sz="1350" dirty="0"/>
          </a:p>
          <a:p>
            <a:pPr marL="177800" indent="-1778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 a dúvida de forma específica (“por que X não dá Y?”), não genérica (“não entendi nada”).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2084832"/>
          </a:xfrm>
          <a:prstGeom prst="roundRect">
            <a:avLst>
              <a:gd name="adj" fmla="val 5263"/>
            </a:avLst>
          </a:prstGeom>
          <a:solidFill>
            <a:srgbClr val="141B41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1947672"/>
            <a:ext cx="512064" cy="512064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209397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1947672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de conteúdo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37960" y="260604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 o professor nos horários de atendimento ou pelo canal oficial da turma.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63640" y="4023360"/>
            <a:ext cx="5257800" cy="2084832"/>
          </a:xfrm>
          <a:prstGeom prst="roundRect">
            <a:avLst>
              <a:gd name="adj" fmla="val 5263"/>
            </a:avLst>
          </a:prstGeom>
          <a:solidFill>
            <a:srgbClr val="141B41"/>
          </a:solidFill>
          <a:ln/>
        </p:spPr>
      </p:sp>
      <p:sp>
        <p:nvSpPr>
          <p:cNvPr id="15" name="Shape 11"/>
          <p:cNvSpPr/>
          <p:nvPr/>
        </p:nvSpPr>
        <p:spPr>
          <a:xfrm>
            <a:off x="6537960" y="4279392"/>
            <a:ext cx="512064" cy="512064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425696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23760" y="4279392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de entrega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6537960" y="493776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Confira sempre a página da aula correspondente antes de perguntar — o passo a passo costuma estar lá.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 PRÓXIMO ENCONTRO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 de preparação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1168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01768" y="199339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02352" y="209397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257860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o VS Code e o SDK do .NET (C#)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63640" y="17373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01168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25328" y="199339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209397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37960" y="257860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(ou confirmar) uma conta no GitHub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640080" y="393192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15" name="Shape 11"/>
          <p:cNvSpPr/>
          <p:nvPr/>
        </p:nvSpPr>
        <p:spPr>
          <a:xfrm>
            <a:off x="914400" y="420624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001768" y="418795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4288536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14400" y="477316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o exemplo do if em C# ou Python e testar com estudou = false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263640" y="393192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</p:sp>
      <p:sp>
        <p:nvSpPr>
          <p:cNvPr id="20" name="Shape 15"/>
          <p:cNvSpPr/>
          <p:nvPr/>
        </p:nvSpPr>
        <p:spPr>
          <a:xfrm>
            <a:off x="6537960" y="420624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0625328" y="418795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4288536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537960" y="477316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a visão geral do cronograma da disciplina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38728" cy="42519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0939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532888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96112" y="2971800"/>
            <a:ext cx="302666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ROSEN, K. H. Matemática Discreta e suas Aplicações. 7. ed. — livro-texto de referência do curso.</a:t>
            </a:r>
            <a:endParaRPr lang="en-US" sz="1100" dirty="0"/>
          </a:p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GERSTING, J. L. Fundamentos Matemáticos para a Ciência da Computação.</a:t>
            </a:r>
            <a:endParaRPr lang="en-US" sz="1100" dirty="0"/>
          </a:p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SCHEINERMAN, E. R. Matemática Discreta: uma introdução.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79976" y="1691640"/>
            <a:ext cx="3538728" cy="42519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4636008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2093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36008" y="2532888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e prática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36008" y="2971800"/>
            <a:ext cx="302666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Learn — documentação oficial de C#: learn.microsoft.com/dotnet/csharp</a:t>
            </a:r>
            <a:endParaRPr lang="en-US" sz="1100" dirty="0"/>
          </a:p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Fiddle — testar C# no navegador: dotnetfiddle.net</a:t>
            </a:r>
            <a:endParaRPr lang="en-US" sz="1100" dirty="0"/>
          </a:p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de instalação da turma — VS Code + .NET SDK.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119872" y="1691640"/>
            <a:ext cx="3538728" cy="42519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5" name="Shape 11"/>
          <p:cNvSpPr/>
          <p:nvPr/>
        </p:nvSpPr>
        <p:spPr>
          <a:xfrm>
            <a:off x="8375904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2093976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75904" y="2532888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375904" y="2971800"/>
            <a:ext cx="302666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em Vídeo (Gustavo Guanabara) — série de Lógica de Programação, ótima para começar do zero.</a:t>
            </a:r>
            <a:endParaRPr lang="en-US" sz="1100" dirty="0"/>
          </a:p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CS50 (Harvard) — introdução a como computadores representam e processam informação.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5156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197864"/>
            <a:ext cx="484632" cy="484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70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PARADA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600200" y="14630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Ativa — Início de Semestre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60604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Vamos acertar ferramentas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dúvidas de ementa.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40080" y="41148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disso, começamos de verdade com Fundamentos de Lógica.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Aula 01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2026-08-04T20:26:26Z</dcterms:created>
  <dcterms:modified xsi:type="dcterms:W3CDTF">2026-08-04T20:26:26Z</dcterms:modified>
</cp:coreProperties>
</file>