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 autoAdjust="0"/>
  </p:normalViewPr>
  <p:slideViewPr>
    <p:cSldViewPr snapToGrid="0" snapToObjects="1">
      <p:cViewPr varScale="1">
        <p:scale>
          <a:sx n="76" d="100"/>
          <a:sy n="76" d="100"/>
        </p:scale>
        <p:origin x="922" y="-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003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 à disciplina. Apresentar o professor, o objetivo geral da UC e o tom do semestre antes de entrar nos detalhes.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os quatro tópicos do roteiro rapidamente — é só um mapa do que vem a seguir, sem entrar em detalhes ainda.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os quatro itens da direita são o fio condutor do semestre: lógica -&gt; álgebra booleana -&gt; circuitos -&gt; grafos/árvores -&gt; estruturas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os dois exemplos em tempo real (VS Code para C#, .NET Fiddle ou terminal para Python), alterando estudou/dormiu_bem para false e mostrando a saída mudar nas duas linguagens.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glossário como referência rápida sempre que alternar entre os exemplos em Python e C# no resto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para a turma identificar, em voz alta, onde já viram cada um desses exemplos nesta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A1 e A3 têm material próprio; aqui é só o mapa de conteúdo e prática semana 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Voltar a esta lista no fim da unidade como checklist de autoavaliação.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 tempo, mostrar rapidamente o dotnetfiddle.net funcionando ao vivo, como alternativa a quem ainda não instalou o VS Code. Python aparece nesta aula só como comparação de sintaxe — a ferramenta principal do curso é C#.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Convidar um voluntário a rodar isso ao vivo — um em C# no VS Code, outro em Python — e comparar as duas saídas testando diferentes combinações de idade/acompanhado.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Divulgar o canal oficial (Classroom/Discord/etc.) e os horários de atendimento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2 minutos no início da próxima aula para checar quem concluiu cada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materiais são de apoio — não é necessário ler tudo antes da próxima aula, só o essencial do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o checklist da próxima aula e abrindo espaço para últimas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692640" y="-320040"/>
            <a:ext cx="26517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01</a:t>
            </a:r>
            <a:endParaRPr lang="pt-BR" sz="64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apresentação da UC</a:t>
            </a:r>
            <a:endParaRPr lang="pt-BR" sz="25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formal, estruturas discretas e o código que sustenta tudo o que você vai construir.</a:t>
            </a:r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pt-BR" sz="1250" b="1" kern="0" spc="100" noProof="0" dirty="0" err="1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pt-BR" sz="1250" b="1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C#   ·   </a:t>
            </a:r>
            <a:r>
              <a:rPr lang="pt-BR" sz="1250" b="1" kern="0" spc="100" noProof="0" dirty="0" err="1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pt-BR" sz="1250" b="1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GitHub</a:t>
            </a:r>
            <a:endParaRPr lang="pt-BR" sz="1250" noProof="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CFA3D17-F799-D0FF-E97D-D1F262C72B02}"/>
              </a:ext>
            </a:extLst>
          </p:cNvPr>
          <p:cNvSpPr/>
          <p:nvPr/>
        </p:nvSpPr>
        <p:spPr>
          <a:xfrm>
            <a:off x="3688080" y="5669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400" i="1" noProof="0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Paiva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· ROTEIRO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8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pt-BR" sz="3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2082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47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UC</a:t>
            </a:r>
            <a:endParaRPr lang="pt-BR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1508760" y="21854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 Unidade Curricular e por que ela existe no seu curso.</a:t>
            </a:r>
            <a:endParaRPr lang="pt-BR" sz="1350" noProof="0"/>
          </a:p>
        </p:txBody>
      </p:sp>
      <p:sp>
        <p:nvSpPr>
          <p:cNvPr id="8" name="Shape 5"/>
          <p:cNvSpPr/>
          <p:nvPr/>
        </p:nvSpPr>
        <p:spPr>
          <a:xfrm>
            <a:off x="640080" y="2990088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1363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962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do semestre</a:t>
            </a:r>
            <a:endParaRPr lang="pt-BR" sz="1800" noProof="0" dirty="0"/>
          </a:p>
        </p:txBody>
      </p:sp>
      <p:sp>
        <p:nvSpPr>
          <p:cNvPr id="11" name="Text 7"/>
          <p:cNvSpPr/>
          <p:nvPr/>
        </p:nvSpPr>
        <p:spPr>
          <a:xfrm>
            <a:off x="1508760" y="33009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aulas, atividades e a atividade em grupo se encaixam no calendário.</a:t>
            </a:r>
            <a:endParaRPr lang="pt-BR" sz="135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4105656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2519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078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que vamos usar</a:t>
            </a:r>
            <a:endParaRPr lang="pt-BR" sz="1800" noProof="0" dirty="0"/>
          </a:p>
        </p:txBody>
      </p:sp>
      <p:sp>
        <p:nvSpPr>
          <p:cNvPr id="15" name="Text 10"/>
          <p:cNvSpPr/>
          <p:nvPr/>
        </p:nvSpPr>
        <p:spPr>
          <a:xfrm>
            <a:off x="1508760" y="44165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pt-BR" sz="135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C# e ferramentas online para transformar teoria em código.</a:t>
            </a:r>
            <a:endParaRPr lang="pt-BR" sz="135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5221224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3675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193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entregas</a:t>
            </a:r>
            <a:endParaRPr lang="pt-BR" sz="1800" noProof="0" dirty="0"/>
          </a:p>
        </p:txBody>
      </p:sp>
      <p:sp>
        <p:nvSpPr>
          <p:cNvPr id="19" name="Text 13"/>
          <p:cNvSpPr/>
          <p:nvPr/>
        </p:nvSpPr>
        <p:spPr>
          <a:xfrm>
            <a:off x="1508760" y="5532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tirar dúvidas de conteúdo e onde entregar as atividades.</a:t>
            </a:r>
            <a:endParaRPr lang="pt-BR" sz="1350" noProof="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PORQUÊ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394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pt-BR" sz="29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“Matemática</a:t>
            </a:r>
            <a:endParaRPr lang="pt-BR" sz="2900" noProof="0" dirty="0"/>
          </a:p>
          <a:p>
            <a:pPr marL="0" indent="0">
              <a:lnSpc>
                <a:spcPts val="3400"/>
              </a:lnSpc>
              <a:buNone/>
            </a:pPr>
            <a:r>
              <a:rPr lang="pt-BR" sz="29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Computacional Aplicada”?</a:t>
            </a:r>
            <a:endParaRPr lang="pt-BR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pt-BR" sz="15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que você vai construir na sua carreira — de um app simples a um motor de busca — é, por baixo dos panos, lógica formal e estruturas discretas rodando em silício.</a:t>
            </a:r>
            <a:endParaRPr lang="pt-BR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pt-BR" sz="15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UC existe para te dar o vocabulário e o raciocínio que sustentam tudo isso — e que vão aparecer de novo nas próximas disciplinas do curso.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355080" y="777240"/>
            <a:ext cx="5212080" cy="5532120"/>
          </a:xfrm>
          <a:prstGeom prst="roundRect">
            <a:avLst>
              <a:gd name="adj" fmla="val 210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6675120" y="1097280"/>
            <a:ext cx="512064" cy="512064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124358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10515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</a:t>
            </a:r>
            <a:r>
              <a:rPr lang="pt-BR" sz="145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funciona</a:t>
            </a:r>
            <a:endParaRPr lang="pt-BR" sz="1450" noProof="0" dirty="0"/>
          </a:p>
        </p:txBody>
      </p:sp>
      <p:sp>
        <p:nvSpPr>
          <p:cNvPr id="10" name="Text 7"/>
          <p:cNvSpPr/>
          <p:nvPr/>
        </p:nvSpPr>
        <p:spPr>
          <a:xfrm>
            <a:off x="7406640" y="153619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pt-BR" sz="1200" noProof="0" dirty="0"/>
          </a:p>
        </p:txBody>
      </p:sp>
      <p:sp>
        <p:nvSpPr>
          <p:cNvPr id="11" name="Shape 8"/>
          <p:cNvSpPr/>
          <p:nvPr/>
        </p:nvSpPr>
        <p:spPr>
          <a:xfrm>
            <a:off x="6675120" y="2395728"/>
            <a:ext cx="512064" cy="512064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5420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3500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um processador soma números</a:t>
            </a:r>
            <a:endParaRPr lang="pt-BR" sz="1450" noProof="0" dirty="0"/>
          </a:p>
        </p:txBody>
      </p:sp>
      <p:sp>
        <p:nvSpPr>
          <p:cNvPr id="14" name="Text 10"/>
          <p:cNvSpPr/>
          <p:nvPr/>
        </p:nvSpPr>
        <p:spPr>
          <a:xfrm>
            <a:off x="7406640" y="28346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 e circuitos digitais</a:t>
            </a:r>
            <a:endParaRPr lang="pt-BR" sz="1200" noProof="0" dirty="0"/>
          </a:p>
        </p:txBody>
      </p:sp>
      <p:sp>
        <p:nvSpPr>
          <p:cNvPr id="15" name="Shape 11"/>
          <p:cNvSpPr/>
          <p:nvPr/>
        </p:nvSpPr>
        <p:spPr>
          <a:xfrm>
            <a:off x="6675120" y="3694176"/>
            <a:ext cx="512064" cy="512064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38404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06640" y="364845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redes e mapas viram código</a:t>
            </a:r>
            <a:endParaRPr lang="pt-BR" sz="1450" noProof="0" dirty="0"/>
          </a:p>
        </p:txBody>
      </p:sp>
      <p:sp>
        <p:nvSpPr>
          <p:cNvPr id="18" name="Text 13"/>
          <p:cNvSpPr/>
          <p:nvPr/>
        </p:nvSpPr>
        <p:spPr>
          <a:xfrm>
            <a:off x="7406640" y="41330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e árvores</a:t>
            </a:r>
            <a:endParaRPr lang="pt-BR" sz="1200" noProof="0" dirty="0"/>
          </a:p>
        </p:txBody>
      </p:sp>
      <p:sp>
        <p:nvSpPr>
          <p:cNvPr id="19" name="Shape 14"/>
          <p:cNvSpPr/>
          <p:nvPr/>
        </p:nvSpPr>
        <p:spPr>
          <a:xfrm>
            <a:off x="6675120" y="4992624"/>
            <a:ext cx="512064" cy="512064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5138928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494690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isso conecta com o que vem depois</a:t>
            </a:r>
            <a:endParaRPr lang="pt-BR" sz="1450" noProof="0" dirty="0"/>
          </a:p>
        </p:txBody>
      </p:sp>
      <p:sp>
        <p:nvSpPr>
          <p:cNvPr id="22" name="Text 16"/>
          <p:cNvSpPr/>
          <p:nvPr/>
        </p:nvSpPr>
        <p:spPr>
          <a:xfrm>
            <a:off x="7406640" y="5431536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pt-BR" sz="1200" noProof="0" dirty="0"/>
          </a:p>
        </p:txBody>
      </p:sp>
      <p:sp>
        <p:nvSpPr>
          <p:cNvPr id="23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SABE MAIS DO QUE PENSA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usa isso, mesmo sem saber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4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vez que você escreve um </a:t>
            </a:r>
            <a:r>
              <a:rPr lang="pt-BR" sz="14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pt-BR" sz="14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pt-BR" sz="1400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pt-BR" sz="14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&amp;&amp;,</a:t>
            </a:r>
            <a:r>
              <a:rPr lang="pt-BR" sz="14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está avaliando uma proposição composta — só que em sintaxes diferentes. Esta UC coloca nome e rigor no que você já intui, em qualquer linguagem.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96112" y="22768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1097280" y="22768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1298448" y="22768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1554480" y="22174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Programa.cs</a:t>
            </a:r>
            <a:endParaRPr lang="pt-BR" sz="1050" noProof="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20370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92608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3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estudou = </a:t>
            </a: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350" noProof="0" dirty="0"/>
          </a:p>
        </p:txBody>
      </p:sp>
      <p:sp>
        <p:nvSpPr>
          <p:cNvPr id="12" name="Text 9"/>
          <p:cNvSpPr/>
          <p:nvPr/>
        </p:nvSpPr>
        <p:spPr>
          <a:xfrm>
            <a:off x="932688" y="329184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3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3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dormiuBem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350" noProof="0" dirty="0"/>
          </a:p>
        </p:txBody>
      </p:sp>
      <p:sp>
        <p:nvSpPr>
          <p:cNvPr id="13" name="Text 10"/>
          <p:cNvSpPr/>
          <p:nvPr/>
        </p:nvSpPr>
        <p:spPr>
          <a:xfrm>
            <a:off x="932688" y="365760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350" noProof="0" dirty="0"/>
          </a:p>
        </p:txBody>
      </p:sp>
      <p:sp>
        <p:nvSpPr>
          <p:cNvPr id="14" name="Text 11"/>
          <p:cNvSpPr/>
          <p:nvPr/>
        </p:nvSpPr>
        <p:spPr>
          <a:xfrm>
            <a:off x="932688" y="402336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pt-BR" sz="13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(estudou &amp;&amp; </a:t>
            </a:r>
            <a:r>
              <a:rPr lang="pt-BR" sz="13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dormiuBem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350" noProof="0" dirty="0"/>
          </a:p>
        </p:txBody>
      </p:sp>
      <p:sp>
        <p:nvSpPr>
          <p:cNvPr id="15" name="Text 12"/>
          <p:cNvSpPr/>
          <p:nvPr/>
        </p:nvSpPr>
        <p:spPr>
          <a:xfrm>
            <a:off x="932688" y="438912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pt-BR" sz="1350" noProof="0" dirty="0"/>
          </a:p>
        </p:txBody>
      </p:sp>
      <p:sp>
        <p:nvSpPr>
          <p:cNvPr id="16" name="Text 13"/>
          <p:cNvSpPr/>
          <p:nvPr/>
        </p:nvSpPr>
        <p:spPr>
          <a:xfrm>
            <a:off x="932688" y="475488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3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350" noProof="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"Passou!"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pt-BR" sz="1350" noProof="0" dirty="0"/>
          </a:p>
        </p:txBody>
      </p:sp>
      <p:sp>
        <p:nvSpPr>
          <p:cNvPr id="17" name="Text 14"/>
          <p:cNvSpPr/>
          <p:nvPr/>
        </p:nvSpPr>
        <p:spPr>
          <a:xfrm>
            <a:off x="932688" y="512064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pt-BR" sz="1350" noProof="0" dirty="0"/>
          </a:p>
        </p:txBody>
      </p:sp>
      <p:sp>
        <p:nvSpPr>
          <p:cNvPr id="18" name="Shape 15"/>
          <p:cNvSpPr/>
          <p:nvPr/>
        </p:nvSpPr>
        <p:spPr>
          <a:xfrm>
            <a:off x="6240780" y="205740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6"/>
          <p:cNvSpPr/>
          <p:nvPr/>
        </p:nvSpPr>
        <p:spPr>
          <a:xfrm>
            <a:off x="6496812" y="22768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7"/>
          <p:cNvSpPr/>
          <p:nvPr/>
        </p:nvSpPr>
        <p:spPr>
          <a:xfrm>
            <a:off x="6697980" y="22768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8"/>
          <p:cNvSpPr/>
          <p:nvPr/>
        </p:nvSpPr>
        <p:spPr>
          <a:xfrm>
            <a:off x="6899148" y="22768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19"/>
          <p:cNvSpPr/>
          <p:nvPr/>
        </p:nvSpPr>
        <p:spPr>
          <a:xfrm>
            <a:off x="7155180" y="22174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programa.py</a:t>
            </a:r>
            <a:endParaRPr lang="pt-BR" sz="1050" noProof="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203704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33388" y="292608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estudou = </a:t>
            </a: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350" noProof="0" dirty="0"/>
          </a:p>
        </p:txBody>
      </p:sp>
      <p:sp>
        <p:nvSpPr>
          <p:cNvPr id="25" name="Text 21"/>
          <p:cNvSpPr/>
          <p:nvPr/>
        </p:nvSpPr>
        <p:spPr>
          <a:xfrm>
            <a:off x="6533388" y="329184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dormiu_bem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350" noProof="0" dirty="0"/>
          </a:p>
        </p:txBody>
      </p:sp>
      <p:sp>
        <p:nvSpPr>
          <p:cNvPr id="26" name="Text 22"/>
          <p:cNvSpPr/>
          <p:nvPr/>
        </p:nvSpPr>
        <p:spPr>
          <a:xfrm>
            <a:off x="6533388" y="365760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350" noProof="0" dirty="0"/>
          </a:p>
        </p:txBody>
      </p:sp>
      <p:sp>
        <p:nvSpPr>
          <p:cNvPr id="27" name="Text 23"/>
          <p:cNvSpPr/>
          <p:nvPr/>
        </p:nvSpPr>
        <p:spPr>
          <a:xfrm>
            <a:off x="6533388" y="402336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pt-BR" sz="13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estudou </a:t>
            </a:r>
            <a:r>
              <a:rPr lang="pt-BR" sz="135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35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35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dormiu_bem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pt-BR" sz="1350" noProof="0" dirty="0"/>
          </a:p>
        </p:txBody>
      </p:sp>
      <p:sp>
        <p:nvSpPr>
          <p:cNvPr id="28" name="Text 24"/>
          <p:cNvSpPr/>
          <p:nvPr/>
        </p:nvSpPr>
        <p:spPr>
          <a:xfrm>
            <a:off x="6533388" y="438912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pt-BR" sz="1350" noProof="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"Passou!"</a:t>
            </a: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350" noProof="0" dirty="0"/>
          </a:p>
        </p:txBody>
      </p:sp>
      <p:sp>
        <p:nvSpPr>
          <p:cNvPr id="29" name="Text 25"/>
          <p:cNvSpPr/>
          <p:nvPr/>
        </p:nvSpPr>
        <p:spPr>
          <a:xfrm>
            <a:off x="6533388" y="475488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pt-BR" sz="1350" noProof="0" dirty="0"/>
          </a:p>
        </p:txBody>
      </p:sp>
      <p:sp>
        <p:nvSpPr>
          <p:cNvPr id="30" name="Text 26"/>
          <p:cNvSpPr/>
          <p:nvPr/>
        </p:nvSpPr>
        <p:spPr>
          <a:xfrm>
            <a:off x="6533388" y="5120640"/>
            <a:ext cx="4732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mesmo resultado, sintaxe mais curta</a:t>
            </a:r>
            <a:endParaRPr lang="pt-BR" sz="1350" noProof="0" dirty="0"/>
          </a:p>
        </p:txBody>
      </p:sp>
      <p:sp>
        <p:nvSpPr>
          <p:cNvPr id="31" name="Text 27"/>
          <p:cNvSpPr/>
          <p:nvPr/>
        </p:nvSpPr>
        <p:spPr>
          <a:xfrm>
            <a:off x="640080" y="6099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proposicional, duas sintaxes: chaves e ; em C# — dois pontos e indentação em Python.</a:t>
            </a:r>
            <a:endParaRPr lang="pt-BR" sz="1250" noProof="0" dirty="0"/>
          </a:p>
        </p:txBody>
      </p:sp>
      <p:sp>
        <p:nvSpPr>
          <p:cNvPr id="32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SINTAXES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linguagens, a mesma lógica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vai ver os mesmos exemplos em Python e em C# ao longo da aula — este é o glossário rápido de tradução entre as duas sintaxes.</a:t>
            </a:r>
            <a:endParaRPr lang="pt-B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pt-B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3931920" y="1819656"/>
            <a:ext cx="347472" cy="34747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89280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7083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pt-BR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7589520" y="1819656"/>
            <a:ext cx="347472" cy="34747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8928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2843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pt-BR" sz="120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2331720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9"/>
          <p:cNvSpPr/>
          <p:nvPr/>
        </p:nvSpPr>
        <p:spPr>
          <a:xfrm>
            <a:off x="868680" y="23317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/ falso</a:t>
            </a:r>
            <a:endParaRPr lang="pt-BR" sz="1300" noProof="0" dirty="0"/>
          </a:p>
        </p:txBody>
      </p:sp>
      <p:sp>
        <p:nvSpPr>
          <p:cNvPr id="14" name="Text 10"/>
          <p:cNvSpPr/>
          <p:nvPr/>
        </p:nvSpPr>
        <p:spPr>
          <a:xfrm>
            <a:off x="3931920" y="233172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False</a:t>
            </a:r>
            <a:endParaRPr lang="pt-B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7589520" y="23317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false</a:t>
            </a:r>
            <a:endParaRPr lang="pt-B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640080" y="2935224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3"/>
          <p:cNvSpPr/>
          <p:nvPr/>
        </p:nvSpPr>
        <p:spPr>
          <a:xfrm>
            <a:off x="868680" y="29352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OU / NÃO</a:t>
            </a:r>
            <a:endParaRPr lang="pt-B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3931920" y="293522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</a:t>
            </a:r>
            <a:r>
              <a:rPr lang="pt-BR" sz="12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 </a:t>
            </a:r>
            <a:r>
              <a:rPr lang="pt-BR" sz="12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pt-BR" sz="1200" noProof="0" dirty="0"/>
          </a:p>
        </p:txBody>
      </p:sp>
      <p:sp>
        <p:nvSpPr>
          <p:cNvPr id="19" name="Text 15"/>
          <p:cNvSpPr/>
          <p:nvPr/>
        </p:nvSpPr>
        <p:spPr>
          <a:xfrm>
            <a:off x="7589520" y="293522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/  ||  /  !</a:t>
            </a:r>
            <a:endParaRPr lang="pt-BR" sz="1200" noProof="0" dirty="0"/>
          </a:p>
        </p:txBody>
      </p:sp>
      <p:sp>
        <p:nvSpPr>
          <p:cNvPr id="20" name="Shape 16"/>
          <p:cNvSpPr/>
          <p:nvPr/>
        </p:nvSpPr>
        <p:spPr>
          <a:xfrm>
            <a:off x="640080" y="3538728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7"/>
          <p:cNvSpPr/>
          <p:nvPr/>
        </p:nvSpPr>
        <p:spPr>
          <a:xfrm>
            <a:off x="868680" y="35387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condicional</a:t>
            </a:r>
            <a:endParaRPr lang="pt-BR" sz="1300" noProof="0" dirty="0"/>
          </a:p>
        </p:txBody>
      </p:sp>
      <p:sp>
        <p:nvSpPr>
          <p:cNvPr id="22" name="Text 18"/>
          <p:cNvSpPr/>
          <p:nvPr/>
        </p:nvSpPr>
        <p:spPr>
          <a:xfrm>
            <a:off x="3931920" y="35387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 indentação</a:t>
            </a:r>
            <a:endParaRPr lang="pt-BR" sz="1200" noProof="0" dirty="0"/>
          </a:p>
        </p:txBody>
      </p:sp>
      <p:sp>
        <p:nvSpPr>
          <p:cNvPr id="23" name="Text 19"/>
          <p:cNvSpPr/>
          <p:nvPr/>
        </p:nvSpPr>
        <p:spPr>
          <a:xfrm>
            <a:off x="7589520" y="35387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 chaves</a:t>
            </a:r>
            <a:endParaRPr lang="pt-BR" sz="1200" noProof="0" dirty="0"/>
          </a:p>
        </p:txBody>
      </p:sp>
      <p:sp>
        <p:nvSpPr>
          <p:cNvPr id="24" name="Shape 20"/>
          <p:cNvSpPr/>
          <p:nvPr/>
        </p:nvSpPr>
        <p:spPr>
          <a:xfrm>
            <a:off x="640080" y="4142232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1"/>
          <p:cNvSpPr/>
          <p:nvPr/>
        </p:nvSpPr>
        <p:spPr>
          <a:xfrm>
            <a:off x="868680" y="41422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na tela</a:t>
            </a:r>
            <a:endParaRPr lang="pt-BR" sz="1300" noProof="0" dirty="0"/>
          </a:p>
        </p:txBody>
      </p:sp>
      <p:sp>
        <p:nvSpPr>
          <p:cNvPr id="26" name="Text 22"/>
          <p:cNvSpPr/>
          <p:nvPr/>
        </p:nvSpPr>
        <p:spPr>
          <a:xfrm>
            <a:off x="3931920" y="414223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print("texto")</a:t>
            </a:r>
            <a:endParaRPr lang="pt-B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7589520" y="41422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("texto")</a:t>
            </a:r>
            <a:endParaRPr lang="pt-BR" sz="1200" noProof="0" dirty="0"/>
          </a:p>
        </p:txBody>
      </p:sp>
      <p:sp>
        <p:nvSpPr>
          <p:cNvPr id="28" name="Shape 24"/>
          <p:cNvSpPr/>
          <p:nvPr/>
        </p:nvSpPr>
        <p:spPr>
          <a:xfrm>
            <a:off x="640080" y="4745736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5"/>
          <p:cNvSpPr/>
          <p:nvPr/>
        </p:nvSpPr>
        <p:spPr>
          <a:xfrm>
            <a:off x="868680" y="474573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</a:t>
            </a:r>
            <a:endParaRPr lang="pt-BR" sz="1300" noProof="0" dirty="0"/>
          </a:p>
        </p:txBody>
      </p:sp>
      <p:sp>
        <p:nvSpPr>
          <p:cNvPr id="30" name="Text 26"/>
          <p:cNvSpPr/>
          <p:nvPr/>
        </p:nvSpPr>
        <p:spPr>
          <a:xfrm>
            <a:off x="3931920" y="474573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comentário</a:t>
            </a:r>
            <a:endParaRPr lang="pt-BR" sz="1200" noProof="0" dirty="0"/>
          </a:p>
        </p:txBody>
      </p:sp>
      <p:sp>
        <p:nvSpPr>
          <p:cNvPr id="31" name="Text 27"/>
          <p:cNvSpPr/>
          <p:nvPr/>
        </p:nvSpPr>
        <p:spPr>
          <a:xfrm>
            <a:off x="7589520" y="474573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comentário</a:t>
            </a:r>
            <a:endParaRPr lang="pt-BR" sz="1200" noProof="0" dirty="0"/>
          </a:p>
        </p:txBody>
      </p:sp>
      <p:sp>
        <p:nvSpPr>
          <p:cNvPr id="32" name="Shape 28"/>
          <p:cNvSpPr/>
          <p:nvPr/>
        </p:nvSpPr>
        <p:spPr>
          <a:xfrm>
            <a:off x="640080" y="5349240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3" name="Text 29"/>
          <p:cNvSpPr/>
          <p:nvPr/>
        </p:nvSpPr>
        <p:spPr>
          <a:xfrm>
            <a:off x="868680" y="53492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instrução</a:t>
            </a:r>
            <a:endParaRPr lang="pt-BR" sz="1300" noProof="0" dirty="0"/>
          </a:p>
        </p:txBody>
      </p:sp>
      <p:sp>
        <p:nvSpPr>
          <p:cNvPr id="34" name="Text 30"/>
          <p:cNvSpPr/>
          <p:nvPr/>
        </p:nvSpPr>
        <p:spPr>
          <a:xfrm>
            <a:off x="3931920" y="534924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quebra de linha</a:t>
            </a:r>
            <a:endParaRPr lang="pt-BR" sz="1200" noProof="0" dirty="0"/>
          </a:p>
        </p:txBody>
      </p:sp>
      <p:sp>
        <p:nvSpPr>
          <p:cNvPr id="35" name="Text 31"/>
          <p:cNvSpPr/>
          <p:nvPr/>
        </p:nvSpPr>
        <p:spPr>
          <a:xfrm>
            <a:off x="7589520" y="53492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(ponto e vírgula)</a:t>
            </a:r>
            <a:endParaRPr lang="pt-BR" sz="1200" noProof="0" dirty="0"/>
          </a:p>
        </p:txBody>
      </p:sp>
      <p:sp>
        <p:nvSpPr>
          <p:cNvPr id="36" name="Text 32"/>
          <p:cNvSpPr/>
          <p:nvPr/>
        </p:nvSpPr>
        <p:spPr>
          <a:xfrm>
            <a:off x="640080" y="60441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volte a este quadro sempre que trocar de exemplo entre as duas linguagens.</a:t>
            </a:r>
            <a:endParaRPr lang="pt-BR" sz="1200" noProof="0" dirty="0"/>
          </a:p>
        </p:txBody>
      </p:sp>
      <p:sp>
        <p:nvSpPr>
          <p:cNvPr id="37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QUADRO PARA O MUNDO REAL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cada assunto aparece fora da sala de aula</a:t>
            </a:r>
            <a:endParaRPr lang="pt-BR" sz="27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22960" y="1773936"/>
            <a:ext cx="493776" cy="49377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92024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pt-BR" sz="1500" noProof="0" dirty="0"/>
          </a:p>
        </p:txBody>
      </p:sp>
      <p:sp>
        <p:nvSpPr>
          <p:cNvPr id="8" name="Text 5"/>
          <p:cNvSpPr/>
          <p:nvPr/>
        </p:nvSpPr>
        <p:spPr>
          <a:xfrm>
            <a:off x="4480560" y="1691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validação de formulário — </a:t>
            </a:r>
            <a:r>
              <a:rPr lang="pt-BR" sz="13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(idade &gt;= 18 &amp;&amp; </a:t>
            </a:r>
            <a:r>
              <a:rPr lang="pt-BR" sz="13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cpfValido</a:t>
            </a: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2478024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822960" y="2560320"/>
            <a:ext cx="493776" cy="49377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70662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47802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</a:t>
            </a:r>
            <a:endParaRPr lang="pt-BR" sz="1500" noProof="0" dirty="0"/>
          </a:p>
        </p:txBody>
      </p:sp>
      <p:sp>
        <p:nvSpPr>
          <p:cNvPr id="13" name="Text 9"/>
          <p:cNvSpPr/>
          <p:nvPr/>
        </p:nvSpPr>
        <p:spPr>
          <a:xfrm>
            <a:off x="4480560" y="2478024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banco de dados — WHERE ativo = </a:t>
            </a:r>
            <a:r>
              <a:rPr lang="pt-BR" sz="13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saldo &gt; 0</a:t>
            </a:r>
            <a:endParaRPr lang="pt-BR" sz="1300" noProof="0" dirty="0"/>
          </a:p>
        </p:txBody>
      </p:sp>
      <p:sp>
        <p:nvSpPr>
          <p:cNvPr id="14" name="Shape 10"/>
          <p:cNvSpPr/>
          <p:nvPr/>
        </p:nvSpPr>
        <p:spPr>
          <a:xfrm>
            <a:off x="640080" y="3264408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822960" y="3346704"/>
            <a:ext cx="493776" cy="49377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49300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644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digitais</a:t>
            </a:r>
            <a:endParaRPr lang="pt-BR" sz="1500" noProof="0" dirty="0"/>
          </a:p>
        </p:txBody>
      </p:sp>
      <p:sp>
        <p:nvSpPr>
          <p:cNvPr id="18" name="Text 13"/>
          <p:cNvSpPr/>
          <p:nvPr/>
        </p:nvSpPr>
        <p:spPr>
          <a:xfrm>
            <a:off x="4480560" y="326440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processador do seu celular — portas lógicas, literalmente, em silício</a:t>
            </a:r>
            <a:endParaRPr lang="pt-BR" sz="1300" noProof="0" dirty="0"/>
          </a:p>
        </p:txBody>
      </p:sp>
      <p:sp>
        <p:nvSpPr>
          <p:cNvPr id="19" name="Shape 14"/>
          <p:cNvSpPr/>
          <p:nvPr/>
        </p:nvSpPr>
        <p:spPr>
          <a:xfrm>
            <a:off x="640080" y="4050792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5"/>
          <p:cNvSpPr/>
          <p:nvPr/>
        </p:nvSpPr>
        <p:spPr>
          <a:xfrm>
            <a:off x="822960" y="4133088"/>
            <a:ext cx="493776" cy="49377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27939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507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</a:t>
            </a:r>
            <a:endParaRPr lang="pt-BR" sz="1500" noProof="0" dirty="0"/>
          </a:p>
        </p:txBody>
      </p:sp>
      <p:sp>
        <p:nvSpPr>
          <p:cNvPr id="23" name="Text 17"/>
          <p:cNvSpPr/>
          <p:nvPr/>
        </p:nvSpPr>
        <p:spPr>
          <a:xfrm>
            <a:off x="4480560" y="405079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do Google Maps, feed de recomendação, rede de amigos</a:t>
            </a:r>
            <a:endParaRPr lang="pt-BR" sz="1300" noProof="0" dirty="0"/>
          </a:p>
        </p:txBody>
      </p:sp>
      <p:sp>
        <p:nvSpPr>
          <p:cNvPr id="24" name="Shape 18"/>
          <p:cNvSpPr/>
          <p:nvPr/>
        </p:nvSpPr>
        <p:spPr>
          <a:xfrm>
            <a:off x="640080" y="4837176"/>
            <a:ext cx="10881360" cy="658368"/>
          </a:xfrm>
          <a:prstGeom prst="roundRect">
            <a:avLst>
              <a:gd name="adj" fmla="val 125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Shape 19"/>
          <p:cNvSpPr/>
          <p:nvPr/>
        </p:nvSpPr>
        <p:spPr>
          <a:xfrm>
            <a:off x="822960" y="4919472"/>
            <a:ext cx="493776" cy="49377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5065776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83717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</a:t>
            </a:r>
            <a:endParaRPr lang="pt-BR" sz="1500" noProof="0" dirty="0"/>
          </a:p>
        </p:txBody>
      </p:sp>
      <p:sp>
        <p:nvSpPr>
          <p:cNvPr id="28" name="Text 21"/>
          <p:cNvSpPr/>
          <p:nvPr/>
        </p:nvSpPr>
        <p:spPr>
          <a:xfrm>
            <a:off x="4480560" y="4837176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do computador, índice de um banco de dados, o DOM de uma página web</a:t>
            </a:r>
            <a:endParaRPr lang="pt-BR" sz="1300" noProof="0" dirty="0"/>
          </a:p>
        </p:txBody>
      </p:sp>
      <p:sp>
        <p:nvSpPr>
          <p:cNvPr id="29" name="Text 22"/>
          <p:cNvSpPr/>
          <p:nvPr/>
        </p:nvSpPr>
        <p:spPr>
          <a:xfrm>
            <a:off x="640080" y="56967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exemplos é abstrato: cada um é um sistema real que você já usou esta semana.</a:t>
            </a:r>
            <a:endParaRPr lang="pt-BR" sz="1250" noProof="0" dirty="0"/>
          </a:p>
        </p:txBody>
      </p:sp>
      <p:sp>
        <p:nvSpPr>
          <p:cNvPr id="30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ATÉ AQUI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semestre está organizado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trilho segue o calendário real do semestre — incluindo aulas de busca ativa, atividades práticas, orientação de trabalho e avaliações.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2519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2350008"/>
            <a:ext cx="530352" cy="53035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4963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5000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pt-BR" sz="1700" noProof="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29900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digitais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e árvores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Fechamento: estruturas de dados e algoritmos</a:t>
            </a:r>
            <a:endParaRPr lang="pt-BR" sz="1250" noProof="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2519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654296" y="2350008"/>
            <a:ext cx="530352" cy="53035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9631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0096" y="235000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pt-BR" sz="1700" noProof="0" dirty="0"/>
          </a:p>
        </p:txBody>
      </p:sp>
      <p:sp>
        <p:nvSpPr>
          <p:cNvPr id="14" name="Text 10"/>
          <p:cNvSpPr/>
          <p:nvPr/>
        </p:nvSpPr>
        <p:spPr>
          <a:xfrm>
            <a:off x="4654296" y="3108960"/>
            <a:ext cx="29900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código em C# no VS </a:t>
            </a:r>
            <a:r>
              <a:rPr lang="pt-BR" sz="1250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Tabelas-verdade verificadas por programação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de portas lógicas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grafos e árvores em código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fechamento conectando tudo</a:t>
            </a:r>
            <a:endParaRPr lang="pt-BR" sz="1250" noProof="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2519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8394192" y="2350008"/>
            <a:ext cx="530352" cy="53035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4963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9992" y="235000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pt-BR" sz="1700" noProof="0" dirty="0"/>
          </a:p>
        </p:txBody>
      </p:sp>
      <p:sp>
        <p:nvSpPr>
          <p:cNvPr id="19" name="Text 14"/>
          <p:cNvSpPr/>
          <p:nvPr/>
        </p:nvSpPr>
        <p:spPr>
          <a:xfrm>
            <a:off x="8394192" y="3108960"/>
            <a:ext cx="29900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avaliação individual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atividade aplicada, em grupo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Tratadas em material didático separado</a:t>
            </a:r>
            <a:endParaRPr lang="pt-BR" sz="1250" noProof="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e peso: a definir pelo professor</a:t>
            </a:r>
            <a:endParaRPr lang="pt-BR" sz="1250" noProof="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TRILHA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deve conseguir fazer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12064" cy="512064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122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060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interpretar tabelas-verdade.</a:t>
            </a:r>
            <a:endParaRPr lang="pt-BR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6537960" y="1965960"/>
            <a:ext cx="512064" cy="512064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11226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7960" y="26060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expressões booleanas e projetar circuitos simples.</a:t>
            </a:r>
            <a:endParaRPr lang="pt-BR" sz="150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9"/>
          <p:cNvSpPr/>
          <p:nvPr/>
        </p:nvSpPr>
        <p:spPr>
          <a:xfrm>
            <a:off x="914400" y="4160520"/>
            <a:ext cx="512064" cy="512064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30682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48006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problemas do mundo real com grafos e árvores.</a:t>
            </a:r>
            <a:endParaRPr lang="pt-BR" sz="1500" noProof="0" dirty="0"/>
          </a:p>
        </p:txBody>
      </p:sp>
      <p:sp>
        <p:nvSpPr>
          <p:cNvPr id="16" name="Shape 11"/>
          <p:cNvSpPr/>
          <p:nvPr/>
        </p:nvSpPr>
        <p:spPr>
          <a:xfrm>
            <a:off x="6263640" y="38862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2"/>
          <p:cNvSpPr/>
          <p:nvPr/>
        </p:nvSpPr>
        <p:spPr>
          <a:xfrm>
            <a:off x="6537960" y="4160520"/>
            <a:ext cx="512064" cy="512064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430682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7960" y="48006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5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Explicar, com suas palavras, por que essas ferramentas aparecem em estruturas de dados e algoritmos do dia a dia.</a:t>
            </a:r>
            <a:endParaRPr lang="pt-BR" sz="1500" noProof="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que vamos usar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programar em C# para transformar teoria em código verificável.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1508760" y="2560320"/>
            <a:ext cx="777240" cy="7772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71576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56616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pt-BR" sz="17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pt-BR" sz="1700" noProof="0" dirty="0"/>
          </a:p>
        </p:txBody>
      </p:sp>
      <p:sp>
        <p:nvSpPr>
          <p:cNvPr id="9" name="Text 6"/>
          <p:cNvSpPr/>
          <p:nvPr/>
        </p:nvSpPr>
        <p:spPr>
          <a:xfrm>
            <a:off x="841248" y="402336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editor de código no dia a dia da disciplina.</a:t>
            </a:r>
            <a:endParaRPr lang="pt-BR" sz="1200" noProof="0" dirty="0"/>
          </a:p>
        </p:txBody>
      </p:sp>
      <p:sp>
        <p:nvSpPr>
          <p:cNvPr id="10" name="Shape 7"/>
          <p:cNvSpPr/>
          <p:nvPr/>
        </p:nvSpPr>
        <p:spPr>
          <a:xfrm>
            <a:off x="3401568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270248" y="2560320"/>
            <a:ext cx="777240" cy="7772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715768"/>
            <a:ext cx="466344" cy="4663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56616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pt-BR" sz="1700" noProof="0" dirty="0"/>
          </a:p>
        </p:txBody>
      </p:sp>
      <p:sp>
        <p:nvSpPr>
          <p:cNvPr id="14" name="Text 10"/>
          <p:cNvSpPr/>
          <p:nvPr/>
        </p:nvSpPr>
        <p:spPr>
          <a:xfrm>
            <a:off x="3602736" y="402336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que vamos usar para colocar a teoria em prática.</a:t>
            </a:r>
            <a:endParaRPr lang="pt-BR" sz="1200" noProof="0" dirty="0"/>
          </a:p>
        </p:txBody>
      </p:sp>
      <p:sp>
        <p:nvSpPr>
          <p:cNvPr id="15" name="Shape 11"/>
          <p:cNvSpPr/>
          <p:nvPr/>
        </p:nvSpPr>
        <p:spPr>
          <a:xfrm>
            <a:off x="6163056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7031736" y="2560320"/>
            <a:ext cx="777240" cy="7772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271576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356616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online</a:t>
            </a:r>
            <a:endParaRPr lang="pt-BR" sz="1700" noProof="0" dirty="0"/>
          </a:p>
        </p:txBody>
      </p:sp>
      <p:sp>
        <p:nvSpPr>
          <p:cNvPr id="19" name="Text 14"/>
          <p:cNvSpPr/>
          <p:nvPr/>
        </p:nvSpPr>
        <p:spPr>
          <a:xfrm>
            <a:off x="6364224" y="402336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dotnetfiddle.net e repl.it — para testar código sem instalar nada.</a:t>
            </a:r>
            <a:endParaRPr lang="pt-BR" sz="1200" noProof="0" dirty="0"/>
          </a:p>
        </p:txBody>
      </p:sp>
      <p:sp>
        <p:nvSpPr>
          <p:cNvPr id="20" name="Shape 15"/>
          <p:cNvSpPr/>
          <p:nvPr/>
        </p:nvSpPr>
        <p:spPr>
          <a:xfrm>
            <a:off x="8924544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6"/>
          <p:cNvSpPr/>
          <p:nvPr/>
        </p:nvSpPr>
        <p:spPr>
          <a:xfrm>
            <a:off x="9793224" y="2560320"/>
            <a:ext cx="777240" cy="7772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2" y="2715768"/>
            <a:ext cx="466344" cy="4663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89136" y="356616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GitHub</a:t>
            </a:r>
            <a:endParaRPr lang="pt-BR" sz="1700" noProof="0" dirty="0"/>
          </a:p>
        </p:txBody>
      </p:sp>
      <p:sp>
        <p:nvSpPr>
          <p:cNvPr id="24" name="Text 18"/>
          <p:cNvSpPr/>
          <p:nvPr/>
        </p:nvSpPr>
        <p:spPr>
          <a:xfrm>
            <a:off x="9125712" y="402336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</a:t>
            </a:r>
            <a:r>
              <a:rPr lang="pt-BR" sz="12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seu código e entregar as atividades.</a:t>
            </a:r>
            <a:endParaRPr lang="pt-BR" sz="1200" noProof="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um exemplo: condições encadeadas</a:t>
            </a:r>
            <a:endParaRPr lang="pt-BR" sz="27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80660" cy="3291840"/>
          </a:xfrm>
          <a:prstGeom prst="roundRect">
            <a:avLst>
              <a:gd name="adj" fmla="val 3889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22311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1097280" y="22311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1298448" y="22311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554480" y="21717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Ingresso.cs</a:t>
            </a:r>
            <a:endParaRPr lang="pt-BR" sz="1050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15798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276148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932688" y="309067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temIngresso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932688" y="341985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acompanhado = 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200" noProof="0" dirty="0"/>
          </a:p>
        </p:txBody>
      </p:sp>
      <p:sp>
        <p:nvSpPr>
          <p:cNvPr id="13" name="Text 10"/>
          <p:cNvSpPr/>
          <p:nvPr/>
        </p:nvSpPr>
        <p:spPr>
          <a:xfrm>
            <a:off x="932688" y="374904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entra se tem ingresso E (maior OU acompanhado)</a:t>
            </a:r>
            <a:endParaRPr lang="pt-BR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932688" y="407822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podeEntrar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temIngresso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</a:t>
            </a:r>
            <a:endParaRPr lang="pt-BR" sz="1200" noProof="0" dirty="0"/>
          </a:p>
        </p:txBody>
      </p:sp>
      <p:sp>
        <p:nvSpPr>
          <p:cNvPr id="15" name="Text 12"/>
          <p:cNvSpPr/>
          <p:nvPr/>
        </p:nvSpPr>
        <p:spPr>
          <a:xfrm>
            <a:off x="932688" y="440740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(idade &gt;= 18 || acompanhado);</a:t>
            </a:r>
            <a:endParaRPr lang="pt-BR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932688" y="473659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podeEntrar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</a:t>
            </a:r>
            <a:r>
              <a:rPr lang="pt-BR" sz="1200" noProof="0" dirty="0" err="1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00" noProof="0" dirty="0"/>
          </a:p>
        </p:txBody>
      </p:sp>
      <p:sp>
        <p:nvSpPr>
          <p:cNvPr id="17" name="Shape 14"/>
          <p:cNvSpPr/>
          <p:nvPr/>
        </p:nvSpPr>
        <p:spPr>
          <a:xfrm>
            <a:off x="6240780" y="2011680"/>
            <a:ext cx="5280660" cy="3291840"/>
          </a:xfrm>
          <a:prstGeom prst="roundRect">
            <a:avLst>
              <a:gd name="adj" fmla="val 3889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5"/>
          <p:cNvSpPr/>
          <p:nvPr/>
        </p:nvSpPr>
        <p:spPr>
          <a:xfrm>
            <a:off x="6496812" y="22311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6"/>
          <p:cNvSpPr/>
          <p:nvPr/>
        </p:nvSpPr>
        <p:spPr>
          <a:xfrm>
            <a:off x="6697980" y="22311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7"/>
          <p:cNvSpPr/>
          <p:nvPr/>
        </p:nvSpPr>
        <p:spPr>
          <a:xfrm>
            <a:off x="6899148" y="22311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8"/>
          <p:cNvSpPr/>
          <p:nvPr/>
        </p:nvSpPr>
        <p:spPr>
          <a:xfrm>
            <a:off x="7155180" y="21717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ingresso.py</a:t>
            </a:r>
            <a:endParaRPr lang="pt-BR" sz="1050" noProof="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157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533388" y="276148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pt-B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6533388" y="309067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tem_ingresso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00" noProof="0" dirty="0"/>
          </a:p>
        </p:txBody>
      </p:sp>
      <p:sp>
        <p:nvSpPr>
          <p:cNvPr id="25" name="Text 21"/>
          <p:cNvSpPr/>
          <p:nvPr/>
        </p:nvSpPr>
        <p:spPr>
          <a:xfrm>
            <a:off x="6533388" y="341985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acompanhado = 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pt-BR" sz="1200" noProof="0" dirty="0"/>
          </a:p>
        </p:txBody>
      </p:sp>
      <p:sp>
        <p:nvSpPr>
          <p:cNvPr id="26" name="Text 22"/>
          <p:cNvSpPr/>
          <p:nvPr/>
        </p:nvSpPr>
        <p:spPr>
          <a:xfrm>
            <a:off x="6533388" y="374904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entra se tem ingresso E (maior OU acompanhado)</a:t>
            </a:r>
            <a:endParaRPr lang="pt-B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6533388" y="407822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pode_entrar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tem_ingresso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pt-BR" sz="1200" noProof="0" dirty="0"/>
          </a:p>
        </p:txBody>
      </p:sp>
      <p:sp>
        <p:nvSpPr>
          <p:cNvPr id="28" name="Text 24"/>
          <p:cNvSpPr/>
          <p:nvPr/>
        </p:nvSpPr>
        <p:spPr>
          <a:xfrm>
            <a:off x="6533388" y="440740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idade &gt;= 18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acompanhado)</a:t>
            </a:r>
            <a:endParaRPr lang="pt-BR" sz="1200" noProof="0" dirty="0"/>
          </a:p>
        </p:txBody>
      </p:sp>
      <p:sp>
        <p:nvSpPr>
          <p:cNvPr id="29" name="Text 25"/>
          <p:cNvSpPr/>
          <p:nvPr/>
        </p:nvSpPr>
        <p:spPr>
          <a:xfrm>
            <a:off x="6533388" y="473659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pode_entrar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</a:t>
            </a:r>
            <a:r>
              <a:rPr lang="pt-BR" sz="1200" noProof="0" dirty="0" err="1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00" noProof="0" dirty="0"/>
          </a:p>
        </p:txBody>
      </p:sp>
      <p:sp>
        <p:nvSpPr>
          <p:cNvPr id="30" name="Shape 26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7"/>
          <p:cNvSpPr/>
          <p:nvPr/>
        </p:nvSpPr>
        <p:spPr>
          <a:xfrm>
            <a:off x="868680" y="5641848"/>
            <a:ext cx="457200" cy="45720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742432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508760" y="5596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você mesmo</a:t>
            </a:r>
            <a:endParaRPr lang="pt-BR" sz="1350" noProof="0" dirty="0"/>
          </a:p>
        </p:txBody>
      </p:sp>
      <p:sp>
        <p:nvSpPr>
          <p:cNvPr id="34" name="Text 29"/>
          <p:cNvSpPr/>
          <p:nvPr/>
        </p:nvSpPr>
        <p:spPr>
          <a:xfrm>
            <a:off x="1508760" y="58978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150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fórmula lógica, com parênteses, nas duas linguagens. Rode os dois trechos e mude acompanhado para </a:t>
            </a:r>
            <a:r>
              <a:rPr lang="pt-BR" sz="1150" noProof="0" dirty="0" err="1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r>
              <a:rPr lang="pt-BR" sz="1150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(Python) ou </a:t>
            </a:r>
            <a:r>
              <a:rPr lang="pt-BR" sz="1150" noProof="0" dirty="0" err="1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r>
              <a:rPr lang="pt-BR" sz="1150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(C#) — no VS </a:t>
            </a:r>
            <a:r>
              <a:rPr lang="pt-BR" sz="1150" noProof="0" dirty="0" err="1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pt-BR" sz="1150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.NET </a:t>
            </a:r>
            <a:r>
              <a:rPr lang="pt-BR" sz="1150" noProof="0" dirty="0" err="1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Fiddle</a:t>
            </a:r>
            <a:r>
              <a:rPr lang="pt-BR" sz="1150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no </a:t>
            </a:r>
            <a:r>
              <a:rPr lang="pt-BR" sz="1150" noProof="0" dirty="0" err="1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r>
              <a:rPr lang="pt-BR" sz="1150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150" noProof="0" dirty="0"/>
          </a:p>
        </p:txBody>
      </p:sp>
      <p:sp>
        <p:nvSpPr>
          <p:cNvPr id="35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tirar dúvidas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434840"/>
          </a:xfrm>
          <a:prstGeom prst="roundRect">
            <a:avLst>
              <a:gd name="adj" fmla="val 247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1122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perguntar, tente</a:t>
            </a:r>
            <a:endParaRPr lang="pt-BR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pt-BR" sz="13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Reler a seção da aula relacionada à sua dúvida.</a:t>
            </a:r>
            <a:endParaRPr lang="pt-BR" sz="1350" noProof="0" dirty="0"/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pt-BR" sz="13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código de exemplo você mesmo, alterando os valores.</a:t>
            </a:r>
            <a:endParaRPr lang="pt-BR" sz="1350" noProof="0" dirty="0"/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pt-BR" sz="13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a dúvida de forma específica (“por que X não dá Y?”), não genérica (“não entendi nada”).</a:t>
            </a:r>
            <a:endParaRPr lang="pt-BR" sz="1350" noProof="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2084832"/>
          </a:xfrm>
          <a:prstGeom prst="roundRect">
            <a:avLst>
              <a:gd name="adj" fmla="val 5263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6537960" y="1947672"/>
            <a:ext cx="512064" cy="512064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09397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4767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de conteúdo</a:t>
            </a:r>
            <a:endParaRPr lang="pt-BR" sz="1550" noProof="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50" noProof="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o professor nos horários de atendimento ou pelo canal oficial da turma.</a:t>
            </a:r>
            <a:endParaRPr lang="pt-BR" sz="1250" noProof="0" dirty="0"/>
          </a:p>
        </p:txBody>
      </p:sp>
      <p:sp>
        <p:nvSpPr>
          <p:cNvPr id="14" name="Shape 10"/>
          <p:cNvSpPr/>
          <p:nvPr/>
        </p:nvSpPr>
        <p:spPr>
          <a:xfrm>
            <a:off x="6263640" y="4023360"/>
            <a:ext cx="5257800" cy="2084832"/>
          </a:xfrm>
          <a:prstGeom prst="roundRect">
            <a:avLst>
              <a:gd name="adj" fmla="val 5263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6537960" y="4279392"/>
            <a:ext cx="512064" cy="512064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42569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427939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de entrega</a:t>
            </a:r>
            <a:endParaRPr lang="pt-BR" sz="1550" noProof="0" dirty="0"/>
          </a:p>
        </p:txBody>
      </p:sp>
      <p:sp>
        <p:nvSpPr>
          <p:cNvPr id="18" name="Text 13"/>
          <p:cNvSpPr/>
          <p:nvPr/>
        </p:nvSpPr>
        <p:spPr>
          <a:xfrm>
            <a:off x="6537960" y="493776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50" noProof="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sempre a página da aula correspondente antes de perguntar — o passo a passo costuma estar lá.</a:t>
            </a:r>
            <a:endParaRPr lang="pt-BR" sz="1250" noProof="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PRÓXIMO ENCONTRO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preparação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001768" y="1993392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0939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5786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o VS </a:t>
            </a:r>
            <a:r>
              <a:rPr lang="pt-BR" sz="145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SDK do .NET (C#)</a:t>
            </a:r>
            <a:endParaRPr lang="pt-BR" sz="1450" noProof="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6537960" y="20116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10625328" y="1993392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912" y="209397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25786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(ou confirmar) uma conta no GitHub</a:t>
            </a:r>
            <a:endParaRPr lang="pt-BR" sz="1450" noProof="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914400" y="42062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5001768" y="4187952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428853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47731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exemplo do </a:t>
            </a:r>
            <a:r>
              <a:rPr lang="pt-BR" sz="145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C# ou Python e testar com estudou = false</a:t>
            </a:r>
            <a:endParaRPr lang="pt-BR" sz="1450" noProof="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5"/>
          <p:cNvSpPr/>
          <p:nvPr/>
        </p:nvSpPr>
        <p:spPr>
          <a:xfrm>
            <a:off x="6537960" y="42062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6"/>
          <p:cNvSpPr/>
          <p:nvPr/>
        </p:nvSpPr>
        <p:spPr>
          <a:xfrm>
            <a:off x="10625328" y="4187952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912" y="428853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47731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visão geral do cronograma da disciplina</a:t>
            </a:r>
            <a:endParaRPr lang="pt-BR" sz="1450" noProof="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42519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</a:t>
            </a:r>
            <a:endParaRPr lang="pt-BR" sz="1550" noProof="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 Matemática Discreta e suas Aplicações. 7. ed. — livro-texto de referência do curso.</a:t>
            </a:r>
            <a:endParaRPr lang="pt-BR" sz="1100" noProof="0" dirty="0"/>
          </a:p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GERSTING, J. L. Fundamentos Matemáticos para a Ciência da Computação.</a:t>
            </a:r>
            <a:endParaRPr lang="pt-BR" sz="1100" noProof="0" dirty="0"/>
          </a:p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SCHEINERMAN, E. R. Matemática Discreta: uma introdução.</a:t>
            </a:r>
            <a:endParaRPr lang="pt-BR" sz="1100" noProof="0" dirty="0"/>
          </a:p>
        </p:txBody>
      </p:sp>
      <p:sp>
        <p:nvSpPr>
          <p:cNvPr id="9" name="Shape 6"/>
          <p:cNvSpPr/>
          <p:nvPr/>
        </p:nvSpPr>
        <p:spPr>
          <a:xfrm>
            <a:off x="4379976" y="1691640"/>
            <a:ext cx="3538728" cy="42519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4636008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5328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prática</a:t>
            </a:r>
            <a:endParaRPr lang="pt-BR" sz="1550" noProof="0" dirty="0"/>
          </a:p>
        </p:txBody>
      </p:sp>
      <p:sp>
        <p:nvSpPr>
          <p:cNvPr id="13" name="Text 9"/>
          <p:cNvSpPr/>
          <p:nvPr/>
        </p:nvSpPr>
        <p:spPr>
          <a:xfrm>
            <a:off x="4636008" y="2971800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</a:t>
            </a:r>
            <a:r>
              <a:rPr lang="pt-BR" sz="11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documentação oficial de C#: learn.microsoft.com/</a:t>
            </a:r>
            <a:r>
              <a:rPr lang="pt-BR" sz="11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</a:t>
            </a: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pt-BR" sz="11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csharp</a:t>
            </a:r>
            <a:endParaRPr lang="pt-BR" sz="1100" noProof="0" dirty="0"/>
          </a:p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</a:t>
            </a:r>
            <a:r>
              <a:rPr lang="pt-BR" sz="11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Fiddle</a:t>
            </a: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testar C# no navegador: dotnetfiddle.net</a:t>
            </a:r>
            <a:endParaRPr lang="pt-BR" sz="1100" noProof="0" dirty="0"/>
          </a:p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instalação da turma — VS </a:t>
            </a:r>
            <a:r>
              <a:rPr lang="pt-BR" sz="11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.NET SDK.</a:t>
            </a:r>
            <a:endParaRPr lang="pt-B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38728" cy="42519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8375904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09397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53288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pt-BR" sz="1550" noProof="0" dirty="0"/>
          </a:p>
        </p:txBody>
      </p:sp>
      <p:sp>
        <p:nvSpPr>
          <p:cNvPr id="18" name="Text 13"/>
          <p:cNvSpPr/>
          <p:nvPr/>
        </p:nvSpPr>
        <p:spPr>
          <a:xfrm>
            <a:off x="8375904" y="2971800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em Vídeo (Gustavo Guanabara) — série de Lógica de Programação, ótima para começar do zero.</a:t>
            </a:r>
            <a:endParaRPr lang="pt-BR" sz="1100" noProof="0" dirty="0"/>
          </a:p>
          <a:p>
            <a:pPr marL="0" indent="0">
              <a:lnSpc>
                <a:spcPts val="1500"/>
              </a:lnSpc>
              <a:spcAft>
                <a:spcPts val="1000"/>
              </a:spcAft>
              <a:buNone/>
            </a:pPr>
            <a:r>
              <a:rPr lang="pt-BR" sz="11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 (Harvard) — introdução a como computadores representam e processam informação.</a:t>
            </a:r>
            <a:endParaRPr lang="pt-BR" sz="1100" noProof="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19786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pt-B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Ativa — Início de Semestre</a:t>
            </a:r>
            <a:endParaRPr lang="pt-BR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pt-BR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acertar ferramentas</a:t>
            </a:r>
            <a:endParaRPr lang="pt-BR" sz="3400" noProof="0" dirty="0"/>
          </a:p>
          <a:p>
            <a:pPr marL="0" indent="0">
              <a:lnSpc>
                <a:spcPts val="4000"/>
              </a:lnSpc>
              <a:buNone/>
            </a:pPr>
            <a:r>
              <a:rPr lang="pt-BR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dúvidas de ementa.</a:t>
            </a:r>
            <a:endParaRPr lang="pt-BR" sz="3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disso, começamos de verdade com Fundamentos de Lógica.</a:t>
            </a:r>
            <a:endParaRPr lang="pt-BR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01</a:t>
            </a:r>
            <a:endParaRPr lang="pt-BR" sz="1150" noProof="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2AC340FF-91FF-E86E-21CA-F4355ECC773C}"/>
              </a:ext>
            </a:extLst>
          </p:cNvPr>
          <p:cNvSpPr/>
          <p:nvPr/>
        </p:nvSpPr>
        <p:spPr>
          <a:xfrm>
            <a:off x="3688080" y="5669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400" i="1" noProof="0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Paiva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1658</Words>
  <Application>Microsoft Office PowerPoint</Application>
  <PresentationFormat>Widescreen</PresentationFormat>
  <Paragraphs>220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3</cp:revision>
  <dcterms:created xsi:type="dcterms:W3CDTF">2026-08-04T20:26:26Z</dcterms:created>
  <dcterms:modified xsi:type="dcterms:W3CDTF">2026-08-13T21:38:51Z</dcterms:modified>
</cp:coreProperties>
</file>