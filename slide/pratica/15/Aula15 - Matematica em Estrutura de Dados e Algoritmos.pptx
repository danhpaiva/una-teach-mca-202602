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425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aula da disciplina — tom de síntese e fechamento, não de introdução de conteúdo novo isolado.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desde já: esta aula não traz teoria nova isolada, é uma costura do que já foi visto.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destacar que Circuitos digitais (Aula 09) não vira uma estrutura de dados, e sim uma explicação de POR QUE o computador executa o resto — é o elo diferente da tabela.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aluno já usou lista/pilha/fila sem perceber que são grafos triviais — o ganho de destacar isso é mostrar que o vocabulário da Aula 12 se aplica em toda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diagrama do material fonte (mermaid), só que desenhado como fluxo de caixas em vez de sintaxe de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claro: notação O não é sobre um caso específico, é sobre a taxa de crescimento — isso volta com força no slide de tip mais adiante.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referência ao mapa de Karnaugh (Aula 07) é proposital — é a mesma ideia de eliminar metade do espaço de busca a cada passo.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Repare que BuscaBst é uma recursão quase idêntica à em_ordem da Aula 14 — só muda a condição de qual filho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contraste numérico costuma ser o momento em que a ficha cai sobre por que complexidade importa na prática, não só na teoria.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BFS/DFS aparecem aqui como O(V+E), que na prática se comporta como O(n) quando o grafo é esparso — bom gancho para o slide de BFS/DFS mais adiante.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mencionar de passagem: é exatamente esse tipo de crescimento que torna certos algoritmos inviáveis em produção mesmo estando 'corretos'.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 de aluno iniciante: confundir 'O(n) é sempre mais rápido que O(n²)' com a ideia real, que é sobre a TAXA de crescimento, não valores absolutos para um n pequeno.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BFS/DFS não são conceitos novos — é o eh_conexo da Aula 12 e a travessia recursiva da Aula 14, só que formalizados com nome próprio.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EhConexo da Aula 12 já era um BFS/DFS disfarçado (usava Stack) — vale apontar essa conexão explicitamente para o aluno.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DFS fica como exercício mental: é o mesmo código trocando deque/Queue por uma pilha (list.pop() sem argumento, ou Stack&lt;T&gt; em C#).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hora para relembrar que 'invariante de laço' já apareceu implicitamente em EhConexo (Aula 12): o HashSet de visitados nunca encolhe.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entrega formal — o objetivo é o aluno perceber sozinho que já usa esses conceitos fora da disciplina, sem que a resposta seja corrigida.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CLRS é a referência canônica de complexidade — vale indicar como o próximo passo natural de leitura para quem quiser se aprofundar antes da próxima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de busca do YouTube — resultados variam com o tempo, então vale conferir antes de indicar em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encerramento do semestre inteiro, não só da aula — a timeline mostra as aulas efetivamente construídas nesta série, pulando os gaps conhecidos (08, 10, 11, 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results?search_query=mycodeschool+data+structures+bfs+dfs" TargetMode="External"/><Relationship Id="rId3" Type="http://schemas.openxmlformats.org/officeDocument/2006/relationships/image" Target="../media/image16.png"/><Relationship Id="rId7" Type="http://schemas.openxmlformats.org/officeDocument/2006/relationships/hyperlink" Target="https://www.youtube.com/results?search_query=cs50+big+o+notation+data+structure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hyperlink" Target="https://www.bigocheatsheet.com/" TargetMode="External"/><Relationship Id="rId4" Type="http://schemas.openxmlformats.org/officeDocument/2006/relationships/hyperlink" Target="https://docs.python.org/3/library/collections.html#collections.deque" TargetMode="External"/><Relationship Id="rId9" Type="http://schemas.openxmlformats.org/officeDocument/2006/relationships/hyperlink" Target="https://www.youtube.com/results?search_query=introdu%C3%A7%C3%A3o+estruturas+de+dados+python+pilha+fila+arvor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669280" cy="5669280"/>
          </a:xfrm>
          <a:prstGeom prst="ellipse">
            <a:avLst/>
          </a:prstGeom>
          <a:ln w="19050">
            <a:solidFill>
              <a:srgbClr val="2FE6C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ln w="19050">
            <a:solidFill>
              <a:srgbClr val="6C4BC1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9784080" y="-18288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15</a:t>
            </a:r>
            <a:endParaRPr lang="en-US" sz="62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em estrutura de dados e na aplicação em algoritmos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0080" y="45262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da disciplina: tudo o que vimos vira código de verdade.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lógica     grafos     árvores     O(n)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 · 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aula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249424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92" y="2057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tudo vira estrutura de dados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36192" y="254203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Lógica, álgebra booleana, grafos e árvores, todos formalizados de novo em código.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611880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75818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36192" y="35661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primeira ideia de complexidade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36192" y="40507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notação O — como comparar dois algoritmos que resolvem o mesmo problema.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5120640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26694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36192" y="50749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da disciplina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36192" y="55595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a seguir nas próximas disciplinas do curso.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LIGANDO OS PONTOS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Amarrando o fio da meada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tema desta disciplina é, na prática, uma estrutura de dados ou ferramenta de análise que você vai reencontrar (e formalizar) em Estrutura de Dados e Algoritmos: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 da disciplina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Vira, na prática...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Lógica proposicional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condições (if), invariantes de laço, pré/pós-condições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Álgebra booleana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manipulação de bits, flags, otimizações de baixo nível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Circuitos digitais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o hardware "entende" o código que você escreve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redes, mapas, dependências, algoritmos de busca (BFS/DFS)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listas ordenadas eficientes (BST), hierarquias, parsing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O CAPÔ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grafos e árvores a estruturas de dados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estrutura de dados é uma forma organizada de guardar informação para que certas operações sejam rápidas. Muitas das mais usadas são grafos ou árvores por baixo dos panos: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F3F1FB"/>
          </a:solidFill>
          <a:ln/>
        </p:spPr>
      </p:sp>
      <p:sp>
        <p:nvSpPr>
          <p:cNvPr id="8" name="Shape 5"/>
          <p:cNvSpPr/>
          <p:nvPr/>
        </p:nvSpPr>
        <p:spPr>
          <a:xfrm>
            <a:off x="2007108" y="2624328"/>
            <a:ext cx="694944" cy="69494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3412" y="277063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5387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/ pilha / fila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914400" y="41605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Sequências lineares — o caso mais simples de grafo: cada elemento aponta só para o próximo.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61688" y="233172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F3F1FB"/>
          </a:solidFill>
          <a:ln/>
        </p:spPr>
      </p:sp>
      <p:sp>
        <p:nvSpPr>
          <p:cNvPr id="13" name="Shape 9"/>
          <p:cNvSpPr/>
          <p:nvPr/>
        </p:nvSpPr>
        <p:spPr>
          <a:xfrm>
            <a:off x="5728716" y="2624328"/>
            <a:ext cx="694944" cy="69494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277063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44568" y="35387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binária de busca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636008" y="41605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inserção e remoção em O(log n) no caso médio, contra O(n) de uma lista (Aula 14).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83296" y="233172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F3F1FB"/>
          </a:solidFill>
          <a:ln/>
        </p:spPr>
      </p:sp>
      <p:sp>
        <p:nvSpPr>
          <p:cNvPr id="18" name="Shape 13"/>
          <p:cNvSpPr/>
          <p:nvPr/>
        </p:nvSpPr>
        <p:spPr>
          <a:xfrm>
            <a:off x="9450324" y="2624328"/>
            <a:ext cx="694944" cy="69494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6628" y="277063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66176" y="35387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adjacência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357616" y="41605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redes diretamente (Aula 12) — base de algoritmos de rotas, recomendação e redes sociais.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QUADRO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teoria aos algoritmos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6C4BC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proposicional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29000" y="169164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6C4BC1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691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6C4BC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691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58200" y="169164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6C4BC1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1691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292608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F3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26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e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292608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F3F1FB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2926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bits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92608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F3F1F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926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/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BFS-DFS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292608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F3F1FB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2926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eficiente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51760" y="4434840"/>
            <a:ext cx="6858000" cy="914400"/>
          </a:xfrm>
          <a:prstGeom prst="roundRect">
            <a:avLst>
              <a:gd name="adj" fmla="val 12000"/>
            </a:avLst>
          </a:prstGeom>
          <a:solidFill>
            <a:srgbClr val="141B41"/>
          </a:solidFill>
          <a:ln/>
        </p:spPr>
      </p:sp>
      <p:sp>
        <p:nvSpPr>
          <p:cNvPr id="21" name="Text 19"/>
          <p:cNvSpPr/>
          <p:nvPr/>
        </p:nvSpPr>
        <p:spPr>
          <a:xfrm>
            <a:off x="2651760" y="44348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Algoritmos corretos e eficientes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080260" y="2377440"/>
            <a:ext cx="9144" cy="475488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080260" y="3611880"/>
            <a:ext cx="3928848" cy="80822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94860" y="2377440"/>
            <a:ext cx="9144" cy="475488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94860" y="3611880"/>
            <a:ext cx="1421907" cy="787518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09460" y="2377440"/>
            <a:ext cx="9144" cy="475488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6137882" y="3611880"/>
            <a:ext cx="971578" cy="777262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9624060" y="2377440"/>
            <a:ext cx="9144" cy="475488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6152015" y="3611880"/>
            <a:ext cx="3472045" cy="80641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headEnd type="triangle"/>
          </a:ln>
        </p:spPr>
      </p:sp>
      <p:sp>
        <p:nvSpPr>
          <p:cNvPr id="30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C4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28016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232" y="14264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6060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primeira ideia de complexidade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920240" y="361188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operações um algoritmo faz conforme a entrada cresce? A mesma matemática do semestre, aplicada a código.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DUAS ESTRATÉGIAS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 um valor: lista vs. BST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lista de n elementos, buscar no pior caso exige olhar todos os n elementos: O(n).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141B4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8036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BST balanceada, cada comparação elimina metade dos candidatos restantes — o mesmo princípio de "descartar metade" de um mapa de Karnaugh bem agrupado. Isso leva a O(log n) comparações.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 = 1.000.000: a lista pode exigir 1 milhão de comparações; a árvore balanceada, cerca de 20.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IDEIA, EM 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em lista vs. em BST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função conta quantas comparações fez até encontrar o alvo (ou desistir).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80660" cy="4617720"/>
          </a:xfrm>
          <a:prstGeom prst="roundRect">
            <a:avLst>
              <a:gd name="adj" fmla="val 2772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00253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00253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00253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94310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Busca.cs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92938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31343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BuscaLista(List&lt;int&gt; lista, </a:t>
            </a: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alvo) {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32688" y="254660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comparacoes = 0;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2688" y="277977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(var item in lista) {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32688" y="301294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comparacoes++;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32688" y="324612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(item == alvo) </a:t>
            </a: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comparacoes;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32688" y="347929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32688" y="371246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comparacoes;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32688" y="394563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32688" y="417880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BuscaBst(No no, </a:t>
            </a: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alvo, </a:t>
            </a: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comparacoes = 0) {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32688" y="441198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comparacoes++;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32688" y="464515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 == </a:t>
            </a: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no.Valor == alvo)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32688" y="487832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comparacoes;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32688" y="511149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(alvo &lt; no.Valor)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32688" y="534466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BuscaBst(no.Esquerda, alvo, comparacoes);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32688" y="557784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BuscaBst(no.Direita, alvo, comparacoes);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32688" y="581101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40780" y="1783080"/>
            <a:ext cx="5280660" cy="4389120"/>
          </a:xfrm>
          <a:prstGeom prst="roundRect">
            <a:avLst>
              <a:gd name="adj" fmla="val 2917"/>
            </a:avLst>
          </a:prstGeom>
          <a:solidFill>
            <a:srgbClr val="232C63"/>
          </a:solidFill>
          <a:ln/>
        </p:spPr>
      </p:sp>
      <p:sp>
        <p:nvSpPr>
          <p:cNvPr id="28" name="Shape 25"/>
          <p:cNvSpPr/>
          <p:nvPr/>
        </p:nvSpPr>
        <p:spPr>
          <a:xfrm>
            <a:off x="6496812" y="200253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9" name="Shape 26"/>
          <p:cNvSpPr/>
          <p:nvPr/>
        </p:nvSpPr>
        <p:spPr>
          <a:xfrm>
            <a:off x="6697980" y="200253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30" name="Shape 27"/>
          <p:cNvSpPr/>
          <p:nvPr/>
        </p:nvSpPr>
        <p:spPr>
          <a:xfrm>
            <a:off x="6899148" y="200253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31" name="Text 28"/>
          <p:cNvSpPr/>
          <p:nvPr/>
        </p:nvSpPr>
        <p:spPr>
          <a:xfrm>
            <a:off x="7155180" y="194310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busca.py</a:t>
            </a:r>
            <a:endParaRPr lang="en-US" sz="10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929384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533388" y="231343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busca_lista(lista, alvo):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533388" y="254660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comparacoes = 0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533388" y="277977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</a:t>
            </a: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lista: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533388" y="301294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comparacoes += 1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533388" y="324612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== alvo: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6533388" y="347929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comparacoes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533388" y="371246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comparacoes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6533388" y="394563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6533388" y="417880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busca_bst(no, alvo, comparacoes=0):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533388" y="441198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comparacoes += 1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6533388" y="464515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</a:t>
            </a: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None or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no.valor == alvo: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6533388" y="487832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comparacoes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533388" y="511149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 &lt; no.valor: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6533388" y="534466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busca_bst(no.esquerda, alvo, comparacoes)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533388" y="557784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busca_bst(no.direita, alvo, comparacoes)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COLOCANDO NÚMEROS NA CONTA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92928" y="109728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232" y="1243584"/>
            <a:ext cx="713232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94560" y="2377440"/>
            <a:ext cx="7772400" cy="868680"/>
          </a:xfrm>
          <a:prstGeom prst="roundRect">
            <a:avLst>
              <a:gd name="adj" fmla="val 12632"/>
            </a:avLst>
          </a:prstGeom>
          <a:solidFill>
            <a:srgbClr val="232C63"/>
          </a:solidFill>
          <a:ln w="12700">
            <a:solidFill>
              <a:srgbClr val="2FE6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94560" y="23774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1.000.000  vs.  ~20 comparações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828800" y="347472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 = 1.000.000 elementos: a lista pode exigir 1 milhão de comparações no pior caso. A BST balanceada resolve em cerca de 20 — cada passo elimina metade dos candidatos.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MELHOR PARA O PIOR CASO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Complexidades comuns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Notação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 de operação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B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acessar um elemento de uma lista pelo índice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O(log 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logarítmica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B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um valor numa BST balanceada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B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percorrer uma lista inteira (BFS/DFS também são O(V+E))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 log 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B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ordenar uma lista com um bom algoritmo de ordenação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O(n²)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quadrática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B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cada elemento de uma lista com todos os outros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à direita na tabela, mais devagar o algoritmo fica conforme n cresce.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114800"/>
            <a:ext cx="3840480" cy="3840480"/>
          </a:xfrm>
          <a:prstGeom prst="ellipse">
            <a:avLst/>
          </a:prstGeom>
          <a:ln w="19050">
            <a:solidFill>
              <a:srgbClr val="2FE6C7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QUE O CRESCIMENTO FAZ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92928" y="109728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8" y="1234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54480" y="2377440"/>
            <a:ext cx="9144000" cy="868680"/>
          </a:xfrm>
          <a:prstGeom prst="roundRect">
            <a:avLst>
              <a:gd name="adj" fmla="val 12632"/>
            </a:avLst>
          </a:prstGeom>
          <a:solidFill>
            <a:srgbClr val="232C63"/>
          </a:solidFill>
          <a:ln w="12700">
            <a:solidFill>
              <a:srgbClr val="2FE6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54480" y="23774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 ≈ 1.000.000     vs.     O(n²) ≈ 1.000.000.000.000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28800" y="347472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 = 1.000.000: um algoritmo O(n) faz cerca de 1 milhão de operações; um O(n²), cerca de 1 trilhão. A diferença parece pequena para n=10, mas explode conforme n cresce.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CUIDADO NA LEITURA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E8B32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Notação O é sobre crescimento, não um caso só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141B41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14884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e O(log n) descrevem como o NÚMERO DE OPERAÇÕES CRESCE conforme n cresce — não quantas operações acontecem para um n específico.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ideia de generalizar usada para provar que "toda árvore com n vértices tem n − 1 arestas": vale para qualquer n, não só para o exemplo desenhado.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C4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28016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232" y="14264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e DFS: dois algoritmos que você já entende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2103120" y="36118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Percorrer um grafo por camadas ou até o fim de um ramo — a mesma travessia da Aula 12, agora com nome.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VS. PILHA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e DFS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visitam cada vértice e cada aresta uma vez — por isso rodam em O(V + E), tempo proporcional ao tamanho do grafo.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1645920" y="2834640"/>
            <a:ext cx="1097280" cy="137160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2834640"/>
            <a:ext cx="1097280" cy="137160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4206240"/>
            <a:ext cx="2194560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4206240"/>
            <a:ext cx="1645920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32304" y="252374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25237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335024" y="389534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5024" y="3895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529584" y="389534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3895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175504" y="389534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3895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029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grafo A-B-C-D da Aula 12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75120" y="2194560"/>
            <a:ext cx="4846320" cy="1554480"/>
          </a:xfrm>
          <a:prstGeom prst="roundRect">
            <a:avLst>
              <a:gd name="adj" fmla="val 5882"/>
            </a:avLst>
          </a:prstGeom>
          <a:solidFill>
            <a:srgbClr val="F3F1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2395728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2514600"/>
            <a:ext cx="26517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543800" y="23774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— Busca em Largura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949440" y="30632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uma fila. Visita todos os vizinhos de um vértice antes de avançar para o próximo nível — camada por camada.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675120" y="3977640"/>
            <a:ext cx="4846320" cy="1554480"/>
          </a:xfrm>
          <a:prstGeom prst="roundRect">
            <a:avLst>
              <a:gd name="adj" fmla="val 5882"/>
            </a:avLst>
          </a:prstGeom>
          <a:solidFill>
            <a:srgbClr val="F3F1FB"/>
          </a:solidFill>
          <a:ln/>
        </p:spPr>
      </p:sp>
      <p:sp>
        <p:nvSpPr>
          <p:cNvPr id="24" name="Shape 21"/>
          <p:cNvSpPr/>
          <p:nvPr/>
        </p:nvSpPr>
        <p:spPr>
          <a:xfrm>
            <a:off x="6903720" y="4178808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4297680"/>
            <a:ext cx="265176" cy="26517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543800" y="41605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— Busca em Profundidade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6949440" y="48463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uma pilha (ou recursão, como a travessia em-ordem da Aula 14). Vai até o fim de um ramo antes de voltar.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FILA EM 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em código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um vértice, visita a fila em ordem — quem entra primeiro, sai primeiro.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80660" cy="4617720"/>
          </a:xfrm>
          <a:prstGeom prst="roundRect">
            <a:avLst>
              <a:gd name="adj" fmla="val 2772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00253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00253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00253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94310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Bfs.cs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92938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31343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List&lt;string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Bfs(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32688" y="254660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Dictionary&lt;string, List&lt;string&gt;&gt; grafo,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2688" y="277977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inicio) {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32688" y="301294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visitados = </a:t>
            </a: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HashSet&lt;string&gt; { inicio };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32688" y="324612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fila = </a:t>
            </a: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Queue&lt;string&gt;();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32688" y="347929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fila.Enqueue(inicio);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32688" y="371246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ordem = </a:t>
            </a: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List&lt;string&gt;();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32688" y="394563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(fila.Count &gt; 0) {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32688" y="417880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v = fila.Dequeue();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32688" y="441198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ordem.Add(v);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32688" y="464515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foreach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(var vizinho in grafo[v])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32688" y="487832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(visitados.Add(vizinho))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32688" y="511149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fila.Enqueue(vizinho);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32688" y="534466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32688" y="557784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ordem;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32688" y="581101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40780" y="1783080"/>
            <a:ext cx="5280660" cy="4069080"/>
          </a:xfrm>
          <a:prstGeom prst="roundRect">
            <a:avLst>
              <a:gd name="adj" fmla="val 3146"/>
            </a:avLst>
          </a:prstGeom>
          <a:solidFill>
            <a:srgbClr val="232C63"/>
          </a:solidFill>
          <a:ln/>
        </p:spPr>
      </p:sp>
      <p:sp>
        <p:nvSpPr>
          <p:cNvPr id="28" name="Shape 25"/>
          <p:cNvSpPr/>
          <p:nvPr/>
        </p:nvSpPr>
        <p:spPr>
          <a:xfrm>
            <a:off x="6496812" y="200253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9" name="Shape 26"/>
          <p:cNvSpPr/>
          <p:nvPr/>
        </p:nvSpPr>
        <p:spPr>
          <a:xfrm>
            <a:off x="6697980" y="200253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30" name="Shape 27"/>
          <p:cNvSpPr/>
          <p:nvPr/>
        </p:nvSpPr>
        <p:spPr>
          <a:xfrm>
            <a:off x="6899148" y="200253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31" name="Text 28"/>
          <p:cNvSpPr/>
          <p:nvPr/>
        </p:nvSpPr>
        <p:spPr>
          <a:xfrm>
            <a:off x="7155180" y="194310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bfs.py</a:t>
            </a:r>
            <a:endParaRPr lang="en-US" sz="10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929384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533388" y="231343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 </a:t>
            </a: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533388" y="254660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533388" y="277977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bfs(grafo, inicio):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533388" y="301294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visitados = {inicio}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533388" y="324612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fila = deque([inicio])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6533388" y="347929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ordem = []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533388" y="371246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fila: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6533388" y="394563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= fila.popleft()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6533388" y="417880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ordem.append(v)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533388" y="441198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 </a:t>
            </a: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grafo[v]: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6533388" y="464515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 </a:t>
            </a: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visitados: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6533388" y="487832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visitados.add(vizinho)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533388" y="511149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fila.append(vizinho)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6533388" y="534466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FECHANDO O SEMESTRE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vem a seguir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disciplina deu o vocabulário e o raciocínio de base. As próximas disciplinas do curso vão: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47802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860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notação O com mais rigor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508760" y="275234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Limites, casos melhor/médio/pior — o que hoje vimos de forma intuitiva.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80390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611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como código de produção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508760" y="40782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Pilhas, filas, listas ligadas, árvores balanceadas e grafos, não só conceito.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98348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12978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9377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que um algoritmo está correto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508760" y="540410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Invariantes de laço — a mesma lógica formal da Aula 04, aplicada a loops.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FINAL · SEM ENTREGA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Encontre a estrutura escondida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algoritmo ou estrutura de dados que você já usou em outra disciplina ou projeto (ex.: uma busca, uma fila de tarefas, uma árvore de diretórios) e explique, em poucas frases: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881360" cy="2880360"/>
          </a:xfrm>
          <a:prstGeom prst="roundRect">
            <a:avLst>
              <a:gd name="adj" fmla="val 3175"/>
            </a:avLst>
          </a:prstGeom>
          <a:solidFill>
            <a:srgbClr val="F3F1FB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92608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conceito desta disciplina está por trás dele (lógica, álgebra booleana, grafo ou árvore)?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versão "ingênua" (sem essa estrutura) seria pior?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 — teoria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31720"/>
            <a:ext cx="594360" cy="59436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4780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4612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T. H. et al.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2990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Algoritmos: Teoria e Prática (CLRS). Elsevier — caps. introdutórios sobre notação assintótica e análise de algoritmos.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54296" y="2331720"/>
            <a:ext cx="594360" cy="59436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4780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324612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GOODRICH, M. T.; TAMASSIA, R.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54296" y="3886200"/>
            <a:ext cx="2990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em Python. Bookman — visão geral de estruturas e sua análise de custo.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19872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394192" y="2331720"/>
            <a:ext cx="594360" cy="59436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4780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324612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ROSEN, K. H.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94192" y="3886200"/>
            <a:ext cx="2990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Discreta e suas Aplicações. 7. ed. AMGH/McGraw-Hill — cap. Algoritmos (introdução à complexidade).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e vídeos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94360" cy="59436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3865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documentação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u="sng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collections.deque</a:t>
            </a: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fila eficiente, usada no BFS.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800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u="sng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Big-O Cheat Sheet</a:t>
            </a: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referência rápida de complexidades comuns.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96596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F3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240280"/>
            <a:ext cx="594360" cy="59436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238658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83680" y="3977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u="sng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CS50 (Harvard) — Big-O e estruturas de dados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83680" y="4709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u="sng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mycodeschool — pilhas, filas, árvores, grafos, BFS/DFS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83680" y="5440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u="sng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Introdução a estruturas de dados em Python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2743200"/>
            <a:ext cx="5029200" cy="50292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114800"/>
            <a:ext cx="3840480" cy="3840480"/>
          </a:xfrm>
          <a:prstGeom prst="ellipse">
            <a:avLst/>
          </a:prstGeom>
          <a:ln w="19050">
            <a:solidFill>
              <a:srgbClr val="2FE6C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914400" cy="91440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914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822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74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do semestre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2651760"/>
            <a:ext cx="1033272" cy="9144"/>
          </a:xfrm>
          <a:prstGeom prst="line">
            <a:avLst/>
          </a:prstGeom>
          <a:noFill/>
          <a:ln w="25400">
            <a:solidFill>
              <a:srgbClr val="4A4F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47672" y="2651760"/>
            <a:ext cx="1033272" cy="9144"/>
          </a:xfrm>
          <a:prstGeom prst="line">
            <a:avLst/>
          </a:prstGeom>
          <a:noFill/>
          <a:ln w="25400">
            <a:solidFill>
              <a:srgbClr val="4A4F8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80944" y="2651760"/>
            <a:ext cx="1033272" cy="9144"/>
          </a:xfrm>
          <a:prstGeom prst="line">
            <a:avLst/>
          </a:prstGeom>
          <a:noFill/>
          <a:ln w="25400">
            <a:solidFill>
              <a:srgbClr val="4A4F8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14216" y="2651760"/>
            <a:ext cx="1033272" cy="9144"/>
          </a:xfrm>
          <a:prstGeom prst="line">
            <a:avLst/>
          </a:prstGeom>
          <a:noFill/>
          <a:ln w="25400">
            <a:solidFill>
              <a:srgbClr val="4A4F8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47488" y="2651760"/>
            <a:ext cx="1033272" cy="9144"/>
          </a:xfrm>
          <a:prstGeom prst="line">
            <a:avLst/>
          </a:prstGeom>
          <a:noFill/>
          <a:ln w="25400">
            <a:solidFill>
              <a:srgbClr val="4A4F8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0760" y="2651760"/>
            <a:ext cx="1033272" cy="9144"/>
          </a:xfrm>
          <a:prstGeom prst="line">
            <a:avLst/>
          </a:prstGeom>
          <a:noFill/>
          <a:ln w="25400">
            <a:solidFill>
              <a:srgbClr val="4A4F8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14032" y="2651760"/>
            <a:ext cx="1033272" cy="9144"/>
          </a:xfrm>
          <a:prstGeom prst="line">
            <a:avLst/>
          </a:prstGeom>
          <a:noFill/>
          <a:ln w="25400">
            <a:solidFill>
              <a:srgbClr val="4A4F8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47304" y="2651760"/>
            <a:ext cx="1033272" cy="9144"/>
          </a:xfrm>
          <a:prstGeom prst="line">
            <a:avLst/>
          </a:prstGeom>
          <a:noFill/>
          <a:ln w="25400">
            <a:solidFill>
              <a:srgbClr val="4A4F8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80576" y="2651760"/>
            <a:ext cx="1033272" cy="9144"/>
          </a:xfrm>
          <a:prstGeom prst="line">
            <a:avLst/>
          </a:prstGeom>
          <a:noFill/>
          <a:ln w="25400">
            <a:solidFill>
              <a:srgbClr val="4A4F8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13848" y="2651760"/>
            <a:ext cx="1033272" cy="9144"/>
          </a:xfrm>
          <a:prstGeom prst="line">
            <a:avLst/>
          </a:prstGeom>
          <a:noFill/>
          <a:ln w="25400">
            <a:solidFill>
              <a:srgbClr val="4A4F8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2450592"/>
            <a:ext cx="402336" cy="402336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746504" y="2450592"/>
            <a:ext cx="402336" cy="402336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746504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79776" y="2450592"/>
            <a:ext cx="402336" cy="402336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79776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813048" y="2450592"/>
            <a:ext cx="402336" cy="402336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13048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46320" y="2450592"/>
            <a:ext cx="402336" cy="402336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879592" y="2450592"/>
            <a:ext cx="402336" cy="402336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79592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912864" y="2450592"/>
            <a:ext cx="402336" cy="402336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12864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946136" y="2450592"/>
            <a:ext cx="402336" cy="402336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46136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979408" y="2450592"/>
            <a:ext cx="402336" cy="402336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979408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0012680" y="2450592"/>
            <a:ext cx="402336" cy="402336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01268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0981944" y="2386584"/>
            <a:ext cx="530352" cy="530352"/>
          </a:xfrm>
          <a:prstGeom prst="ellipse">
            <a:avLst/>
          </a:prstGeom>
          <a:solidFill>
            <a:srgbClr val="2FE6C7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981944" y="23865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40080" y="3520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é grafo sem excesso; algoritmo eficiente é matemática sem excesso.</a:t>
            </a:r>
            <a:endParaRPr lang="en-US" sz="2600" dirty="0"/>
          </a:p>
        </p:txBody>
      </p:sp>
      <p:sp>
        <p:nvSpPr>
          <p:cNvPr id="41" name="Text 38"/>
          <p:cNvSpPr/>
          <p:nvPr/>
        </p:nvSpPr>
        <p:spPr>
          <a:xfrm>
            <a:off x="1097280" y="45262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Lógica, álgebra booleana, circuitos, grafos e árvores — o mesmo raciocínio, aplicado de novo e de novo.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Encerramento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2380</Words>
  <Application>Microsoft Office PowerPoint</Application>
  <PresentationFormat>Widescreen</PresentationFormat>
  <Paragraphs>279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</cp:lastModifiedBy>
  <cp:revision>1</cp:revision>
  <dcterms:created xsi:type="dcterms:W3CDTF">2026-08-05T14:32:57Z</dcterms:created>
  <dcterms:modified xsi:type="dcterms:W3CDTF">2026-08-13T19:43:30Z</dcterms:modified>
</cp:coreProperties>
</file>