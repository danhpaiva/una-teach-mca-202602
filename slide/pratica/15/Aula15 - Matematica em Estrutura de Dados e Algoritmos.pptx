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Última aula da disciplina — tom de síntese e fechamento, não de introdução de conteúdo novo isolado.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já: esta aula não traz teoria nova isolada, é uma costura do que já foi visto.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destacar que Circuitos digitais (Aula 09) não vira uma estrutura de dados, e sim uma explicação de POR QUE o computador executa o resto — é o elo diferente da tabela.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aluno já usou lista/pilha/fila sem perceber que são grafos triviais — o ganho de destacar isso é mostrar que o vocabulário da Aula 12 se aplica em toda parte.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mesmo diagrama do material fonte (mermaid), só que desenhado como fluxo de caixas em vez de sintaxe de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claro: notação O não é sobre um caso específico, é sobre a taxa de crescimento — isso volta com força no slide de tip mais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referência ao mapa de Karnaugh (Aula 07) é proposital — é a mesma ideia de eliminar metade do espaço de busca a cada passo.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Repare que BuscaBst é uma recursão quase idêntica à em_ordem da Aula 14 — só muda a condição de qual filho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Esse contraste numérico costuma ser o momento em que a ficha cai sobre por que complexidade importa na prática, não só na teoria.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BFS/DFS aparecem aqui como O(V+E), que na prática se comporta como O(n) quando o grafo é esparso — bom gancho para o slide de BFS/DFS mais adiante.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mencionar de passagem: é exatamente esse tipo de crescimento que torna certos algoritmos inviáveis em produção mesmo estando 'corretos'.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Erro comum de aluno iniciante: confundir 'O(n) é sempre mais rápido que O(n²)' com a ideia real, que é sobre a TAXA de crescimento, não valores absolutos para um n pequeno.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BFS/DFS não são conceitos novos — é o eh_conexo da Aula 12 e a travessia recursiva da Aula 14, só que formalizados com nome próprio.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EhConexo da Aula 12 já era um BFS/DFS disfarçado (usava Stack) — vale apontar essa conexão explicitamente para o aluno.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DFS fica como exercício mental: é o mesmo código trocando deque/Queue por uma pilha (list.pop() sem argumento, ou Stack&lt;T&gt; em C#).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hora para relembrar que 'invariante de laço' já apareceu implicitamente em EhConexo (Aula 12): o HashSet de visitados nunca encolhe.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entrega formal — o objetivo é o aluno perceber sozinho que já usa esses conceitos fora da disciplina, sem que a resposta seja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CLRS é a referência canônica de complexidade — vale indicar como o próximo passo natural de leitura para quem quiser se aprofundar antes da próxima disciplina.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de busca do YouTube — resultados variam com o tempo, então vale conferir antes de indicar em aula.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encerramento do semestre inteiro, não só da aula — a timeline mostra as aulas efetivamente construídas nesta série, pulando os gaps conhecidos (08, 10, 11, 13).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collections.html#collections.deque" TargetMode="External"/><Relationship Id="rId3" Type="http://schemas.openxmlformats.org/officeDocument/2006/relationships/hyperlink" Target="https://www.bigocheatsheet.com/" TargetMode="External"/><Relationship Id="rId5" Type="http://schemas.openxmlformats.org/officeDocument/2006/relationships/hyperlink" Target="https://www.youtube.com/results?search_query=cs50+big+o+notation+data+structures" TargetMode="External"/><Relationship Id="rId6" Type="http://schemas.openxmlformats.org/officeDocument/2006/relationships/hyperlink" Target="https://www.youtube.com/results?search_query=mycodeschool+data+structures+bfs+dfs" TargetMode="External"/><Relationship Id="rId7" Type="http://schemas.openxmlformats.org/officeDocument/2006/relationships/hyperlink" Target="https://www.youtube.com/results?search_query=introdu%C3%A7%C3%A3o+estruturas+de+dados+python+pilha+fila+arvore" TargetMode="External"/><Relationship Id="rId1" Type="http://schemas.openxmlformats.org/officeDocument/2006/relationships/image" Target="../media/image-19-1.png"/><Relationship Id="rId4" Type="http://schemas.openxmlformats.org/officeDocument/2006/relationships/image" Target="../media/image-19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2377440"/>
            <a:ext cx="5669280" cy="5669280"/>
          </a:xfrm>
          <a:prstGeom prst="ellipse">
            <a:avLst/>
          </a:prstGeom>
          <a:ln w="19050">
            <a:solidFill>
              <a:srgbClr val="2FE6C7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663440"/>
            <a:ext cx="3108960" cy="3108960"/>
          </a:xfrm>
          <a:prstGeom prst="ellipse">
            <a:avLst/>
          </a:prstGeom>
          <a:ln w="19050">
            <a:solidFill>
              <a:srgbClr val="6C4BC1">
                <a:alpha val="6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alphaModFix amt="22000"/>
          </a:blip>
          <a:stretch>
            <a:fillRect/>
          </a:stretch>
        </p:blipFill>
        <p:spPr>
          <a:xfrm>
            <a:off x="9784080" y="-182880"/>
            <a:ext cx="2468880" cy="24688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0515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94360" y="2331720"/>
            <a:ext cx="91440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Aula 15</a:t>
            </a:r>
            <a:endParaRPr lang="en-US" sz="6200" dirty="0"/>
          </a:p>
        </p:txBody>
      </p:sp>
      <p:sp>
        <p:nvSpPr>
          <p:cNvPr id="7" name="Text 4"/>
          <p:cNvSpPr/>
          <p:nvPr/>
        </p:nvSpPr>
        <p:spPr>
          <a:xfrm>
            <a:off x="640080" y="352044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1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em estrutura de dados e na aplicação em algoritmos</a:t>
            </a:r>
            <a:endParaRPr lang="en-US" sz="2100" dirty="0"/>
          </a:p>
        </p:txBody>
      </p:sp>
      <p:sp>
        <p:nvSpPr>
          <p:cNvPr id="8" name="Text 5"/>
          <p:cNvSpPr/>
          <p:nvPr/>
        </p:nvSpPr>
        <p:spPr>
          <a:xfrm>
            <a:off x="640080" y="4526280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da disciplina: tudo o que vimos vira código de verdade.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9436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F76B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lógica     grafos     árvores     O(n)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15 · ROTEIRO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Nesta aula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24942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36192" y="20574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tudo vira estrutura de dados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1536192" y="254203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Lógica, álgebra booleana, grafos e árvores, todos formalizados de novo em código.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40080" y="361188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758184"/>
            <a:ext cx="329184" cy="329184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36192" y="35661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primeira ideia de complexidade</a:t>
            </a:r>
            <a:endParaRPr lang="en-US" sz="1700" dirty="0"/>
          </a:p>
        </p:txBody>
      </p:sp>
      <p:sp>
        <p:nvSpPr>
          <p:cNvPr id="11" name="Text 7"/>
          <p:cNvSpPr/>
          <p:nvPr/>
        </p:nvSpPr>
        <p:spPr>
          <a:xfrm>
            <a:off x="1536192" y="405079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notação O — como comparar dois algoritmos que resolvem o mesmo problema.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120640"/>
            <a:ext cx="621792" cy="621792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266944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36192" y="50749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7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 da disciplina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1536192" y="55595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a seguir nas próximas disciplinas do curso.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LIGANDO OS PONTOS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418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Amarrando o fio da meada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tema desta disciplina é, na prática, uma estrutura de dados ou ferramenta de análise que você vai reencontrar (e formalizar) em Estrutura de Dados e Algoritmos: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48840"/>
          <a:ext cx="108813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7772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Tema da disciplina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Vira, na prática...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 proposicional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condições (if), invariantes de laço, pré/pós-condições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Álgebra booleana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manipulação de bits, flags, otimizações de baixo nível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Circuitos digitais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que o hardware "entende" o código que você escreve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Grafos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redes, mapas, dependências, algoritmos de busca (BFS/DFS)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C4BC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Árvores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listas ordenadas eficientes (BST), hierarquias, parsing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O CAPÔ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grafos e árvores a estruturas de dados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estrutura de dados é uma forma organizada de guardar informação para que certas operações sejam rápidas. Muitas das mais usadas são grafos ou árvores por baixo dos panos: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40080" y="2331720"/>
            <a:ext cx="3429000" cy="3246120"/>
          </a:xfrm>
          <a:prstGeom prst="roundRect">
            <a:avLst>
              <a:gd name="adj" fmla="val 3944"/>
            </a:avLst>
          </a:prstGeom>
          <a:solidFill>
            <a:srgbClr val="F3F1FB"/>
          </a:solidFill>
          <a:ln/>
        </p:spPr>
      </p:sp>
      <p:sp>
        <p:nvSpPr>
          <p:cNvPr id="8" name="Shape 5"/>
          <p:cNvSpPr/>
          <p:nvPr/>
        </p:nvSpPr>
        <p:spPr>
          <a:xfrm>
            <a:off x="2007108" y="2624328"/>
            <a:ext cx="694944" cy="69494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3412" y="2770632"/>
            <a:ext cx="402336" cy="40233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22960" y="35387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/ pilha / fila</a:t>
            </a:r>
            <a:endParaRPr lang="en-US" sz="1550" dirty="0"/>
          </a:p>
        </p:txBody>
      </p:sp>
      <p:sp>
        <p:nvSpPr>
          <p:cNvPr id="11" name="Text 7"/>
          <p:cNvSpPr/>
          <p:nvPr/>
        </p:nvSpPr>
        <p:spPr>
          <a:xfrm>
            <a:off x="914400" y="41605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Sequências lineares — o caso mais simples de grafo: cada elemento aponta só para o próximo.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4361688" y="2331720"/>
            <a:ext cx="3429000" cy="3246120"/>
          </a:xfrm>
          <a:prstGeom prst="roundRect">
            <a:avLst>
              <a:gd name="adj" fmla="val 3944"/>
            </a:avLst>
          </a:prstGeom>
          <a:solidFill>
            <a:srgbClr val="F3F1FB"/>
          </a:solidFill>
          <a:ln/>
        </p:spPr>
      </p:sp>
      <p:sp>
        <p:nvSpPr>
          <p:cNvPr id="13" name="Shape 9"/>
          <p:cNvSpPr/>
          <p:nvPr/>
        </p:nvSpPr>
        <p:spPr>
          <a:xfrm>
            <a:off x="5728716" y="2624328"/>
            <a:ext cx="694944" cy="69494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5020" y="2770632"/>
            <a:ext cx="402336" cy="40233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544568" y="35387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 binária de busca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4636008" y="41605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inserção e remoção em O(log n) no caso médio, contra O(n) de uma lista (Aula 14).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083296" y="2331720"/>
            <a:ext cx="3429000" cy="3246120"/>
          </a:xfrm>
          <a:prstGeom prst="roundRect">
            <a:avLst>
              <a:gd name="adj" fmla="val 3944"/>
            </a:avLst>
          </a:prstGeom>
          <a:solidFill>
            <a:srgbClr val="F3F1FB"/>
          </a:solidFill>
          <a:ln/>
        </p:spPr>
      </p:sp>
      <p:sp>
        <p:nvSpPr>
          <p:cNvPr id="18" name="Shape 13"/>
          <p:cNvSpPr/>
          <p:nvPr/>
        </p:nvSpPr>
        <p:spPr>
          <a:xfrm>
            <a:off x="9450324" y="2624328"/>
            <a:ext cx="694944" cy="69494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6628" y="2770632"/>
            <a:ext cx="402336" cy="402336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266176" y="353872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 de adjacência</a:t>
            </a:r>
            <a:endParaRPr lang="en-US" sz="1550" dirty="0"/>
          </a:p>
        </p:txBody>
      </p:sp>
      <p:sp>
        <p:nvSpPr>
          <p:cNvPr id="21" name="Text 15"/>
          <p:cNvSpPr/>
          <p:nvPr/>
        </p:nvSpPr>
        <p:spPr>
          <a:xfrm>
            <a:off x="8357616" y="4160520"/>
            <a:ext cx="2880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redes diretamente (Aula 12) — base de algoritmos de rotas, recomendação e redes sociais.</a:t>
            </a:r>
            <a:endParaRPr lang="en-US" sz="1200" dirty="0"/>
          </a:p>
        </p:txBody>
      </p:sp>
      <p:sp>
        <p:nvSpPr>
          <p:cNvPr id="22" name="Text 1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QUADRO GERAL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teoria aos algoritmos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914400" y="169164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6C4BC1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</a:t>
            </a:r>
            <a:endParaRPr lang="en-US" sz="12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proposicional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29000" y="169164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6C4BC1"/>
          </a:solidFill>
          <a:ln/>
        </p:spPr>
      </p:sp>
      <p:sp>
        <p:nvSpPr>
          <p:cNvPr id="7" name="Text 5"/>
          <p:cNvSpPr/>
          <p:nvPr/>
        </p:nvSpPr>
        <p:spPr>
          <a:xfrm>
            <a:off x="34290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Álgebra</a:t>
            </a:r>
            <a:endParaRPr lang="en-US" sz="12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booleana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943600" y="169164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6C4BC1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58200" y="169164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6C4BC1"/>
          </a:solidFill>
          <a:ln/>
        </p:spPr>
      </p:sp>
      <p:sp>
        <p:nvSpPr>
          <p:cNvPr id="11" name="Text 9"/>
          <p:cNvSpPr/>
          <p:nvPr/>
        </p:nvSpPr>
        <p:spPr>
          <a:xfrm>
            <a:off x="8458200" y="169164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Árvores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14400" y="292608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F3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914400" y="29260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29000" y="292608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F3F1FB"/>
          </a:solidFill>
          <a:ln/>
        </p:spPr>
      </p:sp>
      <p:sp>
        <p:nvSpPr>
          <p:cNvPr id="15" name="Text 13"/>
          <p:cNvSpPr/>
          <p:nvPr/>
        </p:nvSpPr>
        <p:spPr>
          <a:xfrm>
            <a:off x="3429000" y="29260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Manipulação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bits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943600" y="292608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F3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0" y="29260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Redes /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BFS-DFS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58200" y="2926080"/>
            <a:ext cx="2331720" cy="685800"/>
          </a:xfrm>
          <a:prstGeom prst="roundRect">
            <a:avLst>
              <a:gd name="adj" fmla="val 10667"/>
            </a:avLst>
          </a:prstGeom>
          <a:solidFill>
            <a:srgbClr val="F3F1FB"/>
          </a:solidFill>
          <a:ln/>
        </p:spPr>
      </p:sp>
      <p:sp>
        <p:nvSpPr>
          <p:cNvPr id="19" name="Text 17"/>
          <p:cNvSpPr/>
          <p:nvPr/>
        </p:nvSpPr>
        <p:spPr>
          <a:xfrm>
            <a:off x="8458200" y="2926080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 eficiente</a:t>
            </a:r>
            <a:endParaRPr lang="en-US" sz="1200" dirty="0"/>
          </a:p>
          <a:p>
            <a:pPr algn="ctr" indent="0" marL="0">
              <a:lnSpc>
                <a:spcPts val="1400"/>
              </a:lnSpc>
              <a:buNone/>
            </a:pPr>
            <a:r>
              <a:rPr lang="en-US" sz="12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O(log n)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651760" y="4434840"/>
            <a:ext cx="6858000" cy="914400"/>
          </a:xfrm>
          <a:prstGeom prst="roundRect">
            <a:avLst>
              <a:gd name="adj" fmla="val 12000"/>
            </a:avLst>
          </a:prstGeom>
          <a:solidFill>
            <a:srgbClr val="141B41"/>
          </a:solidFill>
          <a:ln/>
        </p:spPr>
      </p:sp>
      <p:sp>
        <p:nvSpPr>
          <p:cNvPr id="21" name="Text 19"/>
          <p:cNvSpPr/>
          <p:nvPr/>
        </p:nvSpPr>
        <p:spPr>
          <a:xfrm>
            <a:off x="2651760" y="44348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Algoritmos corretos e eficientes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2080260" y="2377440"/>
            <a:ext cx="9144" cy="475488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080260" y="3611880"/>
            <a:ext cx="3928848" cy="80822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4594860" y="2377440"/>
            <a:ext cx="9144" cy="475488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4594860" y="3611880"/>
            <a:ext cx="1421907" cy="787518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109460" y="2377440"/>
            <a:ext cx="9144" cy="475488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6137882" y="3611880"/>
            <a:ext cx="971578" cy="777262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9624060" y="2377440"/>
            <a:ext cx="9144" cy="475488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 flipV="1">
            <a:off x="6152015" y="3611880"/>
            <a:ext cx="3472045" cy="80641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  <a:headEnd type="triangle"/>
          </a:ln>
        </p:spPr>
      </p:sp>
      <p:sp>
        <p:nvSpPr>
          <p:cNvPr id="30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9232" y="1426464"/>
            <a:ext cx="713232" cy="713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88720" y="2606040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primeira ideia de complexidade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1920240" y="3611880"/>
            <a:ext cx="8321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operações um algoritmo faz conforme a entrada cresce? A mesma matemática do semestre, aplicada a código.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COMPARANDO DUAS ESTRATÉGIAS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Buscar um valor: lista vs. BST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10881360" cy="1051560"/>
          </a:xfrm>
          <a:prstGeom prst="roundRect">
            <a:avLst>
              <a:gd name="adj" fmla="val 8696"/>
            </a:avLst>
          </a:prstGeom>
          <a:solidFill>
            <a:srgbClr val="F3F1FB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69164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lista de n elementos, buscar no pior caso exige olhar todos os n elementos: O(n).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640080" y="288036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141B41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880360"/>
            <a:ext cx="10332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BST balanceada, cada comparação elimina metade dos candidatos restantes — o mesmo princípio de "descartar metade" de um mapa de Karnaugh bem agrupado. Isso leva a O(log n) comparações.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1.000.000: a lista pode exigir 1 milhão de comparações; a árvore balanceada, cerca de 20.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MESMA IDEIA, EM CÓDIGO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Busca em lista vs. em BST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função conta quantas comparações fez até encontrar o alvo (ou desistir).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0660" cy="4617720"/>
          </a:xfrm>
          <a:prstGeom prst="roundRect">
            <a:avLst>
              <a:gd name="adj" fmla="val 2772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92938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31343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BuscaLista(List&lt;int&gt; lista,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alvo) {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32688" y="254660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 = 0;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32688" y="277977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foreach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item in lista) {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2688" y="301294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comparacoes++;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32688" y="324612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(item == alvo)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comparacoes;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32688" y="347929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2688" y="371246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comparacoes;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2688" y="394563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32688" y="417880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int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BuscaBst(No no,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alvo,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 = 0) {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2688" y="441198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comparacoes++;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32688" y="464515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(no ==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no.Valor == alvo)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32688" y="487832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comparacoes;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2688" y="511149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(alvo &lt; no.Valor)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32688" y="534466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BuscaBst(no.Esquerda, alvo, comparacoes);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2688" y="557784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BuscaBst(no.Direita, alvo, comparacoes);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2688" y="581101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40780" y="1783080"/>
            <a:ext cx="5280660" cy="4389120"/>
          </a:xfrm>
          <a:prstGeom prst="roundRect">
            <a:avLst>
              <a:gd name="adj" fmla="val 2917"/>
            </a:avLst>
          </a:prstGeom>
          <a:solidFill>
            <a:srgbClr val="232C6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968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9" name="Shape 26"/>
          <p:cNvSpPr/>
          <p:nvPr/>
        </p:nvSpPr>
        <p:spPr>
          <a:xfrm>
            <a:off x="66979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30" name="Shape 27"/>
          <p:cNvSpPr/>
          <p:nvPr/>
        </p:nvSpPr>
        <p:spPr>
          <a:xfrm>
            <a:off x="68991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1" name="Text 28"/>
          <p:cNvSpPr/>
          <p:nvPr/>
        </p:nvSpPr>
        <p:spPr>
          <a:xfrm>
            <a:off x="71551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busca.py</a:t>
            </a:r>
            <a:endParaRPr lang="en-US" sz="10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929384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3388" y="231343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busca_lista(lista, alvo):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6533388" y="254660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comparacoes = 0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33388" y="277977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lista: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533388" y="301294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comparacoes += 1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6533388" y="324612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 == alvo: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6533388" y="347929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533388" y="371246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6533388" y="394563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6533388" y="417880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busca_bst(no, alvo, comparacoes=0):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533388" y="441198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comparacoes += 1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533388" y="464515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 None or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no.valor == alvo: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6533388" y="487832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comparacoes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533388" y="511149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&lt; no.valor:</a:t>
            </a:r>
            <a:endParaRPr lang="en-US" sz="1000" dirty="0"/>
          </a:p>
        </p:txBody>
      </p:sp>
      <p:sp>
        <p:nvSpPr>
          <p:cNvPr id="46" name="Text 42"/>
          <p:cNvSpPr/>
          <p:nvPr/>
        </p:nvSpPr>
        <p:spPr>
          <a:xfrm>
            <a:off x="6533388" y="534466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busca_bst(no.esquerda, alvo, comparacoes)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6533388" y="557784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busca_bst(no.direita, alvo, comparacoes)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-1828800"/>
            <a:ext cx="4572000" cy="45720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COLOCANDO NÚMEROS NA CONTA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09728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9232" y="1243584"/>
            <a:ext cx="713232" cy="71323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194560" y="2377440"/>
            <a:ext cx="7772400" cy="868680"/>
          </a:xfrm>
          <a:prstGeom prst="roundRect">
            <a:avLst>
              <a:gd name="adj" fmla="val 12632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2194560" y="237744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1.000.000  vs.  ~20 comparações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347472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5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1.000.000 elementos: a lista pode exigir 1 milhão de comparações no pior caso. A BST balanceada resolve em cerca de 20 — cada passo elimina metade dos candidatos.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MELHOR PARA O PIOR CASO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Complexidades comuns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71323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Notação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 de operação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4BC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O(1)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acessar um elemento de uma lista pelo índice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O(log n)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logarítmica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buscar um valor numa BST balanceada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percorrer uma lista inteira (BFS/DFS também são O(V+E))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 log n)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quasilinear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ordenar uma lista com um bom algoritmo de ordenação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6C4BC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O(n²)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B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quadrática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6B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comparar cada elemento de uma lista com todos os outros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54864" marB="54864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FB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Quanto mais à direita na tabela, mais devagar o algoritmo fica conforme n cresce.</a:t>
            </a:r>
            <a:endParaRPr lang="en-US" sz="1250" dirty="0"/>
          </a:p>
        </p:txBody>
      </p:sp>
      <p:sp>
        <p:nvSpPr>
          <p:cNvPr id="6" name="Text 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4114800"/>
            <a:ext cx="3840480" cy="3840480"/>
          </a:xfrm>
          <a:prstGeom prst="ellipse">
            <a:avLst/>
          </a:prstGeom>
          <a:ln w="19050">
            <a:solidFill>
              <a:srgbClr val="2FE6C7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DIFERENÇA QUE O CRESCIMENTO FAZ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592928" y="109728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0088" y="1234440"/>
            <a:ext cx="731520" cy="731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554480" y="2377440"/>
            <a:ext cx="9144000" cy="868680"/>
          </a:xfrm>
          <a:prstGeom prst="roundRect">
            <a:avLst>
              <a:gd name="adj" fmla="val 12632"/>
            </a:avLst>
          </a:prstGeom>
          <a:solidFill>
            <a:srgbClr val="232C63"/>
          </a:solidFill>
          <a:ln w="12700">
            <a:solidFill>
              <a:srgbClr val="2FE6C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554480" y="23774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O(n) ≈ 1.000.000     vs.     O(n²) ≈ 1.000.000.000.000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1828800" y="3474720"/>
            <a:ext cx="8503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n = 1.000.000: um algoritmo O(n) faz cerca de 1 milhão de operações; um O(n²), cerca de 1 trilhão. A diferença parece pequena para n=10, mas explode conforme n cresce.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CUIDADO NA LEITURA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40080" y="749808"/>
            <a:ext cx="548640" cy="548640"/>
          </a:xfrm>
          <a:prstGeom prst="ellipse">
            <a:avLst/>
          </a:prstGeom>
          <a:solidFill>
            <a:srgbClr val="E8B32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896112"/>
            <a:ext cx="256032" cy="25603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77240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Notação O é sobre crescimento, não um caso só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40080" y="2148840"/>
            <a:ext cx="10881360" cy="1554480"/>
          </a:xfrm>
          <a:prstGeom prst="roundRect">
            <a:avLst>
              <a:gd name="adj" fmla="val 7059"/>
            </a:avLst>
          </a:prstGeom>
          <a:solidFill>
            <a:srgbClr val="141B41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4884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O(n) e O(log n) descrevem como o NÚMERO DE OPERAÇÕES CRESCE conforme n cresce — não quantas operações acontecem para um n específico.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640080" y="402336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3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mesma ideia de generalizar usada para provar que "toda árvore com n vértices tem n − 1 arestas": vale para qualquer n, não só para o exemplo desenhado.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6C4BC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486400" cy="5486400"/>
          </a:xfrm>
          <a:prstGeom prst="ellipse">
            <a:avLst/>
          </a:prstGeom>
          <a:ln w="1905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645920" y="4389120"/>
            <a:ext cx="3291840" cy="3291840"/>
          </a:xfrm>
          <a:prstGeom prst="ellipse">
            <a:avLst/>
          </a:prstGeom>
          <a:ln w="19050">
            <a:solidFill>
              <a:srgbClr val="2FE6C7">
                <a:alpha val="5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592928" y="1280160"/>
            <a:ext cx="1005840" cy="100584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9232" y="1426464"/>
            <a:ext cx="713232" cy="7132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060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BFS e DFS: dois algoritmos que você já entende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2103120" y="3611880"/>
            <a:ext cx="7955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E4DF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Percorrer um grafo por camadas ou até o fim de um ramo — a mesma travessia da Aula 12, agora com nome.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 VS. PILHA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BFS e DFS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Ambos visitam cada vértice e cada aresta uma vez — por isso rodam em O(V + E), tempo proporcional ao tamanho do grafo.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 flipV="1">
            <a:off x="1645920" y="2834640"/>
            <a:ext cx="1097280" cy="137160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0" y="2834640"/>
            <a:ext cx="1097280" cy="1371600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45920" y="4206240"/>
            <a:ext cx="219456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0" y="4206240"/>
            <a:ext cx="1645920" cy="9144"/>
          </a:xfrm>
          <a:prstGeom prst="line">
            <a:avLst/>
          </a:prstGeom>
          <a:noFill/>
          <a:ln w="31750">
            <a:solidFill>
              <a:srgbClr val="6B6B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432304" y="25237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32304" y="2523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1335024" y="38953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5024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3529584" y="38953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29584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5175504" y="3895344"/>
            <a:ext cx="621792" cy="621792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5504" y="38953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914400" y="502920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mesmo grafo A-B-C-D da Aula 12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675120" y="2194560"/>
            <a:ext cx="484632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19" name="Shape 17"/>
          <p:cNvSpPr/>
          <p:nvPr/>
        </p:nvSpPr>
        <p:spPr>
          <a:xfrm>
            <a:off x="6903720" y="2395728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2" y="2514600"/>
            <a:ext cx="265176" cy="265176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7543800" y="237744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— Busca em Largura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6949440" y="306324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uma fila. Visita todos os vizinhos de um vértice antes de avançar para o próximo nível — camada por camada.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675120" y="3977640"/>
            <a:ext cx="4846320" cy="1554480"/>
          </a:xfrm>
          <a:prstGeom prst="roundRect">
            <a:avLst>
              <a:gd name="adj" fmla="val 5882"/>
            </a:avLst>
          </a:prstGeom>
          <a:solidFill>
            <a:srgbClr val="F3F1FB"/>
          </a:solidFill>
          <a:ln/>
        </p:spPr>
      </p:sp>
      <p:sp>
        <p:nvSpPr>
          <p:cNvPr id="24" name="Shape 21"/>
          <p:cNvSpPr/>
          <p:nvPr/>
        </p:nvSpPr>
        <p:spPr>
          <a:xfrm>
            <a:off x="6903720" y="4178808"/>
            <a:ext cx="502920" cy="50292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2" y="4297680"/>
            <a:ext cx="265176" cy="265176"/>
          </a:xfrm>
          <a:prstGeom prst="rect">
            <a:avLst/>
          </a:prstGeom>
        </p:spPr>
      </p:pic>
      <p:sp>
        <p:nvSpPr>
          <p:cNvPr id="26" name="Text 22"/>
          <p:cNvSpPr/>
          <p:nvPr/>
        </p:nvSpPr>
        <p:spPr>
          <a:xfrm>
            <a:off x="7543800" y="41605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50" b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— Busca em Profundidade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6949440" y="48463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uma pilha (ou recursão, como a travessia em-ordem da Aula 14). Vai até o fim de um ramo antes de voltar.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FILA EM 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BFS em código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um vértice, visita a fila em ordem — quem entra primeiro, sai primeiro.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5280660" cy="4617720"/>
          </a:xfrm>
          <a:prstGeom prst="roundRect">
            <a:avLst>
              <a:gd name="adj" fmla="val 2772"/>
            </a:avLst>
          </a:prstGeom>
          <a:solidFill>
            <a:srgbClr val="232C63"/>
          </a:solidFill>
          <a:ln/>
        </p:spPr>
      </p:sp>
      <p:sp>
        <p:nvSpPr>
          <p:cNvPr id="6" name="Shape 4"/>
          <p:cNvSpPr/>
          <p:nvPr/>
        </p:nvSpPr>
        <p:spPr>
          <a:xfrm>
            <a:off x="8961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7" name="Shape 5"/>
          <p:cNvSpPr/>
          <p:nvPr/>
        </p:nvSpPr>
        <p:spPr>
          <a:xfrm>
            <a:off x="10972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8" name="Shape 6"/>
          <p:cNvSpPr/>
          <p:nvPr/>
        </p:nvSpPr>
        <p:spPr>
          <a:xfrm>
            <a:off x="12984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9" name="Text 7"/>
          <p:cNvSpPr/>
          <p:nvPr/>
        </p:nvSpPr>
        <p:spPr>
          <a:xfrm>
            <a:off x="15544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Bfs.cs</a:t>
            </a:r>
            <a:endParaRPr lang="en-US" sz="10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17820" y="1929384"/>
            <a:ext cx="274320" cy="27432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32688" y="231343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List&lt;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&gt; Bfs(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32688" y="254660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Dictionary&lt;string, List&lt;string&gt;&gt; grafo,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932688" y="277977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inicio) {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932688" y="301294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visitados =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HashSet&lt;string&gt; { inicio };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932688" y="324612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fila =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Queue&lt;string&gt;();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932688" y="347929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fila.Enqueue(inicio);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932688" y="371246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var ordem =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List&lt;string&gt;();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932688" y="394563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(fila.Count &gt; 0) {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32688" y="417880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var v = fila.Dequeue();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932688" y="441198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ordem.Add(v);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32688" y="464515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foreach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(var vizinho in grafo[v])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932688" y="487832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(visitados.Add(vizinho))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932688" y="511149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fila.Enqueue(vizinho);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932688" y="534466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932688" y="557784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ordem;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932688" y="581101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6240780" y="1783080"/>
            <a:ext cx="5280660" cy="4069080"/>
          </a:xfrm>
          <a:prstGeom prst="roundRect">
            <a:avLst>
              <a:gd name="adj" fmla="val 3146"/>
            </a:avLst>
          </a:prstGeom>
          <a:solidFill>
            <a:srgbClr val="232C63"/>
          </a:solidFill>
          <a:ln/>
        </p:spPr>
      </p:sp>
      <p:sp>
        <p:nvSpPr>
          <p:cNvPr id="28" name="Shape 25"/>
          <p:cNvSpPr/>
          <p:nvPr/>
        </p:nvSpPr>
        <p:spPr>
          <a:xfrm>
            <a:off x="6496812" y="2002536"/>
            <a:ext cx="109728" cy="109728"/>
          </a:xfrm>
          <a:prstGeom prst="ellipse">
            <a:avLst/>
          </a:prstGeom>
          <a:solidFill>
            <a:srgbClr val="E5533D"/>
          </a:solidFill>
          <a:ln/>
        </p:spPr>
      </p:sp>
      <p:sp>
        <p:nvSpPr>
          <p:cNvPr id="29" name="Shape 26"/>
          <p:cNvSpPr/>
          <p:nvPr/>
        </p:nvSpPr>
        <p:spPr>
          <a:xfrm>
            <a:off x="6697980" y="2002536"/>
            <a:ext cx="109728" cy="109728"/>
          </a:xfrm>
          <a:prstGeom prst="ellipse">
            <a:avLst/>
          </a:prstGeom>
          <a:solidFill>
            <a:srgbClr val="E8B324"/>
          </a:solidFill>
          <a:ln/>
        </p:spPr>
      </p:sp>
      <p:sp>
        <p:nvSpPr>
          <p:cNvPr id="30" name="Shape 27"/>
          <p:cNvSpPr/>
          <p:nvPr/>
        </p:nvSpPr>
        <p:spPr>
          <a:xfrm>
            <a:off x="6899148" y="2002536"/>
            <a:ext cx="109728" cy="109728"/>
          </a:xfrm>
          <a:prstGeom prst="ellipse">
            <a:avLst/>
          </a:prstGeom>
          <a:solidFill>
            <a:srgbClr val="3EBD59"/>
          </a:solidFill>
          <a:ln/>
        </p:spPr>
      </p:sp>
      <p:sp>
        <p:nvSpPr>
          <p:cNvPr id="31" name="Text 28"/>
          <p:cNvSpPr/>
          <p:nvPr/>
        </p:nvSpPr>
        <p:spPr>
          <a:xfrm>
            <a:off x="7155180" y="1943100"/>
            <a:ext cx="38176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bfs.py</a:t>
            </a:r>
            <a:endParaRPr lang="en-US" sz="10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1929384"/>
            <a:ext cx="274320" cy="27432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3388" y="231343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deque</a:t>
            </a:r>
            <a:endParaRPr lang="en-US" sz="1000" dirty="0"/>
          </a:p>
        </p:txBody>
      </p:sp>
      <p:sp>
        <p:nvSpPr>
          <p:cNvPr id="34" name="Text 30"/>
          <p:cNvSpPr/>
          <p:nvPr/>
        </p:nvSpPr>
        <p:spPr>
          <a:xfrm>
            <a:off x="6533388" y="254660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6533388" y="277977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bfs(grafo, inicio):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6533388" y="301294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visitados = {inicio}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6533388" y="324612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 = deque([inicio])</a:t>
            </a:r>
            <a:endParaRPr lang="en-US" sz="1000" dirty="0"/>
          </a:p>
        </p:txBody>
      </p:sp>
      <p:sp>
        <p:nvSpPr>
          <p:cNvPr id="38" name="Text 34"/>
          <p:cNvSpPr/>
          <p:nvPr/>
        </p:nvSpPr>
        <p:spPr>
          <a:xfrm>
            <a:off x="6533388" y="347929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[]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533388" y="371246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fila:</a:t>
            </a:r>
            <a:endParaRPr lang="en-US" sz="1000" dirty="0"/>
          </a:p>
        </p:txBody>
      </p:sp>
      <p:sp>
        <p:nvSpPr>
          <p:cNvPr id="40" name="Text 36"/>
          <p:cNvSpPr/>
          <p:nvPr/>
        </p:nvSpPr>
        <p:spPr>
          <a:xfrm>
            <a:off x="6533388" y="394563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v = fila.popleft()</a:t>
            </a:r>
            <a:endParaRPr lang="en-US" sz="1000" dirty="0"/>
          </a:p>
        </p:txBody>
      </p:sp>
      <p:sp>
        <p:nvSpPr>
          <p:cNvPr id="41" name="Text 37"/>
          <p:cNvSpPr/>
          <p:nvPr/>
        </p:nvSpPr>
        <p:spPr>
          <a:xfrm>
            <a:off x="6533388" y="417880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ordem.append(v)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533388" y="4411980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grafo[v]:</a:t>
            </a:r>
            <a:endParaRPr lang="en-US" sz="1000" dirty="0"/>
          </a:p>
        </p:txBody>
      </p:sp>
      <p:sp>
        <p:nvSpPr>
          <p:cNvPr id="43" name="Text 39"/>
          <p:cNvSpPr/>
          <p:nvPr/>
        </p:nvSpPr>
        <p:spPr>
          <a:xfrm>
            <a:off x="6533388" y="4645152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if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vizinho </a:t>
            </a:r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in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visitados:</a:t>
            </a:r>
            <a:endParaRPr lang="en-US" sz="1000" dirty="0"/>
          </a:p>
        </p:txBody>
      </p:sp>
      <p:sp>
        <p:nvSpPr>
          <p:cNvPr id="44" name="Text 40"/>
          <p:cNvSpPr/>
          <p:nvPr/>
        </p:nvSpPr>
        <p:spPr>
          <a:xfrm>
            <a:off x="6533388" y="4878324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visitados.add(vizinho)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533388" y="5111496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fila.append(vizinho)</a:t>
            </a:r>
            <a:endParaRPr lang="en-US" sz="1000" dirty="0"/>
          </a:p>
        </p:txBody>
      </p:sp>
      <p:sp>
        <p:nvSpPr>
          <p:cNvPr id="46" name="Text 42"/>
          <p:cNvSpPr/>
          <p:nvPr/>
        </p:nvSpPr>
        <p:spPr>
          <a:xfrm>
            <a:off x="6533388" y="5344668"/>
            <a:ext cx="4732020" cy="233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FE6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</a:t>
            </a:r>
            <a:pPr indent="0" marL="0">
              <a:buNone/>
            </a:pPr>
            <a:r>
              <a:rPr lang="en-US" sz="1000" dirty="0">
                <a:solidFill>
                  <a:srgbClr val="E7E5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ordem</a:t>
            </a:r>
            <a:endParaRPr lang="en-US" sz="1000" dirty="0"/>
          </a:p>
        </p:txBody>
      </p:sp>
      <p:sp>
        <p:nvSpPr>
          <p:cNvPr id="47" name="Text 4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FECHANDO O SEMESTRE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601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 seguir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463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 disciplina deu o vocabulário e o raciocínio de base. As próximas disciplinas do curso vão: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2478024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08760" y="228600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Formalizar notação O com mais rigor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508760" y="275234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Limites, casos melhor/médio/pior — o que hoje vimos de forma intuitiva.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65760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" y="3803904"/>
            <a:ext cx="310896" cy="31089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08760" y="361188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como código de produção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1508760" y="407822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Pilhas, filas, listas ligadas, árvores balanceadas e grafos, não só conceito.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983480"/>
            <a:ext cx="603504" cy="603504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" y="5129784"/>
            <a:ext cx="310896" cy="31089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08760" y="49377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65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Provar que um algoritmo está correto</a:t>
            </a:r>
            <a:endParaRPr lang="en-US" sz="1650" dirty="0"/>
          </a:p>
        </p:txBody>
      </p:sp>
      <p:sp>
        <p:nvSpPr>
          <p:cNvPr id="16" name="Text 11"/>
          <p:cNvSpPr/>
          <p:nvPr/>
        </p:nvSpPr>
        <p:spPr>
          <a:xfrm>
            <a:off x="1508760" y="540410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Invariantes de laço — a mesma lógica formal da Aula 04, aplicada a loops.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777240"/>
            <a:ext cx="566928" cy="566928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92354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41732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FINAL · SEM ENTREGA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1417320" y="1033272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Encontre a estrutura escondida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640080" y="178308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Escolha um algoritmo ou estrutura de dados que você já usou em outra disciplina ou projeto (ex.: uma busca, uma fila de tarefas, uma árvore de diretórios) e explique, em poucas frases: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640080" y="2606040"/>
            <a:ext cx="10881360" cy="2880360"/>
          </a:xfrm>
          <a:prstGeom prst="roundRect">
            <a:avLst>
              <a:gd name="adj" fmla="val 3175"/>
            </a:avLst>
          </a:prstGeom>
          <a:solidFill>
            <a:srgbClr val="F3F1FB"/>
          </a:solidFill>
          <a:ln/>
        </p:spPr>
      </p:sp>
      <p:sp>
        <p:nvSpPr>
          <p:cNvPr id="8" name="Text 5"/>
          <p:cNvSpPr/>
          <p:nvPr/>
        </p:nvSpPr>
        <p:spPr>
          <a:xfrm>
            <a:off x="1051560" y="2926080"/>
            <a:ext cx="100584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•"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conceito desta disciplina está por trás dele (lógica, álgebra booleana, grafo ou árvore)?</a:t>
            </a:r>
            <a:endParaRPr lang="en-US" sz="1600" dirty="0"/>
          </a:p>
          <a:p>
            <a:pPr marL="342900" indent="-342900">
              <a:lnSpc>
                <a:spcPts val="2400"/>
              </a:lnSpc>
              <a:spcAft>
                <a:spcPts val="2200"/>
              </a:spcAft>
              <a:buSzPct val="100000"/>
              <a:buChar char="•"/>
            </a:pPr>
            <a:r>
              <a:rPr lang="en-US" sz="16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versão "ingênua" (sem essa estrutura) seria pior?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7315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Livros — teoria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233172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478024"/>
            <a:ext cx="301752" cy="30175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324612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CORMEN, T. H. et al.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3886200"/>
            <a:ext cx="2990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Algoritmos: Teoria e Prática (CLRS). Elsevier — caps. introdutórios sobre notação assintótica e análise de algoritmos.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79976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4654296" y="233172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247802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54296" y="324612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GOODRICH, M. T.; TAMASSIA, R.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654296" y="3886200"/>
            <a:ext cx="2990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Estruturas de Dados e Algoritmos em Python. Bookman — visão geral de estruturas e sua análise de custo.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119872" y="2057400"/>
            <a:ext cx="3538728" cy="4023360"/>
          </a:xfrm>
          <a:prstGeom prst="roundRect">
            <a:avLst>
              <a:gd name="adj" fmla="val 3101"/>
            </a:avLst>
          </a:prstGeom>
          <a:solidFill>
            <a:srgbClr val="F3F1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394192" y="233172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96" y="247802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394192" y="3246120"/>
            <a:ext cx="29900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ROSEN, K. H.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8394192" y="3886200"/>
            <a:ext cx="299008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Discreta e suas Aplicações. 7. ed. AMGH/McGraw-Hill — cap. Algoritmos (introdução à complexidade).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6C4B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IR ALÉM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9144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1B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Documentação e vídeos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12080" cy="4160520"/>
          </a:xfrm>
          <a:prstGeom prst="roundRect">
            <a:avLst>
              <a:gd name="adj" fmla="val 2637"/>
            </a:avLst>
          </a:prstGeom>
          <a:solidFill>
            <a:srgbClr val="F3F1F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24028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386584"/>
            <a:ext cx="301752" cy="3017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documentação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collections.deque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fila eficiente, usada no BFS.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14400" y="48006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Big-O Cheat Sheet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referência rápida de complexidades comuns.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09360" y="1965960"/>
            <a:ext cx="5212080" cy="4160520"/>
          </a:xfrm>
          <a:prstGeom prst="roundRect">
            <a:avLst>
              <a:gd name="adj" fmla="val 2637"/>
            </a:avLst>
          </a:prstGeom>
          <a:solidFill>
            <a:srgbClr val="F3F1FB"/>
          </a:solidFill>
          <a:ln/>
        </p:spPr>
      </p:sp>
      <p:sp>
        <p:nvSpPr>
          <p:cNvPr id="11" name="Shape 8"/>
          <p:cNvSpPr/>
          <p:nvPr/>
        </p:nvSpPr>
        <p:spPr>
          <a:xfrm>
            <a:off x="6583680" y="2240280"/>
            <a:ext cx="594360" cy="594360"/>
          </a:xfrm>
          <a:prstGeom prst="ellipse">
            <a:avLst/>
          </a:prstGeom>
          <a:solidFill>
            <a:srgbClr val="6C4BC1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9984" y="2386584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5836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B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Vídeos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583680" y="39776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CS50 (Harvard) — Big-O e estruturas de dados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6583680" y="4709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mycodeschool — pilhas, filas, árvores, grafos, BFS/DFS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6583680" y="54406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u="sng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Introdução a estruturas de dados em Python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2743200"/>
            <a:ext cx="5029200" cy="5029200"/>
          </a:xfrm>
          <a:prstGeom prst="ellipse">
            <a:avLst/>
          </a:prstGeom>
          <a:ln w="19050">
            <a:solidFill>
              <a:srgbClr val="6C4BC1">
                <a:alpha val="5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0" y="4114800"/>
            <a:ext cx="3840480" cy="3840480"/>
          </a:xfrm>
          <a:prstGeom prst="ellipse">
            <a:avLst/>
          </a:prstGeom>
          <a:ln w="19050">
            <a:solidFill>
              <a:srgbClr val="2FE6C7">
                <a:alpha val="6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777240"/>
            <a:ext cx="914400" cy="914400"/>
          </a:xfrm>
          <a:prstGeom prst="ellipse">
            <a:avLst/>
          </a:prstGeom>
          <a:solidFill>
            <a:srgbClr val="2FE6C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914400"/>
            <a:ext cx="640080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74520" y="82296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E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FECHAMENTO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874520" y="10972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C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jornada do semestre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914400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7672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980944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014216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47488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080760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114032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147304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180576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213848" y="2651760"/>
            <a:ext cx="1033272" cy="9144"/>
          </a:xfrm>
          <a:prstGeom prst="line">
            <a:avLst/>
          </a:prstGeom>
          <a:noFill/>
          <a:ln w="25400">
            <a:solidFill>
              <a:srgbClr val="4A4F82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3232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13232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746504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746504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2779776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779776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3813048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813048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4846320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46320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879592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79592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6912864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912864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946136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946136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979408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79408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10012680" y="2450592"/>
            <a:ext cx="402336" cy="402336"/>
          </a:xfrm>
          <a:prstGeom prst="ellipse">
            <a:avLst/>
          </a:prstGeom>
          <a:solidFill>
            <a:srgbClr val="6C4BC1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012680" y="2450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10981944" y="2386584"/>
            <a:ext cx="530352" cy="530352"/>
          </a:xfrm>
          <a:prstGeom prst="ellipse">
            <a:avLst/>
          </a:prstGeom>
          <a:solidFill>
            <a:srgbClr val="2FE6C7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10981944" y="238658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1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</a:t>
            </a:r>
            <a:endParaRPr lang="en-US" sz="1400" dirty="0"/>
          </a:p>
        </p:txBody>
      </p:sp>
      <p:sp>
        <p:nvSpPr>
          <p:cNvPr id="40" name="Text 37"/>
          <p:cNvSpPr/>
          <p:nvPr/>
        </p:nvSpPr>
        <p:spPr>
          <a:xfrm>
            <a:off x="640080" y="352044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Árvore é grafo sem excesso; algoritmo eficiente é matemática sem excesso.</a:t>
            </a:r>
            <a:endParaRPr lang="en-US" sz="2600" dirty="0"/>
          </a:p>
        </p:txBody>
      </p:sp>
      <p:sp>
        <p:nvSpPr>
          <p:cNvPr id="41" name="Text 38"/>
          <p:cNvSpPr/>
          <p:nvPr/>
        </p:nvSpPr>
        <p:spPr>
          <a:xfrm>
            <a:off x="1097280" y="45262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400" i="1" dirty="0">
                <a:solidFill>
                  <a:srgbClr val="8E9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Lógica, álgebra booleana, circuitos, grafos e árvores — o mesmo raciocínio, aplicado de novo e de novo.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640080" y="63093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00" kern="0" dirty="0">
                <a:solidFill>
                  <a:srgbClr val="6F7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Matemática Computacional Aplicada  ·  Encerramento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2026-08-05T14:32:57Z</dcterms:created>
  <dcterms:modified xsi:type="dcterms:W3CDTF">2026-08-05T14:32:57Z</dcterms:modified>
</cp:coreProperties>
</file>