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254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esta aula é diferente das demais — hoje o foco é garantir que todo mundo embarcou, não avançar conteúdo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já: quem estiver em dia com tudo pode ir direto para o desafio opcional no fim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busca ativa não é fiscalização, é antecipação de suporte.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exemplos da própria turma: que outras 'buscas ativas' do dia a dia eles já receberam?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recado emocional da aula: reduzir o estigma de ser contatado pela busca 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 diagrama é conceitual, não um dado estatístico real — a ideia é só mostrar a lógica do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 o combinado: enquanto o professor confere e contata, o aluno confirma o próprio diagnóstico em paralelo.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também aparece no curso, mas só para comparação de sintaxe — o setup obrigatório é este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alguém ainda tiver dúvida de ementa, este é o momento de perguntar — não depois da prova.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proposital: dar tempo real para quem está atrasado resolver com o professor antes de seguir para o desafio.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 como convite, não obrigação — reforçar que quem ainda está resolvendo o onboarding não precisa se preocupar com isso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o desafio no quadro (ou projetado) enquanto os alunos leem as pistas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3-4 minutos para a turma tentar sozinha antes de mostrar a dica da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Convidar alguém da turma a vir preencher o restante da tabela em voz alta antes de revelar a resolução.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= super-herói, Bruno = palhaço, Caio = pirata. Reforçar que cada passo eliminou uma opção só com as pistas, sem chute.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direto para a Aula 03: o que parecia intuição vai virar notação formal.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visualmente que hoje é uma pausa estratégica, não um desvio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2 minutos no início da próxima aula para confirmar que a turma está 100% pronta para o conteúdo novo.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referências dão o pano de fundo institucional de por que a busca ativa existe como política, não só como boa vontade do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materiais são de apoio — não é obrigatório assistir tudo antes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retomando o convite: quem topou o desafio já viu, na prática, o assunto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nhpaiva.github.io/una-mca-zensical-202602/turma-202602/01-aula/" TargetMode="Externa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nhpaiva.github.io/una-mca-zensical-202602/turma-202602/03-aula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results?search_query=curso+em+v%C3%ADdeo+l%C3%B3gica+de+programa%C3%A7%C3%A3o" TargetMode="External"/><Relationship Id="rId3" Type="http://schemas.openxmlformats.org/officeDocument/2006/relationships/image" Target="../media/image1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" TargetMode="External"/><Relationship Id="rId5" Type="http://schemas.openxmlformats.org/officeDocument/2006/relationships/hyperlink" Target="https://git-scm.com/downloads" TargetMode="External"/><Relationship Id="rId4" Type="http://schemas.openxmlformats.org/officeDocument/2006/relationships/hyperlink" Target="https://danhpaiva.github.io/una-mca-zensical-202602/ferramentas/" TargetMode="External"/><Relationship Id="rId9" Type="http://schemas.openxmlformats.org/officeDocument/2006/relationships/hyperlink" Target="https://www.youtube.com/results?search_query=instalar+dotnet+git+vscode+iniciante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601200" y="-27432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pt-BR" sz="1400" noProof="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6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02</a:t>
            </a:r>
            <a:endParaRPr lang="pt-BR" sz="6400" noProof="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— Início de Semestre</a:t>
            </a:r>
            <a:endParaRPr lang="pt-BR" sz="25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 para a lógica, vamos garantir que ninguém fique pelo caminho.</a:t>
            </a:r>
            <a:endParaRPr lang="pt-B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  ·   DIAGNÓSTICO   ·   DESAFIO OPCIONAL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 · ROTEIRO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pt-BR" sz="38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Busca Ativa</a:t>
            </a:r>
            <a:endParaRPr lang="pt-BR" sz="1800" noProof="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essa prática e por que eu gosto de investir tempo de aula nisso.</a:t>
            </a:r>
            <a:endParaRPr lang="pt-BR" sz="135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aula funciona na prática</a:t>
            </a:r>
            <a:endParaRPr lang="pt-BR" sz="1800" noProof="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professor faz, o que você faz — os papéis de hoje.</a:t>
            </a:r>
            <a:endParaRPr lang="pt-BR" sz="1350" noProof="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</a:t>
            </a:r>
            <a:r>
              <a:rPr lang="pt-BR" sz="18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pt-BR" sz="1800" noProof="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Ferramentas, acesso e dúvidas de ementa, tudo num checklist.</a:t>
            </a:r>
            <a:endParaRPr lang="pt-BR" sz="1350" noProof="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lógico opcional</a:t>
            </a:r>
            <a:endParaRPr lang="pt-BR" sz="1800" noProof="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está em dia — um aquecimento para a próxima aula.</a:t>
            </a:r>
            <a:endParaRPr lang="pt-BR" sz="1350" noProof="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CONCEITO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Busca Ativa?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pt-BR" sz="15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prática de acompanhamento estudantil: em vez de esperar que um aluno sumindo das aulas venha pedir ajuda, a instituição e o professor vão até ele.</a:t>
            </a:r>
            <a:endParaRPr lang="pt-BR" sz="1500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pt-BR" sz="15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de engajamento detectados cedo são muito mais fáceis de resolver do que problemas descobertos no fim do semestre, quando já não há tempo de recuperação.</a:t>
            </a:r>
            <a:endParaRPr lang="pt-BR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6675120" y="12344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424" y="138074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216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</a:t>
            </a:r>
            <a:endParaRPr lang="pt-BR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7452360" y="1673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e desempenho monitorados</a:t>
            </a:r>
            <a:endParaRPr lang="pt-BR" sz="1250" noProof="0" dirty="0"/>
          </a:p>
        </p:txBody>
      </p:sp>
      <p:sp>
        <p:nvSpPr>
          <p:cNvPr id="11" name="Shape 8"/>
          <p:cNvSpPr/>
          <p:nvPr/>
        </p:nvSpPr>
        <p:spPr>
          <a:xfrm>
            <a:off x="6675120" y="28346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298094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8163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direto</a:t>
            </a:r>
            <a:endParaRPr lang="pt-BR" sz="1600" noProof="0" dirty="0"/>
          </a:p>
        </p:txBody>
      </p:sp>
      <p:sp>
        <p:nvSpPr>
          <p:cNvPr id="14" name="Text 10"/>
          <p:cNvSpPr/>
          <p:nvPr/>
        </p:nvSpPr>
        <p:spPr>
          <a:xfrm>
            <a:off x="7452360" y="3273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Mensagem, e-mail ou conversa individual</a:t>
            </a:r>
            <a:endParaRPr lang="pt-BR" sz="1250" noProof="0" dirty="0"/>
          </a:p>
        </p:txBody>
      </p:sp>
      <p:sp>
        <p:nvSpPr>
          <p:cNvPr id="15" name="Shape 11"/>
          <p:cNvSpPr/>
          <p:nvPr/>
        </p:nvSpPr>
        <p:spPr>
          <a:xfrm>
            <a:off x="6675120" y="4434840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24" y="458114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4416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concreto</a:t>
            </a:r>
            <a:endParaRPr lang="pt-BR" sz="1600" noProof="0" dirty="0"/>
          </a:p>
        </p:txBody>
      </p:sp>
      <p:sp>
        <p:nvSpPr>
          <p:cNvPr id="18" name="Text 13"/>
          <p:cNvSpPr/>
          <p:nvPr/>
        </p:nvSpPr>
        <p:spPr>
          <a:xfrm>
            <a:off x="74523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 prática, não só um aviso</a:t>
            </a:r>
            <a:endParaRPr lang="pt-BR" sz="1250" noProof="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É FAMILIAR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9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já viu isso fora da faculdade</a:t>
            </a:r>
            <a:endParaRPr lang="pt-BR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Instituições e empresas fazem “busca ativa” o tempo todo — só não usam esse nome.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68680" y="23088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5516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1488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liga</a:t>
            </a:r>
            <a:endParaRPr lang="pt-BR" sz="1550" noProof="0" dirty="0"/>
          </a:p>
        </p:txBody>
      </p:sp>
      <p:sp>
        <p:nvSpPr>
          <p:cNvPr id="9" name="Text 6"/>
          <p:cNvSpPr/>
          <p:nvPr/>
        </p:nvSpPr>
        <p:spPr>
          <a:xfrm>
            <a:off x="5120640" y="21488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percebe um gasto fora do seu padrão habitual</a:t>
            </a:r>
            <a:endParaRPr lang="pt-BR" sz="1300" noProof="0" dirty="0"/>
          </a:p>
        </p:txBody>
      </p:sp>
      <p:sp>
        <p:nvSpPr>
          <p:cNvPr id="10" name="Shape 7"/>
          <p:cNvSpPr/>
          <p:nvPr/>
        </p:nvSpPr>
        <p:spPr>
          <a:xfrm>
            <a:off x="640080" y="32004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868680" y="33604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5067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2004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de saúde avisa</a:t>
            </a:r>
            <a:endParaRPr lang="pt-BR" sz="1550" noProof="0" dirty="0"/>
          </a:p>
        </p:txBody>
      </p:sp>
      <p:sp>
        <p:nvSpPr>
          <p:cNvPr id="14" name="Text 10"/>
          <p:cNvSpPr/>
          <p:nvPr/>
        </p:nvSpPr>
        <p:spPr>
          <a:xfrm>
            <a:off x="5120640" y="32004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você está atrasado com o check-up anual</a:t>
            </a:r>
            <a:endParaRPr lang="pt-BR" sz="1300" noProof="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2"/>
          <p:cNvSpPr/>
          <p:nvPr/>
        </p:nvSpPr>
        <p:spPr>
          <a:xfrm>
            <a:off x="868680" y="44119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55828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2519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app de entrega notifica</a:t>
            </a:r>
            <a:endParaRPr lang="pt-BR" sz="1550" noProof="0" dirty="0"/>
          </a:p>
        </p:txBody>
      </p:sp>
      <p:sp>
        <p:nvSpPr>
          <p:cNvPr id="19" name="Text 14"/>
          <p:cNvSpPr/>
          <p:nvPr/>
        </p:nvSpPr>
        <p:spPr>
          <a:xfrm>
            <a:off x="5120640" y="42519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você precisar perguntar onde está o pedido</a:t>
            </a:r>
            <a:endParaRPr lang="pt-BR" sz="1300" noProof="0" dirty="0"/>
          </a:p>
        </p:txBody>
      </p:sp>
      <p:sp>
        <p:nvSpPr>
          <p:cNvPr id="20" name="Text 15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faculdade está fazendo a mesma coisa — só que pelo seu aprendizado.</a:t>
            </a:r>
            <a:endParaRPr lang="pt-BR" sz="1250" noProof="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06070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0241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ALGUÉM DA EQUIPE TE PROCURAR ESTA SEMANA</a:t>
            </a:r>
            <a:endParaRPr lang="pt-B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640080" y="2286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6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bronca. É cuidado.</a:t>
            </a:r>
            <a:endParaRPr lang="pt-BR" sz="46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3520440"/>
            <a:ext cx="8961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pt-BR" sz="160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primeiras semanas são o momento em que um pequeno empurrão faz a maior diferença. Ninguém está te vigiando — estão te dando a chance de resolver agora o que, mais tarde, seria bem mais difícil.</a:t>
            </a:r>
            <a:endParaRPr lang="pt-BR" sz="16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CERTO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logo na segunda aula?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encontros do semestre são o momento de maior risco de afastamento: quem não instalou as ferramentas, ficou com dúvida na ementa, ou faltou na Aula 01 tende a se afastar ainda mais se ninguém procurar agora.</a:t>
            </a:r>
            <a:endParaRPr lang="pt-BR" sz="1350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ALTO</a:t>
            </a:r>
            <a:endParaRPr lang="pt-B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1577340" y="3337560"/>
            <a:ext cx="1371600" cy="1371600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376" y="3625596"/>
            <a:ext cx="795528" cy="7955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do semestre</a:t>
            </a:r>
            <a:endParaRPr lang="pt-B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1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técnicas ainda sem resposta</a:t>
            </a:r>
            <a:endParaRPr lang="pt-BR" sz="115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39319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38912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 dirty="0">
                <a:solidFill>
                  <a:srgbClr val="E8B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MÉDIO</a:t>
            </a:r>
            <a:endParaRPr lang="pt-BR" sz="1100" noProof="0" dirty="0"/>
          </a:p>
        </p:txBody>
      </p:sp>
      <p:sp>
        <p:nvSpPr>
          <p:cNvPr id="12" name="Shape 8"/>
          <p:cNvSpPr/>
          <p:nvPr/>
        </p:nvSpPr>
        <p:spPr>
          <a:xfrm>
            <a:off x="5509260" y="3703320"/>
            <a:ext cx="1005840" cy="1005840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0486" y="3914546"/>
            <a:ext cx="583387" cy="5833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912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do semestre</a:t>
            </a:r>
            <a:endParaRPr lang="pt-BR" sz="1400" noProof="0" dirty="0"/>
          </a:p>
        </p:txBody>
      </p:sp>
      <p:sp>
        <p:nvSpPr>
          <p:cNvPr id="15" name="Text 10"/>
          <p:cNvSpPr/>
          <p:nvPr/>
        </p:nvSpPr>
        <p:spPr>
          <a:xfrm>
            <a:off x="438912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1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contato, o afastamento cresce</a:t>
            </a:r>
            <a:endParaRPr lang="pt-BR" sz="115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9540" y="393192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38160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BAIXO</a:t>
            </a:r>
            <a:endParaRPr lang="pt-BR" sz="1100" noProof="0" dirty="0"/>
          </a:p>
        </p:txBody>
      </p:sp>
      <p:sp>
        <p:nvSpPr>
          <p:cNvPr id="18" name="Shape 12"/>
          <p:cNvSpPr/>
          <p:nvPr/>
        </p:nvSpPr>
        <p:spPr>
          <a:xfrm>
            <a:off x="9404604" y="3995928"/>
            <a:ext cx="713232" cy="713232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4383" y="4145707"/>
            <a:ext cx="413675" cy="41367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138160" y="4846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suporte a tempo</a:t>
            </a:r>
            <a:endParaRPr lang="pt-BR" sz="1400" noProof="0" dirty="0"/>
          </a:p>
        </p:txBody>
      </p:sp>
      <p:sp>
        <p:nvSpPr>
          <p:cNvPr id="21" name="Text 14"/>
          <p:cNvSpPr/>
          <p:nvPr/>
        </p:nvSpPr>
        <p:spPr>
          <a:xfrm>
            <a:off x="8138160" y="51846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1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 reduz o problema agora</a:t>
            </a:r>
            <a:endParaRPr lang="pt-BR" sz="1150" noProof="0" dirty="0"/>
          </a:p>
        </p:txBody>
      </p:sp>
      <p:sp>
        <p:nvSpPr>
          <p:cNvPr id="22" name="Text 15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 — quanto antes o suporte chega, menor a chance de o afastamento se tornar evasão.</a:t>
            </a:r>
            <a:endParaRPr lang="pt-BR" sz="1150" noProof="0" dirty="0"/>
          </a:p>
        </p:txBody>
      </p:sp>
      <p:sp>
        <p:nvSpPr>
          <p:cNvPr id="23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DE HOJE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esta aula funciona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dinâmica diferente das aulas de conteúdo — hoje o foco é garantir que todo mundo embarcou.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</a:t>
            </a:r>
            <a:endParaRPr lang="pt-BR" sz="1800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frequência e o checklist de </a:t>
            </a:r>
            <a:r>
              <a:rPr lang="pt-BR" sz="1300" noProof="0" dirty="0" err="1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Aula 01</a:t>
            </a:r>
            <a:endParaRPr lang="pt-BR" sz="1300" noProof="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 individualmente quem faltou ou não iniciou a configuração do ambiente</a:t>
            </a:r>
            <a:endParaRPr lang="pt-BR" sz="1300" noProof="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Esclarece dúvidas de ementa, avaliação e cronograma que ainda não foram resolvidas</a:t>
            </a:r>
            <a:endParaRPr lang="pt-BR" sz="1300" noProof="0" dirty="0"/>
          </a:p>
        </p:txBody>
      </p:sp>
      <p:sp>
        <p:nvSpPr>
          <p:cNvPr id="10" name="Shape 7"/>
          <p:cNvSpPr/>
          <p:nvPr/>
        </p:nvSpPr>
        <p:spPr>
          <a:xfrm>
            <a:off x="6263640" y="2011680"/>
            <a:ext cx="5257800" cy="4434840"/>
          </a:xfrm>
          <a:prstGeom prst="roundRect">
            <a:avLst>
              <a:gd name="adj" fmla="val 2474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3042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</a:t>
            </a:r>
            <a:endParaRPr lang="pt-BR" sz="1800" noProof="0" dirty="0"/>
          </a:p>
        </p:txBody>
      </p:sp>
      <p:sp>
        <p:nvSpPr>
          <p:cNvPr id="14" name="Text 10"/>
          <p:cNvSpPr/>
          <p:nvPr/>
        </p:nvSpPr>
        <p:spPr>
          <a:xfrm>
            <a:off x="6537960" y="3063240"/>
            <a:ext cx="4709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seu próprio diagnóstico de </a:t>
            </a:r>
            <a:r>
              <a:rPr lang="pt-BR" sz="1300" noProof="0" dirty="0" err="1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item por item</a:t>
            </a:r>
            <a:endParaRPr lang="pt-BR" sz="1300" noProof="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as dúvidas que ainda tiver agora — não depois, quando for tarde</a:t>
            </a:r>
            <a:endParaRPr lang="pt-BR" sz="1300" noProof="0" dirty="0"/>
          </a:p>
          <a:p>
            <a:pPr marL="177800" indent="-177800">
              <a:lnSpc>
                <a:spcPts val="1900"/>
              </a:lnSpc>
              <a:spcAft>
                <a:spcPts val="1400"/>
              </a:spcAft>
              <a:buSzPct val="100000"/>
              <a:buChar char="•"/>
            </a:pPr>
            <a:r>
              <a:rPr lang="pt-BR" sz="1300" noProof="0" dirty="0">
                <a:solidFill>
                  <a:srgbClr val="DCD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Encara o desafio lógico opcional, se já estiver em dia com tudo</a:t>
            </a:r>
            <a:endParaRPr lang="pt-BR" sz="1300" noProof="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seu ambiente técnico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setup que vimos na Aula 01 — marque o que já está funcionando.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91440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500176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241401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</a:t>
            </a:r>
            <a:r>
              <a:rPr lang="pt-BR" sz="14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instalado, com o projeto do curso aberto ao menos uma vez</a:t>
            </a:r>
            <a:endParaRPr lang="pt-BR" sz="1400" noProof="0" dirty="0"/>
          </a:p>
        </p:txBody>
      </p:sp>
      <p:sp>
        <p:nvSpPr>
          <p:cNvPr id="10" name="Shape 7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537960" y="23317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9"/>
          <p:cNvSpPr/>
          <p:nvPr/>
        </p:nvSpPr>
        <p:spPr>
          <a:xfrm>
            <a:off x="10625328" y="231343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2414016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537960" y="28986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instalado e </a:t>
            </a:r>
            <a:r>
              <a:rPr lang="pt-BR" sz="14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</a:t>
            </a: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--</a:t>
            </a:r>
            <a:r>
              <a:rPr lang="pt-BR" sz="14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funcionando no terminal</a:t>
            </a:r>
            <a:endParaRPr lang="pt-BR" sz="1400" noProof="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2"/>
          <p:cNvSpPr/>
          <p:nvPr/>
        </p:nvSpPr>
        <p:spPr>
          <a:xfrm>
            <a:off x="91440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3"/>
          <p:cNvSpPr/>
          <p:nvPr/>
        </p:nvSpPr>
        <p:spPr>
          <a:xfrm>
            <a:off x="500176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2352" y="4608576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440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instalado, com user.name e </a:t>
            </a:r>
            <a:r>
              <a:rPr lang="pt-BR" sz="140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user.email</a:t>
            </a: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configurados</a:t>
            </a:r>
            <a:endParaRPr lang="pt-BR" sz="1400" noProof="0" dirty="0"/>
          </a:p>
        </p:txBody>
      </p:sp>
      <p:sp>
        <p:nvSpPr>
          <p:cNvPr id="20" name="Shape 15"/>
          <p:cNvSpPr/>
          <p:nvPr/>
        </p:nvSpPr>
        <p:spPr>
          <a:xfrm>
            <a:off x="6263640" y="42519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6"/>
          <p:cNvSpPr/>
          <p:nvPr/>
        </p:nvSpPr>
        <p:spPr>
          <a:xfrm>
            <a:off x="6537960" y="452628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Shape 17"/>
          <p:cNvSpPr/>
          <p:nvPr/>
        </p:nvSpPr>
        <p:spPr>
          <a:xfrm>
            <a:off x="10625328" y="4507992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60857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537960" y="509320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no GitHub criada</a:t>
            </a:r>
            <a:endParaRPr lang="pt-BR" sz="1400" noProof="0" dirty="0"/>
          </a:p>
        </p:txBody>
      </p:sp>
      <p:sp>
        <p:nvSpPr>
          <p:cNvPr id="25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RÁPIDO DE ONBOARDING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Confira o seu contexto de curso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4505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confirmado</a:t>
            </a:r>
            <a:endParaRPr lang="pt-BR" sz="1700" noProof="0" dirty="0"/>
          </a:p>
        </p:txBody>
      </p:sp>
      <p:sp>
        <p:nvSpPr>
          <p:cNvPr id="8" name="Text 5"/>
          <p:cNvSpPr/>
          <p:nvPr/>
        </p:nvSpPr>
        <p:spPr>
          <a:xfrm>
            <a:off x="91440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acesso ao canal oficial da turma (Google </a:t>
            </a:r>
            <a:r>
              <a:rPr lang="pt-BR" sz="13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</a:t>
            </a: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equivalente).</a:t>
            </a:r>
            <a:endParaRPr lang="pt-BR" sz="1300" noProof="0" dirty="0"/>
          </a:p>
        </p:txBody>
      </p:sp>
      <p:sp>
        <p:nvSpPr>
          <p:cNvPr id="9" name="Shape 6"/>
          <p:cNvSpPr/>
          <p:nvPr/>
        </p:nvSpPr>
        <p:spPr>
          <a:xfrm>
            <a:off x="6263640" y="20116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6537960" y="230428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2450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avaliação claras</a:t>
            </a:r>
            <a:endParaRPr lang="pt-BR" sz="1700" noProof="0" dirty="0"/>
          </a:p>
        </p:txBody>
      </p:sp>
      <p:sp>
        <p:nvSpPr>
          <p:cNvPr id="13" name="Text 9"/>
          <p:cNvSpPr/>
          <p:nvPr/>
        </p:nvSpPr>
        <p:spPr>
          <a:xfrm>
            <a:off x="6537960" y="3493008"/>
            <a:ext cx="4709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 sobre a ementa ou a atividade avaliativa em grupo já foram esclarecidas.</a:t>
            </a:r>
            <a:endParaRPr lang="pt-BR" sz="1300" noProof="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relembrar algum detalhe da ementa? Volte na </a:t>
            </a:r>
            <a:r>
              <a:rPr lang="pt-BR" sz="1250" i="1" u="sng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01</a:t>
            </a:r>
            <a:r>
              <a:rPr lang="pt-BR" sz="12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1250" noProof="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155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DA AULA DE HOJE</a:t>
            </a:r>
            <a:endParaRPr lang="pt-B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Ficou algum item sem marcar?</a:t>
            </a:r>
            <a:endParaRPr lang="pt-BR" sz="38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pt-BR" sz="17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essa é a prioridade de hoje — antes de tudo o mais. Fale com o professor agora: é exatamente para isso que esta aula existe.</a:t>
            </a:r>
            <a:endParaRPr lang="pt-BR" sz="17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todos os itens já estão marcados, siga para o desafio opcional a seguir.</a:t>
            </a:r>
            <a:endParaRPr lang="pt-BR" sz="13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OPCIONAL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já está em dia</a:t>
            </a:r>
            <a:endParaRPr lang="pt-BR" sz="3400" noProof="0" dirty="0"/>
          </a:p>
        </p:txBody>
      </p:sp>
      <p:sp>
        <p:nvSpPr>
          <p:cNvPr id="4" name="Shape 2"/>
          <p:cNvSpPr/>
          <p:nvPr/>
        </p:nvSpPr>
        <p:spPr>
          <a:xfrm>
            <a:off x="5592928" y="2331720"/>
            <a:ext cx="1005840" cy="100584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4952" y="252374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94560" y="3703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pt-BR" sz="16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desafio leve de raciocínio lógico, que antecipa o que vem na próxima aula de conteúdo.</a:t>
            </a:r>
            <a:endParaRPr lang="pt-BR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219456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chute — só eliminação lógica, passo a passo.</a:t>
            </a:r>
            <a:endParaRPr lang="pt-BR" sz="1350" noProof="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usa qual fantasia?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5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amigos foram a um bloco de Carnaval do ano anterior, cada um com uma fantasia diferente. Descubra quem usou o quê — só com lógica, sem chute.</a:t>
            </a:r>
            <a:endParaRPr lang="pt-BR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4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pt-BR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pt-BR" sz="15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365760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4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pt-BR" sz="3400" noProof="0" dirty="0"/>
          </a:p>
        </p:txBody>
      </p:sp>
      <p:sp>
        <p:nvSpPr>
          <p:cNvPr id="10" name="Text 8"/>
          <p:cNvSpPr/>
          <p:nvPr/>
        </p:nvSpPr>
        <p:spPr>
          <a:xfrm>
            <a:off x="338328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</a:t>
            </a:r>
            <a:endParaRPr lang="pt-BR" sz="1500" noProof="0" dirty="0"/>
          </a:p>
        </p:txBody>
      </p:sp>
      <p:sp>
        <p:nvSpPr>
          <p:cNvPr id="11" name="Shape 9"/>
          <p:cNvSpPr/>
          <p:nvPr/>
        </p:nvSpPr>
        <p:spPr>
          <a:xfrm>
            <a:off x="6492240" y="2606040"/>
            <a:ext cx="1188720" cy="1188720"/>
          </a:xfrm>
          <a:prstGeom prst="ellipse">
            <a:avLst/>
          </a:prstGeom>
          <a:solidFill>
            <a:srgbClr val="232C63"/>
          </a:solidFill>
          <a:ln w="2540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492240" y="26060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4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pt-BR" sz="3400" noProof="0" dirty="0"/>
          </a:p>
        </p:txBody>
      </p:sp>
      <p:sp>
        <p:nvSpPr>
          <p:cNvPr id="13" name="Text 11"/>
          <p:cNvSpPr/>
          <p:nvPr/>
        </p:nvSpPr>
        <p:spPr>
          <a:xfrm>
            <a:off x="6217920" y="3886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</a:t>
            </a:r>
            <a:endParaRPr lang="pt-BR" sz="1500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50" noProof="0" dirty="0">
                <a:solidFill>
                  <a:srgbClr val="8A9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FANTASIAS DISPONÍVEIS</a:t>
            </a:r>
            <a:endParaRPr lang="pt-BR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86868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5276088"/>
            <a:ext cx="374904" cy="37490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0020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Pirata</a:t>
            </a:r>
            <a:endParaRPr lang="pt-BR" sz="1550" noProof="0" dirty="0"/>
          </a:p>
        </p:txBody>
      </p:sp>
      <p:sp>
        <p:nvSpPr>
          <p:cNvPr id="19" name="Shape 16"/>
          <p:cNvSpPr/>
          <p:nvPr/>
        </p:nvSpPr>
        <p:spPr>
          <a:xfrm>
            <a:off x="425196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448056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5276088"/>
            <a:ext cx="374904" cy="37490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21208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Super-herói</a:t>
            </a:r>
            <a:endParaRPr lang="pt-BR" sz="1550" noProof="0" dirty="0"/>
          </a:p>
        </p:txBody>
      </p:sp>
      <p:sp>
        <p:nvSpPr>
          <p:cNvPr id="23" name="Shape 19"/>
          <p:cNvSpPr/>
          <p:nvPr/>
        </p:nvSpPr>
        <p:spPr>
          <a:xfrm>
            <a:off x="7863840" y="49377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Shape 20"/>
          <p:cNvSpPr/>
          <p:nvPr/>
        </p:nvSpPr>
        <p:spPr>
          <a:xfrm>
            <a:off x="8092440" y="516636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168" y="5276088"/>
            <a:ext cx="374904" cy="3749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823960" y="49377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Palhaço</a:t>
            </a:r>
            <a:endParaRPr lang="pt-BR" sz="1550" noProof="0" dirty="0"/>
          </a:p>
        </p:txBody>
      </p:sp>
      <p:sp>
        <p:nvSpPr>
          <p:cNvPr id="27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OPCIONAL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pistas</a:t>
            </a:r>
            <a:endParaRPr lang="pt-BR" sz="34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 três pistas para eliminar possibilidades até sobrar apenas uma combinação válida.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587752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896112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2000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6974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91640" y="233172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pt-BR" sz="1600" noProof="0" dirty="0"/>
          </a:p>
        </p:txBody>
      </p:sp>
      <p:sp>
        <p:nvSpPr>
          <p:cNvPr id="10" name="Shape 7"/>
          <p:cNvSpPr/>
          <p:nvPr/>
        </p:nvSpPr>
        <p:spPr>
          <a:xfrm>
            <a:off x="640080" y="3593592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896112" y="3849624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896112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20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95935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3593592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pt-BR" sz="1600" noProof="0" dirty="0"/>
          </a:p>
        </p:txBody>
      </p:sp>
      <p:sp>
        <p:nvSpPr>
          <p:cNvPr id="15" name="Shape 11"/>
          <p:cNvSpPr/>
          <p:nvPr/>
        </p:nvSpPr>
        <p:spPr>
          <a:xfrm>
            <a:off x="640080" y="4855464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2"/>
          <p:cNvSpPr/>
          <p:nvPr/>
        </p:nvSpPr>
        <p:spPr>
          <a:xfrm>
            <a:off x="896112" y="5111496"/>
            <a:ext cx="548640" cy="5486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3"/>
          <p:cNvSpPr/>
          <p:nvPr/>
        </p:nvSpPr>
        <p:spPr>
          <a:xfrm>
            <a:off x="896112" y="5111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2000" noProof="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5221224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855464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pt-BR" sz="1600" noProof="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Dica: monte uma tabela de eliminação</a:t>
            </a:r>
            <a:endParaRPr lang="pt-BR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as pessoas nas linhas e as fantasias nas colunas. A cada pista, marque X na opção impossível — até sobrar só uma por pessoa.</a:t>
            </a:r>
            <a:endParaRPr lang="pt-BR" sz="1400" noProof="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222618"/>
              </p:ext>
            </p:extLst>
          </p:nvPr>
        </p:nvGraphicFramePr>
        <p:xfrm>
          <a:off x="1737360" y="2240280"/>
          <a:ext cx="8686800" cy="29718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8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200" noProof="0" dirty="0"/>
                    </a:p>
                  </a:txBody>
                  <a:tcPr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500" b="1" noProof="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pt-BR" sz="15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a pista 1 já elimina “Ana + pirata” — por isso o X já está marcado. Continue com as outras duas pistas.</a:t>
            </a:r>
            <a:endParaRPr lang="pt-BR" sz="1250" noProof="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Resolução guiada, passo a passo</a:t>
            </a:r>
            <a:endParaRPr lang="pt-BR" sz="28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151075"/>
              </p:ext>
            </p:extLst>
          </p:nvPr>
        </p:nvGraphicFramePr>
        <p:xfrm>
          <a:off x="640080" y="1691640"/>
          <a:ext cx="5120640" cy="2368296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200" noProof="0" dirty="0"/>
                    </a:p>
                  </a:txBody>
                  <a:tcPr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Pirata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Super-herói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Palhaço</a:t>
                      </a:r>
                      <a:endParaRPr lang="pt-BR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 dirty="0">
                          <a:solidFill>
                            <a:srgbClr val="0E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pt-BR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B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350" b="1" noProof="0" dirty="0">
                          <a:solidFill>
                            <a:srgbClr val="C639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pt-BR" sz="13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737360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3"/>
          <p:cNvSpPr/>
          <p:nvPr/>
        </p:nvSpPr>
        <p:spPr>
          <a:xfrm>
            <a:off x="603504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pt-BR" sz="1400" noProof="0" dirty="0"/>
          </a:p>
        </p:txBody>
      </p:sp>
      <p:sp>
        <p:nvSpPr>
          <p:cNvPr id="7" name="Text 4"/>
          <p:cNvSpPr/>
          <p:nvPr/>
        </p:nvSpPr>
        <p:spPr>
          <a:xfrm>
            <a:off x="6601968" y="1700784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</a:t>
            </a:r>
            <a:endParaRPr lang="pt-BR" sz="1400" noProof="0" dirty="0"/>
          </a:p>
        </p:txBody>
      </p:sp>
      <p:sp>
        <p:nvSpPr>
          <p:cNvPr id="8" name="Text 5"/>
          <p:cNvSpPr/>
          <p:nvPr/>
        </p:nvSpPr>
        <p:spPr>
          <a:xfrm>
            <a:off x="6601968" y="2029968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é palhaço nem super-herói — só resta pirata.</a:t>
            </a:r>
            <a:endParaRPr lang="pt-BR" sz="1250" noProof="0" dirty="0"/>
          </a:p>
        </p:txBody>
      </p:sp>
      <p:sp>
        <p:nvSpPr>
          <p:cNvPr id="9" name="Shape 6"/>
          <p:cNvSpPr/>
          <p:nvPr/>
        </p:nvSpPr>
        <p:spPr>
          <a:xfrm>
            <a:off x="6035040" y="2816352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6035040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BR" sz="1400" noProof="0" dirty="0"/>
          </a:p>
        </p:txBody>
      </p:sp>
      <p:sp>
        <p:nvSpPr>
          <p:cNvPr id="11" name="Text 8"/>
          <p:cNvSpPr/>
          <p:nvPr/>
        </p:nvSpPr>
        <p:spPr>
          <a:xfrm>
            <a:off x="6601968" y="2779776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</a:t>
            </a:r>
            <a:endParaRPr lang="pt-BR" sz="1400" noProof="0" dirty="0"/>
          </a:p>
        </p:txBody>
      </p:sp>
      <p:sp>
        <p:nvSpPr>
          <p:cNvPr id="12" name="Text 9"/>
          <p:cNvSpPr/>
          <p:nvPr/>
        </p:nvSpPr>
        <p:spPr>
          <a:xfrm>
            <a:off x="6601968" y="3108960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é pirata (e Caio já ocupou essa vaga, tudo consistente) — resta super-herói ou palhaço para ela.</a:t>
            </a:r>
            <a:endParaRPr lang="pt-BR" sz="1250" noProof="0" dirty="0"/>
          </a:p>
        </p:txBody>
      </p:sp>
      <p:sp>
        <p:nvSpPr>
          <p:cNvPr id="13" name="Shape 10"/>
          <p:cNvSpPr/>
          <p:nvPr/>
        </p:nvSpPr>
        <p:spPr>
          <a:xfrm>
            <a:off x="6035040" y="3895344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60350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BR" sz="1400" noProof="0" dirty="0"/>
          </a:p>
        </p:txBody>
      </p:sp>
      <p:sp>
        <p:nvSpPr>
          <p:cNvPr id="15" name="Text 12"/>
          <p:cNvSpPr/>
          <p:nvPr/>
        </p:nvSpPr>
        <p:spPr>
          <a:xfrm>
            <a:off x="6601968" y="3858768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</a:t>
            </a:r>
            <a:endParaRPr lang="pt-BR" sz="1400" noProof="0" dirty="0"/>
          </a:p>
        </p:txBody>
      </p:sp>
      <p:sp>
        <p:nvSpPr>
          <p:cNvPr id="4" name="Text 13"/>
          <p:cNvSpPr/>
          <p:nvPr/>
        </p:nvSpPr>
        <p:spPr>
          <a:xfrm>
            <a:off x="6601968" y="4187952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super-herói não é Bruno — logo Bruno só pode ser palhaço.</a:t>
            </a:r>
            <a:endParaRPr lang="pt-BR" sz="1250" noProof="0" dirty="0"/>
          </a:p>
        </p:txBody>
      </p:sp>
      <p:sp>
        <p:nvSpPr>
          <p:cNvPr id="17" name="Shape 14"/>
          <p:cNvSpPr/>
          <p:nvPr/>
        </p:nvSpPr>
        <p:spPr>
          <a:xfrm>
            <a:off x="6035040" y="4974336"/>
            <a:ext cx="402336" cy="402336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6035040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BR" sz="1400" noProof="0" dirty="0"/>
          </a:p>
        </p:txBody>
      </p:sp>
      <p:sp>
        <p:nvSpPr>
          <p:cNvPr id="19" name="Text 16"/>
          <p:cNvSpPr/>
          <p:nvPr/>
        </p:nvSpPr>
        <p:spPr>
          <a:xfrm>
            <a:off x="6601968" y="4937760"/>
            <a:ext cx="4919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</a:t>
            </a:r>
            <a:endParaRPr lang="pt-BR" sz="1400" noProof="0" dirty="0"/>
          </a:p>
        </p:txBody>
      </p:sp>
      <p:sp>
        <p:nvSpPr>
          <p:cNvPr id="20" name="Text 17"/>
          <p:cNvSpPr/>
          <p:nvPr/>
        </p:nvSpPr>
        <p:spPr>
          <a:xfrm>
            <a:off x="6601968" y="5266944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Sobrou super-herói só para Ana.</a:t>
            </a:r>
            <a:endParaRPr lang="pt-BR" sz="1250" noProof="0" dirty="0"/>
          </a:p>
        </p:txBody>
      </p:sp>
      <p:sp>
        <p:nvSpPr>
          <p:cNvPr id="21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CONECTANDO OS PONTOS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</a:t>
            </a:r>
            <a:endParaRPr lang="pt-BR" sz="3400" noProof="0" dirty="0"/>
          </a:p>
        </p:txBody>
      </p:sp>
      <p:sp>
        <p:nvSpPr>
          <p:cNvPr id="4" name="Shape 2"/>
          <p:cNvSpPr/>
          <p:nvPr/>
        </p:nvSpPr>
        <p:spPr>
          <a:xfrm>
            <a:off x="5638648" y="2286000"/>
            <a:ext cx="914400" cy="91440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384" y="2459736"/>
            <a:ext cx="566928" cy="5669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352044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pt-BR" sz="16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tipo de quebra-cabeça de eliminação é resolvido formalmente com lógica proposicional — exatamente o que vem na próxima aula.</a:t>
            </a:r>
            <a:endParaRPr lang="pt-BR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1828800" y="438912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pt-BR" sz="14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resolveu “no olho”, parabéns: você já está pensando como a matemática que vamos formalizar em </a:t>
            </a:r>
            <a:r>
              <a:rPr lang="pt-BR" sz="1400" i="1" u="sng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Fundamentos de Lógica</a:t>
            </a:r>
            <a:r>
              <a:rPr lang="pt-BR" sz="14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1400" noProof="0" dirty="0"/>
          </a:p>
        </p:txBody>
      </p:sp>
      <p:sp>
        <p:nvSpPr>
          <p:cNvPr id="8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DE ROTA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 no semestre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2423160" y="3502152"/>
            <a:ext cx="7315200" cy="36576"/>
          </a:xfrm>
          <a:prstGeom prst="rect">
            <a:avLst/>
          </a:prstGeom>
          <a:solidFill>
            <a:srgbClr val="DAD5F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1691640" y="3108960"/>
            <a:ext cx="822960" cy="822960"/>
          </a:xfrm>
          <a:prstGeom prst="ellipse">
            <a:avLst/>
          </a:prstGeom>
          <a:solidFill>
            <a:srgbClr val="B8AEE0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461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01</a:t>
            </a:r>
            <a:endParaRPr lang="pt-BR" sz="1400" noProof="0" dirty="0"/>
          </a:p>
        </p:txBody>
      </p:sp>
      <p:sp>
        <p:nvSpPr>
          <p:cNvPr id="8" name="Text 5"/>
          <p:cNvSpPr/>
          <p:nvPr/>
        </p:nvSpPr>
        <p:spPr>
          <a:xfrm>
            <a:off x="100584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UC</a:t>
            </a:r>
            <a:endParaRPr lang="pt-BR" sz="1150" noProof="0" dirty="0"/>
          </a:p>
        </p:txBody>
      </p:sp>
      <p:sp>
        <p:nvSpPr>
          <p:cNvPr id="9" name="Shape 6"/>
          <p:cNvSpPr/>
          <p:nvPr/>
        </p:nvSpPr>
        <p:spPr>
          <a:xfrm>
            <a:off x="5367528" y="22860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5367528" y="22860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kern="0" spc="50" noProof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AQUI</a:t>
            </a:r>
            <a:endParaRPr lang="pt-BR" sz="950" noProof="0" dirty="0"/>
          </a:p>
        </p:txBody>
      </p:sp>
      <p:sp>
        <p:nvSpPr>
          <p:cNvPr id="11" name="Shape 8"/>
          <p:cNvSpPr/>
          <p:nvPr/>
        </p:nvSpPr>
        <p:spPr>
          <a:xfrm>
            <a:off x="5504688" y="2926080"/>
            <a:ext cx="1188720" cy="118872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3136392"/>
            <a:ext cx="768096" cy="7680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01768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02</a:t>
            </a:r>
            <a:endParaRPr lang="pt-BR" sz="1550" noProof="0" dirty="0"/>
          </a:p>
        </p:txBody>
      </p:sp>
      <p:sp>
        <p:nvSpPr>
          <p:cNvPr id="14" name="Text 10"/>
          <p:cNvSpPr/>
          <p:nvPr/>
        </p:nvSpPr>
        <p:spPr>
          <a:xfrm>
            <a:off x="5001768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Ativa</a:t>
            </a:r>
            <a:endParaRPr lang="pt-BR" sz="1200" noProof="0" dirty="0"/>
          </a:p>
        </p:txBody>
      </p:sp>
      <p:sp>
        <p:nvSpPr>
          <p:cNvPr id="15" name="Shape 11"/>
          <p:cNvSpPr/>
          <p:nvPr/>
        </p:nvSpPr>
        <p:spPr>
          <a:xfrm>
            <a:off x="9189720" y="310896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33192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03920" y="4069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pt-BR" sz="1400" noProof="0" dirty="0"/>
          </a:p>
        </p:txBody>
      </p:sp>
      <p:sp>
        <p:nvSpPr>
          <p:cNvPr id="18" name="Text 13"/>
          <p:cNvSpPr/>
          <p:nvPr/>
        </p:nvSpPr>
        <p:spPr>
          <a:xfrm>
            <a:off x="8503920" y="4389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pt-BR" sz="1150" noProof="0" dirty="0"/>
          </a:p>
        </p:txBody>
      </p:sp>
      <p:sp>
        <p:nvSpPr>
          <p:cNvPr id="19" name="Text 1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</a:t>
            </a:r>
            <a:r>
              <a:rPr lang="pt-BR" sz="1250" i="1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r>
              <a:rPr lang="pt-BR" sz="12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resolvido hoje, o conteúdo novo recomeça na próxima aula.</a:t>
            </a:r>
            <a:endParaRPr lang="pt-BR" sz="1250" noProof="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PRÓXIMO ENCONTRO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saída</a:t>
            </a:r>
            <a:endParaRPr lang="pt-BR" sz="32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96112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3392424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295144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</a:t>
            </a:r>
            <a:r>
              <a:rPr lang="pt-BR" sz="1450" b="1" noProof="0" dirty="0" err="1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100% marcado</a:t>
            </a:r>
            <a:endParaRPr lang="pt-BR" sz="1450" noProof="0" dirty="0"/>
          </a:p>
        </p:txBody>
      </p:sp>
      <p:sp>
        <p:nvSpPr>
          <p:cNvPr id="9" name="Text 6"/>
          <p:cNvSpPr/>
          <p:nvPr/>
        </p:nvSpPr>
        <p:spPr>
          <a:xfrm>
            <a:off x="896112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dúvida já reportada ao professor.</a:t>
            </a:r>
            <a:endParaRPr lang="pt-BR" sz="1200" noProof="0" dirty="0"/>
          </a:p>
        </p:txBody>
      </p:sp>
      <p:sp>
        <p:nvSpPr>
          <p:cNvPr id="10" name="Shape 7"/>
          <p:cNvSpPr/>
          <p:nvPr/>
        </p:nvSpPr>
        <p:spPr>
          <a:xfrm>
            <a:off x="4379976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4636008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Shape 9"/>
          <p:cNvSpPr/>
          <p:nvPr/>
        </p:nvSpPr>
        <p:spPr>
          <a:xfrm>
            <a:off x="7132320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2295144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36008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testado e funcionando</a:t>
            </a:r>
            <a:endParaRPr lang="pt-BR" sz="1450" noProof="0" dirty="0"/>
          </a:p>
        </p:txBody>
      </p:sp>
      <p:sp>
        <p:nvSpPr>
          <p:cNvPr id="15" name="Text 11"/>
          <p:cNvSpPr/>
          <p:nvPr/>
        </p:nvSpPr>
        <p:spPr>
          <a:xfrm>
            <a:off x="4636008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+ VS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prontos para a próxima aula.</a:t>
            </a:r>
            <a:endParaRPr lang="pt-BR" sz="1200" noProof="0" dirty="0"/>
          </a:p>
        </p:txBody>
      </p:sp>
      <p:sp>
        <p:nvSpPr>
          <p:cNvPr id="16" name="Shape 12"/>
          <p:cNvSpPr/>
          <p:nvPr/>
        </p:nvSpPr>
        <p:spPr>
          <a:xfrm>
            <a:off x="8119872" y="1965960"/>
            <a:ext cx="3538728" cy="3200400"/>
          </a:xfrm>
          <a:prstGeom prst="roundRect">
            <a:avLst>
              <a:gd name="adj" fmla="val 342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Shape 13"/>
          <p:cNvSpPr/>
          <p:nvPr/>
        </p:nvSpPr>
        <p:spPr>
          <a:xfrm>
            <a:off x="8375904" y="222199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4"/>
          <p:cNvSpPr/>
          <p:nvPr/>
        </p:nvSpPr>
        <p:spPr>
          <a:xfrm>
            <a:off x="10872216" y="2203704"/>
            <a:ext cx="420624" cy="420624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656" y="2295144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75904" y="2834640"/>
            <a:ext cx="3026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dúvida pendente</a:t>
            </a:r>
            <a:endParaRPr lang="pt-BR" sz="1450" noProof="0" dirty="0"/>
          </a:p>
        </p:txBody>
      </p:sp>
      <p:sp>
        <p:nvSpPr>
          <p:cNvPr id="21" name="Text 16"/>
          <p:cNvSpPr/>
          <p:nvPr/>
        </p:nvSpPr>
        <p:spPr>
          <a:xfrm>
            <a:off x="8375904" y="365760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cronograma ou critérios de avaliação.</a:t>
            </a:r>
            <a:endParaRPr lang="pt-BR" sz="1200" noProof="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Evasão e permanência estudantil — contexto institucional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91440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877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SEMESP</a:t>
            </a:r>
            <a:endParaRPr lang="pt-BR" sz="1800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do Ensino Superior no Brasil — indicadores de evasão e permanência no ensino superior privado.</a:t>
            </a:r>
            <a:endParaRPr lang="pt-BR" sz="1300" noProof="0" dirty="0"/>
          </a:p>
        </p:txBody>
      </p:sp>
      <p:sp>
        <p:nvSpPr>
          <p:cNvPr id="10" name="Shape 7"/>
          <p:cNvSpPr/>
          <p:nvPr/>
        </p:nvSpPr>
        <p:spPr>
          <a:xfrm>
            <a:off x="6263640" y="2148840"/>
            <a:ext cx="5257800" cy="2926080"/>
          </a:xfrm>
          <a:prstGeom prst="roundRect">
            <a:avLst>
              <a:gd name="adj" fmla="val 375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6537960" y="2441448"/>
            <a:ext cx="530352" cy="53035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87752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2441448"/>
            <a:ext cx="4160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ABMES</a:t>
            </a:r>
            <a:endParaRPr lang="pt-BR" sz="1800" noProof="0" dirty="0"/>
          </a:p>
        </p:txBody>
      </p:sp>
      <p:sp>
        <p:nvSpPr>
          <p:cNvPr id="14" name="Text 10"/>
          <p:cNvSpPr/>
          <p:nvPr/>
        </p:nvSpPr>
        <p:spPr>
          <a:xfrm>
            <a:off x="6537960" y="320040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e permanência estudantil no ensino superior — práticas de acompanhamento e busca ativa.</a:t>
            </a:r>
            <a:endParaRPr lang="pt-BR" sz="1300" noProof="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 e vídeos</a:t>
            </a:r>
            <a:endParaRPr lang="pt-BR" sz="32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— revisão rápida</a:t>
            </a:r>
            <a:endParaRPr lang="pt-BR" sz="1550" noProof="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Guia de instalação da turma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passo a passo oficial.</a:t>
            </a:r>
            <a:endParaRPr lang="pt-BR" sz="1200" noProof="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do .NET — documentação e instalador oficial: learn.microsoft.com/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</a:t>
            </a:r>
            <a:endParaRPr lang="pt-BR" sz="1200" noProof="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lang="pt-BR" sz="120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— instalação oficial</a:t>
            </a:r>
            <a:endParaRPr lang="pt-BR" sz="1200" noProof="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(opcional, para os exemplos comparativos): </a:t>
            </a:r>
            <a:r>
              <a:rPr lang="pt-BR" sz="120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python.org/downloads</a:t>
            </a:r>
            <a:endParaRPr lang="pt-BR" sz="1200" noProof="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pt-BR" sz="1550" noProof="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Curso em Vídeo (Gustavo Guanabara)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série de Lógica de Programação, ótima para reforçar o “porquê” do raciocínio lógico antes da próxima aula.</a:t>
            </a:r>
            <a:endParaRPr lang="pt-BR" sz="1200" noProof="0" dirty="0"/>
          </a:p>
          <a:p>
            <a:pPr marL="0" indent="0">
              <a:lnSpc>
                <a:spcPts val="1800"/>
              </a:lnSpc>
              <a:spcAft>
                <a:spcPts val="1000"/>
              </a:spcAft>
              <a:buNone/>
            </a:pPr>
            <a:r>
              <a:rPr lang="pt-BR" sz="120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Tutoriais de configuração de ambiente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.NET +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VS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iniciantes.</a:t>
            </a:r>
            <a:endParaRPr lang="pt-BR" sz="1200" noProof="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pt-B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pt-BR" sz="16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pt-BR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ambiente e as dúvidas</a:t>
            </a:r>
            <a:endParaRPr lang="pt-BR" sz="3400" noProof="0" dirty="0"/>
          </a:p>
          <a:p>
            <a:pPr marL="0" indent="0">
              <a:lnSpc>
                <a:spcPts val="4000"/>
              </a:lnSpc>
              <a:buNone/>
            </a:pPr>
            <a:r>
              <a:rPr lang="pt-BR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resolvidos, começamos de verdade.</a:t>
            </a:r>
            <a:endParaRPr lang="pt-BR" sz="34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das fantasias vai voltar — agora com nome e notação: lógica proposicional.</a:t>
            </a:r>
            <a:endParaRPr lang="pt-BR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02</a:t>
            </a:r>
            <a:endParaRPr lang="pt-BR" sz="11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1805</Words>
  <Application>Microsoft Office PowerPoint</Application>
  <PresentationFormat>Widescreen</PresentationFormat>
  <Paragraphs>258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2</cp:revision>
  <dcterms:created xsi:type="dcterms:W3CDTF">2026-08-04T20:39:31Z</dcterms:created>
  <dcterms:modified xsi:type="dcterms:W3CDTF">2026-08-20T17:42:03Z</dcterms:modified>
</cp:coreProperties>
</file>