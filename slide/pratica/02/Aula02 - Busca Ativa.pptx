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5254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Contextualizar: esta aula é diferente das demais — hoje o foco é garantir que todo mundo embarcou, não avançar conteúdo novo.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desde já: quem estiver em dia com tudo pode ir direto para o desafio opcional no fim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Enfatizar: busca ativa não é fiscalização, é antecipação de suporte.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exemplos da própria turma: que outras 'buscas ativas' do dia a dia eles já receberam?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recado emocional da aula: reduzir o estigma de ser contatado pela busca 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o diagrama é conceitual, não um dado estatístico real — a ideia é só mostrar a lógica do timing.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explícito o combinado: enquanto o professor confere e contata, o aluno confirma o próprio diagnóstico em paralelo.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 também aparece no curso, mas só para comparação de sintaxe — o setup obrigatório é este aqui.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alguém ainda tiver dúvida de ementa, este é o momento de perguntar — não depois da prova.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Pausa proposital: dar tempo real para quem está atrasado resolver com o professor antes de seguir para o desafio.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Enquadrar como convite, não obrigação — reforçar que quem ainda está resolvendo o onboarding não precisa se preocupar com isso agora.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o desafio no quadro (ou projetado) enquanto os alunos leem as pistas no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3-4 minutos para a turma tentar sozinha antes de mostrar a dica da tabela.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Convidar alguém da turma a vir preencher o restante da tabela em voz alta antes de revelar a resolução.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 = super-herói, Bruno = palhaço, Caio = pirata. Reforçar que cada passo eliminou uma opção só com as pistas, sem chute.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direto para a Aula 03: o que parecia intuição vai virar notação formal.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 visualmente que hoje é uma pausa estratégica, não um desvio do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2 minutos no início da próxima aula para confirmar que a turma está 100% pronta para o conteúdo novo.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referências dão o pano de fundo institucional de por que a busca ativa existe como política, não só como boa vontade do professor.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Estes materiais são de apoio — não é obrigatório assistir tudo antes da próxima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retomando o convite: quem topou o desafio já viu, na prática, o assunto da próxima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7803D-69A9-647C-A3B9-385E5FE8A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80C3FF-9713-7792-068E-13A2E98D0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542D6-B2E0-4CE5-8F83-76BABAD46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retomando o convite: quem topou o desafio já viu, na prática, o assunto da próxima aula.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D643C-AD21-C0D4-3534-6C6FD3B7A9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997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anhpaiva.github.io/una-mca-zensical-202602/turma-202602/01-aula/" TargetMode="Externa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anhpaiva.github.io/una-mca-zensical-202602/turma-202602/03-aula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results?search_query=curso+em+v%C3%ADdeo+l%C3%B3gica+de+programa%C3%A7%C3%A3o" TargetMode="External"/><Relationship Id="rId3" Type="http://schemas.openxmlformats.org/officeDocument/2006/relationships/image" Target="../media/image1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python.org/downloads/" TargetMode="External"/><Relationship Id="rId5" Type="http://schemas.openxmlformats.org/officeDocument/2006/relationships/hyperlink" Target="https://git-scm.com/downloads" TargetMode="External"/><Relationship Id="rId4" Type="http://schemas.openxmlformats.org/officeDocument/2006/relationships/hyperlink" Target="https://danhpaiva.github.io/una-mca-zensical-202602/ferramentas/" TargetMode="External"/><Relationship Id="rId9" Type="http://schemas.openxmlformats.org/officeDocument/2006/relationships/hyperlink" Target="https://www.youtube.com/results?search_query=instalar+dotnet+git+vscode+iniciantes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5669280" cy="5669280"/>
          </a:xfrm>
          <a:prstGeom prst="ellipse">
            <a:avLst/>
          </a:prstGeom>
          <a:ln w="19050">
            <a:solidFill>
              <a:srgbClr val="2FE6C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-1463040" y="4663440"/>
            <a:ext cx="3108960" cy="3108960"/>
          </a:xfrm>
          <a:prstGeom prst="ellipse">
            <a:avLst/>
          </a:prstGeom>
          <a:ln w="19050">
            <a:solidFill>
              <a:srgbClr val="6C4BC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9601200" y="-274320"/>
            <a:ext cx="265176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kern="0" spc="30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</a:t>
            </a:r>
            <a:endParaRPr lang="pt-B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594360" y="2331720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6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02</a:t>
            </a:r>
            <a:endParaRPr lang="pt-BR" sz="64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Ativa — Início de Semestre</a:t>
            </a:r>
            <a:endParaRPr lang="pt-BR" sz="25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seguir para a lógica, vamos garantir que ninguém fique pelo caminho.</a:t>
            </a:r>
            <a:endParaRPr lang="pt-BR" sz="14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kern="0" spc="100" noProof="0" dirty="0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  ·   DIAGNÓSTICO   ·   DESAFIO OPCIONAL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· ROTEIRO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8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Nesta aula</a:t>
            </a:r>
            <a:endParaRPr lang="pt-BR" sz="38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020824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470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Busca Ativa</a:t>
            </a:r>
            <a:endParaRPr lang="pt-BR" sz="1800" noProof="0" dirty="0"/>
          </a:p>
        </p:txBody>
      </p:sp>
      <p:sp>
        <p:nvSpPr>
          <p:cNvPr id="7" name="Text 4"/>
          <p:cNvSpPr/>
          <p:nvPr/>
        </p:nvSpPr>
        <p:spPr>
          <a:xfrm>
            <a:off x="1508760" y="218541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essa prática e por que eu gosto de investir tempo de aula nisso.</a:t>
            </a:r>
            <a:endParaRPr lang="pt-BR" sz="1350" noProof="0" dirty="0"/>
          </a:p>
        </p:txBody>
      </p:sp>
      <p:sp>
        <p:nvSpPr>
          <p:cNvPr id="8" name="Shape 5"/>
          <p:cNvSpPr/>
          <p:nvPr/>
        </p:nvSpPr>
        <p:spPr>
          <a:xfrm>
            <a:off x="640080" y="2990088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13639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9626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aula funciona na prática</a:t>
            </a:r>
            <a:endParaRPr lang="pt-BR" sz="1800" noProof="0" dirty="0"/>
          </a:p>
        </p:txBody>
      </p:sp>
      <p:sp>
        <p:nvSpPr>
          <p:cNvPr id="11" name="Text 7"/>
          <p:cNvSpPr/>
          <p:nvPr/>
        </p:nvSpPr>
        <p:spPr>
          <a:xfrm>
            <a:off x="1508760" y="330098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professor faz, o que você faz — os papéis de hoje.</a:t>
            </a:r>
            <a:endParaRPr lang="pt-BR" sz="1350" noProof="0" dirty="0"/>
          </a:p>
        </p:txBody>
      </p:sp>
      <p:sp>
        <p:nvSpPr>
          <p:cNvPr id="12" name="Shape 8"/>
          <p:cNvSpPr/>
          <p:nvPr/>
        </p:nvSpPr>
        <p:spPr>
          <a:xfrm>
            <a:off x="640080" y="4105656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25196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0782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rápido de </a:t>
            </a:r>
            <a:r>
              <a:rPr lang="pt-BR" sz="1800" b="1" noProof="0" dirty="0" err="1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pt-BR" sz="1800" noProof="0" dirty="0"/>
          </a:p>
        </p:txBody>
      </p:sp>
      <p:sp>
        <p:nvSpPr>
          <p:cNvPr id="15" name="Text 10"/>
          <p:cNvSpPr/>
          <p:nvPr/>
        </p:nvSpPr>
        <p:spPr>
          <a:xfrm>
            <a:off x="1508760" y="441655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Ferramentas, acesso e dúvidas de ementa, tudo num checklist.</a:t>
            </a:r>
            <a:endParaRPr lang="pt-BR" sz="1350" noProof="0" dirty="0"/>
          </a:p>
        </p:txBody>
      </p:sp>
      <p:sp>
        <p:nvSpPr>
          <p:cNvPr id="16" name="Shape 11"/>
          <p:cNvSpPr/>
          <p:nvPr/>
        </p:nvSpPr>
        <p:spPr>
          <a:xfrm>
            <a:off x="640080" y="5221224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536752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51937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lógico opcional</a:t>
            </a:r>
            <a:endParaRPr lang="pt-BR" sz="1800" noProof="0" dirty="0"/>
          </a:p>
        </p:txBody>
      </p:sp>
      <p:sp>
        <p:nvSpPr>
          <p:cNvPr id="19" name="Text 13"/>
          <p:cNvSpPr/>
          <p:nvPr/>
        </p:nvSpPr>
        <p:spPr>
          <a:xfrm>
            <a:off x="1508760" y="55321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já está em dia — um aquecimento para a próxima aula.</a:t>
            </a:r>
            <a:endParaRPr lang="pt-BR" sz="1350" noProof="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CONCEITO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Busca Ativa?</a:t>
            </a:r>
            <a:endParaRPr lang="pt-BR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pt-BR" sz="150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prática de acompanhamento estudantil: em vez de esperar que um aluno sumindo das aulas venha pedir ajuda, a instituição e o professor vão até ele.</a:t>
            </a:r>
            <a:endParaRPr lang="pt-BR" sz="1500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pt-BR" sz="15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de engajamento detectados cedo são muito mais fáceis de resolver do que problemas descobertos no fim do semestre, quando já não há tempo de recuperação.</a:t>
            </a:r>
            <a:endParaRPr lang="pt-BR" sz="1500" noProof="0" dirty="0"/>
          </a:p>
        </p:txBody>
      </p:sp>
      <p:sp>
        <p:nvSpPr>
          <p:cNvPr id="6" name="Shape 4"/>
          <p:cNvSpPr/>
          <p:nvPr/>
        </p:nvSpPr>
        <p:spPr>
          <a:xfrm>
            <a:off x="6355080" y="777240"/>
            <a:ext cx="5212080" cy="5532120"/>
          </a:xfrm>
          <a:prstGeom prst="roundRect">
            <a:avLst>
              <a:gd name="adj" fmla="val 210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6675120" y="1234440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1424" y="138074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52360" y="12161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Checagem</a:t>
            </a:r>
            <a:endParaRPr lang="pt-BR" sz="1600" noProof="0" dirty="0"/>
          </a:p>
        </p:txBody>
      </p:sp>
      <p:sp>
        <p:nvSpPr>
          <p:cNvPr id="10" name="Text 7"/>
          <p:cNvSpPr/>
          <p:nvPr/>
        </p:nvSpPr>
        <p:spPr>
          <a:xfrm>
            <a:off x="7452360" y="16733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e desempenho monitorados</a:t>
            </a:r>
            <a:endParaRPr lang="pt-BR" sz="1250" noProof="0" dirty="0"/>
          </a:p>
        </p:txBody>
      </p:sp>
      <p:sp>
        <p:nvSpPr>
          <p:cNvPr id="11" name="Shape 8"/>
          <p:cNvSpPr/>
          <p:nvPr/>
        </p:nvSpPr>
        <p:spPr>
          <a:xfrm>
            <a:off x="6675120" y="2834640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298094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52360" y="28163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direto</a:t>
            </a:r>
            <a:endParaRPr lang="pt-BR" sz="1600" noProof="0" dirty="0"/>
          </a:p>
        </p:txBody>
      </p:sp>
      <p:sp>
        <p:nvSpPr>
          <p:cNvPr id="14" name="Text 10"/>
          <p:cNvSpPr/>
          <p:nvPr/>
        </p:nvSpPr>
        <p:spPr>
          <a:xfrm>
            <a:off x="7452360" y="3273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Mensagem, e-mail ou conversa individual</a:t>
            </a:r>
            <a:endParaRPr lang="pt-BR" sz="1250" noProof="0" dirty="0"/>
          </a:p>
        </p:txBody>
      </p:sp>
      <p:sp>
        <p:nvSpPr>
          <p:cNvPr id="15" name="Shape 11"/>
          <p:cNvSpPr/>
          <p:nvPr/>
        </p:nvSpPr>
        <p:spPr>
          <a:xfrm>
            <a:off x="6675120" y="4434840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1424" y="458114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52360" y="44165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concreto</a:t>
            </a:r>
            <a:endParaRPr lang="pt-BR" sz="1600" noProof="0" dirty="0"/>
          </a:p>
        </p:txBody>
      </p:sp>
      <p:sp>
        <p:nvSpPr>
          <p:cNvPr id="18" name="Text 13"/>
          <p:cNvSpPr/>
          <p:nvPr/>
        </p:nvSpPr>
        <p:spPr>
          <a:xfrm>
            <a:off x="7452360" y="4873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 prática, não só um aviso</a:t>
            </a:r>
            <a:endParaRPr lang="pt-BR" sz="1250" noProof="0" dirty="0"/>
          </a:p>
        </p:txBody>
      </p:sp>
      <p:sp>
        <p:nvSpPr>
          <p:cNvPr id="19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JÁ É FAMILIAR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9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já viu isso fora da faculdade</a:t>
            </a:r>
            <a:endParaRPr lang="pt-BR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Instituições e empresas fazem “busca ativa” o tempo todo — só não usam esse nome.</a:t>
            </a:r>
            <a:endParaRPr lang="pt-BR" sz="135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886968"/>
          </a:xfrm>
          <a:prstGeom prst="roundRect">
            <a:avLst>
              <a:gd name="adj" fmla="val 10309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68680" y="230886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45516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48840"/>
            <a:ext cx="3291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banco liga</a:t>
            </a:r>
            <a:endParaRPr lang="pt-BR" sz="1550" noProof="0" dirty="0"/>
          </a:p>
        </p:txBody>
      </p:sp>
      <p:sp>
        <p:nvSpPr>
          <p:cNvPr id="9" name="Text 6"/>
          <p:cNvSpPr/>
          <p:nvPr/>
        </p:nvSpPr>
        <p:spPr>
          <a:xfrm>
            <a:off x="5120640" y="2148840"/>
            <a:ext cx="62179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percebe um gasto fora do seu padrão habitual</a:t>
            </a:r>
            <a:endParaRPr lang="pt-BR" sz="1300" noProof="0" dirty="0"/>
          </a:p>
        </p:txBody>
      </p:sp>
      <p:sp>
        <p:nvSpPr>
          <p:cNvPr id="10" name="Shape 7"/>
          <p:cNvSpPr/>
          <p:nvPr/>
        </p:nvSpPr>
        <p:spPr>
          <a:xfrm>
            <a:off x="640080" y="3200400"/>
            <a:ext cx="10881360" cy="886968"/>
          </a:xfrm>
          <a:prstGeom prst="roundRect">
            <a:avLst>
              <a:gd name="adj" fmla="val 10309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868680" y="336042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50672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200400"/>
            <a:ext cx="3291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plano de saúde avisa</a:t>
            </a:r>
            <a:endParaRPr lang="pt-BR" sz="1550" noProof="0" dirty="0"/>
          </a:p>
        </p:txBody>
      </p:sp>
      <p:sp>
        <p:nvSpPr>
          <p:cNvPr id="14" name="Text 10"/>
          <p:cNvSpPr/>
          <p:nvPr/>
        </p:nvSpPr>
        <p:spPr>
          <a:xfrm>
            <a:off x="5120640" y="3200400"/>
            <a:ext cx="62179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você está atrasado com o check-up anual</a:t>
            </a:r>
            <a:endParaRPr lang="pt-BR" sz="1300" noProof="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10881360" cy="886968"/>
          </a:xfrm>
          <a:prstGeom prst="roundRect">
            <a:avLst>
              <a:gd name="adj" fmla="val 10309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2"/>
          <p:cNvSpPr/>
          <p:nvPr/>
        </p:nvSpPr>
        <p:spPr>
          <a:xfrm>
            <a:off x="868680" y="441198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455828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251960"/>
            <a:ext cx="3291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de entrega notifica</a:t>
            </a:r>
            <a:endParaRPr lang="pt-BR" sz="1550" noProof="0" dirty="0"/>
          </a:p>
        </p:txBody>
      </p:sp>
      <p:sp>
        <p:nvSpPr>
          <p:cNvPr id="19" name="Text 14"/>
          <p:cNvSpPr/>
          <p:nvPr/>
        </p:nvSpPr>
        <p:spPr>
          <a:xfrm>
            <a:off x="5120640" y="4251960"/>
            <a:ext cx="62179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você precisar perguntar onde está o pedido</a:t>
            </a:r>
            <a:endParaRPr lang="pt-BR" sz="1300" noProof="0" dirty="0"/>
          </a:p>
        </p:txBody>
      </p:sp>
      <p:sp>
        <p:nvSpPr>
          <p:cNvPr id="20" name="Text 15"/>
          <p:cNvSpPr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faculdade está fazendo a mesma coisa — só que pelo seu aprendizado.</a:t>
            </a:r>
            <a:endParaRPr lang="pt-BR" sz="1250" noProof="0" dirty="0"/>
          </a:p>
        </p:txBody>
      </p:sp>
      <p:sp>
        <p:nvSpPr>
          <p:cNvPr id="21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C4B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ln w="190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-1645920" y="4389120"/>
            <a:ext cx="3291840" cy="3291840"/>
          </a:xfrm>
          <a:prstGeom prst="ellipse">
            <a:avLst/>
          </a:prstGeom>
          <a:ln w="19050">
            <a:solidFill>
              <a:srgbClr val="2FE6C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777240" cy="77724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060704"/>
            <a:ext cx="484632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02412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kern="0" spc="20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ALGUÉM DA EQUIPE TE PROCURAR ESTA SEMANA</a:t>
            </a:r>
            <a:endParaRPr lang="pt-BR" sz="13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46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é bronca. É cuidado.</a:t>
            </a:r>
            <a:endParaRPr lang="pt-BR" sz="46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8961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pt-BR" sz="1600" noProof="0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primeiras semanas são o momento em que um pequeno empurrão faz a maior diferença. Ninguém está te vigiando — estão te dando a chance de resolver agora o que, mais tarde, seria bem mais difícil.</a:t>
            </a:r>
            <a:endParaRPr lang="pt-BR" sz="16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MOMENTO CERTO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logo na segunda aula?</a:t>
            </a:r>
            <a:endParaRPr lang="pt-BR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primeiros encontros do semestre são o momento de maior risco de afastamento: quem não instalou as ferramentas, ficou com dúvida na ementa, ou faltou na Aula 01 tende a se afastar ainda mais se ninguém procurar agora.</a:t>
            </a:r>
            <a:endParaRPr lang="pt-BR" sz="1350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kern="0" spc="100" noProof="0" dirty="0">
                <a:solidFill>
                  <a:srgbClr val="E5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ALTO</a:t>
            </a:r>
            <a:endParaRPr lang="pt-B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1577340" y="3337560"/>
            <a:ext cx="1371600" cy="1371600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5376" y="3625596"/>
            <a:ext cx="795528" cy="7955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846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do semestre</a:t>
            </a:r>
            <a:endParaRPr lang="pt-BR" sz="14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518464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pt-BR" sz="11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técnicas ainda sem resposta</a:t>
            </a:r>
            <a:endParaRPr lang="pt-BR" sz="1150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931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389120" y="2560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kern="0" spc="100" noProof="0" dirty="0">
                <a:solidFill>
                  <a:srgbClr val="E8B3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MÉDIO</a:t>
            </a:r>
            <a:endParaRPr lang="pt-BR" sz="1100" noProof="0" dirty="0"/>
          </a:p>
        </p:txBody>
      </p:sp>
      <p:sp>
        <p:nvSpPr>
          <p:cNvPr id="12" name="Shape 8"/>
          <p:cNvSpPr/>
          <p:nvPr/>
        </p:nvSpPr>
        <p:spPr>
          <a:xfrm>
            <a:off x="5509260" y="3703320"/>
            <a:ext cx="1005840" cy="1005840"/>
          </a:xfrm>
          <a:prstGeom prst="ellipse">
            <a:avLst/>
          </a:prstGeom>
          <a:solidFill>
            <a:srgbClr val="E8B324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0486" y="3914546"/>
            <a:ext cx="583387" cy="58338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89120" y="4846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 do semestre</a:t>
            </a:r>
            <a:endParaRPr lang="pt-BR" sz="1400" noProof="0" dirty="0"/>
          </a:p>
        </p:txBody>
      </p:sp>
      <p:sp>
        <p:nvSpPr>
          <p:cNvPr id="15" name="Text 10"/>
          <p:cNvSpPr/>
          <p:nvPr/>
        </p:nvSpPr>
        <p:spPr>
          <a:xfrm>
            <a:off x="4389120" y="518464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pt-BR" sz="11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contato, o afastamento cresce</a:t>
            </a:r>
            <a:endParaRPr lang="pt-BR" sz="1150" noProof="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9540" y="393192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138160" y="25603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kern="0" spc="100" noProof="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BAIXO</a:t>
            </a:r>
            <a:endParaRPr lang="pt-BR" sz="1100" noProof="0" dirty="0"/>
          </a:p>
        </p:txBody>
      </p:sp>
      <p:sp>
        <p:nvSpPr>
          <p:cNvPr id="18" name="Shape 12"/>
          <p:cNvSpPr/>
          <p:nvPr/>
        </p:nvSpPr>
        <p:spPr>
          <a:xfrm>
            <a:off x="9404604" y="3995928"/>
            <a:ext cx="713232" cy="713232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4383" y="4145707"/>
            <a:ext cx="413675" cy="4136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138160" y="484632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suporte a tempo</a:t>
            </a:r>
            <a:endParaRPr lang="pt-BR" sz="1400" noProof="0" dirty="0"/>
          </a:p>
        </p:txBody>
      </p:sp>
      <p:sp>
        <p:nvSpPr>
          <p:cNvPr id="21" name="Text 14"/>
          <p:cNvSpPr/>
          <p:nvPr/>
        </p:nvSpPr>
        <p:spPr>
          <a:xfrm>
            <a:off x="8138160" y="5184648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pt-BR" sz="11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ativa reduz o problema agora</a:t>
            </a:r>
            <a:endParaRPr lang="pt-BR" sz="1150" noProof="0" dirty="0"/>
          </a:p>
        </p:txBody>
      </p:sp>
      <p:sp>
        <p:nvSpPr>
          <p:cNvPr id="22" name="Text 15"/>
          <p:cNvSpPr/>
          <p:nvPr/>
        </p:nvSpPr>
        <p:spPr>
          <a:xfrm>
            <a:off x="64008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Ilustrativo — quanto antes o suporte chega, menor a chance de o afastamento se tornar evasão.</a:t>
            </a:r>
            <a:endParaRPr lang="pt-BR" sz="1150" noProof="0" dirty="0"/>
          </a:p>
        </p:txBody>
      </p:sp>
      <p:sp>
        <p:nvSpPr>
          <p:cNvPr id="23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DE HOJE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esta aula funciona</a:t>
            </a:r>
            <a:endParaRPr lang="pt-BR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dinâmica diferente das aulas de conteúdo — hoje o foco é garantir que todo mundo embarcou.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141B4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914400" y="2304288"/>
            <a:ext cx="548640" cy="54864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45059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3042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professor</a:t>
            </a:r>
            <a:endParaRPr lang="pt-BR" sz="1800" noProof="0" dirty="0"/>
          </a:p>
        </p:txBody>
      </p:sp>
      <p:sp>
        <p:nvSpPr>
          <p:cNvPr id="9" name="Text 6"/>
          <p:cNvSpPr/>
          <p:nvPr/>
        </p:nvSpPr>
        <p:spPr>
          <a:xfrm>
            <a:off x="914400" y="3063240"/>
            <a:ext cx="4709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pt-BR" sz="1300" noProof="0" dirty="0">
                <a:solidFill>
                  <a:srgbClr val="DC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frequência e o checklist de </a:t>
            </a:r>
            <a:r>
              <a:rPr lang="pt-BR" sz="1300" noProof="0" dirty="0" err="1">
                <a:solidFill>
                  <a:srgbClr val="DC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r>
              <a:rPr lang="pt-BR" sz="1300" noProof="0" dirty="0">
                <a:solidFill>
                  <a:srgbClr val="DC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Aula 01</a:t>
            </a:r>
            <a:endParaRPr lang="pt-BR" sz="1300" noProof="0" dirty="0"/>
          </a:p>
          <a:p>
            <a:pPr marL="177800" indent="-1778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pt-BR" sz="1300" noProof="0" dirty="0">
                <a:solidFill>
                  <a:srgbClr val="DC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Contata individualmente quem faltou ou não iniciou a configuração do ambiente</a:t>
            </a:r>
            <a:endParaRPr lang="pt-BR" sz="1300" noProof="0" dirty="0"/>
          </a:p>
          <a:p>
            <a:pPr marL="177800" indent="-1778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pt-BR" sz="1300" noProof="0" dirty="0">
                <a:solidFill>
                  <a:srgbClr val="DC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Esclarece dúvidas de ementa, avaliação e cronograma que ainda não foram resolvidas</a:t>
            </a:r>
            <a:endParaRPr lang="pt-BR" sz="1300" noProof="0" dirty="0"/>
          </a:p>
        </p:txBody>
      </p:sp>
      <p:sp>
        <p:nvSpPr>
          <p:cNvPr id="10" name="Shape 7"/>
          <p:cNvSpPr/>
          <p:nvPr/>
        </p:nvSpPr>
        <p:spPr>
          <a:xfrm>
            <a:off x="6263640" y="201168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141B4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6537960" y="2304288"/>
            <a:ext cx="548640" cy="54864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245059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30428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</a:t>
            </a:r>
            <a:endParaRPr lang="pt-BR" sz="1800" noProof="0" dirty="0"/>
          </a:p>
        </p:txBody>
      </p:sp>
      <p:sp>
        <p:nvSpPr>
          <p:cNvPr id="14" name="Text 10"/>
          <p:cNvSpPr/>
          <p:nvPr/>
        </p:nvSpPr>
        <p:spPr>
          <a:xfrm>
            <a:off x="6537960" y="3063240"/>
            <a:ext cx="4709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pt-BR" sz="1300" noProof="0" dirty="0">
                <a:solidFill>
                  <a:srgbClr val="DC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o seu próprio diagnóstico de </a:t>
            </a:r>
            <a:r>
              <a:rPr lang="pt-BR" sz="1300" noProof="0" dirty="0" err="1">
                <a:solidFill>
                  <a:srgbClr val="DC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r>
              <a:rPr lang="pt-BR" sz="1300" noProof="0" dirty="0">
                <a:solidFill>
                  <a:srgbClr val="DC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item por item</a:t>
            </a:r>
            <a:endParaRPr lang="pt-BR" sz="1300" noProof="0" dirty="0"/>
          </a:p>
          <a:p>
            <a:pPr marL="177800" indent="-1778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pt-BR" sz="1300" noProof="0" dirty="0">
                <a:solidFill>
                  <a:srgbClr val="DC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 as dúvidas que ainda tiver agora — não depois, quando for tarde</a:t>
            </a:r>
            <a:endParaRPr lang="pt-BR" sz="1300" noProof="0" dirty="0"/>
          </a:p>
          <a:p>
            <a:pPr marL="177800" indent="-177800">
              <a:lnSpc>
                <a:spcPts val="1900"/>
              </a:lnSpc>
              <a:spcAft>
                <a:spcPts val="1400"/>
              </a:spcAft>
              <a:buSzPct val="100000"/>
              <a:buChar char="•"/>
            </a:pPr>
            <a:r>
              <a:rPr lang="pt-BR" sz="1300" noProof="0" dirty="0">
                <a:solidFill>
                  <a:srgbClr val="DCD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Encara o desafio lógico opcional, se já estiver em dia com tudo</a:t>
            </a:r>
            <a:endParaRPr lang="pt-BR" sz="1300" noProof="0" dirty="0"/>
          </a:p>
        </p:txBody>
      </p:sp>
      <p:sp>
        <p:nvSpPr>
          <p:cNvPr id="15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RÁPIDO DE ONBOARDING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Confira seu ambiente técnico</a:t>
            </a:r>
            <a:endParaRPr lang="pt-BR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setup que vimos na Aula 01 — marque o que já está funcionando.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914400" y="23317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5001768" y="2313432"/>
            <a:ext cx="457200" cy="45720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241401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89864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4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</a:t>
            </a:r>
            <a:r>
              <a:rPr lang="pt-BR" sz="1400" b="1" noProof="0" dirty="0" err="1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r>
              <a:rPr lang="pt-BR" sz="14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instalado, com o projeto do curso aberto ao menos uma vez</a:t>
            </a:r>
            <a:endParaRPr lang="pt-BR" sz="1400" noProof="0" dirty="0"/>
          </a:p>
        </p:txBody>
      </p:sp>
      <p:sp>
        <p:nvSpPr>
          <p:cNvPr id="10" name="Shape 7"/>
          <p:cNvSpPr/>
          <p:nvPr/>
        </p:nvSpPr>
        <p:spPr>
          <a:xfrm>
            <a:off x="6263640" y="205740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6537960" y="233172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9"/>
          <p:cNvSpPr/>
          <p:nvPr/>
        </p:nvSpPr>
        <p:spPr>
          <a:xfrm>
            <a:off x="10625328" y="2313432"/>
            <a:ext cx="457200" cy="45720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5912" y="241401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37960" y="289864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4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do .NET instalado e </a:t>
            </a:r>
            <a:r>
              <a:rPr lang="pt-BR" sz="1400" b="1" noProof="0" dirty="0" err="1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</a:t>
            </a:r>
            <a:r>
              <a:rPr lang="pt-BR" sz="14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--</a:t>
            </a:r>
            <a:r>
              <a:rPr lang="pt-BR" sz="1400" b="1" noProof="0" dirty="0" err="1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r>
              <a:rPr lang="pt-BR" sz="14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funcionando no terminal</a:t>
            </a:r>
            <a:endParaRPr lang="pt-BR" sz="1400" noProof="0" dirty="0"/>
          </a:p>
        </p:txBody>
      </p:sp>
      <p:sp>
        <p:nvSpPr>
          <p:cNvPr id="15" name="Shape 11"/>
          <p:cNvSpPr/>
          <p:nvPr/>
        </p:nvSpPr>
        <p:spPr>
          <a:xfrm>
            <a:off x="640080" y="425196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2"/>
          <p:cNvSpPr/>
          <p:nvPr/>
        </p:nvSpPr>
        <p:spPr>
          <a:xfrm>
            <a:off x="914400" y="452628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3"/>
          <p:cNvSpPr/>
          <p:nvPr/>
        </p:nvSpPr>
        <p:spPr>
          <a:xfrm>
            <a:off x="5001768" y="4507992"/>
            <a:ext cx="457200" cy="45720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352" y="460857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" y="509320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400" b="1" noProof="0" dirty="0" err="1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r>
              <a:rPr lang="pt-BR" sz="14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instalado, com user.name e </a:t>
            </a:r>
            <a:r>
              <a:rPr lang="pt-BR" sz="1400" b="1" noProof="0" dirty="0" err="1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user.email</a:t>
            </a:r>
            <a:r>
              <a:rPr lang="pt-BR" sz="14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configurados</a:t>
            </a:r>
            <a:endParaRPr lang="pt-BR" sz="1400" noProof="0" dirty="0"/>
          </a:p>
        </p:txBody>
      </p:sp>
      <p:sp>
        <p:nvSpPr>
          <p:cNvPr id="20" name="Shape 15"/>
          <p:cNvSpPr/>
          <p:nvPr/>
        </p:nvSpPr>
        <p:spPr>
          <a:xfrm>
            <a:off x="6263640" y="4251960"/>
            <a:ext cx="5257800" cy="1874520"/>
          </a:xfrm>
          <a:prstGeom prst="roundRect">
            <a:avLst>
              <a:gd name="adj" fmla="val 585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6"/>
          <p:cNvSpPr/>
          <p:nvPr/>
        </p:nvSpPr>
        <p:spPr>
          <a:xfrm>
            <a:off x="6537960" y="4526280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Shape 17"/>
          <p:cNvSpPr/>
          <p:nvPr/>
        </p:nvSpPr>
        <p:spPr>
          <a:xfrm>
            <a:off x="10625328" y="4507992"/>
            <a:ext cx="457200" cy="45720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5912" y="460857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537960" y="5093208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4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no GitHub criada</a:t>
            </a:r>
            <a:endParaRPr lang="pt-BR" sz="1400" noProof="0" dirty="0"/>
          </a:p>
        </p:txBody>
      </p:sp>
      <p:sp>
        <p:nvSpPr>
          <p:cNvPr id="25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RÁPIDO DE ONBOARDING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Confira o seu contexto de curso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230428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45059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75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confirmado</a:t>
            </a:r>
            <a:endParaRPr lang="pt-BR" sz="1700" noProof="0" dirty="0"/>
          </a:p>
        </p:txBody>
      </p:sp>
      <p:sp>
        <p:nvSpPr>
          <p:cNvPr id="8" name="Text 5"/>
          <p:cNvSpPr/>
          <p:nvPr/>
        </p:nvSpPr>
        <p:spPr>
          <a:xfrm>
            <a:off x="914400" y="3493008"/>
            <a:ext cx="4709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tem acesso ao canal oficial da turma (Google </a:t>
            </a:r>
            <a:r>
              <a:rPr lang="pt-BR" sz="130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</a:t>
            </a: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 equivalente).</a:t>
            </a:r>
            <a:endParaRPr lang="pt-BR" sz="1300" noProof="0" dirty="0"/>
          </a:p>
        </p:txBody>
      </p:sp>
      <p:sp>
        <p:nvSpPr>
          <p:cNvPr id="9" name="Shape 6"/>
          <p:cNvSpPr/>
          <p:nvPr/>
        </p:nvSpPr>
        <p:spPr>
          <a:xfrm>
            <a:off x="6263640" y="201168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7"/>
          <p:cNvSpPr/>
          <p:nvPr/>
        </p:nvSpPr>
        <p:spPr>
          <a:xfrm>
            <a:off x="6537960" y="230428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245059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7960" y="30175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7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Ementa e avaliação claras</a:t>
            </a:r>
            <a:endParaRPr lang="pt-BR" sz="1700" noProof="0" dirty="0"/>
          </a:p>
        </p:txBody>
      </p:sp>
      <p:sp>
        <p:nvSpPr>
          <p:cNvPr id="13" name="Text 9"/>
          <p:cNvSpPr/>
          <p:nvPr/>
        </p:nvSpPr>
        <p:spPr>
          <a:xfrm>
            <a:off x="6537960" y="3493008"/>
            <a:ext cx="4709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sobre a ementa ou a atividade avaliativa em grupo já foram esclarecidas.</a:t>
            </a:r>
            <a:endParaRPr lang="pt-BR" sz="1300" noProof="0" dirty="0"/>
          </a:p>
        </p:txBody>
      </p:sp>
      <p:sp>
        <p:nvSpPr>
          <p:cNvPr id="14" name="Text 10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relembrar algum detalhe da ementa? Volte na </a:t>
            </a:r>
            <a:r>
              <a:rPr lang="pt-BR" sz="1250" i="1" u="sng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Aula 01</a:t>
            </a:r>
            <a:r>
              <a:rPr lang="pt-BR" sz="12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t-BR" sz="1250" noProof="0" dirty="0"/>
          </a:p>
        </p:txBody>
      </p:sp>
      <p:sp>
        <p:nvSpPr>
          <p:cNvPr id="15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9509760" y="4206240"/>
            <a:ext cx="3840480" cy="3840480"/>
          </a:xfrm>
          <a:prstGeom prst="ellipse">
            <a:avLst/>
          </a:prstGeom>
          <a:ln w="19050">
            <a:solidFill>
              <a:srgbClr val="2FE6C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77240" cy="77724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430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1155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kern="0" spc="20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DA AULA DE HOJE</a:t>
            </a:r>
            <a:endParaRPr lang="pt-BR" sz="13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219456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8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Ficou algum item sem marcar?</a:t>
            </a:r>
            <a:endParaRPr lang="pt-BR" sz="38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32461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pt-BR" sz="170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Então essa é a prioridade de hoje — antes de tudo o mais. Fale com o professor agora: é exatamente para isso que esta aula existe.</a:t>
            </a:r>
            <a:endParaRPr lang="pt-BR" sz="17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i="1" noProof="0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todos os itens já estão marcados, siga para o desafio opcional a seguir.</a:t>
            </a:r>
            <a:endParaRPr lang="pt-BR" sz="135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 OPCIONAL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4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quem já está em dia</a:t>
            </a:r>
            <a:endParaRPr lang="pt-BR" sz="3400" noProof="0" dirty="0"/>
          </a:p>
        </p:txBody>
      </p:sp>
      <p:sp>
        <p:nvSpPr>
          <p:cNvPr id="4" name="Shape 2"/>
          <p:cNvSpPr/>
          <p:nvPr/>
        </p:nvSpPr>
        <p:spPr>
          <a:xfrm>
            <a:off x="5592928" y="2331720"/>
            <a:ext cx="1005840" cy="100584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952" y="2523744"/>
            <a:ext cx="621792" cy="6217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94560" y="3703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pt-BR" sz="16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desafio leve de raciocínio lógico, que antecipa o que vem na próxima aula de conteúdo.</a:t>
            </a:r>
            <a:endParaRPr lang="pt-BR" sz="1600" noProof="0" dirty="0"/>
          </a:p>
        </p:txBody>
      </p:sp>
      <p:sp>
        <p:nvSpPr>
          <p:cNvPr id="7" name="Text 4"/>
          <p:cNvSpPr/>
          <p:nvPr/>
        </p:nvSpPr>
        <p:spPr>
          <a:xfrm>
            <a:off x="2194560" y="42976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5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chute — só eliminação lógica, passo a passo.</a:t>
            </a:r>
            <a:endParaRPr lang="pt-BR" sz="1350" noProof="0" dirty="0"/>
          </a:p>
        </p:txBody>
      </p:sp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OPCIONAL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usa qual fantasia?</a:t>
            </a:r>
            <a:endParaRPr lang="pt-BR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pt-BR" sz="145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amigos foram a um bloco de Carnaval do ano anterior, cada um com uma fantasia diferente. Descubra quem usou o quê — só com lógica, sem chute.</a:t>
            </a:r>
            <a:endParaRPr lang="pt-BR" sz="1450" noProof="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1188720" cy="1188720"/>
          </a:xfrm>
          <a:prstGeom prst="ellipse">
            <a:avLst/>
          </a:prstGeom>
          <a:solidFill>
            <a:srgbClr val="232C63"/>
          </a:solidFill>
          <a:ln w="25400">
            <a:solidFill>
              <a:srgbClr val="2FE6C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400" b="1" noProof="0" dirty="0">
                <a:solidFill>
                  <a:srgbClr val="2FE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pt-BR" sz="34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pt-BR" sz="1500" noProof="0" dirty="0"/>
          </a:p>
        </p:txBody>
      </p:sp>
      <p:sp>
        <p:nvSpPr>
          <p:cNvPr id="8" name="Shape 6"/>
          <p:cNvSpPr/>
          <p:nvPr/>
        </p:nvSpPr>
        <p:spPr>
          <a:xfrm>
            <a:off x="3657600" y="2606040"/>
            <a:ext cx="1188720" cy="1188720"/>
          </a:xfrm>
          <a:prstGeom prst="ellipse">
            <a:avLst/>
          </a:prstGeom>
          <a:solidFill>
            <a:srgbClr val="232C63"/>
          </a:solidFill>
          <a:ln w="25400">
            <a:solidFill>
              <a:srgbClr val="2FE6C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3657600" y="26060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400" b="1" noProof="0" dirty="0">
                <a:solidFill>
                  <a:srgbClr val="2FE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pt-BR" sz="3400" noProof="0" dirty="0"/>
          </a:p>
        </p:txBody>
      </p:sp>
      <p:sp>
        <p:nvSpPr>
          <p:cNvPr id="10" name="Text 8"/>
          <p:cNvSpPr/>
          <p:nvPr/>
        </p:nvSpPr>
        <p:spPr>
          <a:xfrm>
            <a:off x="3383280" y="3886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</a:t>
            </a:r>
            <a:endParaRPr lang="pt-BR" sz="1500" noProof="0" dirty="0"/>
          </a:p>
        </p:txBody>
      </p:sp>
      <p:sp>
        <p:nvSpPr>
          <p:cNvPr id="11" name="Shape 9"/>
          <p:cNvSpPr/>
          <p:nvPr/>
        </p:nvSpPr>
        <p:spPr>
          <a:xfrm>
            <a:off x="6492240" y="2606040"/>
            <a:ext cx="1188720" cy="1188720"/>
          </a:xfrm>
          <a:prstGeom prst="ellipse">
            <a:avLst/>
          </a:prstGeom>
          <a:solidFill>
            <a:srgbClr val="232C63"/>
          </a:solidFill>
          <a:ln w="25400">
            <a:solidFill>
              <a:srgbClr val="2FE6C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6492240" y="26060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400" b="1" noProof="0" dirty="0">
                <a:solidFill>
                  <a:srgbClr val="2FE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pt-BR" sz="3400" noProof="0" dirty="0"/>
          </a:p>
        </p:txBody>
      </p:sp>
      <p:sp>
        <p:nvSpPr>
          <p:cNvPr id="13" name="Text 11"/>
          <p:cNvSpPr/>
          <p:nvPr/>
        </p:nvSpPr>
        <p:spPr>
          <a:xfrm>
            <a:off x="6217920" y="3886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</a:t>
            </a:r>
            <a:endParaRPr lang="pt-BR" sz="1500" noProof="0" dirty="0"/>
          </a:p>
        </p:txBody>
      </p:sp>
      <p:sp>
        <p:nvSpPr>
          <p:cNvPr id="14" name="Text 12"/>
          <p:cNvSpPr/>
          <p:nvPr/>
        </p:nvSpPr>
        <p:spPr>
          <a:xfrm>
            <a:off x="64008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150" noProof="0" dirty="0">
                <a:solidFill>
                  <a:srgbClr val="8A9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FANTASIAS DISPONÍVEIS</a:t>
            </a:r>
            <a:endParaRPr lang="pt-BR" sz="1100" noProof="0" dirty="0"/>
          </a:p>
        </p:txBody>
      </p:sp>
      <p:sp>
        <p:nvSpPr>
          <p:cNvPr id="15" name="Shape 13"/>
          <p:cNvSpPr/>
          <p:nvPr/>
        </p:nvSpPr>
        <p:spPr>
          <a:xfrm>
            <a:off x="640080" y="493776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868680" y="5166360"/>
            <a:ext cx="594360" cy="59436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5276088"/>
            <a:ext cx="374904" cy="374904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600200" y="49377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Pirata</a:t>
            </a:r>
            <a:endParaRPr lang="pt-BR" sz="1550" noProof="0" dirty="0"/>
          </a:p>
        </p:txBody>
      </p:sp>
      <p:sp>
        <p:nvSpPr>
          <p:cNvPr id="19" name="Shape 16"/>
          <p:cNvSpPr/>
          <p:nvPr/>
        </p:nvSpPr>
        <p:spPr>
          <a:xfrm>
            <a:off x="4251960" y="493776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7"/>
          <p:cNvSpPr/>
          <p:nvPr/>
        </p:nvSpPr>
        <p:spPr>
          <a:xfrm>
            <a:off x="4480560" y="5166360"/>
            <a:ext cx="594360" cy="59436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5276088"/>
            <a:ext cx="374904" cy="37490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212080" y="49377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Super-herói</a:t>
            </a:r>
            <a:endParaRPr lang="pt-BR" sz="1550" noProof="0" dirty="0"/>
          </a:p>
        </p:txBody>
      </p:sp>
      <p:sp>
        <p:nvSpPr>
          <p:cNvPr id="23" name="Shape 19"/>
          <p:cNvSpPr/>
          <p:nvPr/>
        </p:nvSpPr>
        <p:spPr>
          <a:xfrm>
            <a:off x="7863840" y="4937760"/>
            <a:ext cx="3291840" cy="1051560"/>
          </a:xfrm>
          <a:prstGeom prst="roundRect">
            <a:avLst>
              <a:gd name="adj" fmla="val 8696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Shape 20"/>
          <p:cNvSpPr/>
          <p:nvPr/>
        </p:nvSpPr>
        <p:spPr>
          <a:xfrm>
            <a:off x="8092440" y="5166360"/>
            <a:ext cx="594360" cy="59436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68" y="5276088"/>
            <a:ext cx="374904" cy="37490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823960" y="49377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Palhaço</a:t>
            </a:r>
            <a:endParaRPr lang="pt-BR" sz="1550" noProof="0" dirty="0"/>
          </a:p>
        </p:txBody>
      </p:sp>
      <p:sp>
        <p:nvSpPr>
          <p:cNvPr id="27" name="Text 2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OPCIONAL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pistas</a:t>
            </a:r>
            <a:endParaRPr lang="pt-BR" sz="34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três pistas para eliminar possibilidades até sobrar apenas uma combinação válida.</a:t>
            </a:r>
            <a:endParaRPr lang="pt-BR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96112" y="2587752"/>
            <a:ext cx="548640" cy="54864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896112" y="2587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000" b="1" noProof="0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pt-BR" sz="2000" noProof="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6974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331720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não estava vestida de pirata.</a:t>
            </a:r>
            <a:endParaRPr lang="pt-BR" sz="1600" noProof="0" dirty="0"/>
          </a:p>
        </p:txBody>
      </p:sp>
      <p:sp>
        <p:nvSpPr>
          <p:cNvPr id="10" name="Shape 7"/>
          <p:cNvSpPr/>
          <p:nvPr/>
        </p:nvSpPr>
        <p:spPr>
          <a:xfrm>
            <a:off x="640080" y="3593592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896112" y="3849624"/>
            <a:ext cx="548640" cy="54864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9"/>
          <p:cNvSpPr/>
          <p:nvPr/>
        </p:nvSpPr>
        <p:spPr>
          <a:xfrm>
            <a:off x="896112" y="3849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000" b="1" noProof="0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2000" noProof="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3959352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3593592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estava de super-herói não é Bruno.</a:t>
            </a:r>
            <a:endParaRPr lang="pt-BR" sz="1600" noProof="0" dirty="0"/>
          </a:p>
        </p:txBody>
      </p:sp>
      <p:sp>
        <p:nvSpPr>
          <p:cNvPr id="15" name="Shape 11"/>
          <p:cNvSpPr/>
          <p:nvPr/>
        </p:nvSpPr>
        <p:spPr>
          <a:xfrm>
            <a:off x="640080" y="4855464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2"/>
          <p:cNvSpPr/>
          <p:nvPr/>
        </p:nvSpPr>
        <p:spPr>
          <a:xfrm>
            <a:off x="896112" y="5111496"/>
            <a:ext cx="548640" cy="54864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3"/>
          <p:cNvSpPr/>
          <p:nvPr/>
        </p:nvSpPr>
        <p:spPr>
          <a:xfrm>
            <a:off x="896112" y="5111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000" b="1" noProof="0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2000" noProof="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221224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855464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não estava de palhaço nem de super-herói.</a:t>
            </a:r>
            <a:endParaRPr lang="pt-BR" sz="1600" noProof="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Dica: monte uma tabela de eliminação</a:t>
            </a:r>
            <a:endParaRPr lang="pt-BR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4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Coloque as pessoas nas linhas e as fantasias nas colunas. A cada pista, marque X na opção impossível — até sobrar só uma por pessoa.</a:t>
            </a:r>
            <a:endParaRPr lang="pt-BR" sz="1400" noProof="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222618"/>
              </p:ext>
            </p:extLst>
          </p:nvPr>
        </p:nvGraphicFramePr>
        <p:xfrm>
          <a:off x="1737360" y="2240280"/>
          <a:ext cx="8686800" cy="29718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85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94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200" noProof="0" dirty="0"/>
                    </a:p>
                  </a:txBody>
                  <a:tcPr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Pirata</a:t>
                      </a:r>
                      <a:endParaRPr lang="pt-BR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Super-herói</a:t>
                      </a:r>
                      <a:endParaRPr lang="pt-BR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Palhaço</a:t>
                      </a:r>
                      <a:endParaRPr lang="pt-BR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</a:t>
                      </a:r>
                      <a:endParaRPr lang="pt-BR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C63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pt-BR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6B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pt-BR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6B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pt-BR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Bruno</a:t>
                      </a:r>
                      <a:endParaRPr lang="pt-BR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6B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pt-BR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6B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pt-BR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6B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pt-BR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Caio</a:t>
                      </a:r>
                      <a:endParaRPr lang="pt-BR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6B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pt-BR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6B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pt-BR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500" b="1" noProof="0" dirty="0">
                          <a:solidFill>
                            <a:srgbClr val="6B6B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</a:t>
                      </a:r>
                      <a:endParaRPr lang="pt-BR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a pista 1 já elimina “Ana + pirata” — por isso o X já está marcado. Continue com as outras duas pistas.</a:t>
            </a:r>
            <a:endParaRPr lang="pt-BR" sz="1250" noProof="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Resolução guiada, passo a passo</a:t>
            </a:r>
            <a:endParaRPr lang="pt-BR" sz="2800" noProof="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151075"/>
              </p:ext>
            </p:extLst>
          </p:nvPr>
        </p:nvGraphicFramePr>
        <p:xfrm>
          <a:off x="640080" y="1691640"/>
          <a:ext cx="5120640" cy="2368296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200" noProof="0" dirty="0"/>
                    </a:p>
                  </a:txBody>
                  <a:tcPr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Pirata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Super-herói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Palhaço</a:t>
                      </a:r>
                      <a:endParaRPr lang="pt-B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50" b="1" noProof="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</a:t>
                      </a:r>
                      <a:endParaRPr lang="pt-BR" sz="13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50" b="1" noProof="0" dirty="0">
                          <a:solidFill>
                            <a:srgbClr val="C63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pt-BR" sz="13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0E9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50" b="1" noProof="0" dirty="0">
                          <a:solidFill>
                            <a:srgbClr val="C63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pt-BR" sz="13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50" b="1" noProof="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Bruno</a:t>
                      </a:r>
                      <a:endParaRPr lang="pt-BR" sz="13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50" b="1" noProof="0" dirty="0">
                          <a:solidFill>
                            <a:srgbClr val="C63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pt-BR" sz="13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50" b="1" noProof="0" dirty="0">
                          <a:solidFill>
                            <a:srgbClr val="C63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pt-BR" sz="13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0E9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50" b="1" noProof="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Caio</a:t>
                      </a:r>
                      <a:endParaRPr lang="pt-BR" sz="13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600" b="1" noProof="0" dirty="0">
                          <a:solidFill>
                            <a:srgbClr val="0E9C8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pt-BR" sz="16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50" b="1" noProof="0" dirty="0">
                          <a:solidFill>
                            <a:srgbClr val="C63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pt-BR" sz="13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pt-BR" sz="1350" b="1" noProof="0" dirty="0">
                          <a:solidFill>
                            <a:srgbClr val="C639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pt-BR" sz="135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737360"/>
            <a:ext cx="402336" cy="402336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3"/>
          <p:cNvSpPr/>
          <p:nvPr/>
        </p:nvSpPr>
        <p:spPr>
          <a:xfrm>
            <a:off x="6035040" y="17373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pt-BR" sz="1400" noProof="0" dirty="0"/>
          </a:p>
        </p:txBody>
      </p:sp>
      <p:sp>
        <p:nvSpPr>
          <p:cNvPr id="7" name="Text 4"/>
          <p:cNvSpPr/>
          <p:nvPr/>
        </p:nvSpPr>
        <p:spPr>
          <a:xfrm>
            <a:off x="6601968" y="1700784"/>
            <a:ext cx="4919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3</a:t>
            </a:r>
            <a:endParaRPr lang="pt-BR" sz="1400" noProof="0" dirty="0"/>
          </a:p>
        </p:txBody>
      </p:sp>
      <p:sp>
        <p:nvSpPr>
          <p:cNvPr id="8" name="Text 5"/>
          <p:cNvSpPr/>
          <p:nvPr/>
        </p:nvSpPr>
        <p:spPr>
          <a:xfrm>
            <a:off x="6601968" y="2029968"/>
            <a:ext cx="4919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pt-BR" sz="12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não é palhaço nem super-herói — só resta pirata.</a:t>
            </a:r>
            <a:endParaRPr lang="pt-BR" sz="1250" noProof="0" dirty="0"/>
          </a:p>
        </p:txBody>
      </p:sp>
      <p:sp>
        <p:nvSpPr>
          <p:cNvPr id="9" name="Shape 6"/>
          <p:cNvSpPr/>
          <p:nvPr/>
        </p:nvSpPr>
        <p:spPr>
          <a:xfrm>
            <a:off x="6035040" y="2816352"/>
            <a:ext cx="402336" cy="402336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6035040" y="28163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pt-BR" sz="1400" noProof="0" dirty="0"/>
          </a:p>
        </p:txBody>
      </p:sp>
      <p:sp>
        <p:nvSpPr>
          <p:cNvPr id="11" name="Text 8"/>
          <p:cNvSpPr/>
          <p:nvPr/>
        </p:nvSpPr>
        <p:spPr>
          <a:xfrm>
            <a:off x="6601968" y="2779776"/>
            <a:ext cx="4919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1</a:t>
            </a:r>
            <a:endParaRPr lang="pt-BR" sz="1400" noProof="0" dirty="0"/>
          </a:p>
        </p:txBody>
      </p:sp>
      <p:sp>
        <p:nvSpPr>
          <p:cNvPr id="12" name="Text 9"/>
          <p:cNvSpPr/>
          <p:nvPr/>
        </p:nvSpPr>
        <p:spPr>
          <a:xfrm>
            <a:off x="6601968" y="3108960"/>
            <a:ext cx="4919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pt-BR" sz="12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não é pirata (e Caio já ocupou essa vaga, tudo consistente) — resta super-herói ou palhaço para ela.</a:t>
            </a:r>
            <a:endParaRPr lang="pt-BR" sz="1250" noProof="0" dirty="0"/>
          </a:p>
        </p:txBody>
      </p:sp>
      <p:sp>
        <p:nvSpPr>
          <p:cNvPr id="13" name="Shape 10"/>
          <p:cNvSpPr/>
          <p:nvPr/>
        </p:nvSpPr>
        <p:spPr>
          <a:xfrm>
            <a:off x="6035040" y="3895344"/>
            <a:ext cx="402336" cy="402336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1"/>
          <p:cNvSpPr/>
          <p:nvPr/>
        </p:nvSpPr>
        <p:spPr>
          <a:xfrm>
            <a:off x="6035040" y="3895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pt-BR" sz="1400" noProof="0" dirty="0"/>
          </a:p>
        </p:txBody>
      </p:sp>
      <p:sp>
        <p:nvSpPr>
          <p:cNvPr id="15" name="Text 12"/>
          <p:cNvSpPr/>
          <p:nvPr/>
        </p:nvSpPr>
        <p:spPr>
          <a:xfrm>
            <a:off x="6601968" y="3858768"/>
            <a:ext cx="4919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2</a:t>
            </a:r>
            <a:endParaRPr lang="pt-BR" sz="1400" noProof="0" dirty="0"/>
          </a:p>
        </p:txBody>
      </p:sp>
      <p:sp>
        <p:nvSpPr>
          <p:cNvPr id="4" name="Text 13"/>
          <p:cNvSpPr/>
          <p:nvPr/>
        </p:nvSpPr>
        <p:spPr>
          <a:xfrm>
            <a:off x="6601968" y="4187952"/>
            <a:ext cx="4919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pt-BR" sz="12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é super-herói não é Bruno — logo Bruno só pode ser palhaço.</a:t>
            </a:r>
            <a:endParaRPr lang="pt-BR" sz="1250" noProof="0" dirty="0"/>
          </a:p>
        </p:txBody>
      </p:sp>
      <p:sp>
        <p:nvSpPr>
          <p:cNvPr id="17" name="Shape 14"/>
          <p:cNvSpPr/>
          <p:nvPr/>
        </p:nvSpPr>
        <p:spPr>
          <a:xfrm>
            <a:off x="6035040" y="4974336"/>
            <a:ext cx="402336" cy="402336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5"/>
          <p:cNvSpPr/>
          <p:nvPr/>
        </p:nvSpPr>
        <p:spPr>
          <a:xfrm>
            <a:off x="6035040" y="4974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pt-BR" sz="1400" noProof="0" dirty="0"/>
          </a:p>
        </p:txBody>
      </p:sp>
      <p:sp>
        <p:nvSpPr>
          <p:cNvPr id="19" name="Text 16"/>
          <p:cNvSpPr/>
          <p:nvPr/>
        </p:nvSpPr>
        <p:spPr>
          <a:xfrm>
            <a:off x="6601968" y="4937760"/>
            <a:ext cx="4919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Eliminação</a:t>
            </a:r>
            <a:endParaRPr lang="pt-BR" sz="1400" noProof="0" dirty="0"/>
          </a:p>
        </p:txBody>
      </p:sp>
      <p:sp>
        <p:nvSpPr>
          <p:cNvPr id="20" name="Text 17"/>
          <p:cNvSpPr/>
          <p:nvPr/>
        </p:nvSpPr>
        <p:spPr>
          <a:xfrm>
            <a:off x="6601968" y="5266944"/>
            <a:ext cx="4919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pt-BR" sz="125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Sobrou super-herói só para Ana.</a:t>
            </a:r>
            <a:endParaRPr lang="pt-BR" sz="1250" noProof="0" dirty="0"/>
          </a:p>
        </p:txBody>
      </p:sp>
      <p:sp>
        <p:nvSpPr>
          <p:cNvPr id="21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OS PONTOS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4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isso importa</a:t>
            </a:r>
            <a:endParaRPr lang="pt-BR" sz="3400" noProof="0" dirty="0"/>
          </a:p>
        </p:txBody>
      </p:sp>
      <p:sp>
        <p:nvSpPr>
          <p:cNvPr id="4" name="Shape 2"/>
          <p:cNvSpPr/>
          <p:nvPr/>
        </p:nvSpPr>
        <p:spPr>
          <a:xfrm>
            <a:off x="5638648" y="2286000"/>
            <a:ext cx="914400" cy="91440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384" y="2459736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35204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pt-BR" sz="160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tipo de quebra-cabeça de eliminação é resolvido formalmente com lógica proposicional — exatamente o que vem na próxima aula.</a:t>
            </a:r>
            <a:endParaRPr lang="pt-BR" sz="1600" noProof="0" dirty="0"/>
          </a:p>
        </p:txBody>
      </p:sp>
      <p:sp>
        <p:nvSpPr>
          <p:cNvPr id="7" name="Text 4"/>
          <p:cNvSpPr/>
          <p:nvPr/>
        </p:nvSpPr>
        <p:spPr>
          <a:xfrm>
            <a:off x="1828800" y="43891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pt-BR" sz="140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resolveu “no olho”, parabéns: você já está pensando como a matemática que vamos formalizar em </a:t>
            </a:r>
            <a:r>
              <a:rPr lang="pt-BR" sz="1400" i="1" u="sng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Fundamentos de Lógica</a:t>
            </a:r>
            <a:r>
              <a:rPr lang="pt-BR" sz="140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t-BR" sz="1400" noProof="0" dirty="0"/>
          </a:p>
        </p:txBody>
      </p:sp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DE ROTA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 no semestre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2423160" y="3502152"/>
            <a:ext cx="7315200" cy="36576"/>
          </a:xfrm>
          <a:prstGeom prst="rect">
            <a:avLst/>
          </a:prstGeom>
          <a:solidFill>
            <a:srgbClr val="DAD5F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1691640" y="3108960"/>
            <a:ext cx="822960" cy="822960"/>
          </a:xfrm>
          <a:prstGeom prst="ellipse">
            <a:avLst/>
          </a:prstGeom>
          <a:solidFill>
            <a:srgbClr val="B8AEE0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2461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01</a:t>
            </a:r>
            <a:endParaRPr lang="pt-BR" sz="1400" noProof="0" dirty="0"/>
          </a:p>
        </p:txBody>
      </p:sp>
      <p:sp>
        <p:nvSpPr>
          <p:cNvPr id="8" name="Text 5"/>
          <p:cNvSpPr/>
          <p:nvPr/>
        </p:nvSpPr>
        <p:spPr>
          <a:xfrm>
            <a:off x="1005840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UC</a:t>
            </a:r>
            <a:endParaRPr lang="pt-BR" sz="1150" noProof="0" dirty="0"/>
          </a:p>
        </p:txBody>
      </p:sp>
      <p:sp>
        <p:nvSpPr>
          <p:cNvPr id="9" name="Shape 6"/>
          <p:cNvSpPr/>
          <p:nvPr/>
        </p:nvSpPr>
        <p:spPr>
          <a:xfrm>
            <a:off x="5367528" y="22860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5367528" y="22860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950" b="1" kern="0" spc="50" noProof="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ESTÁ AQUI</a:t>
            </a:r>
            <a:endParaRPr lang="pt-BR" sz="950" noProof="0" dirty="0"/>
          </a:p>
        </p:txBody>
      </p:sp>
      <p:sp>
        <p:nvSpPr>
          <p:cNvPr id="11" name="Shape 8"/>
          <p:cNvSpPr/>
          <p:nvPr/>
        </p:nvSpPr>
        <p:spPr>
          <a:xfrm>
            <a:off x="5504688" y="2926080"/>
            <a:ext cx="1188720" cy="118872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136392"/>
            <a:ext cx="768096" cy="7680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01768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</a:t>
            </a:r>
            <a:endParaRPr lang="pt-BR" sz="1550" noProof="0" dirty="0"/>
          </a:p>
        </p:txBody>
      </p:sp>
      <p:sp>
        <p:nvSpPr>
          <p:cNvPr id="14" name="Text 10"/>
          <p:cNvSpPr/>
          <p:nvPr/>
        </p:nvSpPr>
        <p:spPr>
          <a:xfrm>
            <a:off x="5001768" y="4526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Ativa</a:t>
            </a:r>
            <a:endParaRPr lang="pt-BR" sz="1200" noProof="0" dirty="0"/>
          </a:p>
        </p:txBody>
      </p:sp>
      <p:sp>
        <p:nvSpPr>
          <p:cNvPr id="15" name="Shape 11"/>
          <p:cNvSpPr/>
          <p:nvPr/>
        </p:nvSpPr>
        <p:spPr>
          <a:xfrm>
            <a:off x="9189720" y="310896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2" y="33192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</a:t>
            </a:r>
            <a:endParaRPr lang="pt-BR" sz="1400" noProof="0" dirty="0"/>
          </a:p>
        </p:txBody>
      </p:sp>
      <p:sp>
        <p:nvSpPr>
          <p:cNvPr id="18" name="Text 13"/>
          <p:cNvSpPr/>
          <p:nvPr/>
        </p:nvSpPr>
        <p:spPr>
          <a:xfrm>
            <a:off x="8503920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Lógica</a:t>
            </a:r>
            <a:endParaRPr lang="pt-BR" sz="1150" noProof="0" dirty="0"/>
          </a:p>
        </p:txBody>
      </p:sp>
      <p:sp>
        <p:nvSpPr>
          <p:cNvPr id="19" name="Text 14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do </a:t>
            </a:r>
            <a:r>
              <a:rPr lang="pt-BR" sz="1250" i="1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r>
              <a:rPr lang="pt-BR" sz="12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resolvido hoje, o conteúdo novo recomeça na próxima aula.</a:t>
            </a:r>
            <a:endParaRPr lang="pt-BR" sz="1250" noProof="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PRÓXIMO ENCONTRO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 saída</a:t>
            </a:r>
            <a:endParaRPr lang="pt-BR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38728" cy="3200400"/>
          </a:xfrm>
          <a:prstGeom prst="roundRect">
            <a:avLst>
              <a:gd name="adj" fmla="val 3429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96112" y="2221992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3392424" y="2203704"/>
            <a:ext cx="420624" cy="420624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2295144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83464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</a:t>
            </a:r>
            <a:r>
              <a:rPr lang="pt-BR" sz="1450" b="1" noProof="0" dirty="0" err="1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100% marcado</a:t>
            </a:r>
            <a:endParaRPr lang="pt-BR" sz="1450" noProof="0" dirty="0"/>
          </a:p>
        </p:txBody>
      </p:sp>
      <p:sp>
        <p:nvSpPr>
          <p:cNvPr id="9" name="Text 6"/>
          <p:cNvSpPr/>
          <p:nvPr/>
        </p:nvSpPr>
        <p:spPr>
          <a:xfrm>
            <a:off x="896112" y="3657600"/>
            <a:ext cx="3026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dúvida já reportada ao professor.</a:t>
            </a:r>
            <a:endParaRPr lang="pt-BR" sz="1200" noProof="0" dirty="0"/>
          </a:p>
        </p:txBody>
      </p:sp>
      <p:sp>
        <p:nvSpPr>
          <p:cNvPr id="10" name="Shape 7"/>
          <p:cNvSpPr/>
          <p:nvPr/>
        </p:nvSpPr>
        <p:spPr>
          <a:xfrm>
            <a:off x="4379976" y="1965960"/>
            <a:ext cx="3538728" cy="3200400"/>
          </a:xfrm>
          <a:prstGeom prst="roundRect">
            <a:avLst>
              <a:gd name="adj" fmla="val 3429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4636008" y="2221992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Shape 9"/>
          <p:cNvSpPr/>
          <p:nvPr/>
        </p:nvSpPr>
        <p:spPr>
          <a:xfrm>
            <a:off x="7132320" y="2203704"/>
            <a:ext cx="420624" cy="420624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2295144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36008" y="283464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testado e funcionando</a:t>
            </a:r>
            <a:endParaRPr lang="pt-BR" sz="1450" noProof="0" dirty="0"/>
          </a:p>
        </p:txBody>
      </p:sp>
      <p:sp>
        <p:nvSpPr>
          <p:cNvPr id="15" name="Text 11"/>
          <p:cNvSpPr/>
          <p:nvPr/>
        </p:nvSpPr>
        <p:spPr>
          <a:xfrm>
            <a:off x="4636008" y="3657600"/>
            <a:ext cx="3026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+ VS </a:t>
            </a:r>
            <a:r>
              <a:rPr lang="pt-BR" sz="120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pt-BR" sz="120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prontos para a próxima aula.</a:t>
            </a:r>
            <a:endParaRPr lang="pt-BR" sz="1200" noProof="0" dirty="0"/>
          </a:p>
        </p:txBody>
      </p:sp>
      <p:sp>
        <p:nvSpPr>
          <p:cNvPr id="16" name="Shape 12"/>
          <p:cNvSpPr/>
          <p:nvPr/>
        </p:nvSpPr>
        <p:spPr>
          <a:xfrm>
            <a:off x="8119872" y="1965960"/>
            <a:ext cx="3538728" cy="3200400"/>
          </a:xfrm>
          <a:prstGeom prst="roundRect">
            <a:avLst>
              <a:gd name="adj" fmla="val 3429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Shape 13"/>
          <p:cNvSpPr/>
          <p:nvPr/>
        </p:nvSpPr>
        <p:spPr>
          <a:xfrm>
            <a:off x="8375904" y="2221992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905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4"/>
          <p:cNvSpPr/>
          <p:nvPr/>
        </p:nvSpPr>
        <p:spPr>
          <a:xfrm>
            <a:off x="10872216" y="2203704"/>
            <a:ext cx="420624" cy="420624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63656" y="2295144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75904" y="2834640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dúvida pendente</a:t>
            </a:r>
            <a:endParaRPr lang="pt-BR" sz="1450" noProof="0" dirty="0"/>
          </a:p>
        </p:txBody>
      </p:sp>
      <p:sp>
        <p:nvSpPr>
          <p:cNvPr id="21" name="Text 16"/>
          <p:cNvSpPr/>
          <p:nvPr/>
        </p:nvSpPr>
        <p:spPr>
          <a:xfrm>
            <a:off x="8375904" y="3657600"/>
            <a:ext cx="3026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cronograma ou critérios de avaliação.</a:t>
            </a:r>
            <a:endParaRPr lang="pt-BR" sz="1200" noProof="0" dirty="0"/>
          </a:p>
        </p:txBody>
      </p:sp>
      <p:sp>
        <p:nvSpPr>
          <p:cNvPr id="22" name="Text 1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pt-BR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Evasão e permanência estudantil — contexto institucional</a:t>
            </a:r>
            <a:endParaRPr lang="pt-BR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2926080"/>
          </a:xfrm>
          <a:prstGeom prst="roundRect">
            <a:avLst>
              <a:gd name="adj" fmla="val 3750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914400" y="2441448"/>
            <a:ext cx="530352" cy="53035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587752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44144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SEMESP</a:t>
            </a:r>
            <a:endParaRPr lang="pt-BR" sz="1800" noProof="0" dirty="0"/>
          </a:p>
        </p:txBody>
      </p:sp>
      <p:sp>
        <p:nvSpPr>
          <p:cNvPr id="9" name="Text 6"/>
          <p:cNvSpPr/>
          <p:nvPr/>
        </p:nvSpPr>
        <p:spPr>
          <a:xfrm>
            <a:off x="914400" y="320040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do Ensino Superior no Brasil — indicadores de evasão e permanência no ensino superior privado.</a:t>
            </a:r>
            <a:endParaRPr lang="pt-BR" sz="1300" noProof="0" dirty="0"/>
          </a:p>
        </p:txBody>
      </p:sp>
      <p:sp>
        <p:nvSpPr>
          <p:cNvPr id="10" name="Shape 7"/>
          <p:cNvSpPr/>
          <p:nvPr/>
        </p:nvSpPr>
        <p:spPr>
          <a:xfrm>
            <a:off x="6263640" y="2148840"/>
            <a:ext cx="5257800" cy="2926080"/>
          </a:xfrm>
          <a:prstGeom prst="roundRect">
            <a:avLst>
              <a:gd name="adj" fmla="val 3750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6537960" y="2441448"/>
            <a:ext cx="530352" cy="53035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2587752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23760" y="2441448"/>
            <a:ext cx="4160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ABMES</a:t>
            </a:r>
            <a:endParaRPr lang="pt-BR" sz="1800" noProof="0" dirty="0"/>
          </a:p>
        </p:txBody>
      </p:sp>
      <p:sp>
        <p:nvSpPr>
          <p:cNvPr id="14" name="Text 10"/>
          <p:cNvSpPr/>
          <p:nvPr/>
        </p:nvSpPr>
        <p:spPr>
          <a:xfrm>
            <a:off x="6537960" y="3200400"/>
            <a:ext cx="4709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Retenção e permanência estudantil no ensino superior — práticas de acompanhamento e busca ativa.</a:t>
            </a:r>
            <a:endParaRPr lang="pt-BR" sz="1300" noProof="0" dirty="0"/>
          </a:p>
        </p:txBody>
      </p:sp>
      <p:sp>
        <p:nvSpPr>
          <p:cNvPr id="15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Ferramentas e vídeos</a:t>
            </a:r>
            <a:endParaRPr lang="pt-BR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96112" y="194767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093976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532888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— revisão rápida</a:t>
            </a:r>
            <a:endParaRPr lang="pt-BR" sz="1550" noProof="0" dirty="0"/>
          </a:p>
        </p:txBody>
      </p:sp>
      <p:sp>
        <p:nvSpPr>
          <p:cNvPr id="8" name="Text 5"/>
          <p:cNvSpPr/>
          <p:nvPr/>
        </p:nvSpPr>
        <p:spPr>
          <a:xfrm>
            <a:off x="896112" y="2971800"/>
            <a:ext cx="47457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spcAft>
                <a:spcPts val="1000"/>
              </a:spcAft>
              <a:buNone/>
            </a:pPr>
            <a:r>
              <a:rPr lang="pt-BR" sz="1200" u="sng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Guia de instalação da turma</a:t>
            </a: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passo a passo oficial.</a:t>
            </a:r>
            <a:endParaRPr lang="pt-BR" sz="1200" noProof="0" dirty="0"/>
          </a:p>
          <a:p>
            <a:pPr marL="0" indent="0">
              <a:lnSpc>
                <a:spcPts val="1800"/>
              </a:lnSpc>
              <a:spcAft>
                <a:spcPts val="1000"/>
              </a:spcAft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do .NET — documentação e instalador oficial: learn.microsoft.com/</a:t>
            </a:r>
            <a:r>
              <a:rPr lang="pt-BR" sz="120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dotnet</a:t>
            </a:r>
            <a:endParaRPr lang="pt-BR" sz="1200" noProof="0" dirty="0"/>
          </a:p>
          <a:p>
            <a:pPr marL="0" indent="0">
              <a:lnSpc>
                <a:spcPts val="1800"/>
              </a:lnSpc>
              <a:spcAft>
                <a:spcPts val="1000"/>
              </a:spcAft>
              <a:buNone/>
            </a:pPr>
            <a:r>
              <a:rPr lang="pt-BR" sz="1200" u="sng" noProof="0" dirty="0" err="1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</a:t>
            </a:r>
            <a:r>
              <a:rPr lang="pt-BR" sz="1200" u="sng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— instalação oficial</a:t>
            </a:r>
            <a:endParaRPr lang="pt-BR" sz="1200" noProof="0" dirty="0"/>
          </a:p>
          <a:p>
            <a:pPr marL="0" indent="0">
              <a:lnSpc>
                <a:spcPts val="1800"/>
              </a:lnSpc>
              <a:spcAft>
                <a:spcPts val="1000"/>
              </a:spcAft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(opcional, para os exemplos comparativos): </a:t>
            </a:r>
            <a:r>
              <a:rPr lang="pt-BR" sz="1200" u="sng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python.org/downloads</a:t>
            </a:r>
            <a:endParaRPr lang="pt-BR" sz="1200" noProof="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7"/>
          <p:cNvSpPr/>
          <p:nvPr/>
        </p:nvSpPr>
        <p:spPr>
          <a:xfrm>
            <a:off x="6519672" y="194767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5976" y="2093976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19672" y="2532888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</a:t>
            </a:r>
            <a:endParaRPr lang="pt-BR" sz="1550" noProof="0" dirty="0"/>
          </a:p>
        </p:txBody>
      </p:sp>
      <p:sp>
        <p:nvSpPr>
          <p:cNvPr id="13" name="Text 9"/>
          <p:cNvSpPr/>
          <p:nvPr/>
        </p:nvSpPr>
        <p:spPr>
          <a:xfrm>
            <a:off x="6519672" y="2971800"/>
            <a:ext cx="47457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spcAft>
                <a:spcPts val="1000"/>
              </a:spcAft>
              <a:buNone/>
            </a:pPr>
            <a:r>
              <a:rPr lang="pt-BR" sz="1200" u="sng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Curso em Vídeo (Gustavo Guanabara)</a:t>
            </a: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série de Lógica de Programação, ótima para reforçar o “porquê” do raciocínio lógico antes da próxima aula.</a:t>
            </a:r>
            <a:endParaRPr lang="pt-BR" sz="1200" noProof="0" dirty="0"/>
          </a:p>
          <a:p>
            <a:pPr marL="0" indent="0">
              <a:lnSpc>
                <a:spcPts val="1800"/>
              </a:lnSpc>
              <a:spcAft>
                <a:spcPts val="1000"/>
              </a:spcAft>
              <a:buNone/>
            </a:pPr>
            <a:r>
              <a:rPr lang="pt-BR" sz="1200" u="sng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Tutoriais de configuração de ambiente</a:t>
            </a: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.NET + </a:t>
            </a:r>
            <a:r>
              <a:rPr lang="pt-BR" sz="120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VS </a:t>
            </a:r>
            <a:r>
              <a:rPr lang="pt-BR" sz="120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iniciantes.</a:t>
            </a:r>
            <a:endParaRPr lang="pt-BR" sz="1200" noProof="0" dirty="0"/>
          </a:p>
        </p:txBody>
      </p:sp>
      <p:sp>
        <p:nvSpPr>
          <p:cNvPr id="14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9509760" y="4206240"/>
            <a:ext cx="3840480" cy="3840480"/>
          </a:xfrm>
          <a:prstGeom prst="ellipse">
            <a:avLst/>
          </a:prstGeom>
          <a:ln w="19050">
            <a:solidFill>
              <a:srgbClr val="2FE6C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77240" cy="77724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197864"/>
            <a:ext cx="484632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170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kern="0" spc="30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PARADA</a:t>
            </a:r>
            <a:endParaRPr lang="pt-BR" sz="1300" noProof="0" dirty="0"/>
          </a:p>
        </p:txBody>
      </p:sp>
      <p:sp>
        <p:nvSpPr>
          <p:cNvPr id="7" name="Text 4"/>
          <p:cNvSpPr/>
          <p:nvPr/>
        </p:nvSpPr>
        <p:spPr>
          <a:xfrm>
            <a:off x="1600200" y="14630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Lógica</a:t>
            </a:r>
            <a:endParaRPr lang="pt-BR" sz="16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pt-BR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o ambiente e as dúvidas</a:t>
            </a:r>
            <a:endParaRPr lang="pt-BR" sz="3400" noProof="0" dirty="0"/>
          </a:p>
          <a:p>
            <a:pPr marL="0" indent="0">
              <a:lnSpc>
                <a:spcPts val="4000"/>
              </a:lnSpc>
              <a:buNone/>
            </a:pPr>
            <a:r>
              <a:rPr lang="pt-BR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resolvidos, começamos de verdade.</a:t>
            </a:r>
            <a:endParaRPr lang="pt-BR" sz="34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4114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i="1" noProof="0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 das fantasias vai voltar — agora com nome e notação: lógica proposicional.</a:t>
            </a:r>
            <a:endParaRPr lang="pt-BR" sz="1600" noProof="0" dirty="0"/>
          </a:p>
        </p:txBody>
      </p:sp>
      <p:sp>
        <p:nvSpPr>
          <p:cNvPr id="10" name="Text 7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kern="0" spc="100" noProof="0" dirty="0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  ·  Aula 02</a:t>
            </a:r>
            <a:endParaRPr lang="pt-BR" sz="1150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4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A688C4-1EAD-C0D1-E6ED-3B884AAA3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818616-D5D8-A972-49DD-007C26FD0FCD}"/>
              </a:ext>
            </a:extLst>
          </p:cNvPr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68BDC67-4C0D-2D0B-2FC5-9EF518C1BCB5}"/>
              </a:ext>
            </a:extLst>
          </p:cNvPr>
          <p:cNvSpPr/>
          <p:nvPr/>
        </p:nvSpPr>
        <p:spPr>
          <a:xfrm>
            <a:off x="9509760" y="4206240"/>
            <a:ext cx="3840480" cy="3840480"/>
          </a:xfrm>
          <a:prstGeom prst="ellipse">
            <a:avLst/>
          </a:prstGeom>
          <a:ln w="19050">
            <a:solidFill>
              <a:srgbClr val="2FE6C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4E68E36-9F94-AC5F-DBA8-A508BD8CEEC3}"/>
              </a:ext>
            </a:extLst>
          </p:cNvPr>
          <p:cNvSpPr/>
          <p:nvPr/>
        </p:nvSpPr>
        <p:spPr>
          <a:xfrm>
            <a:off x="640080" y="1051560"/>
            <a:ext cx="777240" cy="77724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60BA5495-316C-6839-BC20-80A6801F9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197864"/>
            <a:ext cx="484632" cy="484632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6F2DC736-AF73-D55E-4D46-9B724CD1A98B}"/>
              </a:ext>
            </a:extLst>
          </p:cNvPr>
          <p:cNvSpPr/>
          <p:nvPr/>
        </p:nvSpPr>
        <p:spPr>
          <a:xfrm>
            <a:off x="1600200" y="1170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kern="0" spc="30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PARADA</a:t>
            </a:r>
            <a:endParaRPr lang="pt-BR" sz="1300" noProof="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BE1189E-9685-5909-3733-C167112FFAA0}"/>
              </a:ext>
            </a:extLst>
          </p:cNvPr>
          <p:cNvSpPr/>
          <p:nvPr/>
        </p:nvSpPr>
        <p:spPr>
          <a:xfrm>
            <a:off x="1600200" y="14630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Lógica</a:t>
            </a:r>
            <a:endParaRPr lang="pt-BR" sz="1600" noProof="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84B69DD-11FD-552D-B2DD-7FAF1C44CE42}"/>
              </a:ext>
            </a:extLst>
          </p:cNvPr>
          <p:cNvSpPr/>
          <p:nvPr/>
        </p:nvSpPr>
        <p:spPr>
          <a:xfrm>
            <a:off x="640080" y="26060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pt-BR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Dúvidas,</a:t>
            </a:r>
            <a:endParaRPr lang="pt-BR" sz="3400" noProof="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DCBA9B0-A321-DDA7-6AB4-5DF61510D3FF}"/>
              </a:ext>
            </a:extLst>
          </p:cNvPr>
          <p:cNvSpPr/>
          <p:nvPr/>
        </p:nvSpPr>
        <p:spPr>
          <a:xfrm>
            <a:off x="640080" y="41148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i="1" noProof="0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daniel.h.paiva@ulife.com.br</a:t>
            </a:r>
            <a:endParaRPr lang="pt-BR" sz="1600" noProof="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CB037F1-547D-8C0F-9E63-88C8914AA832}"/>
              </a:ext>
            </a:extLst>
          </p:cNvPr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kern="0" spc="100" noProof="0" dirty="0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  ·  Aula 02</a:t>
            </a:r>
            <a:endParaRPr lang="pt-BR" sz="1150" noProof="0" dirty="0"/>
          </a:p>
        </p:txBody>
      </p:sp>
    </p:spTree>
    <p:extLst>
      <p:ext uri="{BB962C8B-B14F-4D97-AF65-F5344CB8AC3E}">
        <p14:creationId xmlns:p14="http://schemas.microsoft.com/office/powerpoint/2010/main" val="978340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1851</Words>
  <Application>Microsoft Office PowerPoint</Application>
  <PresentationFormat>Widescreen</PresentationFormat>
  <Paragraphs>265</Paragraphs>
  <Slides>22</Slides>
  <Notes>22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daniel</cp:lastModifiedBy>
  <cp:revision>3</cp:revision>
  <dcterms:created xsi:type="dcterms:W3CDTF">2026-08-04T20:39:31Z</dcterms:created>
  <dcterms:modified xsi:type="dcterms:W3CDTF">2026-08-20T23:24:51Z</dcterms:modified>
</cp:coreProperties>
</file>