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67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652548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Contextualizar: esta aula é diferente das demais — hoje o foco é garantir que todo mundo embarcou, não avançar conteúdo novo.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Deixar claro desde já: quem estiver em dia com tudo pode ir direto para o desafio opcional no fim da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Enfatizar: busca ativa não é fiscalização, é antecipação de suporte.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Pedir exemplos da própria turma: que outras 'buscas ativas' do dia a dia eles já receberam?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recado emocional da aula: reduzir o estigma de ser contatado pela busca 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Deixar claro que o diagrama é conceitual, não um dado estatístico real — a ideia é só mostrar a lógica do timing.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Deixar explícito o combinado: enquanto o professor confere e contata, o aluno confirma o próprio diagnóstico em paralelo.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Python também aparece no curso, mas só para comparação de sintaxe — o setup obrigatório é este aqui.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alguém ainda tiver dúvida de ementa, este é o momento de perguntar — não depois da prova.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Pausa proposital: dar tempo real para quem está atrasado resolver com o professor antes de seguir para o desafio.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Enquadrar como convite, não obrigação — reforçar que quem ainda está resolvendo o onboarding não precisa se preocupar com isso agora.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Deixar o desafio no quadro (ou projetado) enquanto os alunos leem as pistas no próximo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 3-4 minutos para a turma tentar sozinha antes de mostrar a dica da tabela.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Convidar alguém da turma a vir preencher o restante da tabela em voz alta antes de revelar a resolução.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 = super-herói, Bruno = palhaço, Caio = pirata. Reforçar que cada passo eliminou uma opção só com as pistas, sem chute.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Gancho direto para a Aula 03: o que parecia intuição vai virar notação formal.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Reforçar visualmente que hoje é uma pausa estratégica, não um desvio do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Reservar 2 minutos no início da próxima aula para confirmar que a turma está 100% pronta para o conteúdo novo.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Estas referências dão o pano de fundo institucional de por que a busca ativa existe como política, não só como boa vontade do professor.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Estes materiais são de apoio — não é obrigatório assistir tudo antes da próxima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retomando o convite: quem topou o desafio já viu, na prática, o assunto da próxima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danhpaiva.github.io/una-mca-zensical-202602/turma-202602/01-aula/" TargetMode="External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danhpaiva.github.io/una-mca-zensical-202602/turma-202602/03-aula/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results?search_query=curso+em+v%C3%ADdeo+l%C3%B3gica+de+programa%C3%A7%C3%A3o" TargetMode="External"/><Relationship Id="rId3" Type="http://schemas.openxmlformats.org/officeDocument/2006/relationships/image" Target="../media/image18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python.org/downloads/" TargetMode="External"/><Relationship Id="rId5" Type="http://schemas.openxmlformats.org/officeDocument/2006/relationships/hyperlink" Target="https://git-scm.com/downloads" TargetMode="External"/><Relationship Id="rId4" Type="http://schemas.openxmlformats.org/officeDocument/2006/relationships/hyperlink" Target="https://danhpaiva.github.io/una-mca-zensical-202602/ferramentas/" TargetMode="External"/><Relationship Id="rId9" Type="http://schemas.openxmlformats.org/officeDocument/2006/relationships/hyperlink" Target="https://www.youtube.com/results?search_query=instalar+dotnet+git+vscode+iniciantes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377440"/>
            <a:ext cx="5669280" cy="5669280"/>
          </a:xfrm>
          <a:prstGeom prst="ellipse">
            <a:avLst/>
          </a:prstGeom>
          <a:ln w="19050">
            <a:solidFill>
              <a:srgbClr val="2FE6C7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463040" y="4663440"/>
            <a:ext cx="3108960" cy="3108960"/>
          </a:xfrm>
          <a:prstGeom prst="ellipse">
            <a:avLst/>
          </a:prstGeom>
          <a:ln w="19050">
            <a:solidFill>
              <a:srgbClr val="6C4BC1">
                <a:alpha val="60000"/>
              </a:srgbClr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alphaModFix amt="22000"/>
          </a:blip>
          <a:stretch>
            <a:fillRect/>
          </a:stretch>
        </p:blipFill>
        <p:spPr>
          <a:xfrm>
            <a:off x="9601200" y="-274320"/>
            <a:ext cx="2651760" cy="2651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051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MATEMÁTICA COMPUTACIONAL APLICADA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94360" y="2331720"/>
            <a:ext cx="9144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Aula 02</a:t>
            </a:r>
            <a:endParaRPr lang="en-US" sz="6400" dirty="0"/>
          </a:p>
        </p:txBody>
      </p:sp>
      <p:sp>
        <p:nvSpPr>
          <p:cNvPr id="7" name="Text 4"/>
          <p:cNvSpPr/>
          <p:nvPr/>
        </p:nvSpPr>
        <p:spPr>
          <a:xfrm>
            <a:off x="640080" y="35204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Ativa — Início de Semestre</a:t>
            </a:r>
            <a:endParaRPr lang="en-US" sz="2500" dirty="0"/>
          </a:p>
        </p:txBody>
      </p:sp>
      <p:sp>
        <p:nvSpPr>
          <p:cNvPr id="8" name="Text 5"/>
          <p:cNvSpPr/>
          <p:nvPr/>
        </p:nvSpPr>
        <p:spPr>
          <a:xfrm>
            <a:off x="640080" y="434340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E9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seguir para a lógica, vamos garantir que ninguém fique pelo caminho.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6F7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  ·   DIAGNÓSTICO   ·   DESAFIO OPCIONAL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02 · ROTEIRO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Nesta aula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621792" cy="621792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2020824"/>
            <a:ext cx="329184" cy="329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84708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Busca Ativa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508760" y="2185416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essa prática e por que a instituição investe tempo de aula nisso.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" y="2990088"/>
            <a:ext cx="621792" cy="621792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" y="3136392"/>
            <a:ext cx="329184" cy="32918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296265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aula funciona na prática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1508760" y="3300984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professor faz, o que você faz — os papéis de hoje.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640080" y="4105656"/>
            <a:ext cx="621792" cy="621792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" y="4251960"/>
            <a:ext cx="329184" cy="32918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08760" y="4078224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rápido de onboarding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1508760" y="4416552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Ferramentas, acesso e dúvidas de ementa, tudo num checklist.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40080" y="5221224"/>
            <a:ext cx="621792" cy="621792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384" y="5367528"/>
            <a:ext cx="329184" cy="32918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508760" y="5193792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 lógico opcional</a:t>
            </a:r>
            <a:endParaRPr lang="en-US" sz="1800" dirty="0"/>
          </a:p>
        </p:txBody>
      </p:sp>
      <p:sp>
        <p:nvSpPr>
          <p:cNvPr id="19" name="Text 13"/>
          <p:cNvSpPr/>
          <p:nvPr/>
        </p:nvSpPr>
        <p:spPr>
          <a:xfrm>
            <a:off x="1508760" y="553212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quem já está em dia — um aquecimento para a próxima aula.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CONCEITO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é Busca Ativa?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uma prática de acompanhamento estudantil: em vez de esperar que um aluno sumindo das aulas venha pedir ajuda, a instituição e o professor vão até ele.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288036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5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Problemas de engajamento detectados cedo são muito mais fáceis de resolver do que problemas descobertos no fim do semestre, quando já não há tempo de recuperação.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355080" y="777240"/>
            <a:ext cx="5212080" cy="5532120"/>
          </a:xfrm>
          <a:prstGeom prst="roundRect">
            <a:avLst>
              <a:gd name="adj" fmla="val 2105"/>
            </a:avLst>
          </a:prstGeom>
          <a:solidFill>
            <a:srgbClr val="F3F1FB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0" y="1234440"/>
            <a:ext cx="548640" cy="54864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1424" y="1380744"/>
            <a:ext cx="256032" cy="25603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452360" y="121615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Checagem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452360" y="167335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Frequência e desempenho monitorados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675120" y="2834640"/>
            <a:ext cx="548640" cy="54864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1424" y="2980944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452360" y="281635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Contato direto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7452360" y="327355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Mensagem, e-mail ou conversa individual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675120" y="4434840"/>
            <a:ext cx="548640" cy="54864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1424" y="4581144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452360" y="441655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Suporte concreto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7452360" y="487375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Ajuda prática, não só um aviso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JÁ É FAMILIAR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Você já viu isso fora da faculdade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Instituições e empresas fazem “busca ativa” o tempo todo — só não usam esse nome.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10881360" cy="886968"/>
          </a:xfrm>
          <a:prstGeom prst="roundRect">
            <a:avLst>
              <a:gd name="adj" fmla="val 10309"/>
            </a:avLst>
          </a:prstGeom>
          <a:solidFill>
            <a:srgbClr val="F3F1FB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308860"/>
            <a:ext cx="566928" cy="56692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2455164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91640" y="2148840"/>
            <a:ext cx="329184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banco liga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5120640" y="2148840"/>
            <a:ext cx="62179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percebe um gasto fora do seu padrão habitual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40080" y="3200400"/>
            <a:ext cx="10881360" cy="886968"/>
          </a:xfrm>
          <a:prstGeom prst="roundRect">
            <a:avLst>
              <a:gd name="adj" fmla="val 10309"/>
            </a:avLst>
          </a:prstGeom>
          <a:solidFill>
            <a:srgbClr val="F3F1FB"/>
          </a:solidFill>
          <a:ln/>
        </p:spPr>
      </p:sp>
      <p:sp>
        <p:nvSpPr>
          <p:cNvPr id="11" name="Shape 8"/>
          <p:cNvSpPr/>
          <p:nvPr/>
        </p:nvSpPr>
        <p:spPr>
          <a:xfrm>
            <a:off x="868680" y="3360420"/>
            <a:ext cx="566928" cy="56692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3506724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691640" y="3200400"/>
            <a:ext cx="329184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de saúde avisa</a:t>
            </a:r>
            <a:endParaRPr lang="en-US" sz="1550" dirty="0"/>
          </a:p>
        </p:txBody>
      </p:sp>
      <p:sp>
        <p:nvSpPr>
          <p:cNvPr id="14" name="Text 10"/>
          <p:cNvSpPr/>
          <p:nvPr/>
        </p:nvSpPr>
        <p:spPr>
          <a:xfrm>
            <a:off x="5120640" y="3200400"/>
            <a:ext cx="62179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você está atrasado com o check-up anual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40080" y="4251960"/>
            <a:ext cx="10881360" cy="886968"/>
          </a:xfrm>
          <a:prstGeom prst="roundRect">
            <a:avLst>
              <a:gd name="adj" fmla="val 10309"/>
            </a:avLst>
          </a:prstGeom>
          <a:solidFill>
            <a:srgbClr val="F3F1FB"/>
          </a:solidFill>
          <a:ln/>
        </p:spPr>
      </p:sp>
      <p:sp>
        <p:nvSpPr>
          <p:cNvPr id="16" name="Shape 12"/>
          <p:cNvSpPr/>
          <p:nvPr/>
        </p:nvSpPr>
        <p:spPr>
          <a:xfrm>
            <a:off x="868680" y="4411980"/>
            <a:ext cx="566928" cy="56692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984" y="4558284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691640" y="4251960"/>
            <a:ext cx="329184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app de entrega notifica</a:t>
            </a:r>
            <a:endParaRPr lang="en-US" sz="1550" dirty="0"/>
          </a:p>
        </p:txBody>
      </p:sp>
      <p:sp>
        <p:nvSpPr>
          <p:cNvPr id="19" name="Text 14"/>
          <p:cNvSpPr/>
          <p:nvPr/>
        </p:nvSpPr>
        <p:spPr>
          <a:xfrm>
            <a:off x="5120640" y="4251960"/>
            <a:ext cx="62179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você precisar perguntar onde está o pedido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3949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faculdade está fazendo a mesma coisa — só que pelo seu aprendizado.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C4BC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5486400" cy="5486400"/>
          </a:xfrm>
          <a:prstGeom prst="ellipse">
            <a:avLst/>
          </a:prstGeom>
          <a:ln w="190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4389120"/>
            <a:ext cx="3291840" cy="3291840"/>
          </a:xfrm>
          <a:prstGeom prst="ellipse">
            <a:avLst/>
          </a:prstGeom>
          <a:ln w="19050">
            <a:solidFill>
              <a:srgbClr val="2FE6C7">
                <a:alpha val="5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914400"/>
            <a:ext cx="777240" cy="777240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1060704"/>
            <a:ext cx="484632" cy="4846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02412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ALGUÉM DA EQUIPE TE PROCURAR ESTA SEMANA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0080" y="22860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é bronca. É cuidado.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640080" y="3520440"/>
            <a:ext cx="8961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600" dirty="0">
                <a:solidFill>
                  <a:srgbClr val="E4D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primeiras semanas são o momento em que um pequeno empurrão faz a maior diferença. Ninguém está te vigiando — estão te dando a chance de resolver agora o que, mais tarde, seria bem mais difícil.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MOMENTO CERTO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logo na segunda aula?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primeiros encontros do semestre são o momento de maior risco de afastamento: quem não instalou as ferramentas, ficou com dúvida na ementa, ou faltou na Aula 01 tende a se afastar ainda mais se ninguém procurar agora.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40080" y="25603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E55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ALTO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577340" y="3337560"/>
            <a:ext cx="1371600" cy="1371600"/>
          </a:xfrm>
          <a:prstGeom prst="ellipse">
            <a:avLst/>
          </a:prstGeom>
          <a:solidFill>
            <a:srgbClr val="E5533D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5376" y="3625596"/>
            <a:ext cx="795528" cy="79552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484632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do semestre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184648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1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Dúvidas técnicas ainda sem resposta</a:t>
            </a:r>
            <a:endParaRPr lang="en-US" sz="115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0500" y="393192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389120" y="25603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E8B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MÉDIO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5509260" y="3703320"/>
            <a:ext cx="1005840" cy="1005840"/>
          </a:xfrm>
          <a:prstGeom prst="ellipse">
            <a:avLst/>
          </a:prstGeom>
          <a:solidFill>
            <a:srgbClr val="E8B324"/>
          </a:solidFill>
          <a:ln/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20486" y="3914546"/>
            <a:ext cx="583387" cy="583387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389120" y="484632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Meio do semestre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4389120" y="5184648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1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contato, o afastamento cresce</a:t>
            </a:r>
            <a:endParaRPr lang="en-US" sz="115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9540" y="3931920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138160" y="25603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3EB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BAIXO</a:t>
            </a:r>
            <a:endParaRPr lang="en-US" sz="1100" dirty="0"/>
          </a:p>
        </p:txBody>
      </p:sp>
      <p:sp>
        <p:nvSpPr>
          <p:cNvPr id="18" name="Shape 12"/>
          <p:cNvSpPr/>
          <p:nvPr/>
        </p:nvSpPr>
        <p:spPr>
          <a:xfrm>
            <a:off x="9404604" y="3995928"/>
            <a:ext cx="713232" cy="713232"/>
          </a:xfrm>
          <a:prstGeom prst="ellipse">
            <a:avLst/>
          </a:prstGeom>
          <a:solidFill>
            <a:srgbClr val="3EBD59"/>
          </a:solidFill>
          <a:ln/>
        </p:spPr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54383" y="4145707"/>
            <a:ext cx="413675" cy="413675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138160" y="484632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suporte a tempo</a:t>
            </a:r>
            <a:endParaRPr lang="en-US" sz="1400" dirty="0"/>
          </a:p>
        </p:txBody>
      </p:sp>
      <p:sp>
        <p:nvSpPr>
          <p:cNvPr id="21" name="Text 14"/>
          <p:cNvSpPr/>
          <p:nvPr/>
        </p:nvSpPr>
        <p:spPr>
          <a:xfrm>
            <a:off x="8138160" y="5184648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1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ativa reduz o problema agora</a:t>
            </a:r>
            <a:endParaRPr lang="en-US" sz="1150" dirty="0"/>
          </a:p>
        </p:txBody>
      </p:sp>
      <p:sp>
        <p:nvSpPr>
          <p:cNvPr id="22" name="Text 15"/>
          <p:cNvSpPr/>
          <p:nvPr/>
        </p:nvSpPr>
        <p:spPr>
          <a:xfrm>
            <a:off x="640080" y="61722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Ilustrativo — quanto antes o suporte chega, menor a chance de o afastamento se tornar evasão.</a:t>
            </a:r>
            <a:endParaRPr lang="en-US" sz="1150" dirty="0"/>
          </a:p>
        </p:txBody>
      </p:sp>
      <p:sp>
        <p:nvSpPr>
          <p:cNvPr id="23" name="Text 16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PAPÉIS DE HOJE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esta aula funciona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dinâmica diferente das aulas de conteúdo — hoje o foco é garantir que todo mundo embarcou.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5257800" cy="4434840"/>
          </a:xfrm>
          <a:prstGeom prst="roundRect">
            <a:avLst>
              <a:gd name="adj" fmla="val 2474"/>
            </a:avLst>
          </a:prstGeom>
          <a:solidFill>
            <a:srgbClr val="141B41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304288"/>
            <a:ext cx="548640" cy="548640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" y="2450592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00200" y="2304288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professor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914400" y="3063240"/>
            <a:ext cx="47091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ts val="1900"/>
              </a:lnSpc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DCD8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Confere frequência e o checklist de onboarding da Aula 01</a:t>
            </a:r>
            <a:endParaRPr lang="en-US" sz="1300" dirty="0"/>
          </a:p>
          <a:p>
            <a:pPr marL="177800" indent="-177800">
              <a:lnSpc>
                <a:spcPts val="1900"/>
              </a:lnSpc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DCD8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Contata individualmente quem faltou ou não iniciou a configuração do ambiente</a:t>
            </a:r>
            <a:endParaRPr lang="en-US" sz="1300" dirty="0"/>
          </a:p>
          <a:p>
            <a:pPr marL="177800" indent="-177800">
              <a:lnSpc>
                <a:spcPts val="1900"/>
              </a:lnSpc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DCD8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Esclarece dúvidas de ementa, avaliação e cronograma que ainda não foram resolvidas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263640" y="2011680"/>
            <a:ext cx="5257800" cy="4434840"/>
          </a:xfrm>
          <a:prstGeom prst="roundRect">
            <a:avLst>
              <a:gd name="adj" fmla="val 2474"/>
            </a:avLst>
          </a:prstGeom>
          <a:solidFill>
            <a:srgbClr val="141B41"/>
          </a:solidFill>
          <a:ln/>
        </p:spPr>
      </p:sp>
      <p:sp>
        <p:nvSpPr>
          <p:cNvPr id="11" name="Shape 8"/>
          <p:cNvSpPr/>
          <p:nvPr/>
        </p:nvSpPr>
        <p:spPr>
          <a:xfrm>
            <a:off x="6537960" y="2304288"/>
            <a:ext cx="548640" cy="548640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2450592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223760" y="2304288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6537960" y="3063240"/>
            <a:ext cx="47091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ts val="1900"/>
              </a:lnSpc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DCD8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 o seu próprio diagnóstico de onboarding, item por item</a:t>
            </a:r>
            <a:endParaRPr lang="en-US" sz="1300" dirty="0"/>
          </a:p>
          <a:p>
            <a:pPr marL="177800" indent="-177800">
              <a:lnSpc>
                <a:spcPts val="1900"/>
              </a:lnSpc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DCD8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Tira as dúvidas que ainda tiver agora — não depois, quando for tarde</a:t>
            </a:r>
            <a:endParaRPr lang="en-US" sz="1300" dirty="0"/>
          </a:p>
          <a:p>
            <a:pPr marL="177800" indent="-177800">
              <a:lnSpc>
                <a:spcPts val="1900"/>
              </a:lnSpc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DCD8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Encara o desafio lógico opcional, se já estiver em dia com tudo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RÁPIDO DE ONBOARDING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Confira seu ambiente técnico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mesmo setup que vimos na Aula 01 — marque o que já está funcionando.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5257800" cy="1874520"/>
          </a:xfrm>
          <a:prstGeom prst="roundRect">
            <a:avLst>
              <a:gd name="adj" fmla="val 5854"/>
            </a:avLst>
          </a:prstGeom>
          <a:solidFill>
            <a:srgbClr val="F3F1FB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331720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6C4B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01768" y="2313432"/>
            <a:ext cx="457200" cy="45720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2352" y="2414016"/>
            <a:ext cx="256032" cy="25603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14400" y="2898648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instalado, com o projeto do curso aberto ao menos uma vez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263640" y="2057400"/>
            <a:ext cx="5257800" cy="1874520"/>
          </a:xfrm>
          <a:prstGeom prst="roundRect">
            <a:avLst>
              <a:gd name="adj" fmla="val 5854"/>
            </a:avLst>
          </a:prstGeom>
          <a:solidFill>
            <a:srgbClr val="F3F1FB"/>
          </a:solidFill>
          <a:ln/>
        </p:spPr>
      </p:sp>
      <p:sp>
        <p:nvSpPr>
          <p:cNvPr id="11" name="Shape 8"/>
          <p:cNvSpPr/>
          <p:nvPr/>
        </p:nvSpPr>
        <p:spPr>
          <a:xfrm>
            <a:off x="6537960" y="2331720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6C4BC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625328" y="2313432"/>
            <a:ext cx="457200" cy="45720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25912" y="2414016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537960" y="2898648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do .NET instalado e dotnet --version funcionando no terminal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40080" y="4251960"/>
            <a:ext cx="5257800" cy="1874520"/>
          </a:xfrm>
          <a:prstGeom prst="roundRect">
            <a:avLst>
              <a:gd name="adj" fmla="val 5854"/>
            </a:avLst>
          </a:prstGeom>
          <a:solidFill>
            <a:srgbClr val="F3F1FB"/>
          </a:solidFill>
          <a:ln/>
        </p:spPr>
      </p:sp>
      <p:sp>
        <p:nvSpPr>
          <p:cNvPr id="16" name="Shape 12"/>
          <p:cNvSpPr/>
          <p:nvPr/>
        </p:nvSpPr>
        <p:spPr>
          <a:xfrm>
            <a:off x="914400" y="4526280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6C4BC1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001768" y="4507992"/>
            <a:ext cx="457200" cy="45720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02352" y="4608576"/>
            <a:ext cx="256032" cy="25603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14400" y="5093208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instalado, com user.name e user.email configurados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6263640" y="4251960"/>
            <a:ext cx="5257800" cy="1874520"/>
          </a:xfrm>
          <a:prstGeom prst="roundRect">
            <a:avLst>
              <a:gd name="adj" fmla="val 5854"/>
            </a:avLst>
          </a:prstGeom>
          <a:solidFill>
            <a:srgbClr val="F3F1FB"/>
          </a:solidFill>
          <a:ln/>
        </p:spPr>
      </p:sp>
      <p:sp>
        <p:nvSpPr>
          <p:cNvPr id="21" name="Shape 16"/>
          <p:cNvSpPr/>
          <p:nvPr/>
        </p:nvSpPr>
        <p:spPr>
          <a:xfrm>
            <a:off x="6537960" y="4526280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6C4BC1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10625328" y="4507992"/>
            <a:ext cx="457200" cy="45720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25912" y="4608576"/>
            <a:ext cx="256032" cy="25603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537960" y="5093208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 no GitHub criada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RÁPIDO DE ONBOARDING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Confira o seu contexto de curso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5257800" cy="3566160"/>
          </a:xfrm>
          <a:prstGeom prst="roundRect">
            <a:avLst>
              <a:gd name="adj" fmla="val 3077"/>
            </a:avLst>
          </a:prstGeom>
          <a:solidFill>
            <a:srgbClr val="F3F1F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304288"/>
            <a:ext cx="548640" cy="54864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" y="2450592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01752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confirmado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914400" y="3493008"/>
            <a:ext cx="47091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tem acesso ao canal oficial da turma (Google Classroom ou equivalente).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63640" y="2011680"/>
            <a:ext cx="5257800" cy="3566160"/>
          </a:xfrm>
          <a:prstGeom prst="roundRect">
            <a:avLst>
              <a:gd name="adj" fmla="val 3077"/>
            </a:avLst>
          </a:prstGeom>
          <a:solidFill>
            <a:srgbClr val="F3F1FB"/>
          </a:solidFill>
          <a:ln/>
        </p:spPr>
      </p:sp>
      <p:sp>
        <p:nvSpPr>
          <p:cNvPr id="10" name="Shape 7"/>
          <p:cNvSpPr/>
          <p:nvPr/>
        </p:nvSpPr>
        <p:spPr>
          <a:xfrm>
            <a:off x="6537960" y="2304288"/>
            <a:ext cx="548640" cy="54864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2450592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537960" y="301752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Ementa e avaliação claras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6537960" y="3493008"/>
            <a:ext cx="47091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Dúvidas sobre a ementa ou a atividade avaliativa em grupo já foram esclarecidas.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 relembrar algum detalhe da ementa? Volte na </a:t>
            </a:r>
            <a:r>
              <a:rPr lang="en-US" sz="1250" i="1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Aula 01</a:t>
            </a:r>
            <a:r>
              <a:rPr lang="en-US" sz="125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B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011680"/>
            <a:ext cx="5486400" cy="5486400"/>
          </a:xfrm>
          <a:prstGeom prst="ellipse">
            <a:avLst/>
          </a:prstGeom>
          <a:ln w="19050">
            <a:solidFill>
              <a:srgbClr val="6C4BC1">
                <a:alpha val="5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09760" y="4206240"/>
            <a:ext cx="3840480" cy="3840480"/>
          </a:xfrm>
          <a:prstGeom prst="ellipse">
            <a:avLst/>
          </a:prstGeom>
          <a:ln w="19050">
            <a:solidFill>
              <a:srgbClr val="2FE6C7">
                <a:alpha val="5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005840"/>
            <a:ext cx="777240" cy="777240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14300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11556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PRIORIDADE DA AULA DE HOJE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0080" y="219456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Ficou algum item sem marcar?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640080" y="324612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70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Então essa é a prioridade de hoje — antes de tudo o mais. Fale com o professor agora: é exatamente para isso que esta aula existe.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640080" y="43434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8E9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todos os itens já estão marcados, siga para o desafio opcional a seguir.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BÔNUS OPCIONAL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1463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quem já está em dia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592928" y="2331720"/>
            <a:ext cx="1005840" cy="100584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4952" y="2523744"/>
            <a:ext cx="621792" cy="6217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194560" y="3703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200"/>
              </a:lnSpc>
              <a:buNone/>
            </a:pPr>
            <a:r>
              <a:rPr lang="en-US" sz="16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desafio leve de raciocínio lógico, que antecipa o que vem na próxima aula de conteúdo.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2194560" y="42976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chute — só eliminação lógica, passo a passo.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B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 OPCIONAL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usa qual fantasia?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5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amigos foram a um bloco de Carnaval do ano anterior, cada um com uma fantasia diferente. Descubra quem usou o quê — só com lógica, sem chute.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22960" y="2606040"/>
            <a:ext cx="1188720" cy="1188720"/>
          </a:xfrm>
          <a:prstGeom prst="ellipse">
            <a:avLst/>
          </a:prstGeom>
          <a:solidFill>
            <a:srgbClr val="232C63"/>
          </a:solidFill>
          <a:ln w="25400">
            <a:solidFill>
              <a:srgbClr val="2FE6C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60604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FE6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548640" y="3886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657600" y="2606040"/>
            <a:ext cx="1188720" cy="1188720"/>
          </a:xfrm>
          <a:prstGeom prst="ellipse">
            <a:avLst/>
          </a:prstGeom>
          <a:solidFill>
            <a:srgbClr val="232C63"/>
          </a:solidFill>
          <a:ln w="25400">
            <a:solidFill>
              <a:srgbClr val="2FE6C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0" y="260604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FE6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383280" y="3886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92240" y="2606040"/>
            <a:ext cx="1188720" cy="1188720"/>
          </a:xfrm>
          <a:prstGeom prst="ellipse">
            <a:avLst/>
          </a:prstGeom>
          <a:solidFill>
            <a:srgbClr val="232C63"/>
          </a:solidFill>
          <a:ln w="25400">
            <a:solidFill>
              <a:srgbClr val="2FE6C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260604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FE6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217920" y="3886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0080" y="4617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8A9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FANTASIAS DISPONÍVEIS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493776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232C63"/>
          </a:solidFill>
          <a:ln/>
        </p:spPr>
      </p:sp>
      <p:sp>
        <p:nvSpPr>
          <p:cNvPr id="16" name="Shape 14"/>
          <p:cNvSpPr/>
          <p:nvPr/>
        </p:nvSpPr>
        <p:spPr>
          <a:xfrm>
            <a:off x="868680" y="5166360"/>
            <a:ext cx="594360" cy="59436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" y="5276088"/>
            <a:ext cx="374904" cy="374904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1600200" y="493776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Pirata</a:t>
            </a:r>
            <a:endParaRPr lang="en-US" sz="1550" dirty="0"/>
          </a:p>
        </p:txBody>
      </p:sp>
      <p:sp>
        <p:nvSpPr>
          <p:cNvPr id="19" name="Shape 16"/>
          <p:cNvSpPr/>
          <p:nvPr/>
        </p:nvSpPr>
        <p:spPr>
          <a:xfrm>
            <a:off x="4251960" y="493776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232C63"/>
          </a:solidFill>
          <a:ln/>
        </p:spPr>
      </p:sp>
      <p:sp>
        <p:nvSpPr>
          <p:cNvPr id="20" name="Shape 17"/>
          <p:cNvSpPr/>
          <p:nvPr/>
        </p:nvSpPr>
        <p:spPr>
          <a:xfrm>
            <a:off x="4480560" y="5166360"/>
            <a:ext cx="594360" cy="59436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0288" y="5276088"/>
            <a:ext cx="374904" cy="374904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5212080" y="493776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Super-herói</a:t>
            </a:r>
            <a:endParaRPr lang="en-US" sz="1550" dirty="0"/>
          </a:p>
        </p:txBody>
      </p:sp>
      <p:sp>
        <p:nvSpPr>
          <p:cNvPr id="23" name="Shape 19"/>
          <p:cNvSpPr/>
          <p:nvPr/>
        </p:nvSpPr>
        <p:spPr>
          <a:xfrm>
            <a:off x="7863840" y="493776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232C63"/>
          </a:solidFill>
          <a:ln/>
        </p:spPr>
      </p:sp>
      <p:sp>
        <p:nvSpPr>
          <p:cNvPr id="24" name="Shape 20"/>
          <p:cNvSpPr/>
          <p:nvPr/>
        </p:nvSpPr>
        <p:spPr>
          <a:xfrm>
            <a:off x="8092440" y="5166360"/>
            <a:ext cx="594360" cy="59436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2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2168" y="5276088"/>
            <a:ext cx="374904" cy="374904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8823960" y="493776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Palhaço</a:t>
            </a:r>
            <a:endParaRPr lang="en-US" sz="1550" dirty="0"/>
          </a:p>
        </p:txBody>
      </p:sp>
      <p:sp>
        <p:nvSpPr>
          <p:cNvPr id="27" name="Text 22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B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 OPCIONAL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pistas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as três pistas para eliminar possibilidades até sobrar apenas uma combinação válida.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10881360" cy="1051560"/>
          </a:xfrm>
          <a:prstGeom prst="roundRect">
            <a:avLst>
              <a:gd name="adj" fmla="val 10435"/>
            </a:avLst>
          </a:prstGeom>
          <a:solidFill>
            <a:srgbClr val="232C63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2587752"/>
            <a:ext cx="548640" cy="548640"/>
          </a:xfrm>
          <a:prstGeom prst="ellipse">
            <a:avLst/>
          </a:prstGeom>
          <a:solidFill>
            <a:srgbClr val="2FE6C7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25877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1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2697480"/>
            <a:ext cx="320040" cy="3200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691640" y="2331720"/>
            <a:ext cx="8321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não estava vestida de pirata.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40080" y="3593592"/>
            <a:ext cx="10881360" cy="1051560"/>
          </a:xfrm>
          <a:prstGeom prst="roundRect">
            <a:avLst>
              <a:gd name="adj" fmla="val 10435"/>
            </a:avLst>
          </a:prstGeom>
          <a:solidFill>
            <a:srgbClr val="232C63"/>
          </a:solidFill>
          <a:ln/>
        </p:spPr>
      </p:sp>
      <p:sp>
        <p:nvSpPr>
          <p:cNvPr id="11" name="Shape 8"/>
          <p:cNvSpPr/>
          <p:nvPr/>
        </p:nvSpPr>
        <p:spPr>
          <a:xfrm>
            <a:off x="896112" y="3849624"/>
            <a:ext cx="548640" cy="548640"/>
          </a:xfrm>
          <a:prstGeom prst="ellipse">
            <a:avLst/>
          </a:prstGeom>
          <a:solidFill>
            <a:srgbClr val="2FE6C7"/>
          </a:solidFill>
          <a:ln/>
        </p:spPr>
      </p:sp>
      <p:sp>
        <p:nvSpPr>
          <p:cNvPr id="12" name="Text 9"/>
          <p:cNvSpPr/>
          <p:nvPr/>
        </p:nvSpPr>
        <p:spPr>
          <a:xfrm>
            <a:off x="896112" y="3849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1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3959352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691640" y="3593592"/>
            <a:ext cx="8321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estava de super-herói não é Bruno.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640080" y="4855464"/>
            <a:ext cx="10881360" cy="1051560"/>
          </a:xfrm>
          <a:prstGeom prst="roundRect">
            <a:avLst>
              <a:gd name="adj" fmla="val 10435"/>
            </a:avLst>
          </a:prstGeom>
          <a:solidFill>
            <a:srgbClr val="232C63"/>
          </a:solidFill>
          <a:ln/>
        </p:spPr>
      </p:sp>
      <p:sp>
        <p:nvSpPr>
          <p:cNvPr id="16" name="Shape 12"/>
          <p:cNvSpPr/>
          <p:nvPr/>
        </p:nvSpPr>
        <p:spPr>
          <a:xfrm>
            <a:off x="896112" y="5111496"/>
            <a:ext cx="548640" cy="548640"/>
          </a:xfrm>
          <a:prstGeom prst="ellipse">
            <a:avLst/>
          </a:prstGeom>
          <a:solidFill>
            <a:srgbClr val="2FE6C7"/>
          </a:solidFill>
          <a:ln/>
        </p:spPr>
      </p:sp>
      <p:sp>
        <p:nvSpPr>
          <p:cNvPr id="17" name="Text 13"/>
          <p:cNvSpPr/>
          <p:nvPr/>
        </p:nvSpPr>
        <p:spPr>
          <a:xfrm>
            <a:off x="896112" y="51114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1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5221224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91640" y="4855464"/>
            <a:ext cx="8321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Caio não estava de palhaço nem de super-herói.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Dica: monte uma tabela de eliminação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Coloque as pessoas nas linhas e as fantasias nas colunas. A cada pista, marque X na opção impossível — até sobrar só uma por pessoa.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737360" y="2240280"/>
          <a:ext cx="8686800" cy="91440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585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85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/>
                    </a:p>
                  </a:txBody>
                  <a:tcPr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Pirata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Super-herói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Palhaço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C63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6B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6B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Bruno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6B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6B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6B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Caio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6B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6B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6B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Exemplo: a pista 1 já elimina “Ana + pirata” — por isso o X já está marcado. Continue com as outras duas pistas.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RESOLUÇÃO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Resolução guiada, passo a passo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5120640" cy="91440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/>
                    </a:p>
                  </a:txBody>
                  <a:tcPr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Pirata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Super-herói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Palhaço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C63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0E9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C63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Bruno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C63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C63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0E9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Caio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0E9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C63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C63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35040" y="1737360"/>
            <a:ext cx="402336" cy="402336"/>
          </a:xfrm>
          <a:prstGeom prst="ellipse">
            <a:avLst/>
          </a:prstGeom>
          <a:solidFill>
            <a:srgbClr val="6C4BC1"/>
          </a:solidFill>
          <a:ln/>
        </p:spPr>
      </p:sp>
      <p:sp>
        <p:nvSpPr>
          <p:cNvPr id="6" name="Text 3"/>
          <p:cNvSpPr/>
          <p:nvPr/>
        </p:nvSpPr>
        <p:spPr>
          <a:xfrm>
            <a:off x="6035040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601968" y="1700784"/>
            <a:ext cx="4919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3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601968" y="2029968"/>
            <a:ext cx="49194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Caio não é palhaço nem super-herói — só resta pirata.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035040" y="2816352"/>
            <a:ext cx="402336" cy="402336"/>
          </a:xfrm>
          <a:prstGeom prst="ellipse">
            <a:avLst/>
          </a:prstGeom>
          <a:solidFill>
            <a:srgbClr val="6C4BC1"/>
          </a:solidFill>
          <a:ln/>
        </p:spPr>
      </p:sp>
      <p:sp>
        <p:nvSpPr>
          <p:cNvPr id="10" name="Text 7"/>
          <p:cNvSpPr/>
          <p:nvPr/>
        </p:nvSpPr>
        <p:spPr>
          <a:xfrm>
            <a:off x="6035040" y="2816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601968" y="2779776"/>
            <a:ext cx="4919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601968" y="3108960"/>
            <a:ext cx="49194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não é pirata (e Caio já ocupou essa vaga, tudo consistente) — resta super-herói ou palhaço para ela.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035040" y="3895344"/>
            <a:ext cx="402336" cy="402336"/>
          </a:xfrm>
          <a:prstGeom prst="ellipse">
            <a:avLst/>
          </a:prstGeom>
          <a:solidFill>
            <a:srgbClr val="6C4BC1"/>
          </a:solidFill>
          <a:ln/>
        </p:spPr>
      </p:sp>
      <p:sp>
        <p:nvSpPr>
          <p:cNvPr id="14" name="Text 11"/>
          <p:cNvSpPr/>
          <p:nvPr/>
        </p:nvSpPr>
        <p:spPr>
          <a:xfrm>
            <a:off x="6035040" y="38953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601968" y="3858768"/>
            <a:ext cx="4919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2</a:t>
            </a:r>
            <a:endParaRPr lang="en-US" sz="1400" dirty="0"/>
          </a:p>
        </p:txBody>
      </p:sp>
      <p:sp>
        <p:nvSpPr>
          <p:cNvPr id="4" name="Text 13"/>
          <p:cNvSpPr/>
          <p:nvPr/>
        </p:nvSpPr>
        <p:spPr>
          <a:xfrm>
            <a:off x="6601968" y="4187952"/>
            <a:ext cx="49194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é super-herói não é Bruno — logo Bruno só pode ser palhaço.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6035040" y="4974336"/>
            <a:ext cx="402336" cy="402336"/>
          </a:xfrm>
          <a:prstGeom prst="ellipse">
            <a:avLst/>
          </a:prstGeom>
          <a:solidFill>
            <a:srgbClr val="6C4BC1"/>
          </a:solidFill>
          <a:ln/>
        </p:spPr>
      </p:sp>
      <p:sp>
        <p:nvSpPr>
          <p:cNvPr id="18" name="Text 15"/>
          <p:cNvSpPr/>
          <p:nvPr/>
        </p:nvSpPr>
        <p:spPr>
          <a:xfrm>
            <a:off x="6035040" y="49743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601968" y="4937760"/>
            <a:ext cx="4919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Eliminação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601968" y="5266944"/>
            <a:ext cx="49194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Sobrou super-herói só para Ana.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CONECTANDO OS PONTOS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isso importa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38648" y="2286000"/>
            <a:ext cx="914400" cy="914400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2384" y="2459736"/>
            <a:ext cx="566928" cy="56692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828800" y="352044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200"/>
              </a:lnSpc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 tipo de quebra-cabeça de eliminação é resolvido formalmente com lógica proposicional — exatamente o que vem na próxima aula.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828800" y="4389120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140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você resolveu “no olho”, parabéns: você já está pensando como a matemática que vamos formalizar em </a:t>
            </a:r>
            <a:r>
              <a:rPr lang="en-US" sz="1400" i="1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Fundamentos de Lógica</a:t>
            </a:r>
            <a:r>
              <a:rPr lang="en-US" sz="140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CHECK-IN DE ROTA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estamos no semestre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423160" y="3502152"/>
            <a:ext cx="7315200" cy="36576"/>
          </a:xfrm>
          <a:prstGeom prst="rect">
            <a:avLst/>
          </a:prstGeom>
          <a:solidFill>
            <a:srgbClr val="DAD5F0"/>
          </a:solidFill>
          <a:ln/>
        </p:spPr>
      </p:sp>
      <p:sp>
        <p:nvSpPr>
          <p:cNvPr id="5" name="Shape 3"/>
          <p:cNvSpPr/>
          <p:nvPr/>
        </p:nvSpPr>
        <p:spPr>
          <a:xfrm>
            <a:off x="1691640" y="3108960"/>
            <a:ext cx="822960" cy="822960"/>
          </a:xfrm>
          <a:prstGeom prst="ellipse">
            <a:avLst/>
          </a:prstGeom>
          <a:solidFill>
            <a:srgbClr val="B8AEE0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246120"/>
            <a:ext cx="548640" cy="548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40690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005840" y="43891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Introdução à UC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367528" y="228600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2FE6C7"/>
          </a:solidFill>
          <a:ln/>
        </p:spPr>
      </p:sp>
      <p:sp>
        <p:nvSpPr>
          <p:cNvPr id="10" name="Text 7"/>
          <p:cNvSpPr/>
          <p:nvPr/>
        </p:nvSpPr>
        <p:spPr>
          <a:xfrm>
            <a:off x="5367528" y="228600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50" dirty="0">
                <a:solidFill>
                  <a:srgbClr val="141B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ESTÁ AQUI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504688" y="2926080"/>
            <a:ext cx="1188720" cy="118872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0" y="3136392"/>
            <a:ext cx="768096" cy="76809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001768" y="4206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02</a:t>
            </a:r>
            <a:endParaRPr lang="en-US" sz="1550" dirty="0"/>
          </a:p>
        </p:txBody>
      </p:sp>
      <p:sp>
        <p:nvSpPr>
          <p:cNvPr id="14" name="Text 10"/>
          <p:cNvSpPr/>
          <p:nvPr/>
        </p:nvSpPr>
        <p:spPr>
          <a:xfrm>
            <a:off x="5001768" y="4526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Ativa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9189720" y="310896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C4BC1"/>
            </a:solidFill>
            <a:prstDash val="solid"/>
          </a:ln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00032" y="331927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503920" y="40690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03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8503920" y="43891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Lógica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do onboarding resolvido hoje, o conteúdo novo recomeça na próxima aula.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DO PRÓXIMO ENCONTRO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Checklist de saída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38728" cy="3200400"/>
          </a:xfrm>
          <a:prstGeom prst="roundRect">
            <a:avLst>
              <a:gd name="adj" fmla="val 3429"/>
            </a:avLst>
          </a:prstGeom>
          <a:solidFill>
            <a:srgbClr val="F3F1FB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2221992"/>
            <a:ext cx="365760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6C4B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392424" y="2203704"/>
            <a:ext cx="420624" cy="420624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3864" y="2295144"/>
            <a:ext cx="237744" cy="2377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2834640"/>
            <a:ext cx="3026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de onboarding 100% marcado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96112" y="3657600"/>
            <a:ext cx="3026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 dúvida já reportada ao professor.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79976" y="1965960"/>
            <a:ext cx="3538728" cy="3200400"/>
          </a:xfrm>
          <a:prstGeom prst="roundRect">
            <a:avLst>
              <a:gd name="adj" fmla="val 3429"/>
            </a:avLst>
          </a:prstGeom>
          <a:solidFill>
            <a:srgbClr val="F3F1FB"/>
          </a:solidFill>
          <a:ln/>
        </p:spPr>
      </p:sp>
      <p:sp>
        <p:nvSpPr>
          <p:cNvPr id="11" name="Shape 8"/>
          <p:cNvSpPr/>
          <p:nvPr/>
        </p:nvSpPr>
        <p:spPr>
          <a:xfrm>
            <a:off x="4636008" y="2221992"/>
            <a:ext cx="365760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6C4BC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132320" y="2203704"/>
            <a:ext cx="420624" cy="420624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0" y="2295144"/>
            <a:ext cx="237744" cy="23774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636008" y="2834640"/>
            <a:ext cx="3026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Ambiente testado e funcionando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4636008" y="3657600"/>
            <a:ext cx="3026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 + VS Code + Git, prontos para a próxima aula.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8119872" y="1965960"/>
            <a:ext cx="3538728" cy="3200400"/>
          </a:xfrm>
          <a:prstGeom prst="roundRect">
            <a:avLst>
              <a:gd name="adj" fmla="val 3429"/>
            </a:avLst>
          </a:prstGeom>
          <a:solidFill>
            <a:srgbClr val="F3F1FB"/>
          </a:solidFill>
          <a:ln/>
        </p:spPr>
      </p:sp>
      <p:sp>
        <p:nvSpPr>
          <p:cNvPr id="17" name="Shape 13"/>
          <p:cNvSpPr/>
          <p:nvPr/>
        </p:nvSpPr>
        <p:spPr>
          <a:xfrm>
            <a:off x="8375904" y="2221992"/>
            <a:ext cx="365760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6C4BC1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10872216" y="2203704"/>
            <a:ext cx="420624" cy="420624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63656" y="2295144"/>
            <a:ext cx="237744" cy="23774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375904" y="2834640"/>
            <a:ext cx="3026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dúvida pendente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8375904" y="3657600"/>
            <a:ext cx="3026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cronograma ou critérios de avaliação.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IR ALÉM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Evasão e permanência estudantil — contexto institucional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257800" cy="2926080"/>
          </a:xfrm>
          <a:prstGeom prst="roundRect">
            <a:avLst>
              <a:gd name="adj" fmla="val 3750"/>
            </a:avLst>
          </a:prstGeom>
          <a:solidFill>
            <a:srgbClr val="F3F1FB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441448"/>
            <a:ext cx="530352" cy="530352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" y="2587752"/>
            <a:ext cx="237744" cy="2377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00200" y="2441448"/>
            <a:ext cx="4160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SEMESP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914400" y="3200400"/>
            <a:ext cx="4709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do Ensino Superior no Brasil — indicadores de evasão e permanência no ensino superior privado.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263640" y="2148840"/>
            <a:ext cx="5257800" cy="2926080"/>
          </a:xfrm>
          <a:prstGeom prst="roundRect">
            <a:avLst>
              <a:gd name="adj" fmla="val 3750"/>
            </a:avLst>
          </a:prstGeom>
          <a:solidFill>
            <a:srgbClr val="F3F1FB"/>
          </a:solidFill>
          <a:ln/>
        </p:spPr>
      </p:sp>
      <p:sp>
        <p:nvSpPr>
          <p:cNvPr id="11" name="Shape 8"/>
          <p:cNvSpPr/>
          <p:nvPr/>
        </p:nvSpPr>
        <p:spPr>
          <a:xfrm>
            <a:off x="6537960" y="2441448"/>
            <a:ext cx="530352" cy="530352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2587752"/>
            <a:ext cx="237744" cy="23774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223760" y="2441448"/>
            <a:ext cx="4160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ABMES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6537960" y="3200400"/>
            <a:ext cx="4709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Retenção e permanência estudantil no ensino superior — práticas de acompanhamento e busca ativa.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IR ALÉM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Ferramentas e vídeos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257800" cy="4251960"/>
          </a:xfrm>
          <a:prstGeom prst="roundRect">
            <a:avLst>
              <a:gd name="adj" fmla="val 2581"/>
            </a:avLst>
          </a:prstGeom>
          <a:solidFill>
            <a:srgbClr val="F3F1FB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1947672"/>
            <a:ext cx="475488" cy="47548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2093976"/>
            <a:ext cx="182880" cy="182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96112" y="2532888"/>
            <a:ext cx="4745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Ferramentas — revisão rápida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96112" y="2971800"/>
            <a:ext cx="474573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spcAft>
                <a:spcPts val="1000"/>
              </a:spcAft>
              <a:buNone/>
            </a:pPr>
            <a:r>
              <a:rPr lang="en-US" sz="1200" u="sng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Guia de instalação da turma</a:t>
            </a:r>
            <a:r>
              <a:rPr lang="en-US" sz="1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passo a passo oficial.</a:t>
            </a:r>
            <a:endParaRPr lang="en-US" sz="1200" dirty="0"/>
          </a:p>
          <a:p>
            <a:pPr marL="0" indent="0">
              <a:lnSpc>
                <a:spcPts val="18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do .NET — documentação e instalador oficial: learn.microsoft.com/dotnet</a:t>
            </a:r>
            <a:endParaRPr lang="en-US" sz="1200" dirty="0"/>
          </a:p>
          <a:p>
            <a:pPr marL="0" indent="0">
              <a:lnSpc>
                <a:spcPts val="1800"/>
              </a:lnSpc>
              <a:spcAft>
                <a:spcPts val="1000"/>
              </a:spcAft>
              <a:buNone/>
            </a:pPr>
            <a:r>
              <a:rPr lang="en-US" sz="1200" u="sng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 — instalação oficial</a:t>
            </a:r>
            <a:endParaRPr lang="en-US" sz="1200" dirty="0"/>
          </a:p>
          <a:p>
            <a:pPr marL="0" indent="0">
              <a:lnSpc>
                <a:spcPts val="18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(opcional, para os exemplos comparativos): </a:t>
            </a:r>
            <a:r>
              <a:rPr lang="en-US" sz="1200" u="sng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python.org/downloads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63640" y="1691640"/>
            <a:ext cx="5257800" cy="4251960"/>
          </a:xfrm>
          <a:prstGeom prst="roundRect">
            <a:avLst>
              <a:gd name="adj" fmla="val 2581"/>
            </a:avLst>
          </a:prstGeom>
          <a:solidFill>
            <a:srgbClr val="F3F1FB"/>
          </a:solidFill>
          <a:ln/>
        </p:spPr>
      </p:sp>
      <p:sp>
        <p:nvSpPr>
          <p:cNvPr id="10" name="Shape 7"/>
          <p:cNvSpPr/>
          <p:nvPr/>
        </p:nvSpPr>
        <p:spPr>
          <a:xfrm>
            <a:off x="6519672" y="1947672"/>
            <a:ext cx="475488" cy="47548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65976" y="2093976"/>
            <a:ext cx="182880" cy="1828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519672" y="2532888"/>
            <a:ext cx="4745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Vídeos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6519672" y="2971800"/>
            <a:ext cx="474573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spcAft>
                <a:spcPts val="1000"/>
              </a:spcAft>
              <a:buNone/>
            </a:pPr>
            <a:r>
              <a:rPr lang="en-US" sz="1200" u="sng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Curso em Vídeo (Gustavo Guanabara)</a:t>
            </a:r>
            <a:r>
              <a:rPr lang="en-US" sz="1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série de Lógica de Programação, ótima para reforçar o “porquê” do raciocínio lógico antes da próxima aula.</a:t>
            </a:r>
            <a:endParaRPr lang="en-US" sz="1200" dirty="0"/>
          </a:p>
          <a:p>
            <a:pPr marL="0" indent="0">
              <a:lnSpc>
                <a:spcPts val="1800"/>
              </a:lnSpc>
              <a:spcAft>
                <a:spcPts val="1000"/>
              </a:spcAft>
              <a:buNone/>
            </a:pPr>
            <a:r>
              <a:rPr lang="en-US" sz="1200" u="sng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Tutoriais de configuração de ambiente</a:t>
            </a:r>
            <a:r>
              <a:rPr lang="en-US" sz="1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.NET + Git + VS Code para iniciantes.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B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011680"/>
            <a:ext cx="5486400" cy="5486400"/>
          </a:xfrm>
          <a:prstGeom prst="ellipse">
            <a:avLst/>
          </a:prstGeom>
          <a:ln w="19050">
            <a:solidFill>
              <a:srgbClr val="6C4BC1">
                <a:alpha val="5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09760" y="4206240"/>
            <a:ext cx="3840480" cy="3840480"/>
          </a:xfrm>
          <a:prstGeom prst="ellipse">
            <a:avLst/>
          </a:prstGeom>
          <a:ln w="19050">
            <a:solidFill>
              <a:srgbClr val="2FE6C7">
                <a:alpha val="5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051560"/>
            <a:ext cx="777240" cy="777240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1197864"/>
            <a:ext cx="484632" cy="4846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1704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PARADA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600200" y="146304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Lógica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40080" y="260604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o ambiente e as dúvidas</a:t>
            </a:r>
            <a:endParaRPr lang="en-US" sz="3400" dirty="0"/>
          </a:p>
          <a:p>
            <a:pPr marL="0" indent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resolvidos, começamos de verdade.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640080" y="41148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AE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desafio das fantasias vai voltar — agora com nome e notação: lógica proposicional.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4008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kern="0" spc="100" dirty="0">
                <a:solidFill>
                  <a:srgbClr val="6F7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Matemática Computacional Aplicada  ·  Aula 02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1804</Words>
  <Application>Microsoft Office PowerPoint</Application>
  <PresentationFormat>Widescreen</PresentationFormat>
  <Paragraphs>258</Paragraphs>
  <Slides>21</Slides>
  <Notes>21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21</vt:i4>
      </vt:variant>
    </vt:vector>
  </HeadingPairs>
  <TitlesOfParts>
    <vt:vector size="25" baseType="lpstr">
      <vt:lpstr>Arial</vt:lpstr>
      <vt:lpstr>Calibri</vt:lpstr>
      <vt:lpstr>Cambria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daniel</cp:lastModifiedBy>
  <cp:revision>1</cp:revision>
  <dcterms:created xsi:type="dcterms:W3CDTF">2026-08-04T20:39:31Z</dcterms:created>
  <dcterms:modified xsi:type="dcterms:W3CDTF">2026-08-13T19:41:40Z</dcterms:modified>
</cp:coreProperties>
</file>