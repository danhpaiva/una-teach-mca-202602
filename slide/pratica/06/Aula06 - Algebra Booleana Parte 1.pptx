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6395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Recapitular rápido: na Aula 05 classificamos fórmulas por tabela-verdade. Hoje trocamos V/F por 1/0 e ganhamos regras algébricas para manipular fórmulas sem montar tabela.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claro desde já: nada de conteúdo novo em 'o que é verdadeiro' — é uma nova forma de calcular a mesma coisa.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Esses três rótulos continuam valendo — vamos só trocar a ferramenta de verificação.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x̄ só depende de x — por isso repete valor enquanto y varia, igual ao que já vimos com ¬p na Aula 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 clássico de quem vem da aritmética: tentar 'carregar o 1' como na soma normal. Aqui não existe carry — o conjunto é {0,1}, ponto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é para decorar de uma vez — vamos usar cada um deles nos exemplos a seguir, na prática.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Dica prática: se esquecer uma forma, lembre a outra e troque + por · (e vice-versa) — funciona sempre.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Motivação: cada operação a menos na fórmula é, na prática, um componente a menos no circuito.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padrão mais comum de simplificação: reconhecer y + ȳ escondido dentro de uma soma maior.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Confirmar por tabela é o cinto de segurança — se der diferente, algum passo algébrico foi aplicado errado.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Muita gente só conhece a absorção na forma x+xy=x — esta variante (x+x̄y=x+y) usa o mesmo espírito, via forma 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Aproveitar para lembrar que x+y é exatamente o OR — a mesma tabela de p∨q da Aula 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'termo de consenso' sempre combina as variáveis que sobram: aqui, y (de xy) e z (de x̄z), já que x e x̄ se cancelam.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Vale ir linha por linha com a turma nas duas onde x̄z e yz empatam (linhas 5 e 7) — é onde o consenso 'faria diferença' se não fosse coberto.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Guardar essa ideia — ela é o motivo real (não só acadêmico) de simplificar antes de implementar.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partir daqui, C# é a ferramenta principal — Python aparece ao lado só para comparar sintaxe.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usa 1 - x, não ~x — o complemento bit a bit de um int não daria 0/1 (dar -1/-2), então a subtração é a forma correta aqui.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core da lógica não mudou nada desde a Aula 05 — só trocamos bool por int (0/1).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assert nunca falha para nenhuma das 4 combinações — é a mesma confirmação que fizemos por tabela no Slide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mesma ideia de sao_equivalentes da Aula 05 — reaproveitando Combinacoes(n) que já tínhamos.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exercício tem gabarito no slide seguinte — resolver antes de virar a página.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Corrigir 'r[0]' fixo como 1: x alterna a cada 2 linhas — conferir contra o gabarito antes de revelar.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Mesmo raciocínio do exemplo 'Usando absorção' do meio da aula — só que aplicado com x̄ no lugar de 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dica de agrupar os dois primeiros termos é literal: xy+xȳ some primeiro, o resto entra depois.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termos viraram dois literais — reaproveitando os dois exemplos que já vimos na própria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primeira aplicação de De Morgan ainda deixa uma barra sobre 'xy' — reforçar que 'grupo' inclui esse caso intermediário.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Nenhuma barra cobre mais de uma letra no resultado final — é isso que 'sem barra sobre grupos' pede.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gabarito está no próximo slide — deixar a turma tentar antes de revelar.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NAND e NOR são, literalmente, De Morgan em forma de porta lógica — ponte direta para a próxima aula (circuitos).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Título e tema da Aula 07 vêm do próprio texto desta aula ('Parte 1' e a menção explícita a 'próxima aula (circuitos)') — não são inventados.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Idoeta &amp; Capuano entra pela primeira vez — é o livro-texto clássico de eletrônica digital no Brasil, ótimo para quem quer ver a ponte com circuitos.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 exatamente como fornecidos pelo professor — nenhuma URL foi inventada.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conectando direto com NAND/NOR do desafio — eles já são, na prática, o vocabulário de portas lógicas da próxima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hyperlink" Target="https://www.youtube.com/results?search_query=teorema+do+consenso+%C3%A1lgebra+booleana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results?search_query=%C3%A1lgebra+booleana+axiomas+simplifica%C3%A7%C3%A3o+de+express%C3%B5es" TargetMode="External"/><Relationship Id="rId5" Type="http://schemas.openxmlformats.org/officeDocument/2006/relationships/image" Target="../media/image25.png"/><Relationship Id="rId4" Type="http://schemas.openxmlformats.org/officeDocument/2006/relationships/hyperlink" Target="https://docs.python.org/3/reference/expressions.html#binary-bitwise-operations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377440"/>
            <a:ext cx="5669280" cy="5669280"/>
          </a:xfrm>
          <a:prstGeom prst="ellipse">
            <a:avLst/>
          </a:prstGeom>
          <a:ln w="19050">
            <a:solidFill>
              <a:srgbClr val="2FE6C7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4663440"/>
            <a:ext cx="3108960" cy="3108960"/>
          </a:xfrm>
          <a:prstGeom prst="ellipse">
            <a:avLst/>
          </a:prstGeom>
          <a:ln w="19050">
            <a:solidFill>
              <a:srgbClr val="6C4BC1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22000"/>
          </a:blip>
          <a:stretch>
            <a:fillRect/>
          </a:stretch>
        </p:blipFill>
        <p:spPr>
          <a:xfrm>
            <a:off x="9784080" y="-274320"/>
            <a:ext cx="2560320" cy="2560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COMPUTACIONAL APLICADA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4360" y="2331720"/>
            <a:ext cx="9144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06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640080" y="3520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Álgebra Booleana e suas Aplicações — Parte 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" y="434340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E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tabela-verdade para os axiomas — a mesma lógica, agora manipulada como álgebra.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943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+ y     x · y     x̄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· ROTEIRO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Nesta aula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603504" cy="603504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112264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9202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tabela-verdade para a álgebra sobre {0, 1}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463040" y="2386584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estrutura lógica, agora com operações e axiomas.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081528"/>
            <a:ext cx="603504" cy="603504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322783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303580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Axiomas e teoremas fundamentais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463040" y="350215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regras que permitem manipular fórmulas sem montar tabela nenhuma.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197096"/>
            <a:ext cx="603504" cy="603504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4343400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415137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Simplificação algébrica de expressões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1463040" y="461772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o número de operações — menos termos, menos trabalho depois.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312664"/>
            <a:ext cx="603504" cy="603504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5458968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526694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em Python (e C#) com operadores bit a bit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1463040" y="573328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Confirmando cada simplificação por código, não só no papel.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paramos na Aula 05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Aprendemos a montar tabelas de fórmulas com vários conectivos e a classificá-las.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65480" y="2240280"/>
            <a:ext cx="3291840" cy="1874520"/>
          </a:xfrm>
          <a:prstGeom prst="roundRect">
            <a:avLst>
              <a:gd name="adj" fmla="val 5854"/>
            </a:avLst>
          </a:prstGeom>
          <a:solidFill>
            <a:srgbClr val="F3F1FB"/>
          </a:solidFill>
          <a:ln/>
        </p:spPr>
      </p:sp>
      <p:sp>
        <p:nvSpPr>
          <p:cNvPr id="6" name="Shape 4"/>
          <p:cNvSpPr/>
          <p:nvPr/>
        </p:nvSpPr>
        <p:spPr>
          <a:xfrm>
            <a:off x="2163928" y="2496312"/>
            <a:ext cx="694944" cy="694944"/>
          </a:xfrm>
          <a:prstGeom prst="ellipse">
            <a:avLst/>
          </a:prstGeom>
          <a:solidFill>
            <a:srgbClr val="3EBD5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2800" y="2615184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48360" y="3337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Tautologia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48360" y="3703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sempre V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49928" y="2240280"/>
            <a:ext cx="3291840" cy="1874520"/>
          </a:xfrm>
          <a:prstGeom prst="roundRect">
            <a:avLst>
              <a:gd name="adj" fmla="val 5854"/>
            </a:avLst>
          </a:prstGeom>
          <a:solidFill>
            <a:srgbClr val="F3F1FB"/>
          </a:solidFill>
          <a:ln/>
        </p:spPr>
      </p:sp>
      <p:sp>
        <p:nvSpPr>
          <p:cNvPr id="11" name="Shape 8"/>
          <p:cNvSpPr/>
          <p:nvPr/>
        </p:nvSpPr>
        <p:spPr>
          <a:xfrm>
            <a:off x="5748376" y="2496312"/>
            <a:ext cx="694944" cy="694944"/>
          </a:xfrm>
          <a:prstGeom prst="ellipse">
            <a:avLst/>
          </a:prstGeom>
          <a:solidFill>
            <a:srgbClr val="E5533D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248" y="2615184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32808" y="3337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Contradição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632808" y="3703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sempre F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34376" y="2240280"/>
            <a:ext cx="3291840" cy="1874520"/>
          </a:xfrm>
          <a:prstGeom prst="roundRect">
            <a:avLst>
              <a:gd name="adj" fmla="val 5854"/>
            </a:avLst>
          </a:prstGeom>
          <a:solidFill>
            <a:srgbClr val="F3F1FB"/>
          </a:solidFill>
          <a:ln/>
        </p:spPr>
      </p:sp>
      <p:sp>
        <p:nvSpPr>
          <p:cNvPr id="16" name="Shape 12"/>
          <p:cNvSpPr/>
          <p:nvPr/>
        </p:nvSpPr>
        <p:spPr>
          <a:xfrm>
            <a:off x="9332824" y="2496312"/>
            <a:ext cx="694944" cy="694944"/>
          </a:xfrm>
          <a:prstGeom prst="ellipse">
            <a:avLst/>
          </a:prstGeom>
          <a:solidFill>
            <a:srgbClr val="E8B324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1696" y="2615184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17256" y="3337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Contingência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217256" y="3703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40080" y="4572000"/>
            <a:ext cx="457200" cy="457200"/>
          </a:xfrm>
          <a:prstGeom prst="ellipse">
            <a:avLst/>
          </a:prstGeom>
          <a:solidFill>
            <a:srgbClr val="3EBD59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468172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457200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a mesma lógica, mas sobre {0, 1} e com regras algébricas para manipular fórmulas direto.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MUDANDO DE NOTAÇÃO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49808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89611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lógica para a álgebra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Aula 04 trabalhamos com V/F. A álgebra booleana é a mesma estrutura, com 1 (verdadeiro) e 0 (falso), e três operações.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10881360" cy="91440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Equivalente lógico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Produto (AND)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1B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· y  ou  xy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6C4BC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∧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Soma (OR)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1B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+ y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6C4BC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∨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Complemento (NOT)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1B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x̄  ou  x'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6C4BC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¬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40080" y="41605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Reforçando com uma tabela em 0/1:</a:t>
            </a:r>
            <a:endParaRPr lang="en-US" sz="12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0" y="4526280"/>
          <a:ext cx="777240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· y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+ y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x̄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4572000" cy="4572000"/>
          </a:xfrm>
          <a:prstGeom prst="ellipse">
            <a:avLst/>
          </a:prstGeom>
          <a:ln w="19050">
            <a:solidFill>
              <a:srgbClr val="6C4BC1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92928" y="1234440"/>
            <a:ext cx="1005840" cy="1005840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8376" y="1389888"/>
            <a:ext cx="694944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51460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Cuidado com os símbolos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2011680" y="35204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50" i="1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 · não são a soma e a multiplicação da aritmética comum! Aqui, + significa OR — por isso 1 + 1 = 1 (não 2).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4023360" y="4709160"/>
            <a:ext cx="4114800" cy="822960"/>
          </a:xfrm>
          <a:prstGeom prst="roundRect">
            <a:avLst>
              <a:gd name="adj" fmla="val 13333"/>
            </a:avLst>
          </a:prstGeom>
          <a:solidFill>
            <a:srgbClr val="232C63"/>
          </a:solidFill>
          <a:ln w="12700">
            <a:solidFill>
              <a:srgbClr val="2FE6C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23360" y="47091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FE6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+ 1 = 1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REGRAS DO JOGO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Axiomas e teoremas fundamentais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axioma vem em par: uma forma com + (OR) e uma forma dual com · (AND).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881360" cy="9144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Axioma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 com +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 com ·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6C4BC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+ 0 = x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6C4BC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· 1 = x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Complemento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6C4BC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+ x̄ = 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6C4BC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· x̄ = 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Idempotência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6C4BC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+ x = x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6C4BC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· x = x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Absorção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6C4BC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+ xy = x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6C4BC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· (x + y) = x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6C4BC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+ yz = (x+y)(x+z)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6C4BC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x(y + z) = xy + xz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Morgan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6C4BC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(x + y)‾ = x̄ · ȳ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6C4BC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(xy)‾ = x̄ + ȳ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esta tabela — ela é a base de toda simplificação a partir daqui.</a:t>
            </a:r>
            <a:endParaRPr lang="en-US" sz="1250" dirty="0"/>
          </a:p>
        </p:txBody>
      </p:sp>
      <p:sp>
        <p:nvSpPr>
          <p:cNvPr id="5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ATALHO PARA LEMBRAR METADE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23544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822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Princípio da dualidade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15544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identidade booleana continua válida se trocarmos + e · (e 0 e 1) ao mesmo tempo.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1645920" y="2331720"/>
            <a:ext cx="8869680" cy="1783080"/>
          </a:xfrm>
          <a:prstGeom prst="roundRect">
            <a:avLst>
              <a:gd name="adj" fmla="val 6154"/>
            </a:avLst>
          </a:prstGeom>
          <a:solidFill>
            <a:srgbClr val="141B41"/>
          </a:solidFill>
          <a:ln/>
        </p:spPr>
      </p:sp>
      <p:sp>
        <p:nvSpPr>
          <p:cNvPr id="8" name="Text 5"/>
          <p:cNvSpPr/>
          <p:nvPr/>
        </p:nvSpPr>
        <p:spPr>
          <a:xfrm>
            <a:off x="1920240" y="25603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FE6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+ 0 = x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742432" y="2834640"/>
            <a:ext cx="502920" cy="502920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584" y="290779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92240" y="25603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FE6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· 1 = x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1645920" y="3703320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axioma da Identidade — dual de si mesmo, trocando + ↔ · e 0 ↔ 1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640080" y="44348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axiomas sempre vêm aos pares — por isso a tabela do slide anterior tem duas colunas: aprender um lado é meio caminho para o outro.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C4B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486400" cy="5486400"/>
          </a:xfrm>
          <a:prstGeom prst="ellipse">
            <a:avLst/>
          </a:prstGeom>
          <a:ln w="190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389120"/>
            <a:ext cx="3291840" cy="3291840"/>
          </a:xfrm>
          <a:prstGeom prst="ellipse">
            <a:avLst/>
          </a:prstGeom>
          <a:ln w="19050">
            <a:solidFill>
              <a:srgbClr val="2FE6C7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92928" y="1280160"/>
            <a:ext cx="1005840" cy="1005840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520" y="144475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60604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Simplificando expressões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103120" y="361188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E4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Simplificar reduz o número de operações — o que, mais adiante no curso (circuitos), significa menos portas lógicas e hardware mais barato.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Fatorando um complemento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Simplificar xy + xȳ: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3F1FB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331720"/>
            <a:ext cx="502920" cy="502920"/>
          </a:xfrm>
          <a:prstGeom prst="ellipse">
            <a:avLst/>
          </a:prstGeom>
          <a:solidFill>
            <a:srgbClr val="6C4BC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21488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x(y + ȳ)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0" y="214884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Fatoramos x, que aparece nos dois termos.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3F1FB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3337560"/>
            <a:ext cx="502920" cy="502920"/>
          </a:xfrm>
          <a:prstGeom prst="ellipse">
            <a:avLst/>
          </a:prstGeom>
          <a:solidFill>
            <a:srgbClr val="6C4BC1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" y="31546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· 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0" y="315468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Axioma do complemento: y + ȳ = 1.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16052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3F1FB"/>
          </a:solidFill>
          <a:ln/>
        </p:spPr>
      </p:sp>
      <p:sp>
        <p:nvSpPr>
          <p:cNvPr id="16" name="Shape 14"/>
          <p:cNvSpPr/>
          <p:nvPr/>
        </p:nvSpPr>
        <p:spPr>
          <a:xfrm>
            <a:off x="868680" y="4343400"/>
            <a:ext cx="502920" cy="502920"/>
          </a:xfrm>
          <a:prstGeom prst="ellipse">
            <a:avLst/>
          </a:prstGeom>
          <a:solidFill>
            <a:srgbClr val="6C4BC1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45920" y="41605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72000" y="416052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Axioma da identidade: x · 1 = x.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53035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parcelas viraram um único literal.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CONFIRMANDO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xy + xȳ é o mesmo que x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Montamos as 4 combinações de x e y e comparamos as colunas.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37360" y="2103120"/>
          <a:ext cx="8686800" cy="914400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xy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xȳ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xy + xȳ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709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últimas colunas são idênticas em todas as linhas — a simplificação está correta.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Usando absorção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Simplificar x + x̄y: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3F1FB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331720"/>
            <a:ext cx="502920" cy="502920"/>
          </a:xfrm>
          <a:prstGeom prst="ellipse">
            <a:avLst/>
          </a:prstGeom>
          <a:solidFill>
            <a:srgbClr val="6C4BC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21488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 + x̄)(x + y)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120640" y="214884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Distributiva na forma dual: x + yz = (x+y)(x+z), com y = x̄ e z = 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3F1FB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3337560"/>
            <a:ext cx="502920" cy="502920"/>
          </a:xfrm>
          <a:prstGeom prst="ellipse">
            <a:avLst/>
          </a:prstGeom>
          <a:solidFill>
            <a:srgbClr val="6C4BC1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" y="31546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(x + y)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120640" y="315468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Axioma do complemento: x + x̄ = 1.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16052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3F1FB"/>
          </a:solidFill>
          <a:ln/>
        </p:spPr>
      </p:sp>
      <p:sp>
        <p:nvSpPr>
          <p:cNvPr id="16" name="Shape 14"/>
          <p:cNvSpPr/>
          <p:nvPr/>
        </p:nvSpPr>
        <p:spPr>
          <a:xfrm>
            <a:off x="868680" y="4343400"/>
            <a:ext cx="502920" cy="502920"/>
          </a:xfrm>
          <a:prstGeom prst="ellipse">
            <a:avLst/>
          </a:prstGeom>
          <a:solidFill>
            <a:srgbClr val="6C4BC1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45920" y="41605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+ y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5120640" y="416052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Axioma da identidade: 1 · (x + y) = x + 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CONFIRMANDO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+ x̄y é o mesmo que x + 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checagem: 4 linhas, comparar as colunas finais.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0" y="2103120"/>
          <a:ext cx="777240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x̄y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+ x̄y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+ y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709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que x + x̄y nunca é F quando x + y também não é — as fórmulas coincidem sempre.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3 · TRÊS TERMOS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23544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822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Eliminando o consenso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554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Simplifique xy + x̄z + yz: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103120"/>
            <a:ext cx="10881360" cy="1965960"/>
          </a:xfrm>
          <a:prstGeom prst="roundRect">
            <a:avLst>
              <a:gd name="adj" fmla="val 5581"/>
            </a:avLst>
          </a:prstGeom>
          <a:solidFill>
            <a:srgbClr val="F3F1FB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termo yz é redundante: sempre que yz = 1 (ou seja, y = 1 e z = 1), pelo menos um de xy ou x̄z também vale 1 — porque x só pode ser 0 ou 1, e em qualquer caso um dos dois primeiros termos "cobre" essa situação.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" y="4297680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141B41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42976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8E9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xy + x̄z + yz</a:t>
            </a: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=   </a:t>
            </a:r>
            <a:r>
              <a:rPr lang="en-US" sz="2600" b="1" dirty="0">
                <a:solidFill>
                  <a:srgbClr val="2FE6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xy + x̄z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40080" y="5349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é o teorema do consenso: o termo yz — formado pelas variáveis que sobram de xy e x̄z — sempre pode ser eliminado.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CONFIRMANDO POR TABELA-VERDADE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8 linhas, lado a lado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xy + x̄z + yz e xy + x̄z e compare a coluna de resultado.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57400"/>
          <a:ext cx="10881360" cy="914400"/>
        </p:xfrm>
        <a:graphic>
          <a:graphicData uri="http://schemas.openxmlformats.org/drawingml/2006/table">
            <a:tbl>
              <a:tblPr/>
              <a:tblGrid>
                <a:gridCol w="1360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0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1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1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01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01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601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xy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x̄z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yz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xy+x̄z+yz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xy+x̄z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colunas finais são idênticas — o termo de consenso realmente não fazia falta.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877824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7724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Menos termos, menos hardware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operação (+ , · ou complemento) que sobrevive na fórmula final vira, mais adiante no curso, uma porta lógica física. xy + x̄z + yz e xy + x̄z fazem exatamente o mesmo trabalho — mas a segunda usa menos peças.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1554480" y="2834640"/>
            <a:ext cx="9052560" cy="1737360"/>
          </a:xfrm>
          <a:prstGeom prst="roundRect">
            <a:avLst>
              <a:gd name="adj" fmla="val 6316"/>
            </a:avLst>
          </a:prstGeom>
          <a:solidFill>
            <a:srgbClr val="232C63"/>
          </a:solidFill>
          <a:ln/>
        </p:spPr>
      </p:sp>
      <p:sp>
        <p:nvSpPr>
          <p:cNvPr id="8" name="Text 5"/>
          <p:cNvSpPr/>
          <p:nvPr/>
        </p:nvSpPr>
        <p:spPr>
          <a:xfrm>
            <a:off x="1828800" y="30632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E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xy + x̄z + yz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828800" y="3657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F7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ANDs, 2 ORs, 1 NOT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742432" y="3291840"/>
            <a:ext cx="502920" cy="502920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584" y="336499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92240" y="3063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xy + x̄z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492240" y="3657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ANDs, 1 OR, 1 NOT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1554480" y="416052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AND e um OR a menos — em um circuito real, isso é peças a menos na placa.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ln w="19050">
            <a:solidFill>
              <a:srgbClr val="6C4BC1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CONFIRMANDO COM CÓDIGO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92928" y="1188720"/>
            <a:ext cx="1005840" cy="1005840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520" y="135331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51460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Álgebra booleana em código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2103120" y="352044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vez de confiar só no papel, vamos implementar AND, OR e NOT sobre 0/1 e testar cada simplificação automaticamente.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AS TRÊS OPERAÇÕES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AND, OR e NOT sobre 0/1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Python e C#, os operadores bit a bit já fazem exatamente o que precisamos.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280660" cy="1965960"/>
          </a:xfrm>
          <a:prstGeom prst="roundRect">
            <a:avLst>
              <a:gd name="adj" fmla="val 6512"/>
            </a:avLst>
          </a:prstGeom>
          <a:solidFill>
            <a:srgbClr val="232C63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32257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32257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</p:sp>
      <p:sp>
        <p:nvSpPr>
          <p:cNvPr id="8" name="Shape 6"/>
          <p:cNvSpPr/>
          <p:nvPr/>
        </p:nvSpPr>
        <p:spPr>
          <a:xfrm>
            <a:off x="1298448" y="232257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2263140"/>
            <a:ext cx="3817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BooleanaBasica.cs</a:t>
            </a:r>
            <a:endParaRPr lang="en-US" sz="10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820" y="2249424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32688" y="2788920"/>
            <a:ext cx="4732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int </a:t>
            </a:r>
            <a:r>
              <a:rPr lang="en-US" sz="13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And(int x, int y) =&gt; x &amp; y;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32688" y="3154680"/>
            <a:ext cx="4732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int </a:t>
            </a:r>
            <a:r>
              <a:rPr lang="en-US" sz="13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Or(int x, int y)  =&gt; x | y;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32688" y="3520440"/>
            <a:ext cx="4732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int </a:t>
            </a:r>
            <a:r>
              <a:rPr lang="en-US" sz="13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Not(int x) =&gt; 1 - x;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40780" y="2103120"/>
            <a:ext cx="5280660" cy="1965960"/>
          </a:xfrm>
          <a:prstGeom prst="roundRect">
            <a:avLst>
              <a:gd name="adj" fmla="val 6512"/>
            </a:avLst>
          </a:prstGeom>
          <a:solidFill>
            <a:srgbClr val="232C63"/>
          </a:solidFill>
          <a:ln/>
        </p:spPr>
      </p:sp>
      <p:sp>
        <p:nvSpPr>
          <p:cNvPr id="15" name="Shape 12"/>
          <p:cNvSpPr/>
          <p:nvPr/>
        </p:nvSpPr>
        <p:spPr>
          <a:xfrm>
            <a:off x="6496812" y="232257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16" name="Shape 13"/>
          <p:cNvSpPr/>
          <p:nvPr/>
        </p:nvSpPr>
        <p:spPr>
          <a:xfrm>
            <a:off x="6697980" y="232257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</p:sp>
      <p:sp>
        <p:nvSpPr>
          <p:cNvPr id="17" name="Shape 14"/>
          <p:cNvSpPr/>
          <p:nvPr/>
        </p:nvSpPr>
        <p:spPr>
          <a:xfrm>
            <a:off x="6899148" y="232257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18" name="Text 15"/>
          <p:cNvSpPr/>
          <p:nvPr/>
        </p:nvSpPr>
        <p:spPr>
          <a:xfrm>
            <a:off x="7155180" y="2263140"/>
            <a:ext cx="3817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booleana_basica.py</a:t>
            </a:r>
            <a:endParaRPr lang="en-US" sz="105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2249424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533388" y="2788920"/>
            <a:ext cx="4732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3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AND(x, y): </a:t>
            </a:r>
            <a:r>
              <a:rPr lang="en-US" sz="13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r>
              <a:rPr lang="en-US" sz="13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&amp; y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533388" y="3154680"/>
            <a:ext cx="4732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3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OR(x, y):  </a:t>
            </a:r>
            <a:r>
              <a:rPr lang="en-US" sz="13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r>
              <a:rPr lang="en-US" sz="13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| y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533388" y="3520440"/>
            <a:ext cx="4732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3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NOT(x):    </a:t>
            </a:r>
            <a:r>
              <a:rPr lang="en-US" sz="13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r>
              <a:rPr lang="en-US" sz="13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1 - x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40080" y="4297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, | e ~ são operadores bit a bit — funcionam igual nas duas linguagens porque x e y valem só 0 ou 1.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GERAR AS COMBINAÇÕES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 combinação de 0 e 1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ideia da Aula 05, agora devolvendo inteiros em vez de booleanos.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80660" cy="3931920"/>
          </a:xfrm>
          <a:prstGeom prst="roundRect">
            <a:avLst>
              <a:gd name="adj" fmla="val 3256"/>
            </a:avLst>
          </a:prstGeom>
          <a:solidFill>
            <a:srgbClr val="232C63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18541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18541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</p:sp>
      <p:sp>
        <p:nvSpPr>
          <p:cNvPr id="8" name="Shape 6"/>
          <p:cNvSpPr/>
          <p:nvPr/>
        </p:nvSpPr>
        <p:spPr>
          <a:xfrm>
            <a:off x="1298448" y="218541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2125980"/>
            <a:ext cx="3817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Combinacoes.cs</a:t>
            </a:r>
            <a:endParaRPr lang="en-US" sz="10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820" y="2112264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32688" y="2651760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IEnumerable&lt;int[]&gt; </a:t>
            </a: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Combinacoes(int n)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32688" y="2962656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32688" y="3273552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</a:t>
            </a: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 i = 0; i &lt; (1 &lt;&lt; n); i++)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32688" y="3584448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32688" y="3895344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var v = </a:t>
            </a:r>
            <a:r>
              <a:rPr lang="en-US" sz="11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int[n];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32688" y="4206240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</a:t>
            </a: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 j = 0; j &lt; n; j++)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32688" y="4517136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v[j] = (i &gt;&gt; j) &amp; 1;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32688" y="4828032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yield return </a:t>
            </a: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v;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32688" y="5138928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32688" y="5449824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40780" y="1965960"/>
            <a:ext cx="5280660" cy="2377440"/>
          </a:xfrm>
          <a:prstGeom prst="roundRect">
            <a:avLst>
              <a:gd name="adj" fmla="val 5385"/>
            </a:avLst>
          </a:prstGeom>
          <a:solidFill>
            <a:srgbClr val="232C63"/>
          </a:solidFill>
          <a:ln/>
        </p:spPr>
      </p:sp>
      <p:sp>
        <p:nvSpPr>
          <p:cNvPr id="22" name="Shape 19"/>
          <p:cNvSpPr/>
          <p:nvPr/>
        </p:nvSpPr>
        <p:spPr>
          <a:xfrm>
            <a:off x="6496812" y="218541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23" name="Shape 20"/>
          <p:cNvSpPr/>
          <p:nvPr/>
        </p:nvSpPr>
        <p:spPr>
          <a:xfrm>
            <a:off x="6697980" y="218541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</p:sp>
      <p:sp>
        <p:nvSpPr>
          <p:cNvPr id="24" name="Shape 21"/>
          <p:cNvSpPr/>
          <p:nvPr/>
        </p:nvSpPr>
        <p:spPr>
          <a:xfrm>
            <a:off x="6899148" y="218541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25" name="Text 22"/>
          <p:cNvSpPr/>
          <p:nvPr/>
        </p:nvSpPr>
        <p:spPr>
          <a:xfrm>
            <a:off x="7155180" y="2125980"/>
            <a:ext cx="3817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combinacoes.py</a:t>
            </a:r>
            <a:endParaRPr lang="en-US" sz="105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2112264"/>
            <a:ext cx="274320" cy="27432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533388" y="2679192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itertools </a:t>
            </a:r>
            <a:r>
              <a:rPr lang="en-US" sz="11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6533388" y="3008376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6533388" y="3337560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valores </a:t>
            </a:r>
            <a:r>
              <a:rPr lang="en-US" sz="11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product((0, 1), repeat=n):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6533388" y="3666744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print(valores)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240780" y="4480560"/>
            <a:ext cx="52806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à Aula 05: cada número de 0 a 2ⁿ-1, em binário, já é uma combinação de 0/1.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TESTAR A SIMPLIFICAÇÃO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xy + xȳ simplifica para x?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Comparamos a fórmula original com a simplificada em todas as combinações.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80660" cy="3108960"/>
          </a:xfrm>
          <a:prstGeom prst="roundRect">
            <a:avLst>
              <a:gd name="adj" fmla="val 4118"/>
            </a:avLst>
          </a:prstGeom>
          <a:solidFill>
            <a:srgbClr val="232C63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18541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18541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</p:sp>
      <p:sp>
        <p:nvSpPr>
          <p:cNvPr id="8" name="Shape 6"/>
          <p:cNvSpPr/>
          <p:nvPr/>
        </p:nvSpPr>
        <p:spPr>
          <a:xfrm>
            <a:off x="1298448" y="218541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2125980"/>
            <a:ext cx="3817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TestandoSimplificacao.cs</a:t>
            </a:r>
            <a:endParaRPr lang="en-US" sz="10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820" y="2112264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32688" y="2606040"/>
            <a:ext cx="4732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int </a:t>
            </a: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Original(int x, int y) =&gt;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32688" y="2898648"/>
            <a:ext cx="4732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Or(And(x, y), And(x, Not(y)));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32688" y="3191256"/>
            <a:ext cx="4732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int </a:t>
            </a: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Simplificada(int x, int y) =&gt; x;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32688" y="3483864"/>
            <a:ext cx="4732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32688" y="3776472"/>
            <a:ext cx="4732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</a:t>
            </a: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(var x in new[] { 0, 1 })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32688" y="4069080"/>
            <a:ext cx="4732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foreach </a:t>
            </a: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(var y in new[] { 0, 1 })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932688" y="4361688"/>
            <a:ext cx="4732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Debug.Assert(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32688" y="4654296"/>
            <a:ext cx="4732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Original(x, y) == Simplificada(x, y));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40780" y="1965960"/>
            <a:ext cx="5280660" cy="3566160"/>
          </a:xfrm>
          <a:prstGeom prst="roundRect">
            <a:avLst>
              <a:gd name="adj" fmla="val 3590"/>
            </a:avLst>
          </a:prstGeom>
          <a:solidFill>
            <a:srgbClr val="232C63"/>
          </a:solidFill>
          <a:ln/>
        </p:spPr>
      </p:sp>
      <p:sp>
        <p:nvSpPr>
          <p:cNvPr id="20" name="Shape 17"/>
          <p:cNvSpPr/>
          <p:nvPr/>
        </p:nvSpPr>
        <p:spPr>
          <a:xfrm>
            <a:off x="6496812" y="218541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21" name="Shape 18"/>
          <p:cNvSpPr/>
          <p:nvPr/>
        </p:nvSpPr>
        <p:spPr>
          <a:xfrm>
            <a:off x="6697980" y="218541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</p:sp>
      <p:sp>
        <p:nvSpPr>
          <p:cNvPr id="22" name="Shape 19"/>
          <p:cNvSpPr/>
          <p:nvPr/>
        </p:nvSpPr>
        <p:spPr>
          <a:xfrm>
            <a:off x="6899148" y="218541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23" name="Text 20"/>
          <p:cNvSpPr/>
          <p:nvPr/>
        </p:nvSpPr>
        <p:spPr>
          <a:xfrm>
            <a:off x="7155180" y="2125980"/>
            <a:ext cx="3817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testando_simplificacao.py</a:t>
            </a:r>
            <a:endParaRPr lang="en-US" sz="105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2112264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533388" y="2606040"/>
            <a:ext cx="4732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original(x, y):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6533388" y="2898648"/>
            <a:ext cx="4732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OR(AND(x, y), AND(x, NOT(y)))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6533388" y="3191256"/>
            <a:ext cx="4732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simplificada(x, y):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6533388" y="3483864"/>
            <a:ext cx="4732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6533388" y="3776472"/>
            <a:ext cx="4732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6533388" y="4069080"/>
            <a:ext cx="4732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</a:t>
            </a:r>
            <a:r>
              <a:rPr lang="en-US" sz="10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 1):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6533388" y="4361688"/>
            <a:ext cx="4732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</a:t>
            </a: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</a:t>
            </a:r>
            <a:r>
              <a:rPr lang="en-US" sz="10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 1):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6533388" y="4654296"/>
            <a:ext cx="4732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assert </a:t>
            </a: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original(x, y) == simplificada(x, y)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6533388" y="4946904"/>
            <a:ext cx="4732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r>
              <a:rPr lang="en-US" sz="1050" dirty="0">
                <a:solidFill>
                  <a:srgbClr val="9F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"Simplificação confirmada!"</a:t>
            </a: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GENERALIZAR O TESTE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Testando equivalência automaticamente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função que serve para qualquer par de fórmulas, não só para esta.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80660" cy="3154680"/>
          </a:xfrm>
          <a:prstGeom prst="roundRect">
            <a:avLst>
              <a:gd name="adj" fmla="val 4058"/>
            </a:avLst>
          </a:prstGeom>
          <a:solidFill>
            <a:srgbClr val="232C63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18541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18541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</p:sp>
      <p:sp>
        <p:nvSpPr>
          <p:cNvPr id="8" name="Shape 6"/>
          <p:cNvSpPr/>
          <p:nvPr/>
        </p:nvSpPr>
        <p:spPr>
          <a:xfrm>
            <a:off x="1298448" y="218541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2125980"/>
            <a:ext cx="3817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Equivalentes.cs</a:t>
            </a:r>
            <a:endParaRPr lang="en-US" sz="10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820" y="2112264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32688" y="2606040"/>
            <a:ext cx="4732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bool </a:t>
            </a: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Equivalentes(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32688" y="2898648"/>
            <a:ext cx="4732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Func&lt;int[], int&gt; f,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32688" y="3191256"/>
            <a:ext cx="4732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Func&lt;int[], int&gt; g, int n) =&gt;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32688" y="3483864"/>
            <a:ext cx="4732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Combinacoes(n).All(v =&gt; f(v) == g(v));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32688" y="3776472"/>
            <a:ext cx="4732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32688" y="4069080"/>
            <a:ext cx="4732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Equivalentes(v =&gt; Original(v[0], v[1]),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932688" y="4361688"/>
            <a:ext cx="4732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 =&gt; Simplificada(v[0], v[1]), 2); </a:t>
            </a:r>
            <a:r>
              <a:rPr lang="en-US" sz="1050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240780" y="1965960"/>
            <a:ext cx="5280660" cy="2468880"/>
          </a:xfrm>
          <a:prstGeom prst="roundRect">
            <a:avLst>
              <a:gd name="adj" fmla="val 5185"/>
            </a:avLst>
          </a:prstGeom>
          <a:solidFill>
            <a:srgbClr val="232C63"/>
          </a:solidFill>
          <a:ln/>
        </p:spPr>
      </p:sp>
      <p:sp>
        <p:nvSpPr>
          <p:cNvPr id="19" name="Shape 16"/>
          <p:cNvSpPr/>
          <p:nvPr/>
        </p:nvSpPr>
        <p:spPr>
          <a:xfrm>
            <a:off x="6496812" y="218541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20" name="Shape 17"/>
          <p:cNvSpPr/>
          <p:nvPr/>
        </p:nvSpPr>
        <p:spPr>
          <a:xfrm>
            <a:off x="6697980" y="218541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</p:sp>
      <p:sp>
        <p:nvSpPr>
          <p:cNvPr id="21" name="Shape 18"/>
          <p:cNvSpPr/>
          <p:nvPr/>
        </p:nvSpPr>
        <p:spPr>
          <a:xfrm>
            <a:off x="6899148" y="218541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22" name="Text 19"/>
          <p:cNvSpPr/>
          <p:nvPr/>
        </p:nvSpPr>
        <p:spPr>
          <a:xfrm>
            <a:off x="7155180" y="2125980"/>
            <a:ext cx="3817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equivalentes.py</a:t>
            </a:r>
            <a:endParaRPr lang="en-US" sz="105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2112264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533388" y="2606040"/>
            <a:ext cx="4732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itertools </a:t>
            </a:r>
            <a:r>
              <a:rPr lang="en-US" sz="10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6533388" y="2898648"/>
            <a:ext cx="4732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equivalentes(f, g, n):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6533388" y="3191256"/>
            <a:ext cx="4732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all(f(*b) == g(*b) </a:t>
            </a:r>
            <a:r>
              <a:rPr lang="en-US" sz="10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</a:t>
            </a:r>
            <a:r>
              <a:rPr lang="en-US" sz="10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product((0, 1), repeat=n))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6533388" y="3483864"/>
            <a:ext cx="4732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6533388" y="3776472"/>
            <a:ext cx="4732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print(equivalentes(original, simplificada, 2))  </a:t>
            </a:r>
            <a:r>
              <a:rPr lang="en-US" sz="1050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6C4B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486400" cy="5486400"/>
          </a:xfrm>
          <a:prstGeom prst="ellipse">
            <a:avLst/>
          </a:prstGeom>
          <a:ln w="190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389120"/>
            <a:ext cx="3291840" cy="3291840"/>
          </a:xfrm>
          <a:prstGeom prst="ellipse">
            <a:avLst/>
          </a:prstGeom>
          <a:ln w="19050">
            <a:solidFill>
              <a:srgbClr val="2FE6C7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92928" y="1371600"/>
            <a:ext cx="1005840" cy="1005840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808" y="15544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27432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Hora de praticar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828800" y="36576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i="1" dirty="0">
                <a:solidFill>
                  <a:srgbClr val="E4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exercícios: tabela-verdade, simplificação, De Morgan e um desafio com NAND/NOR.</a:t>
            </a:r>
            <a:endParaRPr lang="en-US" sz="15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Tabela-verdade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a tabela-verdade de x̄ + xy (2 variáveis, 4 linhas). Compare com a tabela de p → q da Aula 04 — o que você percebe?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51760" y="2468880"/>
          <a:ext cx="685800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xy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x̄ + xy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i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i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i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i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i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i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i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i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3EBD5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EB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· EXERCÍCIO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Tabela-verdade</a:t>
            </a:r>
            <a:endParaRPr lang="en-US" sz="2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51760" y="1828800"/>
          <a:ext cx="6858000" cy="91440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xy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x̄ + xy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1463040" y="5074920"/>
            <a:ext cx="9235440" cy="914400"/>
          </a:xfrm>
          <a:prstGeom prst="roundRect">
            <a:avLst>
              <a:gd name="adj" fmla="val 12000"/>
            </a:avLst>
          </a:prstGeom>
          <a:solidFill>
            <a:srgbClr val="F3F1FB"/>
          </a:solidFill>
          <a:ln/>
        </p:spPr>
      </p:sp>
      <p:sp>
        <p:nvSpPr>
          <p:cNvPr id="8" name="Text 4"/>
          <p:cNvSpPr/>
          <p:nvPr/>
        </p:nvSpPr>
        <p:spPr>
          <a:xfrm>
            <a:off x="1783080" y="507492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x̄ + xy dá 1,0,1,1 — exatamente a tabela de p → q da Aula 04. Faz sentido: por distributiva dual, x̄+xy = (x̄+x)(x̄+y) = x̄+y, e x̄+y é a forma booleana de ¬p ∨ q.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Simplificando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Simplifique xy + xȳ + x̄y usando os teoremas. Dica: agrupe os dois primeiros termos primeiro.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194560" y="2514600"/>
            <a:ext cx="7772400" cy="960120"/>
          </a:xfrm>
          <a:prstGeom prst="roundRect">
            <a:avLst>
              <a:gd name="adj" fmla="val 11429"/>
            </a:avLst>
          </a:prstGeom>
          <a:solidFill>
            <a:srgbClr val="EDEAF7"/>
          </a:solidFill>
          <a:ln/>
        </p:spPr>
      </p:sp>
      <p:sp>
        <p:nvSpPr>
          <p:cNvPr id="8" name="Text 5"/>
          <p:cNvSpPr/>
          <p:nvPr/>
        </p:nvSpPr>
        <p:spPr>
          <a:xfrm>
            <a:off x="2194560" y="251460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xy + xȳ + x̄y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640080" y="393192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2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41148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FA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 (use os axiomas da tabela mestra):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45720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A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_______________________________________________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" y="50292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A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_______________________________________________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3EBD5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EB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· EXERCÍCIO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Simplificando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3F1FB"/>
          </a:solidFill>
          <a:ln/>
        </p:spPr>
      </p:sp>
      <p:sp>
        <p:nvSpPr>
          <p:cNvPr id="7" name="Shape 4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6C4BC1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00200" y="17830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(xy + xȳ) + x̄y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846320" y="178308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Agrupamos os dois primeiros termos, como sugerido.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269748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3F1FB"/>
          </a:solidFill>
          <a:ln/>
        </p:spPr>
      </p:sp>
      <p:sp>
        <p:nvSpPr>
          <p:cNvPr id="12" name="Shape 9"/>
          <p:cNvSpPr/>
          <p:nvPr/>
        </p:nvSpPr>
        <p:spPr>
          <a:xfrm>
            <a:off x="868680" y="2834640"/>
            <a:ext cx="502920" cy="502920"/>
          </a:xfrm>
          <a:prstGeom prst="ellipse">
            <a:avLst/>
          </a:prstGeom>
          <a:solidFill>
            <a:srgbClr val="6C4BC1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600200" y="26974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+ x̄y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846320" y="269748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 + xȳ = x, pelo exemplo "Fatorando um complemento".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361188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3F1FB"/>
          </a:solidFill>
          <a:ln/>
        </p:spPr>
      </p:sp>
      <p:sp>
        <p:nvSpPr>
          <p:cNvPr id="17" name="Shape 14"/>
          <p:cNvSpPr/>
          <p:nvPr/>
        </p:nvSpPr>
        <p:spPr>
          <a:xfrm>
            <a:off x="868680" y="3749040"/>
            <a:ext cx="502920" cy="502920"/>
          </a:xfrm>
          <a:prstGeom prst="ellipse">
            <a:avLst/>
          </a:prstGeom>
          <a:solidFill>
            <a:srgbClr val="6C4BC1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600200" y="36118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+ y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846320" y="361188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+ x̄y = x + y, pelo exemplo "Usando absorção".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0080" y="4617720"/>
            <a:ext cx="10881360" cy="1005840"/>
          </a:xfrm>
          <a:prstGeom prst="roundRect">
            <a:avLst>
              <a:gd name="adj" fmla="val 10909"/>
            </a:avLst>
          </a:prstGeom>
          <a:solidFill>
            <a:srgbClr val="141B41"/>
          </a:solidFill>
          <a:ln/>
        </p:spPr>
      </p:sp>
      <p:sp>
        <p:nvSpPr>
          <p:cNvPr id="22" name="Text 19"/>
          <p:cNvSpPr/>
          <p:nvPr/>
        </p:nvSpPr>
        <p:spPr>
          <a:xfrm>
            <a:off x="868680" y="46177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CB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Resultado: </a:t>
            </a:r>
            <a:r>
              <a:rPr lang="en-US" sz="1800" b="1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xy + xȳ + x̄y  =  x + y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Aplicando De Morgan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 Morgan para reescrever a expressão abaixo sem barra sobre grupos — só sobre literais isolados.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108960" y="2514600"/>
            <a:ext cx="5943600" cy="960120"/>
          </a:xfrm>
          <a:prstGeom prst="roundRect">
            <a:avLst>
              <a:gd name="adj" fmla="val 11429"/>
            </a:avLst>
          </a:prstGeom>
          <a:solidFill>
            <a:srgbClr val="EDEAF7"/>
          </a:solidFill>
          <a:ln/>
        </p:spPr>
      </p:sp>
      <p:sp>
        <p:nvSpPr>
          <p:cNvPr id="8" name="Text 5"/>
          <p:cNvSpPr/>
          <p:nvPr/>
        </p:nvSpPr>
        <p:spPr>
          <a:xfrm>
            <a:off x="3108960" y="251460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(xy + z)‾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640080" y="3840480"/>
            <a:ext cx="108813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2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40233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FA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 (dica: vai precisar aplicar De Morgan duas vezes):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44805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A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_______________________________________________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" y="49377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A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_______________________________________________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3EBD5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EB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· EXERCÍCIO 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Aplicando De Morgan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3F1FB"/>
          </a:solidFill>
          <a:ln/>
        </p:spPr>
      </p:sp>
      <p:sp>
        <p:nvSpPr>
          <p:cNvPr id="7" name="Shape 4"/>
          <p:cNvSpPr/>
          <p:nvPr/>
        </p:nvSpPr>
        <p:spPr>
          <a:xfrm>
            <a:off x="868680" y="1984248"/>
            <a:ext cx="502920" cy="502920"/>
          </a:xfrm>
          <a:prstGeom prst="ellipse">
            <a:avLst/>
          </a:prstGeom>
          <a:solidFill>
            <a:srgbClr val="6C4BC1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00200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(xy)‾ · z̄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5029200" y="178308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Morgan na soma externa: (A + z)‾ = Ā · z̄, com A = xy.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283464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3F1FB"/>
          </a:solidFill>
          <a:ln/>
        </p:spPr>
      </p:sp>
      <p:sp>
        <p:nvSpPr>
          <p:cNvPr id="12" name="Shape 9"/>
          <p:cNvSpPr/>
          <p:nvPr/>
        </p:nvSpPr>
        <p:spPr>
          <a:xfrm>
            <a:off x="868680" y="3035808"/>
            <a:ext cx="502920" cy="502920"/>
          </a:xfrm>
          <a:prstGeom prst="ellipse">
            <a:avLst/>
          </a:prstGeom>
          <a:solidFill>
            <a:srgbClr val="6C4BC1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600200" y="28346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(x̄ + ȳ) · z̄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5029200" y="283464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Morgan de novo, agora em (xy)‾ = x̄ + ȳ. Bar só sobre literais.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3977640"/>
            <a:ext cx="10881360" cy="1005840"/>
          </a:xfrm>
          <a:prstGeom prst="roundRect">
            <a:avLst>
              <a:gd name="adj" fmla="val 10909"/>
            </a:avLst>
          </a:prstGeom>
          <a:solidFill>
            <a:srgbClr val="141B41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39776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7CB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Resultado: </a:t>
            </a:r>
            <a:r>
              <a:rPr lang="en-US" sz="1700" b="1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(xy + z)‾  =  (x̄ + ȳ) · z̄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89611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4 · DESAFIO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NAND, NOR e De Morgan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 NAND(x, y) e NOR(x, y) em Python (e C#) e use equivalentes / Equivalentes para confirmar que NAND(x, y) = x̄ + ȳ e NOR(x, y) = x̄ · ȳ.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828800" y="2606040"/>
            <a:ext cx="8503920" cy="777240"/>
          </a:xfrm>
          <a:prstGeom prst="roundRect">
            <a:avLst>
              <a:gd name="adj" fmla="val 14118"/>
            </a:avLst>
          </a:prstGeom>
          <a:solidFill>
            <a:srgbClr val="232C63"/>
          </a:solidFill>
          <a:ln w="12700">
            <a:solidFill>
              <a:srgbClr val="4B52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103120" y="260604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NAND = NOT(AND(...)) e NOR = NOT(OR(...)) — os nomes já dizem o que fazer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611880"/>
            <a:ext cx="10881360" cy="2286000"/>
          </a:xfrm>
          <a:prstGeom prst="roundRect">
            <a:avLst>
              <a:gd name="adj" fmla="val 4000"/>
            </a:avLst>
          </a:prstGeom>
          <a:solidFill>
            <a:srgbClr val="232C63"/>
          </a:solidFill>
          <a:ln/>
        </p:spPr>
      </p:sp>
      <p:sp>
        <p:nvSpPr>
          <p:cNvPr id="10" name="Shape 7"/>
          <p:cNvSpPr/>
          <p:nvPr/>
        </p:nvSpPr>
        <p:spPr>
          <a:xfrm>
            <a:off x="896112" y="383133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11" name="Shape 8"/>
          <p:cNvSpPr/>
          <p:nvPr/>
        </p:nvSpPr>
        <p:spPr>
          <a:xfrm>
            <a:off x="1097280" y="383133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</p:sp>
      <p:sp>
        <p:nvSpPr>
          <p:cNvPr id="12" name="Shape 9"/>
          <p:cNvSpPr/>
          <p:nvPr/>
        </p:nvSpPr>
        <p:spPr>
          <a:xfrm>
            <a:off x="1298448" y="383133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13" name="Text 10"/>
          <p:cNvSpPr/>
          <p:nvPr/>
        </p:nvSpPr>
        <p:spPr>
          <a:xfrm>
            <a:off x="1554480" y="3794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nand_nor.py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14400" y="42062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5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NAND(x, y): </a:t>
            </a:r>
            <a:r>
              <a:rPr lang="en-US" sz="15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r>
              <a:rPr lang="en-US" sz="1500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____________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14400" y="46177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5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NOR(x, y):  </a:t>
            </a:r>
            <a:r>
              <a:rPr lang="en-US" sz="15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r>
              <a:rPr lang="en-US" sz="1500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____________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14400" y="516636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Teste: equivalentes(lambda x,y: NAND(x,y), lambda x,y: OR(NOT(x),NOT(y)), 2) deve dar True.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3EBD5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· EXERCÍCIO 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NAND, NOR e De Morgan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1737360"/>
            <a:ext cx="10881360" cy="1417320"/>
          </a:xfrm>
          <a:prstGeom prst="roundRect">
            <a:avLst>
              <a:gd name="adj" fmla="val 9032"/>
            </a:avLst>
          </a:prstGeom>
          <a:solidFill>
            <a:srgbClr val="232C63"/>
          </a:solidFill>
          <a:ln/>
        </p:spPr>
      </p:sp>
      <p:sp>
        <p:nvSpPr>
          <p:cNvPr id="7" name="Shape 4"/>
          <p:cNvSpPr/>
          <p:nvPr/>
        </p:nvSpPr>
        <p:spPr>
          <a:xfrm>
            <a:off x="896112" y="195681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8" name="Shape 5"/>
          <p:cNvSpPr/>
          <p:nvPr/>
        </p:nvSpPr>
        <p:spPr>
          <a:xfrm>
            <a:off x="1097280" y="195681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</p:sp>
      <p:sp>
        <p:nvSpPr>
          <p:cNvPr id="9" name="Shape 6"/>
          <p:cNvSpPr/>
          <p:nvPr/>
        </p:nvSpPr>
        <p:spPr>
          <a:xfrm>
            <a:off x="1298448" y="195681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10" name="Text 7"/>
          <p:cNvSpPr/>
          <p:nvPr/>
        </p:nvSpPr>
        <p:spPr>
          <a:xfrm>
            <a:off x="1554480" y="1897380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nand_nor.py</a:t>
            </a:r>
            <a:endParaRPr lang="en-US" sz="10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188366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32688" y="239572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3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NAND(x, y): </a:t>
            </a:r>
            <a:r>
              <a:rPr lang="en-US" sz="13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r>
              <a:rPr lang="en-US" sz="13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NOT(AND(x, y))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32688" y="276148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3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NOR(x, y):  </a:t>
            </a:r>
            <a:r>
              <a:rPr lang="en-US" sz="13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r>
              <a:rPr lang="en-US" sz="13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NOT(OR(x, y))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0080" y="3291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EB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Equivalente em C#:  static int Nand(int x, int y) =&gt; Not(And(x, y));  (e Nor análogo)</a:t>
            </a:r>
            <a:endParaRPr lang="en-US" sz="11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3749040"/>
          <a:ext cx="5029200" cy="914400"/>
        </p:xfrm>
        <a:graphic>
          <a:graphicData uri="http://schemas.openxmlformats.org/drawingml/2006/table">
            <a:tbl>
              <a:tblPr/>
              <a:tblGrid>
                <a:gridCol w="125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NAND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x̄+ȳ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 11"/>
          <p:cNvSpPr/>
          <p:nvPr/>
        </p:nvSpPr>
        <p:spPr>
          <a:xfrm>
            <a:off x="640080" y="5852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 Morgan, NAND(x,y) = (xy)‾ = x̄+ȳ e, de forma análoga, NOR(x,y) = (x+y)‾ = x̄·ȳ.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DE ROTA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estamos no semestre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423160" y="3502152"/>
            <a:ext cx="7315200" cy="36576"/>
          </a:xfrm>
          <a:prstGeom prst="rect">
            <a:avLst/>
          </a:prstGeom>
          <a:solidFill>
            <a:srgbClr val="DAD5F0"/>
          </a:solidFill>
          <a:ln/>
        </p:spPr>
      </p:sp>
      <p:sp>
        <p:nvSpPr>
          <p:cNvPr id="5" name="Shape 3"/>
          <p:cNvSpPr/>
          <p:nvPr/>
        </p:nvSpPr>
        <p:spPr>
          <a:xfrm>
            <a:off x="1691640" y="3108960"/>
            <a:ext cx="822960" cy="822960"/>
          </a:xfrm>
          <a:prstGeom prst="ellipse">
            <a:avLst/>
          </a:prstGeom>
          <a:solidFill>
            <a:srgbClr val="B8AEE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2461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4069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4389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das tabelas-verdade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367528" y="228600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2FE6C7"/>
          </a:solidFill>
          <a:ln/>
        </p:spPr>
      </p:sp>
      <p:sp>
        <p:nvSpPr>
          <p:cNvPr id="10" name="Text 7"/>
          <p:cNvSpPr/>
          <p:nvPr/>
        </p:nvSpPr>
        <p:spPr>
          <a:xfrm>
            <a:off x="5367528" y="22860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ESTÁ AQUI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504688" y="2926080"/>
            <a:ext cx="1188720" cy="118872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6712" y="3118104"/>
            <a:ext cx="804672" cy="8046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01768" y="4206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727448" y="4526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Álgebra Booleana — Parte 1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9189720" y="310896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C4BC1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0032" y="331927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4069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07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955280" y="4389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Álgebra Booleana — Parte 2 (circuitos)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dos axiomas e da simplificação, a Aula 07 mostra onde tudo isso vira circuito de verdade.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IR ALÉM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Livros — teoria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538728" cy="4023360"/>
          </a:xfrm>
          <a:prstGeom prst="roundRect">
            <a:avLst>
              <a:gd name="adj" fmla="val 3101"/>
            </a:avLst>
          </a:prstGeom>
          <a:solidFill>
            <a:srgbClr val="F3F1FB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313432"/>
            <a:ext cx="475488" cy="47548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459736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2898648"/>
            <a:ext cx="3026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ROSEN, K. H.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96112" y="3611880"/>
            <a:ext cx="30266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Discreta e suas Aplicações. 7. ed. AMGH/McGraw-Hill — cap. Álgebra Booleana.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79976" y="2057400"/>
            <a:ext cx="3538728" cy="4023360"/>
          </a:xfrm>
          <a:prstGeom prst="roundRect">
            <a:avLst>
              <a:gd name="adj" fmla="val 3101"/>
            </a:avLst>
          </a:prstGeom>
          <a:solidFill>
            <a:srgbClr val="F3F1FB"/>
          </a:solidFill>
          <a:ln/>
        </p:spPr>
      </p:sp>
      <p:sp>
        <p:nvSpPr>
          <p:cNvPr id="11" name="Shape 8"/>
          <p:cNvSpPr/>
          <p:nvPr/>
        </p:nvSpPr>
        <p:spPr>
          <a:xfrm>
            <a:off x="4636008" y="2313432"/>
            <a:ext cx="475488" cy="47548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12" y="2459736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36008" y="2898648"/>
            <a:ext cx="3026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GERSTING, J. L.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636008" y="3611880"/>
            <a:ext cx="30266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Matemáticos para a Ciência da Computação. LTC — cap. Álgebra de Boole e Computação.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19872" y="2057400"/>
            <a:ext cx="3538728" cy="4023360"/>
          </a:xfrm>
          <a:prstGeom prst="roundRect">
            <a:avLst>
              <a:gd name="adj" fmla="val 3101"/>
            </a:avLst>
          </a:prstGeom>
          <a:solidFill>
            <a:srgbClr val="F3F1FB"/>
          </a:solidFill>
          <a:ln/>
        </p:spPr>
      </p:sp>
      <p:sp>
        <p:nvSpPr>
          <p:cNvPr id="16" name="Shape 12"/>
          <p:cNvSpPr/>
          <p:nvPr/>
        </p:nvSpPr>
        <p:spPr>
          <a:xfrm>
            <a:off x="8375904" y="2313432"/>
            <a:ext cx="475488" cy="47548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2459736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75904" y="2898648"/>
            <a:ext cx="3026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IDOETA, I. V.; CAPUANO, F. G.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375904" y="3611880"/>
            <a:ext cx="30266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de Eletrônica Digital. Érica — cap. Álgebra de Boole e simplificação.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IR ALÉM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Documentação e vídeos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4251960"/>
          </a:xfrm>
          <a:prstGeom prst="roundRect">
            <a:avLst>
              <a:gd name="adj" fmla="val 2581"/>
            </a:avLst>
          </a:prstGeom>
          <a:solidFill>
            <a:srgbClr val="F3F1FB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1947672"/>
            <a:ext cx="475488" cy="47548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093976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532888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operadores bit a bit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96112" y="2971800"/>
            <a:ext cx="474573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250" u="sng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&amp;, | e ~ (bitwise operations)</a:t>
            </a:r>
            <a:r>
              <a:rPr lang="en-US" sz="12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base de AND, OR e NOT sobre 0/1.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257800" cy="4251960"/>
          </a:xfrm>
          <a:prstGeom prst="roundRect">
            <a:avLst>
              <a:gd name="adj" fmla="val 2581"/>
            </a:avLst>
          </a:prstGeom>
          <a:solidFill>
            <a:srgbClr val="F3F1FB"/>
          </a:solidFill>
          <a:ln/>
        </p:spPr>
      </p:sp>
      <p:sp>
        <p:nvSpPr>
          <p:cNvPr id="10" name="Shape 7"/>
          <p:cNvSpPr/>
          <p:nvPr/>
        </p:nvSpPr>
        <p:spPr>
          <a:xfrm>
            <a:off x="6519672" y="1947672"/>
            <a:ext cx="475488" cy="47548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976" y="2093976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19672" y="2532888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519672" y="2971800"/>
            <a:ext cx="474573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250" u="sng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Álgebra booleana — axiomas e simplificação</a:t>
            </a:r>
            <a:r>
              <a:rPr lang="en-US" sz="12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passo a passo.</a:t>
            </a:r>
            <a:endParaRPr lang="en-US" sz="1250" dirty="0"/>
          </a:p>
          <a:p>
            <a:pPr marL="0" indent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250" u="sng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Teorema do consenso</a:t>
            </a:r>
            <a:r>
              <a:rPr lang="en-US" sz="12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simplificação booleana avançada.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ln w="19050">
            <a:solidFill>
              <a:srgbClr val="6C4BC1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4206240"/>
            <a:ext cx="3840480" cy="3840480"/>
          </a:xfrm>
          <a:prstGeom prst="ellipse">
            <a:avLst/>
          </a:prstGeom>
          <a:ln w="19050">
            <a:solidFill>
              <a:srgbClr val="2FE6C7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51560"/>
            <a:ext cx="777240" cy="777240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1887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1704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PARADA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600200" y="1463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Álgebra Booleana e suas Aplicações — Parte 2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6060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axiomas no papel</a:t>
            </a:r>
            <a:endParaRPr lang="en-US" sz="3200" dirty="0"/>
          </a:p>
          <a:p>
            <a:pPr marL="0" indent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portas lógicas de verdade.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40080" y="41605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a tabela de axiomas e o teorema do consenso — é exatamente o que vamos usar para desenhar circuitos com menos peças.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kern="0" spc="100" dirty="0">
                <a:solidFill>
                  <a:srgbClr val="6F7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Computacional Aplicada  ·  Aula 06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3683</Words>
  <Application>Microsoft Office PowerPoint</Application>
  <PresentationFormat>Widescreen</PresentationFormat>
  <Paragraphs>599</Paragraphs>
  <Slides>33</Slides>
  <Notes>33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daniel</cp:lastModifiedBy>
  <cp:revision>1</cp:revision>
  <dcterms:created xsi:type="dcterms:W3CDTF">2026-08-05T12:21:19Z</dcterms:created>
  <dcterms:modified xsi:type="dcterms:W3CDTF">2026-08-13T19:42:27Z</dcterms:modified>
</cp:coreProperties>
</file>