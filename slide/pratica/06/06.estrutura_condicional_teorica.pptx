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media/image13.jpg" ContentType="image/png"/>
  <Override PartName="/ppt/media/image27.jpg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90"/>
  </p:notesMasterIdLst>
  <p:handoutMasterIdLst>
    <p:handoutMasterId r:id="rId91"/>
  </p:handoutMasterIdLst>
  <p:sldIdLst>
    <p:sldId id="256" r:id="rId5"/>
    <p:sldId id="280" r:id="rId6"/>
    <p:sldId id="360" r:id="rId7"/>
    <p:sldId id="281" r:id="rId8"/>
    <p:sldId id="324" r:id="rId9"/>
    <p:sldId id="282" r:id="rId10"/>
    <p:sldId id="283" r:id="rId11"/>
    <p:sldId id="284" r:id="rId12"/>
    <p:sldId id="286" r:id="rId13"/>
    <p:sldId id="352" r:id="rId14"/>
    <p:sldId id="287" r:id="rId15"/>
    <p:sldId id="353" r:id="rId16"/>
    <p:sldId id="289" r:id="rId17"/>
    <p:sldId id="326" r:id="rId18"/>
    <p:sldId id="290" r:id="rId19"/>
    <p:sldId id="291" r:id="rId20"/>
    <p:sldId id="293" r:id="rId21"/>
    <p:sldId id="310" r:id="rId22"/>
    <p:sldId id="294" r:id="rId23"/>
    <p:sldId id="355" r:id="rId24"/>
    <p:sldId id="295" r:id="rId25"/>
    <p:sldId id="361" r:id="rId26"/>
    <p:sldId id="297" r:id="rId27"/>
    <p:sldId id="365" r:id="rId28"/>
    <p:sldId id="366" r:id="rId29"/>
    <p:sldId id="327" r:id="rId30"/>
    <p:sldId id="364" r:id="rId31"/>
    <p:sldId id="300" r:id="rId32"/>
    <p:sldId id="299" r:id="rId33"/>
    <p:sldId id="301" r:id="rId34"/>
    <p:sldId id="302" r:id="rId35"/>
    <p:sldId id="303" r:id="rId36"/>
    <p:sldId id="304" r:id="rId37"/>
    <p:sldId id="305" r:id="rId38"/>
    <p:sldId id="306" r:id="rId39"/>
    <p:sldId id="307" r:id="rId40"/>
    <p:sldId id="308" r:id="rId41"/>
    <p:sldId id="367" r:id="rId42"/>
    <p:sldId id="369" r:id="rId43"/>
    <p:sldId id="368" r:id="rId44"/>
    <p:sldId id="309" r:id="rId45"/>
    <p:sldId id="311" r:id="rId46"/>
    <p:sldId id="312" r:id="rId47"/>
    <p:sldId id="362" r:id="rId48"/>
    <p:sldId id="356" r:id="rId49"/>
    <p:sldId id="313" r:id="rId50"/>
    <p:sldId id="314" r:id="rId51"/>
    <p:sldId id="315" r:id="rId52"/>
    <p:sldId id="328" r:id="rId53"/>
    <p:sldId id="329" r:id="rId54"/>
    <p:sldId id="316" r:id="rId55"/>
    <p:sldId id="317" r:id="rId56"/>
    <p:sldId id="318" r:id="rId57"/>
    <p:sldId id="319" r:id="rId58"/>
    <p:sldId id="320" r:id="rId59"/>
    <p:sldId id="321" r:id="rId60"/>
    <p:sldId id="322" r:id="rId61"/>
    <p:sldId id="323" r:id="rId62"/>
    <p:sldId id="325" r:id="rId63"/>
    <p:sldId id="330" r:id="rId64"/>
    <p:sldId id="358" r:id="rId65"/>
    <p:sldId id="357" r:id="rId66"/>
    <p:sldId id="332" r:id="rId67"/>
    <p:sldId id="363" r:id="rId68"/>
    <p:sldId id="331" r:id="rId69"/>
    <p:sldId id="333" r:id="rId70"/>
    <p:sldId id="334" r:id="rId71"/>
    <p:sldId id="336" r:id="rId72"/>
    <p:sldId id="337" r:id="rId73"/>
    <p:sldId id="338" r:id="rId74"/>
    <p:sldId id="339" r:id="rId75"/>
    <p:sldId id="340" r:id="rId76"/>
    <p:sldId id="341" r:id="rId77"/>
    <p:sldId id="343" r:id="rId78"/>
    <p:sldId id="342" r:id="rId79"/>
    <p:sldId id="344" r:id="rId80"/>
    <p:sldId id="345" r:id="rId81"/>
    <p:sldId id="346" r:id="rId82"/>
    <p:sldId id="347" r:id="rId83"/>
    <p:sldId id="348" r:id="rId84"/>
    <p:sldId id="349" r:id="rId85"/>
    <p:sldId id="350" r:id="rId86"/>
    <p:sldId id="351" r:id="rId87"/>
    <p:sldId id="359" r:id="rId88"/>
    <p:sldId id="335" r:id="rId89"/>
  </p:sldIdLst>
  <p:sldSz cx="12192000" cy="6858000"/>
  <p:notesSz cx="6858000" cy="9144000"/>
  <p:defaultTextStyle>
    <a:defPPr rtl="0">
      <a:defRPr lang="pt-br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9" d="100"/>
          <a:sy n="99" d="100"/>
        </p:scale>
        <p:origin x="3570" y="6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notesMaster" Target="notesMasters/notesMaster1.xml"/><Relationship Id="rId95" Type="http://schemas.openxmlformats.org/officeDocument/2006/relationships/tableStyles" Target="tableStyle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viewProps" Target="viewProp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9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presProps" Target="presProps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7777D35-62E0-4ADA-A544-0FF8CE93EFA3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B53ADFC-ABB8-401A-BB24-33FDAFEDCEBD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273324930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F727BD-530A-46F6-89AA-0169182CFF12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4" name="Espaço Reservado para Imagem do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pt-BR" noProof="1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B725628-3A68-42F4-BA86-981817953149}" type="slidenum">
              <a:rPr lang="pt-BR" noProof="1" dirty="0" smtClean="0"/>
              <a:t>‹nº›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64925861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o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4B725628-3A68-42F4-BA86-981817953149}" type="slidenum">
              <a:rPr lang="pt-BR" noProof="1" smtClean="0"/>
              <a:t>1</a:t>
            </a:fld>
            <a:endParaRPr lang="pt-BR" noProof="1"/>
          </a:p>
        </p:txBody>
      </p:sp>
    </p:spTree>
    <p:extLst>
      <p:ext uri="{BB962C8B-B14F-4D97-AF65-F5344CB8AC3E}">
        <p14:creationId xmlns:p14="http://schemas.microsoft.com/office/powerpoint/2010/main" val="38592577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pPr rtl="0"/>
            <a:r>
              <a:rPr lang="pt-BR" noProof="1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 algn="l">
              <a:defRPr/>
            </a:lvl1pPr>
          </a:lstStyle>
          <a:p>
            <a:pPr rtl="0"/>
            <a:fld id="{58BA592B-0EA4-40D4-A1E4-71971A215A20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/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1AEA189-6A12-46BC-8D40-4AE493F46DA7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7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b="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8610600" y="4960137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49CDA04-3929-4D47-933D-1E3D28969575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is Conteúd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1024128" y="585216"/>
            <a:ext cx="9720072" cy="1499616"/>
          </a:xfrm>
        </p:spPr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 hasCustomPrompt="1"/>
          </p:nvPr>
        </p:nvSpPr>
        <p:spPr>
          <a:xfrm>
            <a:off x="1024127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5989320" y="2286000"/>
            <a:ext cx="4754880" cy="4023360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77F04DB-A7C8-4A03-A390-FF466E07A079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 hasCustomPrompt="1"/>
          </p:nvPr>
        </p:nvSpPr>
        <p:spPr>
          <a:xfrm>
            <a:off x="102412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 hasCustomPrompt="1"/>
          </p:nvPr>
        </p:nvSpPr>
        <p:spPr>
          <a:xfrm>
            <a:off x="102412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 hasCustomPrompt="1"/>
          </p:nvPr>
        </p:nvSpPr>
        <p:spPr>
          <a:xfrm>
            <a:off x="5990888" y="2179636"/>
            <a:ext cx="4754880" cy="822960"/>
          </a:xfrm>
        </p:spPr>
        <p:txBody>
          <a:bodyPr lIns="137160" rIns="137160" rtlCol="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pt-BR" noProof="1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 hasCustomPrompt="1"/>
          </p:nvPr>
        </p:nvSpPr>
        <p:spPr>
          <a:xfrm>
            <a:off x="5990888" y="2967788"/>
            <a:ext cx="4754880" cy="3341572"/>
          </a:xfrm>
        </p:spPr>
        <p:txBody>
          <a:bodyPr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4B593EC-2F08-44C6-ABE6-DDD998346E60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9" name="Espaço Reservado para o Número do Slide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5DED-087C-4044-A01E-71A37BA13494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5" name="Espaço Reservado para o Número do Slide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08423E9-1DB6-4230-88B5-F7BE0B79B8DA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4" name="Espaço reservado para o número do slide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ítulo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 rtlCol="0"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pPr rtl="0"/>
            <a:r>
              <a:rPr lang="pt-BR" noProof="1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5715000" y="822960"/>
            <a:ext cx="5678424" cy="5184648"/>
          </a:xfrm>
        </p:spPr>
        <p:txBody>
          <a:bodyPr rtlCol="0"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1024128" y="2257506"/>
            <a:ext cx="4389120" cy="3762294"/>
          </a:xfrm>
        </p:spPr>
        <p:txBody>
          <a:bodyPr lIns="91440" rIns="91440" rtlCol="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8E18BF6-C54B-4774-B74E-64B13634CEBD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4960138"/>
            <a:ext cx="7772400" cy="1463040"/>
          </a:xfrm>
        </p:spPr>
        <p:txBody>
          <a:bodyPr rtlCol="0" anchor="ctr">
            <a:normAutofit/>
          </a:bodyPr>
          <a:lstStyle>
            <a:lvl1pPr algn="r">
              <a:defRPr sz="5000" spc="200" baseline="0"/>
            </a:lvl1pPr>
          </a:lstStyle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Imagem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pt-BR" noProof="1"/>
              <a:t>Clique no ícone para adicionar uma imagem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 hasCustomPrompt="1"/>
          </p:nvPr>
        </p:nvSpPr>
        <p:spPr>
          <a:xfrm>
            <a:off x="8610600" y="4960138"/>
            <a:ext cx="3200400" cy="1463040"/>
          </a:xfrm>
        </p:spPr>
        <p:txBody>
          <a:bodyPr lIns="91440" rIns="91440" rtlCol="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1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366459E-9F7E-4AD8-ABE1-A057363D4744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867E5644-1E61-4311-A31E-84CB9C7AA8A9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8" name="Conector Reto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5D014EE-1076-4685-AE78-7B1C143CD568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 hasCustomPrompt="1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 rtlCol="0"/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990601" y="762000"/>
            <a:ext cx="7581900" cy="5410200"/>
          </a:xfrm>
        </p:spPr>
        <p:txBody>
          <a:bodyPr vert="eaVert" rtlCol="0"/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7238825-B43B-4B14-B624-1C85BDF721B5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pt-BR" noProof="1" dirty="0" smtClean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pt-BR" noProof="1"/>
              <a:t>Clique para editar o estilo de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 rtl="0"/>
            <a:r>
              <a:rPr lang="pt-BR" noProof="1"/>
              <a:t>Clique para editar o texto Mestre</a:t>
            </a:r>
          </a:p>
          <a:p>
            <a:pPr lvl="1" rtl="0"/>
            <a:r>
              <a:rPr lang="pt-BR" noProof="1"/>
              <a:t>Segundo nível</a:t>
            </a:r>
          </a:p>
          <a:p>
            <a:pPr lvl="2" rtl="0"/>
            <a:r>
              <a:rPr lang="pt-BR" noProof="1"/>
              <a:t>Terceiro nível</a:t>
            </a:r>
          </a:p>
          <a:p>
            <a:pPr lvl="3" rtl="0"/>
            <a:r>
              <a:rPr lang="pt-BR" noProof="1"/>
              <a:t>Quarto nível</a:t>
            </a:r>
          </a:p>
          <a:p>
            <a:pPr lvl="4" rtl="0"/>
            <a:r>
              <a:rPr lang="pt-BR" noProof="1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8071EC9B-CAF5-4D8C-962A-CE3A64DB1FC2}" type="datetime1">
              <a:rPr lang="pt-BR" noProof="1" smtClean="0"/>
              <a:t>10/09/2026</a:t>
            </a:fld>
            <a:endParaRPr lang="pt-BR" noProof="1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endParaRPr lang="pt-BR" noProof="1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pPr rtl="0"/>
            <a:fld id="{4FAB73BC-B049-4115-A692-8D63A059BFB8}" type="slidenum">
              <a:rPr lang="pt-BR" noProof="1" dirty="0" smtClean="0"/>
              <a:pPr rtl="0"/>
              <a:t>‹nº›</a:t>
            </a:fld>
            <a:endParaRPr lang="pt-BR" noProof="1"/>
          </a:p>
        </p:txBody>
      </p:sp>
      <p:cxnSp>
        <p:nvCxnSpPr>
          <p:cNvPr id="7" name="Conector reto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lite.acad.univali.br/portugol/" TargetMode="External"/><Relationship Id="rId2" Type="http://schemas.openxmlformats.org/officeDocument/2006/relationships/hyperlink" Target="https://portugol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github.com/UNIVALI-LITE/Portugol-Studio/releases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9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hyperlink" Target="mailto:daniel.h.paiva@ulife.com.b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tângulo 18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4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30BD1B1-AA22-48F1-B3ED-579CD28460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2444" b="-1"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21" name="Retângulo 20">
            <a:extLst>
              <a:ext uri="{FF2B5EF4-FFF2-40B4-BE49-F238E27FC236}">
                <a16:creationId xmlns:a16="http://schemas.microsoft.com/office/drawing/2014/main" id="{EAA48FC5-3C83-4F1B-BC33-DF0B588F83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96786" y="3064931"/>
            <a:ext cx="8295215" cy="2488568"/>
          </a:xfrm>
          <a:prstGeom prst="rect">
            <a:avLst/>
          </a:prstGeom>
          <a:solidFill>
            <a:srgbClr val="000001">
              <a:alpha val="7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E3D84FB-5D02-47D2-98FD-4F01A02E2A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309349" y="3429000"/>
            <a:ext cx="7501651" cy="1090938"/>
          </a:xfrm>
        </p:spPr>
        <p:txBody>
          <a:bodyPr rtlCol="0" anchor="b">
            <a:normAutofit/>
          </a:bodyPr>
          <a:lstStyle/>
          <a:p>
            <a:pPr algn="l"/>
            <a:r>
              <a:rPr lang="pt-BR" noProof="1">
                <a:solidFill>
                  <a:srgbClr val="FFFFFF"/>
                </a:solidFill>
              </a:rPr>
              <a:t>estrutura condicional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9F6641D-ADF3-40BD-9BA3-E740E77C88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93568" y="4706043"/>
            <a:ext cx="7501650" cy="920727"/>
          </a:xfrm>
        </p:spPr>
        <p:txBody>
          <a:bodyPr rtlCol="0" anchor="t">
            <a:normAutofit fontScale="85000" lnSpcReduction="20000"/>
          </a:bodyPr>
          <a:lstStyle/>
          <a:p>
            <a:pPr rtl="0"/>
            <a:r>
              <a:rPr lang="pt-BR" noProof="1">
                <a:solidFill>
                  <a:srgbClr val="FFFFFF"/>
                </a:solidFill>
              </a:rPr>
              <a:t>Matematica Computacional Aplicada</a:t>
            </a:r>
          </a:p>
          <a:p>
            <a:pPr rtl="0"/>
            <a:r>
              <a:rPr lang="pt-BR" noProof="1">
                <a:solidFill>
                  <a:srgbClr val="FFFFFF"/>
                </a:solidFill>
              </a:rPr>
              <a:t>Logica Computacional</a:t>
            </a:r>
          </a:p>
          <a:p>
            <a:pPr rtl="0"/>
            <a:r>
              <a:rPr lang="pt-BR" noProof="1">
                <a:solidFill>
                  <a:srgbClr val="FFFFFF"/>
                </a:solidFill>
              </a:rPr>
              <a:t>Algoritmos e Lógica</a:t>
            </a:r>
            <a:br>
              <a:rPr lang="pt-BR" noProof="1">
                <a:solidFill>
                  <a:srgbClr val="FFFFFF"/>
                </a:solidFill>
              </a:rPr>
            </a:br>
            <a:r>
              <a:rPr lang="pt-BR" noProof="1">
                <a:solidFill>
                  <a:srgbClr val="FFFFFF"/>
                </a:solidFill>
              </a:rPr>
              <a:t>Daniel Henrique Matos de Paiva</a:t>
            </a:r>
          </a:p>
        </p:txBody>
      </p:sp>
      <p:cxnSp>
        <p:nvCxnSpPr>
          <p:cNvPr id="23" name="Conector Reto 22">
            <a:extLst>
              <a:ext uri="{FF2B5EF4-FFF2-40B4-BE49-F238E27FC236}">
                <a16:creationId xmlns:a16="http://schemas.microsoft.com/office/drawing/2014/main" id="{62F01714-1A39-4194-BD47-8A9960C599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309349" y="4666480"/>
            <a:ext cx="6832499" cy="0"/>
          </a:xfrm>
          <a:prstGeom prst="line">
            <a:avLst/>
          </a:prstGeom>
          <a:ln w="22225">
            <a:solidFill>
              <a:srgbClr val="4AC4E3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D5D4B85A-CF2A-F3F1-A35F-75BEFCD98C4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310999" y="364444"/>
            <a:ext cx="1800000" cy="1800000"/>
          </a:xfrm>
          <a:prstGeom prst="rect">
            <a:avLst/>
          </a:prstGeom>
          <a:effectLst>
            <a:softEdge rad="317500"/>
          </a:effectLst>
        </p:spPr>
      </p:pic>
    </p:spTree>
    <p:extLst>
      <p:ext uri="{BB962C8B-B14F-4D97-AF65-F5344CB8AC3E}">
        <p14:creationId xmlns:p14="http://schemas.microsoft.com/office/powerpoint/2010/main" val="28062570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al historia; string sender; sender = &quot;Rodolfo Rios&quot;; Alonso: Cara, se um veículo estiver entrando no porto sem carga, ele pode gerar o documento? Programador: Sim. Alonso: E se estiver com carga? Programador: Também... (Pouco depois...) Alonso: Terminei. Dá uma olhada aí no código... if (VeiculoComCarga = true ||     VeiculoComCarga = false) {     gerarDocumentacao(); } Programador: PLOFT! -- Camiseta: if or !if">
            <a:extLst>
              <a:ext uri="{FF2B5EF4-FFF2-40B4-BE49-F238E27FC236}">
                <a16:creationId xmlns:a16="http://schemas.microsoft.com/office/drawing/2014/main" id="{5D106BEF-9930-19B9-172B-A152594283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7000" y="0"/>
            <a:ext cx="6858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520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Objetivo da aula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01330"/>
            <a:ext cx="10914830" cy="4236792"/>
          </a:xfrm>
        </p:spPr>
        <p:txBody>
          <a:bodyPr>
            <a:noAutofit/>
          </a:bodyPr>
          <a:lstStyle/>
          <a:p>
            <a:r>
              <a:rPr lang="pt-BR" sz="2500" dirty="0"/>
              <a:t>- Entender o que são </a:t>
            </a:r>
            <a:r>
              <a:rPr lang="pt-BR" sz="2500" b="1" dirty="0"/>
              <a:t>bibliotecas</a:t>
            </a:r>
          </a:p>
          <a:p>
            <a:r>
              <a:rPr lang="pt-BR" sz="2500" dirty="0"/>
              <a:t>- Como </a:t>
            </a:r>
            <a:r>
              <a:rPr lang="pt-BR" sz="2500" b="1" dirty="0"/>
              <a:t>importar</a:t>
            </a:r>
            <a:r>
              <a:rPr lang="pt-BR" sz="2500" dirty="0"/>
              <a:t> bibliotecas</a:t>
            </a:r>
          </a:p>
          <a:p>
            <a:r>
              <a:rPr lang="pt-BR" sz="2500" dirty="0"/>
              <a:t>- Entender o que são </a:t>
            </a:r>
            <a:r>
              <a:rPr lang="pt-BR" sz="2500" b="1" dirty="0"/>
              <a:t>estruturas condicionais </a:t>
            </a:r>
            <a:r>
              <a:rPr lang="pt-BR" sz="2500" dirty="0"/>
              <a:t>(estrutura de decisão)</a:t>
            </a:r>
          </a:p>
          <a:p>
            <a:r>
              <a:rPr lang="pt-BR" sz="2500" dirty="0"/>
              <a:t>- Entender negação</a:t>
            </a:r>
          </a:p>
          <a:p>
            <a:r>
              <a:rPr lang="pt-BR" sz="2500" dirty="0"/>
              <a:t>- Estruturas Condicionais: </a:t>
            </a:r>
            <a:r>
              <a:rPr lang="pt-BR" sz="2500" b="1" dirty="0"/>
              <a:t>Se</a:t>
            </a:r>
            <a:r>
              <a:rPr lang="pt-BR" sz="2500" dirty="0"/>
              <a:t> (simples) </a:t>
            </a:r>
            <a:r>
              <a:rPr lang="pt-BR" sz="2500" b="1" dirty="0"/>
              <a:t>Se Senão </a:t>
            </a:r>
            <a:r>
              <a:rPr lang="pt-BR" sz="2500" dirty="0"/>
              <a:t>(composta) </a:t>
            </a:r>
            <a:r>
              <a:rPr lang="pt-BR" sz="2500" b="1" dirty="0"/>
              <a:t>Encadeado </a:t>
            </a:r>
            <a:r>
              <a:rPr lang="pt-BR" sz="2500" dirty="0"/>
              <a:t>(aninhado)</a:t>
            </a:r>
            <a:endParaRPr lang="pt-BR" sz="2500" b="1" dirty="0"/>
          </a:p>
          <a:p>
            <a:r>
              <a:rPr lang="pt-BR" sz="2500" dirty="0"/>
              <a:t>- Realizar algoritmos em sala para compreensão e abordagem do assunto</a:t>
            </a:r>
          </a:p>
          <a:p>
            <a:r>
              <a:rPr lang="pt-BR" sz="2500" dirty="0"/>
              <a:t>- Deixar exercícios para realização pós-aula</a:t>
            </a:r>
          </a:p>
        </p:txBody>
      </p:sp>
    </p:spTree>
    <p:extLst>
      <p:ext uri="{BB962C8B-B14F-4D97-AF65-F5344CB8AC3E}">
        <p14:creationId xmlns:p14="http://schemas.microsoft.com/office/powerpoint/2010/main" val="413007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pt-BR" sz="3000" dirty="0"/>
              <a:t>- </a:t>
            </a:r>
            <a:r>
              <a:rPr lang="pt-BR" sz="3000" dirty="0" err="1"/>
              <a:t>Portugol</a:t>
            </a:r>
            <a:r>
              <a:rPr lang="pt-BR" sz="3000" dirty="0"/>
              <a:t> Studio</a:t>
            </a:r>
          </a:p>
          <a:p>
            <a:r>
              <a:rPr lang="pt-BR" sz="3000" dirty="0"/>
              <a:t>Versão Web: </a:t>
            </a:r>
            <a:r>
              <a:rPr lang="pt-BR" sz="3000" dirty="0">
                <a:hlinkClick r:id="rId2"/>
              </a:rPr>
              <a:t>https://portugol.dev/</a:t>
            </a:r>
            <a:endParaRPr lang="pt-BR" sz="3000" dirty="0"/>
          </a:p>
          <a:p>
            <a:r>
              <a:rPr lang="pt-BR" sz="3000" dirty="0"/>
              <a:t>Link para download:</a:t>
            </a:r>
          </a:p>
          <a:p>
            <a:r>
              <a:rPr lang="pt-BR" sz="3000" dirty="0">
                <a:hlinkClick r:id="rId3"/>
              </a:rPr>
              <a:t>http://lite.acad.univali.br/portugol/</a:t>
            </a:r>
            <a:endParaRPr lang="pt-BR" sz="3000" dirty="0"/>
          </a:p>
          <a:p>
            <a:r>
              <a:rPr lang="pt-BR" sz="3000" dirty="0">
                <a:hlinkClick r:id="rId4"/>
              </a:rPr>
              <a:t>https://github.com/UNIVALI-LITE/Portugol-Studio/releases</a:t>
            </a:r>
            <a:endParaRPr lang="pt-BR" sz="3000" dirty="0"/>
          </a:p>
          <a:p>
            <a:pPr marL="0" indent="0">
              <a:buNone/>
            </a:pPr>
            <a:endParaRPr lang="pt-BR" sz="3000" b="1" dirty="0"/>
          </a:p>
          <a:p>
            <a:pPr marL="0" indent="0">
              <a:buNone/>
            </a:pPr>
            <a:r>
              <a:rPr lang="pt-BR" sz="3000" b="1" dirty="0"/>
              <a:t>Todos os exercícios podem ser feitos no caderno.</a:t>
            </a:r>
          </a:p>
          <a:p>
            <a:endParaRPr lang="pt-BR" sz="3000" dirty="0"/>
          </a:p>
        </p:txBody>
      </p:sp>
    </p:spTree>
    <p:extLst>
      <p:ext uri="{BB962C8B-B14F-4D97-AF65-F5344CB8AC3E}">
        <p14:creationId xmlns:p14="http://schemas.microsoft.com/office/powerpoint/2010/main" val="17988577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Vamos começar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2400" dirty="0"/>
              <a:t>“Programação é igual banho, tem que ser diário.”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8B0B250-5775-529C-095B-4825F57B35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2914" y="2758059"/>
            <a:ext cx="4762500" cy="3514725"/>
          </a:xfrm>
          <a:prstGeom prst="rect">
            <a:avLst/>
          </a:prstGeom>
          <a:effectLst>
            <a:softEdge rad="63500"/>
          </a:effectLst>
        </p:spPr>
      </p:pic>
    </p:spTree>
    <p:extLst>
      <p:ext uri="{BB962C8B-B14F-4D97-AF65-F5344CB8AC3E}">
        <p14:creationId xmlns:p14="http://schemas.microsoft.com/office/powerpoint/2010/main" val="39532572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uma biblioteca???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596488" y="1697433"/>
            <a:ext cx="4575351" cy="4575351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90029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definição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Na ciência da computação, </a:t>
            </a:r>
            <a:r>
              <a:rPr lang="pt-BR" sz="3500" b="1" dirty="0">
                <a:solidFill>
                  <a:srgbClr val="0070C0"/>
                </a:solidFill>
              </a:rPr>
              <a:t>biblioteca</a:t>
            </a:r>
            <a:r>
              <a:rPr lang="pt-BR" sz="3500" dirty="0"/>
              <a:t> ou </a:t>
            </a:r>
            <a:r>
              <a:rPr lang="pt-BR" sz="3500" b="1" dirty="0" err="1">
                <a:solidFill>
                  <a:srgbClr val="0070C0"/>
                </a:solidFill>
              </a:rPr>
              <a:t>library</a:t>
            </a:r>
            <a:r>
              <a:rPr lang="pt-BR" sz="3500" dirty="0"/>
              <a:t> é uma </a:t>
            </a:r>
            <a:r>
              <a:rPr lang="pt-BR" sz="3500" b="1" dirty="0">
                <a:solidFill>
                  <a:srgbClr val="0070C0"/>
                </a:solidFill>
              </a:rPr>
              <a:t>coleção de subprogramas</a:t>
            </a:r>
            <a:r>
              <a:rPr lang="pt-BR" sz="3500" dirty="0"/>
              <a:t> utilizados no desenvolvimento de software. </a:t>
            </a:r>
            <a:br>
              <a:rPr lang="pt-BR" sz="3500" dirty="0"/>
            </a:br>
            <a:r>
              <a:rPr lang="pt-BR" sz="3500" dirty="0"/>
              <a:t>Bibliotecas contém </a:t>
            </a:r>
            <a:r>
              <a:rPr lang="pt-BR" sz="3500" b="1" dirty="0">
                <a:solidFill>
                  <a:srgbClr val="0070C0"/>
                </a:solidFill>
              </a:rPr>
              <a:t>código</a:t>
            </a:r>
            <a:r>
              <a:rPr lang="pt-BR" sz="3500" dirty="0"/>
              <a:t> e </a:t>
            </a:r>
            <a:r>
              <a:rPr lang="pt-BR" sz="3500" b="1" dirty="0">
                <a:solidFill>
                  <a:srgbClr val="0070C0"/>
                </a:solidFill>
              </a:rPr>
              <a:t>dados auxiliares</a:t>
            </a:r>
            <a:r>
              <a:rPr lang="pt-BR" sz="3500" dirty="0"/>
              <a:t>, que provém serviços a programas independentes, o que </a:t>
            </a:r>
            <a:r>
              <a:rPr lang="pt-BR" sz="3500" b="1" dirty="0">
                <a:solidFill>
                  <a:srgbClr val="0070C0"/>
                </a:solidFill>
              </a:rPr>
              <a:t>permite o compartilhamento </a:t>
            </a:r>
            <a:r>
              <a:rPr lang="pt-BR" sz="3500" dirty="0"/>
              <a:t>e a </a:t>
            </a:r>
            <a:r>
              <a:rPr lang="pt-BR" sz="3500" b="1" dirty="0">
                <a:solidFill>
                  <a:srgbClr val="0070C0"/>
                </a:solidFill>
              </a:rPr>
              <a:t>alteração de código e dados de forma modular</a:t>
            </a:r>
            <a:r>
              <a:rPr lang="pt-BR" sz="35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870072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 biblioteca Pode possuir: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- Dados de Configurações</a:t>
            </a:r>
          </a:p>
          <a:p>
            <a:r>
              <a:rPr lang="pt-BR" sz="2400" dirty="0"/>
              <a:t>- Documentação</a:t>
            </a:r>
          </a:p>
          <a:p>
            <a:r>
              <a:rPr lang="pt-BR" sz="2400" dirty="0"/>
              <a:t>- Procedimentos</a:t>
            </a:r>
          </a:p>
          <a:p>
            <a:r>
              <a:rPr lang="pt-BR" sz="2400" dirty="0"/>
              <a:t>- Classes</a:t>
            </a:r>
          </a:p>
          <a:p>
            <a:r>
              <a:rPr lang="pt-BR" sz="2400" dirty="0"/>
              <a:t>- Funções</a:t>
            </a:r>
          </a:p>
          <a:p>
            <a:r>
              <a:rPr lang="pt-BR" sz="2400" dirty="0"/>
              <a:t>- </a:t>
            </a:r>
            <a:r>
              <a:rPr lang="pt-BR" sz="2400" dirty="0" err="1"/>
              <a:t>Templates</a:t>
            </a:r>
            <a:endParaRPr lang="pt-BR" sz="2400" dirty="0"/>
          </a:p>
          <a:p>
            <a:r>
              <a:rPr lang="pt-BR" sz="2400" dirty="0"/>
              <a:t>- Especificações de Tipos</a:t>
            </a:r>
          </a:p>
          <a:p>
            <a:r>
              <a:rPr lang="pt-BR" sz="2400" dirty="0"/>
              <a:t>Entre outros recursos.</a:t>
            </a:r>
          </a:p>
        </p:txBody>
      </p:sp>
    </p:spTree>
    <p:extLst>
      <p:ext uri="{BB962C8B-B14F-4D97-AF65-F5344CB8AC3E}">
        <p14:creationId xmlns:p14="http://schemas.microsoft.com/office/powerpoint/2010/main" val="1770194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na utilização de bibliotecas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dirty="0"/>
              <a:t>- Funções comuns são pré-definidas para programação modular;</a:t>
            </a:r>
          </a:p>
          <a:p>
            <a:r>
              <a:rPr lang="pt-BR" sz="3500" dirty="0"/>
              <a:t>- Rapidez no desenvolvimento da aplicação, pois podem ser usadas por vários programas distintos, mas que necessitem de funcionalidades similares.</a:t>
            </a:r>
          </a:p>
          <a:p>
            <a:r>
              <a:rPr lang="pt-BR" sz="3500" dirty="0"/>
              <a:t>Consequentemente, implementamos o reuso de código nas aplicações;</a:t>
            </a:r>
          </a:p>
        </p:txBody>
      </p:sp>
    </p:spTree>
    <p:extLst>
      <p:ext uri="{BB962C8B-B14F-4D97-AF65-F5344CB8AC3E}">
        <p14:creationId xmlns:p14="http://schemas.microsoft.com/office/powerpoint/2010/main" val="38211542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na utilização de bibliotecas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pt-BR" sz="3600" dirty="0"/>
              <a:t>- Com bibliotecas podemos escrever códigos menores e mais organizados, poupando tempo precioso no desenvolvimento e diminuindo a ocorrência de erros;</a:t>
            </a:r>
          </a:p>
          <a:p>
            <a:r>
              <a:rPr lang="pt-BR" sz="3600" dirty="0"/>
              <a:t>- Facilitam a atualização de funções do programa; </a:t>
            </a:r>
          </a:p>
          <a:p>
            <a:r>
              <a:rPr lang="pt-BR" sz="3600" dirty="0"/>
              <a:t>- Um programa passa a ser capaz de executar suas funções sem que seja necessário implementá-las no programa em si.</a:t>
            </a:r>
          </a:p>
        </p:txBody>
      </p:sp>
    </p:spTree>
    <p:extLst>
      <p:ext uri="{BB962C8B-B14F-4D97-AF65-F5344CB8AC3E}">
        <p14:creationId xmlns:p14="http://schemas.microsoft.com/office/powerpoint/2010/main" val="15615797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como usar uma biblioteca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500" dirty="0"/>
              <a:t>Para usar uma biblioteca, primeiramente </a:t>
            </a:r>
            <a:r>
              <a:rPr lang="pt-BR" sz="3500" b="1" dirty="0"/>
              <a:t>é preciso importá-la</a:t>
            </a:r>
            <a:r>
              <a:rPr lang="pt-BR" sz="3500" dirty="0"/>
              <a:t>, ou seja, declarar que desejamos </a:t>
            </a:r>
            <a:r>
              <a:rPr lang="pt-BR" sz="3500" b="1" dirty="0"/>
              <a:t>usar o código contido nela</a:t>
            </a:r>
            <a:r>
              <a:rPr lang="pt-BR" sz="3500" dirty="0"/>
              <a:t>. Para tal usamos a sintaxe:</a:t>
            </a:r>
          </a:p>
          <a:p>
            <a:endParaRPr lang="pt-BR" sz="3500" dirty="0"/>
          </a:p>
          <a:p>
            <a:r>
              <a:rPr lang="pt-BR" sz="2500" b="1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inclua biblioteca </a:t>
            </a:r>
            <a:r>
              <a:rPr lang="pt-BR" sz="2500" b="1" dirty="0" err="1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nome_biblioteca</a:t>
            </a:r>
            <a:r>
              <a:rPr lang="pt-BR" sz="2500" b="1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[</a:t>
            </a:r>
            <a:r>
              <a:rPr lang="pt-BR" sz="2500" b="1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  <a:sym typeface="Wingdings" panose="05000000000000000000" pitchFamily="2" charset="2"/>
              </a:rPr>
              <a:t> apelido]</a:t>
            </a:r>
          </a:p>
          <a:p>
            <a:endParaRPr lang="pt-BR" sz="350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7309215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de como usar uma biblioteca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3600" dirty="0"/>
              <a:t>A instrução inclua diz ao interpretador para usar o código da biblioteca informada, disponibilizando suas funcionalidades.</a:t>
            </a:r>
          </a:p>
          <a:p>
            <a:r>
              <a:rPr lang="pt-BR" sz="3600" dirty="0"/>
              <a:t>Podemos, opcionalmente, criar um apelido (‘alias’), que nada mais é que uma palavra abreviada para facilidade a escrita de código ao usar a biblioteca</a:t>
            </a:r>
            <a:r>
              <a:rPr lang="pt-BR" sz="3500" dirty="0">
                <a:sym typeface="Wingdings" panose="05000000000000000000" pitchFamily="2" charset="2"/>
              </a:rPr>
              <a:t>.</a:t>
            </a:r>
            <a:endParaRPr lang="pt-BR" sz="3600" dirty="0"/>
          </a:p>
        </p:txBody>
      </p:sp>
    </p:spTree>
    <p:extLst>
      <p:ext uri="{BB962C8B-B14F-4D97-AF65-F5344CB8AC3E}">
        <p14:creationId xmlns:p14="http://schemas.microsoft.com/office/powerpoint/2010/main" val="25354334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630E558-4C9B-ADF2-B405-9E61C14F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Biblioteca Portugal </a:t>
            </a:r>
            <a:r>
              <a:rPr lang="pt-BR" dirty="0" err="1"/>
              <a:t>studio</a:t>
            </a:r>
            <a:endParaRPr lang="pt-BR" dirty="0"/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954BFBBF-579A-D41C-9677-82673C9ABF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490" b="1249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858CFD6-06AF-61DF-3094-EED16606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81949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00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000" dirty="0"/>
              <a:t>Crie uma solução para calcular a raiz quadrada de um número real.</a:t>
            </a:r>
            <a:br>
              <a:rPr lang="pt-BR" sz="4000" dirty="0"/>
            </a:br>
            <a:r>
              <a:rPr lang="pt-BR" sz="4000" dirty="0"/>
              <a:t>Escreva no terminal o resultado da raiz.</a:t>
            </a:r>
            <a:br>
              <a:rPr lang="pt-BR" sz="4000" dirty="0"/>
            </a:br>
            <a:r>
              <a:rPr lang="pt-BR" sz="4000" dirty="0"/>
              <a:t>Para este exercício, importe a biblioteca matemática para o seu programa.</a:t>
            </a:r>
          </a:p>
        </p:txBody>
      </p:sp>
    </p:spTree>
    <p:extLst>
      <p:ext uri="{BB962C8B-B14F-4D97-AF65-F5344CB8AC3E}">
        <p14:creationId xmlns:p14="http://schemas.microsoft.com/office/powerpoint/2010/main" val="23657705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E6FE9149-3556-F3F6-7808-D9FCC776E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05993"/>
            <a:ext cx="12192000" cy="6246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53695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059100-FCC3-F627-FD07-6EBDB4918C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162" y="1819324"/>
            <a:ext cx="11941676" cy="3219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104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630E558-4C9B-ADF2-B405-9E61C14F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simples: SE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954BFBBF-579A-D41C-9677-82673C9ABF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490" b="1249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858CFD6-06AF-61DF-3094-EED16606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450796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(Desvio) condicional </a:t>
            </a:r>
            <a:r>
              <a:rPr lang="pt-BR" b="1" dirty="0"/>
              <a:t>se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3500" dirty="0"/>
              <a:t>Uma estrutura de decisão condicional é</a:t>
            </a:r>
          </a:p>
          <a:p>
            <a:pPr algn="ctr"/>
            <a:r>
              <a:rPr lang="pt-BR" sz="3500" dirty="0"/>
              <a:t>empregada para que uma tarefa ou ação seja</a:t>
            </a:r>
          </a:p>
          <a:p>
            <a:pPr algn="ctr"/>
            <a:r>
              <a:rPr lang="pt-BR" sz="3500" dirty="0"/>
              <a:t>executada </a:t>
            </a:r>
            <a:r>
              <a:rPr lang="pt-BR" sz="3500" b="1" dirty="0">
                <a:solidFill>
                  <a:srgbClr val="0070C0"/>
                </a:solidFill>
              </a:rPr>
              <a:t>dependendo de uma condição</a:t>
            </a:r>
          </a:p>
          <a:p>
            <a:pPr algn="ctr"/>
            <a:r>
              <a:rPr lang="pt-BR" sz="3500" b="1" dirty="0">
                <a:solidFill>
                  <a:srgbClr val="0070C0"/>
                </a:solidFill>
              </a:rPr>
              <a:t>especificada</a:t>
            </a:r>
            <a:r>
              <a:rPr lang="pt-BR" sz="3500" dirty="0"/>
              <a:t>, avaliada por meio de um </a:t>
            </a:r>
            <a:r>
              <a:rPr lang="pt-BR" sz="3500" b="1" dirty="0">
                <a:solidFill>
                  <a:srgbClr val="0070C0"/>
                </a:solidFill>
              </a:rPr>
              <a:t>teste</a:t>
            </a:r>
          </a:p>
          <a:p>
            <a:pPr algn="ctr"/>
            <a:r>
              <a:rPr lang="pt-BR" sz="3500" b="1" dirty="0">
                <a:solidFill>
                  <a:srgbClr val="0070C0"/>
                </a:solidFill>
              </a:rPr>
              <a:t>lógico</a:t>
            </a:r>
            <a:r>
              <a:rPr lang="pt-BR" sz="3500" dirty="0"/>
              <a:t>, que é basicamente uma pergunta.</a:t>
            </a:r>
          </a:p>
        </p:txBody>
      </p:sp>
    </p:spTree>
    <p:extLst>
      <p:ext uri="{BB962C8B-B14F-4D97-AF65-F5344CB8AC3E}">
        <p14:creationId xmlns:p14="http://schemas.microsoft.com/office/powerpoint/2010/main" val="35221889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- se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pt-BR" sz="32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 &lt;condições&gt; então &lt;instruções&gt; fim</a:t>
            </a:r>
            <a:br>
              <a:rPr lang="pt-BR" sz="3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pt-BR" sz="3000" dirty="0">
              <a:solidFill>
                <a:srgbClr val="0070C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pt-BR" sz="40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 (</a:t>
            </a:r>
            <a:r>
              <a:rPr lang="pt-BR" sz="4000" dirty="0" err="1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Aluno.idade</a:t>
            </a:r>
            <a:r>
              <a:rPr lang="pt-BR" sz="40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&gt; 18) então { 	</a:t>
            </a:r>
            <a:r>
              <a:rPr lang="pt-BR" sz="4000" dirty="0" err="1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Aluno.maiorDeIdade</a:t>
            </a:r>
            <a:r>
              <a:rPr lang="pt-BR" sz="40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pt-BR" sz="4000" dirty="0" err="1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pt-BR" sz="40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br>
              <a:rPr lang="pt-BR" sz="40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40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  <a:br>
              <a:rPr lang="pt-BR" sz="2400" dirty="0">
                <a:solidFill>
                  <a:srgbClr val="7030A0"/>
                </a:solidFill>
              </a:rPr>
            </a:br>
            <a:endParaRPr lang="pt-BR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95915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- se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Tx/>
              <a:buChar char="-"/>
            </a:pPr>
            <a:r>
              <a:rPr lang="pt-BR" sz="4300" dirty="0"/>
              <a:t> Essa instrução tem por finalidade </a:t>
            </a:r>
            <a:r>
              <a:rPr lang="pt-BR" sz="4300" b="1" dirty="0"/>
              <a:t>tomar uma decisão </a:t>
            </a:r>
            <a:r>
              <a:rPr lang="pt-BR" sz="4300" dirty="0"/>
              <a:t>de acordo com o resultado de uma condição (teste lógico).</a:t>
            </a:r>
          </a:p>
          <a:p>
            <a:pPr>
              <a:buFontTx/>
              <a:buChar char="-"/>
            </a:pPr>
            <a:r>
              <a:rPr lang="pt-BR" sz="4300" dirty="0"/>
              <a:t> Se o teste retorna </a:t>
            </a:r>
            <a:r>
              <a:rPr lang="pt-BR" sz="4300" b="1" dirty="0"/>
              <a:t>verdadeiro</a:t>
            </a:r>
            <a:r>
              <a:rPr lang="pt-BR" sz="4300" dirty="0"/>
              <a:t>, as instruções contidas entre os comandos </a:t>
            </a:r>
            <a:br>
              <a:rPr lang="pt-BR" sz="4300" dirty="0"/>
            </a:br>
            <a:r>
              <a:rPr lang="pt-BR" sz="4300" b="1" i="1" dirty="0"/>
              <a:t>então</a:t>
            </a:r>
            <a:r>
              <a:rPr lang="pt-BR" sz="4300" dirty="0"/>
              <a:t> e </a:t>
            </a:r>
            <a:r>
              <a:rPr lang="pt-BR" sz="4300" b="1" i="1" dirty="0"/>
              <a:t>fim</a:t>
            </a:r>
            <a:r>
              <a:rPr lang="pt-BR" sz="4300" dirty="0"/>
              <a:t> serão executadas; caso contrário, nada ocorre.</a:t>
            </a:r>
          </a:p>
          <a:p>
            <a:pPr marL="0" indent="0">
              <a:buNone/>
            </a:pPr>
            <a:br>
              <a:rPr lang="pt-BR" sz="2400" dirty="0">
                <a:solidFill>
                  <a:srgbClr val="7030A0"/>
                </a:solidFill>
              </a:rPr>
            </a:br>
            <a:endParaRPr lang="pt-BR" sz="2400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59903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65140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4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 (</a:t>
            </a:r>
            <a:r>
              <a:rPr lang="pt-BR" sz="40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condição</a:t>
            </a:r>
            <a:r>
              <a:rPr lang="pt-BR" sz="4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{</a:t>
            </a:r>
            <a:br>
              <a:rPr lang="pt-BR" sz="4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4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pt-BR" sz="40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executa instruções caso condição retorne verdadeiro</a:t>
            </a:r>
          </a:p>
          <a:p>
            <a:pPr marL="0" indent="0">
              <a:buNone/>
            </a:pPr>
            <a:r>
              <a:rPr lang="pt-BR" sz="4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4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Instruções após validação da condição acima.</a:t>
            </a:r>
            <a:endParaRPr lang="pt-BR" sz="4000" dirty="0">
              <a:solidFill>
                <a:srgbClr val="7030A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387047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F464C-5153-6B2A-1293-DDB3609D37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6285771-2C28-D97A-98A6-475C967E77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- se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F57F37B-7754-0808-D1BC-2AE3F31ED7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676805" cy="4023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500" dirty="0">
                <a:solidFill>
                  <a:srgbClr val="FFC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leia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35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idade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pt-BR" sz="35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idade</a:t>
            </a:r>
            <a:r>
              <a:rPr lang="pt-BR" sz="3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r>
              <a:rPr lang="pt-BR" sz="3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&gt;=</a:t>
            </a:r>
            <a:r>
              <a:rPr lang="pt-BR" sz="3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18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“O aluno atingiu a maioridade civil.”</a:t>
            </a:r>
            <a:r>
              <a:rPr lang="pt-BR" sz="25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3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“Fim do Programa”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pt-BR" sz="24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1586063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3C12DBCB-A179-D060-1AD2-B341CD01C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7936"/>
            <a:ext cx="12192000" cy="6362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93539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CCB331-AF9C-B57A-34EB-2A4BDBD1DE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6D551B7-E794-9F83-0DAB-BDB259A2CE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70239"/>
            <a:ext cx="12192000" cy="39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51936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5F8521-8A10-422E-3940-6F6BA69415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D00DC07-8DE2-F0DA-0F94-794D502F15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6030"/>
            <a:ext cx="12192000" cy="332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9071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EFE4D-83B8-2B4A-DD94-6078C779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A0C3876-79DE-11A6-418B-C4DCD7D5D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124193" y="1690777"/>
            <a:ext cx="8018874" cy="4924463"/>
          </a:xfrm>
        </p:spPr>
      </p:pic>
    </p:spTree>
    <p:extLst>
      <p:ext uri="{BB962C8B-B14F-4D97-AF65-F5344CB8AC3E}">
        <p14:creationId xmlns:p14="http://schemas.microsoft.com/office/powerpoint/2010/main" val="72313201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E8D2B2-A552-4E32-5D3E-C0D7206D2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6AA89B-6D63-909A-A103-3392338CD9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fluxograma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7444D5F6-99C4-A7E6-9427-9F9D860BF4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2107" y="1552478"/>
            <a:ext cx="9727785" cy="5203922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7806652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01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5000" dirty="0"/>
              <a:t>Crie uma solução para calcular a média aritmética de duas notas de um aluno.</a:t>
            </a:r>
            <a:br>
              <a:rPr lang="pt-BR" sz="5000" dirty="0"/>
            </a:br>
            <a:r>
              <a:rPr lang="pt-BR" sz="5000" dirty="0"/>
              <a:t>Caso a média seja maior que 07, escreva a mensagem que o aluno foi aprovado.</a:t>
            </a:r>
          </a:p>
        </p:txBody>
      </p:sp>
    </p:spTree>
    <p:extLst>
      <p:ext uri="{BB962C8B-B14F-4D97-AF65-F5344CB8AC3E}">
        <p14:creationId xmlns:p14="http://schemas.microsoft.com/office/powerpoint/2010/main" val="208319785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44176" y="81205"/>
            <a:ext cx="10303647" cy="6695589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84535541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verdadeira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76923" y="2084832"/>
            <a:ext cx="11638154" cy="4140201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806619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falsa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83125" y="2208145"/>
            <a:ext cx="11425749" cy="4064639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93413993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10415" y="59266"/>
            <a:ext cx="10371169" cy="6739467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280574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verdadeira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10743" y="1737743"/>
            <a:ext cx="11370514" cy="4044990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379230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falsa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75755" y="2084832"/>
            <a:ext cx="11090448" cy="3945358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7533562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02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500" dirty="0"/>
              <a:t>Crie uma solução para calcular a média aritmética de duas notas de um aluno.</a:t>
            </a:r>
            <a:br>
              <a:rPr lang="pt-BR" sz="4500" dirty="0"/>
            </a:br>
            <a:r>
              <a:rPr lang="pt-BR" sz="4500" dirty="0"/>
              <a:t>Caso a média seja maior que 07, escreva a mensagem que o aluno foi aprovado.</a:t>
            </a:r>
            <a:br>
              <a:rPr lang="pt-BR" sz="4500" dirty="0"/>
            </a:br>
            <a:r>
              <a:rPr lang="pt-BR" sz="4500" dirty="0"/>
              <a:t>Caso a média seja menor que 07, escreva que o aluno foi reprovado.</a:t>
            </a:r>
          </a:p>
        </p:txBody>
      </p:sp>
    </p:spTree>
    <p:extLst>
      <p:ext uri="{BB962C8B-B14F-4D97-AF65-F5344CB8AC3E}">
        <p14:creationId xmlns:p14="http://schemas.microsoft.com/office/powerpoint/2010/main" val="217428937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1126583" y="199738"/>
            <a:ext cx="9938833" cy="6458523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98622131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falsa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54022" y="1769641"/>
            <a:ext cx="11542650" cy="4106226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57728312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676145-044C-57F5-5926-85DB804B0E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6DA1BD-1EED-6DBD-17DD-0E5F46358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058" y="0"/>
            <a:ext cx="113618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36212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D3625D-691B-3326-418D-46086A9D99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B66EFCC2-A60D-4A46-34F0-7D13AE9130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25711"/>
            <a:ext cx="12192000" cy="6206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38073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50153-B54D-F5D2-936B-6EAB06AFFE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CDE4FB2-DF14-8619-E09C-08D3D700E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44322"/>
            <a:ext cx="12192000" cy="5569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5812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630E558-4C9B-ADF2-B405-9E61C14F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composta: SE senão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954BFBBF-579A-D41C-9677-82673C9ABF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490" b="1249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858CFD6-06AF-61DF-3094-EED16606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9391878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 condicional – Se </a:t>
            </a:r>
            <a:r>
              <a:rPr lang="pt-BR" dirty="0" err="1"/>
              <a:t>SENãO</a:t>
            </a:r>
            <a:endParaRPr lang="pt-BR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5FADCB-CA02-AC22-C695-39B5047A3C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r>
              <a:rPr lang="pt-BR" sz="4500" dirty="0"/>
              <a:t>É o famoso </a:t>
            </a:r>
            <a:r>
              <a:rPr lang="pt-BR" sz="4500" b="1" dirty="0" err="1"/>
              <a:t>If</a:t>
            </a:r>
            <a:r>
              <a:rPr lang="pt-BR" sz="4500" b="1" dirty="0"/>
              <a:t> Else (se senão)</a:t>
            </a:r>
            <a:r>
              <a:rPr lang="pt-BR" sz="4500" dirty="0"/>
              <a:t>.</a:t>
            </a:r>
          </a:p>
          <a:p>
            <a:pPr algn="ctr"/>
            <a:r>
              <a:rPr lang="pt-BR" sz="5000" dirty="0"/>
              <a:t>É a </a:t>
            </a:r>
            <a:r>
              <a:rPr lang="pt-BR" sz="5000" b="1" dirty="0"/>
              <a:t>evolução da condição simples</a:t>
            </a:r>
            <a:r>
              <a:rPr lang="pt-BR" sz="5000" dirty="0"/>
              <a:t>, adicionando um “</a:t>
            </a:r>
            <a:r>
              <a:rPr lang="pt-BR" sz="5000" i="1" dirty="0"/>
              <a:t>senão</a:t>
            </a:r>
            <a:r>
              <a:rPr lang="pt-BR" sz="5000" dirty="0"/>
              <a:t>” no código como  tomada de decisão caso a condição não seja verdadeira.</a:t>
            </a:r>
          </a:p>
        </p:txBody>
      </p:sp>
    </p:spTree>
    <p:extLst>
      <p:ext uri="{BB962C8B-B14F-4D97-AF65-F5344CB8AC3E}">
        <p14:creationId xmlns:p14="http://schemas.microsoft.com/office/powerpoint/2010/main" val="29627014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05000"/>
            <a:ext cx="10600605" cy="440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 &lt;condições&gt; então &lt;instruções&gt; </a:t>
            </a:r>
            <a:br>
              <a:rPr lang="pt-BR" sz="3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3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senão &lt;instruções&gt; </a:t>
            </a:r>
            <a:br>
              <a:rPr lang="pt-BR" sz="3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3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fim</a:t>
            </a:r>
            <a:br>
              <a:rPr lang="pt-BR" sz="3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endParaRPr lang="pt-BR" sz="3000" dirty="0">
              <a:solidFill>
                <a:srgbClr val="0070C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  <a:p>
            <a:pPr marL="0" indent="0">
              <a:buNone/>
            </a:pP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 (</a:t>
            </a:r>
            <a:r>
              <a:rPr lang="pt-BR" sz="30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Aluno.idade</a:t>
            </a: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&gt; 18) então { 	</a:t>
            </a:r>
            <a:r>
              <a:rPr lang="pt-BR" sz="30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Aluno.maiorDeIdade</a:t>
            </a: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</a:t>
            </a:r>
            <a:r>
              <a:rPr lang="pt-BR" sz="30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true</a:t>
            </a: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b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 </a:t>
            </a:r>
            <a:b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senão {</a:t>
            </a:r>
            <a:b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pt-BR" sz="30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Aluno.maiorDeIdade</a:t>
            </a: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false</a:t>
            </a:r>
            <a:b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00736881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19A2C-3417-7648-17A8-C098A1191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15D8F4-2E1C-1C4B-862A-C16ED28B61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CED97E6-B133-DC80-115D-4ABAC7C5DB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1905000"/>
            <a:ext cx="10600605" cy="440436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sz="3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 &lt;condições&gt; então &lt;instruções&gt; </a:t>
            </a:r>
            <a:br>
              <a:rPr lang="pt-BR" sz="3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 &lt;instruções&gt; </a:t>
            </a:r>
            <a:br>
              <a:rPr lang="pt-BR" sz="3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fim</a:t>
            </a:r>
            <a:br>
              <a:rPr lang="pt-BR" sz="3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pt-BR" sz="3000" dirty="0">
              <a:solidFill>
                <a:srgbClr val="0070C0"/>
              </a:solidFill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marL="0" indent="0">
              <a:buNone/>
            </a:pP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 (</a:t>
            </a:r>
            <a:r>
              <a:rPr lang="pt-BR" sz="3000" dirty="0" err="1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Aluno.idade</a:t>
            </a: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18) então { 	</a:t>
            </a:r>
            <a:r>
              <a:rPr lang="pt-BR" sz="3000" dirty="0" err="1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Aluno.maiorDeIdade</a:t>
            </a: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</a:t>
            </a:r>
            <a:r>
              <a:rPr lang="pt-BR" sz="3000" dirty="0" err="1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true</a:t>
            </a: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</a:t>
            </a:r>
            <a:b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b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 {</a:t>
            </a:r>
            <a:b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3000" dirty="0" err="1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Aluno.maiorDeIdade</a:t>
            </a: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 false</a:t>
            </a:r>
            <a:b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000" dirty="0">
                <a:solidFill>
                  <a:srgbClr val="7030A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22810018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583672" cy="4023360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4000" dirty="0"/>
              <a:t>Essa instrução tem por finalidade </a:t>
            </a:r>
            <a:r>
              <a:rPr lang="pt-BR" sz="4000" b="1" dirty="0"/>
              <a:t>tomar uma decisão </a:t>
            </a:r>
            <a:r>
              <a:rPr lang="pt-BR" sz="4000" dirty="0"/>
              <a:t>de acordo com o resultado de uma condição (teste lógico).</a:t>
            </a:r>
          </a:p>
          <a:p>
            <a:pPr>
              <a:buFontTx/>
              <a:buChar char="-"/>
            </a:pPr>
            <a:r>
              <a:rPr lang="pt-BR" sz="4000" dirty="0"/>
              <a:t> Se o teste retorna </a:t>
            </a:r>
            <a:r>
              <a:rPr lang="pt-BR" sz="4000" b="1" dirty="0"/>
              <a:t>verdadeiro</a:t>
            </a:r>
            <a:r>
              <a:rPr lang="pt-BR" sz="4000" dirty="0"/>
              <a:t>, um grupo de instruções é executado.</a:t>
            </a:r>
          </a:p>
          <a:p>
            <a:pPr>
              <a:buFontTx/>
              <a:buChar char="-"/>
            </a:pPr>
            <a:r>
              <a:rPr lang="pt-BR" sz="4000" dirty="0"/>
              <a:t> Se o teste retornar falso, um grupo diferente de instruções é executado.</a:t>
            </a:r>
          </a:p>
        </p:txBody>
      </p:sp>
    </p:spTree>
    <p:extLst>
      <p:ext uri="{BB962C8B-B14F-4D97-AF65-F5344CB8AC3E}">
        <p14:creationId xmlns:p14="http://schemas.microsoft.com/office/powerpoint/2010/main" val="276297230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– se senão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286000"/>
            <a:ext cx="10753005" cy="402336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 (</a:t>
            </a:r>
            <a:r>
              <a:rPr lang="pt-BR" sz="2800" dirty="0">
                <a:solidFill>
                  <a:srgbClr val="FF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condição</a:t>
            </a: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{</a:t>
            </a:r>
            <a:b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pt-BR" sz="28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executa instruções caso condição retorne verdadeiro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 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senão {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	</a:t>
            </a:r>
            <a:r>
              <a:rPr lang="pt-BR" sz="28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executa instruções caso condição retorne falso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  <a:p>
            <a:pPr marL="0" indent="0">
              <a:buNone/>
            </a:pPr>
            <a:r>
              <a:rPr lang="pt-BR" sz="28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Instruções após executar um dos blocos condicionais</a:t>
            </a:r>
            <a:endParaRPr lang="pt-BR" sz="2800" dirty="0">
              <a:solidFill>
                <a:srgbClr val="7030A0"/>
              </a:solidFill>
              <a:latin typeface="Cascadia Code" panose="020B0609020000020004" pitchFamily="49" charset="0"/>
              <a:cs typeface="Cascadia Code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951317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448733"/>
            <a:ext cx="9720073" cy="5860627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3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leia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35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idade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pt-BR" sz="3500" dirty="0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idade</a:t>
            </a:r>
            <a:r>
              <a:rPr lang="pt-BR" sz="3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18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3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3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atingiu a maioridade civil.”)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</a:t>
            </a: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3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3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não atingiu a maioridade civil.”)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marL="0" indent="0">
              <a:buNone/>
            </a:pPr>
            <a:r>
              <a:rPr lang="pt-BR" sz="3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Escreva(“Fim do Programa”)</a:t>
            </a:r>
          </a:p>
          <a:p>
            <a:pPr marL="0" indent="0">
              <a:buNone/>
            </a:pPr>
            <a:r>
              <a:rPr lang="pt-BR" sz="20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50829695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A0C3876-79DE-11A6-418B-C4DCD7D5D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216309" y="283633"/>
            <a:ext cx="11759382" cy="6290734"/>
          </a:xfrm>
        </p:spPr>
      </p:pic>
    </p:spTree>
    <p:extLst>
      <p:ext uri="{BB962C8B-B14F-4D97-AF65-F5344CB8AC3E}">
        <p14:creationId xmlns:p14="http://schemas.microsoft.com/office/powerpoint/2010/main" val="314726703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A0C3876-79DE-11A6-418B-C4DCD7D5D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09818" y="601133"/>
            <a:ext cx="10572363" cy="5655733"/>
          </a:xfrm>
        </p:spPr>
      </p:pic>
    </p:spTree>
    <p:extLst>
      <p:ext uri="{BB962C8B-B14F-4D97-AF65-F5344CB8AC3E}">
        <p14:creationId xmlns:p14="http://schemas.microsoft.com/office/powerpoint/2010/main" val="410741309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A0C3876-79DE-11A6-418B-C4DCD7D5D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67153" y="631805"/>
            <a:ext cx="10457694" cy="5594390"/>
          </a:xfrm>
        </p:spPr>
      </p:pic>
    </p:spTree>
    <p:extLst>
      <p:ext uri="{BB962C8B-B14F-4D97-AF65-F5344CB8AC3E}">
        <p14:creationId xmlns:p14="http://schemas.microsoft.com/office/powerpoint/2010/main" val="196264443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03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3500" dirty="0"/>
              <a:t>Crie uma solução para calcular a média aritmética de duas notas de um aluno.</a:t>
            </a:r>
            <a:br>
              <a:rPr lang="pt-BR" sz="3500" dirty="0"/>
            </a:br>
            <a:r>
              <a:rPr lang="pt-BR" sz="3500" dirty="0"/>
              <a:t>Caso a média seja maior que 07, escreva a mensagem que o aluno foi aprovado.</a:t>
            </a:r>
            <a:br>
              <a:rPr lang="pt-BR" sz="3500" dirty="0"/>
            </a:br>
            <a:r>
              <a:rPr lang="pt-BR" sz="3500" dirty="0"/>
              <a:t>Caso a média seja menor que 07, escreva que o aluno foi reprovado.</a:t>
            </a:r>
          </a:p>
          <a:p>
            <a:pPr marL="0" indent="0" algn="ctr">
              <a:buNone/>
            </a:pPr>
            <a:r>
              <a:rPr lang="pt-BR" sz="3500" dirty="0"/>
              <a:t>Utilize uma </a:t>
            </a:r>
            <a:r>
              <a:rPr lang="pt-BR" sz="3500" b="1" dirty="0"/>
              <a:t>estrutura condicional composta </a:t>
            </a:r>
            <a:r>
              <a:rPr lang="pt-BR" sz="3500" dirty="0"/>
              <a:t>para realizar as instruções.</a:t>
            </a:r>
          </a:p>
        </p:txBody>
      </p:sp>
    </p:spTree>
    <p:extLst>
      <p:ext uri="{BB962C8B-B14F-4D97-AF65-F5344CB8AC3E}">
        <p14:creationId xmlns:p14="http://schemas.microsoft.com/office/powerpoint/2010/main" val="94153688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89778" y="110838"/>
            <a:ext cx="10212444" cy="6636323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36005716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verdadeira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82142" y="1805477"/>
            <a:ext cx="11227715" cy="3994190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80839021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falsa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396355" y="1845842"/>
            <a:ext cx="11661646" cy="4148558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4250882667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04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733" y="1820333"/>
            <a:ext cx="11260667" cy="448902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3500" dirty="0"/>
              <a:t>Crie uma solução que receba o valor da temperatura em graus Celsius.</a:t>
            </a:r>
          </a:p>
          <a:p>
            <a:pPr marL="0" indent="0" algn="ctr">
              <a:buNone/>
            </a:pPr>
            <a:r>
              <a:rPr lang="pt-BR" sz="3500" dirty="0"/>
              <a:t>O programa deverá exibir uma mensagem na tela de acordo com o valor fornecido, como segue: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3500" dirty="0"/>
              <a:t>Temperatura maior ou igual a 25 graus:</a:t>
            </a:r>
            <a:br>
              <a:rPr lang="pt-BR" sz="3500" dirty="0"/>
            </a:br>
            <a:r>
              <a:rPr lang="pt-BR" sz="3500" i="1" dirty="0"/>
              <a:t>Temperatura </a:t>
            </a:r>
            <a:r>
              <a:rPr lang="pt-BR" sz="3500" i="1" dirty="0" err="1"/>
              <a:t>XXºC</a:t>
            </a:r>
            <a:r>
              <a:rPr lang="pt-BR" sz="3500" i="1" dirty="0"/>
              <a:t> , no momento está quente.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pt-BR" sz="3500" dirty="0"/>
              <a:t>Temperatura menor que 25 graus:</a:t>
            </a:r>
            <a:br>
              <a:rPr lang="pt-BR" sz="3500" dirty="0"/>
            </a:br>
            <a:r>
              <a:rPr lang="pt-BR" sz="3500" i="1" dirty="0"/>
              <a:t>Temperatura </a:t>
            </a:r>
            <a:r>
              <a:rPr lang="pt-BR" sz="3500" i="1" dirty="0" err="1"/>
              <a:t>XXºC</a:t>
            </a:r>
            <a:r>
              <a:rPr lang="pt-BR" sz="3500" i="1" dirty="0"/>
              <a:t> , no momento está frio.</a:t>
            </a:r>
          </a:p>
        </p:txBody>
      </p:sp>
    </p:spTree>
    <p:extLst>
      <p:ext uri="{BB962C8B-B14F-4D97-AF65-F5344CB8AC3E}">
        <p14:creationId xmlns:p14="http://schemas.microsoft.com/office/powerpoint/2010/main" val="389273152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79031" y="38872"/>
            <a:ext cx="10433937" cy="6780255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1450688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verdadeira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17842" y="1839344"/>
            <a:ext cx="11156315" cy="3968790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00826802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Condição falsa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55575" y="1828908"/>
            <a:ext cx="11280849" cy="4013092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63298351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630E558-4C9B-ADF2-B405-9E61C14F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encadeado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954BFBBF-579A-D41C-9677-82673C9ABF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12490" b="12490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858CFD6-06AF-61DF-3094-EED16606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9049088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encadeado (aninhado)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 &lt;condições&gt; então &lt;instruções&gt; </a:t>
            </a:r>
            <a:br>
              <a:rPr lang="pt-BR" sz="5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senão se (condições) </a:t>
            </a:r>
            <a:br>
              <a:rPr lang="pt-BR" sz="5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senão &lt;instruções&gt; </a:t>
            </a:r>
            <a:br>
              <a:rPr lang="pt-BR" sz="5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000" dirty="0">
                <a:solidFill>
                  <a:srgbClr val="0070C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fim</a:t>
            </a:r>
          </a:p>
        </p:txBody>
      </p:sp>
    </p:spTree>
    <p:extLst>
      <p:ext uri="{BB962C8B-B14F-4D97-AF65-F5344CB8AC3E}">
        <p14:creationId xmlns:p14="http://schemas.microsoft.com/office/powerpoint/2010/main" val="3837279791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8933" y="668867"/>
            <a:ext cx="11032067" cy="5640493"/>
          </a:xfrm>
        </p:spPr>
        <p:txBody>
          <a:bodyPr>
            <a:normAutofit fontScale="77500" lnSpcReduction="20000"/>
          </a:bodyPr>
          <a:lstStyle/>
          <a:p>
            <a:pPr marL="0" indent="0" algn="ctr">
              <a:buNone/>
            </a:pPr>
            <a:r>
              <a:rPr lang="pt-BR" sz="54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(</a:t>
            </a:r>
            <a:r>
              <a:rPr lang="pt-BR" sz="54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Aluno.notaEscolar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&gt; </a:t>
            </a:r>
            <a:r>
              <a:rPr lang="pt-BR" sz="5400" dirty="0">
                <a:latin typeface="Cascadia Code" panose="020B0609020000020004" pitchFamily="49" charset="0"/>
                <a:cs typeface="Cascadia Code" panose="020B0609020000020004" pitchFamily="49" charset="0"/>
              </a:rPr>
              <a:t>7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r>
              <a:rPr lang="pt-BR" sz="5400" dirty="0">
                <a:solidFill>
                  <a:srgbClr val="00B05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então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 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Aluno.aprovado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“</a:t>
            </a:r>
            <a:r>
              <a:rPr lang="pt-BR" sz="5400" dirty="0">
                <a:solidFill>
                  <a:srgbClr val="FFCC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APROVADO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”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 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senão se 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(Aluno. </a:t>
            </a:r>
            <a:r>
              <a:rPr lang="pt-BR" sz="54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notaEscolar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&gt;= </a:t>
            </a:r>
            <a:r>
              <a:rPr lang="pt-BR" sz="5400" dirty="0">
                <a:latin typeface="Cascadia Code" panose="020B0609020000020004" pitchFamily="49" charset="0"/>
                <a:cs typeface="Cascadia Code" panose="020B0609020000020004" pitchFamily="49" charset="0"/>
              </a:rPr>
              <a:t>5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) 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{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Aluno.aprovado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“</a:t>
            </a:r>
            <a:r>
              <a:rPr lang="pt-BR" sz="5400" dirty="0">
                <a:solidFill>
                  <a:srgbClr val="FFCC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RECUPERACAO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”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 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>
                <a:solidFill>
                  <a:srgbClr val="C000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senão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{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 err="1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Aluno.aprovado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 = “</a:t>
            </a:r>
            <a:r>
              <a:rPr lang="pt-BR" sz="5400" dirty="0">
                <a:solidFill>
                  <a:srgbClr val="FFCC0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REPROVADO</a:t>
            </a: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”</a:t>
            </a:r>
            <a:b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</a:br>
            <a:r>
              <a:rPr lang="pt-BR" sz="5400" dirty="0">
                <a:solidFill>
                  <a:srgbClr val="7030A0"/>
                </a:solidFill>
                <a:latin typeface="Cascadia Code" panose="020B0609020000020004" pitchFamily="49" charset="0"/>
                <a:cs typeface="Cascadia Code" panose="020B06090200000200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3087462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Desvio condicional encadeado (aninhado)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500" dirty="0"/>
              <a:t>Também conhecida como estrutura condicional aninhada.</a:t>
            </a:r>
          </a:p>
          <a:p>
            <a:pPr>
              <a:buFontTx/>
              <a:buChar char="-"/>
            </a:pPr>
            <a:r>
              <a:rPr lang="pt-BR" sz="3500" dirty="0"/>
              <a:t> Utilizada quando precisamos </a:t>
            </a:r>
            <a:r>
              <a:rPr lang="pt-BR" sz="3500" b="1" dirty="0"/>
              <a:t>verificar condições sucessivas </a:t>
            </a:r>
            <a:r>
              <a:rPr lang="pt-BR" sz="3500" dirty="0"/>
              <a:t>onde uma ação será executada dependendo de um conjunto anterior de condições testadas.</a:t>
            </a:r>
          </a:p>
          <a:p>
            <a:pPr>
              <a:buFontTx/>
              <a:buChar char="-"/>
            </a:pPr>
            <a:r>
              <a:rPr lang="pt-BR" sz="3500" dirty="0"/>
              <a:t> Utilizada para Lógicas/condições mais complexas.</a:t>
            </a:r>
          </a:p>
        </p:txBody>
      </p:sp>
    </p:spTree>
    <p:extLst>
      <p:ext uri="{BB962C8B-B14F-4D97-AF65-F5344CB8AC3E}">
        <p14:creationId xmlns:p14="http://schemas.microsoft.com/office/powerpoint/2010/main" val="429166429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11667"/>
            <a:ext cx="9720073" cy="62907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leia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10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foi aprovado com excelência</a:t>
            </a:r>
            <a:r>
              <a:rPr lang="pt-BR" sz="2500" u="sng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.”)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 se 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7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foi aprovado.”)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 se 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5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está em recuperação.”)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está reprovado.”)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pt-BR" sz="16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4077516163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DB6683-D7BE-23E1-10EB-D87BB5AA7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0CC68F0-6F9A-6136-79CC-CC3E5C48D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4128" y="211667"/>
            <a:ext cx="9720073" cy="629073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leia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== 10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foi aprovado com excelência</a:t>
            </a:r>
            <a:r>
              <a:rPr lang="pt-BR" sz="2500" u="sng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.”)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 se 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7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foi aprovado.”)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 se 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</a:t>
            </a:r>
            <a:r>
              <a:rPr lang="pt-BR" sz="2500" dirty="0" err="1">
                <a:solidFill>
                  <a:srgbClr val="92D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notaEscolar</a:t>
            </a:r>
            <a:r>
              <a:rPr lang="pt-BR" sz="2500" dirty="0">
                <a:solidFill>
                  <a:srgbClr val="FF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&gt;= 5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) {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está em recuperação.”)</a:t>
            </a:r>
          </a:p>
          <a:p>
            <a:pPr marL="0" indent="0">
              <a:buNone/>
            </a:pP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 </a:t>
            </a: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2500" dirty="0">
                <a:solidFill>
                  <a:srgbClr val="C000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senão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 {</a:t>
            </a: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b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  <a:r>
              <a:rPr lang="pt-BR" sz="2500" dirty="0">
                <a:solidFill>
                  <a:srgbClr val="FFCC0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escreva</a:t>
            </a:r>
            <a:r>
              <a:rPr lang="pt-BR" sz="2500" dirty="0">
                <a:solidFill>
                  <a:srgbClr val="00B05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(“O aluno está reprovado.”)</a:t>
            </a:r>
            <a:r>
              <a:rPr lang="pt-BR" sz="25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}</a:t>
            </a:r>
            <a:r>
              <a:rPr lang="pt-BR" sz="1600" dirty="0">
                <a:solidFill>
                  <a:srgbClr val="0070C0"/>
                </a:solidFill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13548700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A0C3876-79DE-11A6-418B-C4DCD7D5D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51550" y="516467"/>
            <a:ext cx="10888900" cy="5825066"/>
          </a:xfrm>
        </p:spPr>
      </p:pic>
    </p:spTree>
    <p:extLst>
      <p:ext uri="{BB962C8B-B14F-4D97-AF65-F5344CB8AC3E}">
        <p14:creationId xmlns:p14="http://schemas.microsoft.com/office/powerpoint/2010/main" val="173993459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A0C3876-79DE-11A6-418B-C4DCD7D5D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828362" y="369339"/>
            <a:ext cx="10535275" cy="6119322"/>
          </a:xfrm>
        </p:spPr>
      </p:pic>
    </p:spTree>
    <p:extLst>
      <p:ext uri="{BB962C8B-B14F-4D97-AF65-F5344CB8AC3E}">
        <p14:creationId xmlns:p14="http://schemas.microsoft.com/office/powerpoint/2010/main" val="370421281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6A0C3876-79DE-11A6-418B-C4DCD7D5D27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95137" y="233872"/>
            <a:ext cx="11001726" cy="6390256"/>
          </a:xfrm>
        </p:spPr>
      </p:pic>
    </p:spTree>
    <p:extLst>
      <p:ext uri="{BB962C8B-B14F-4D97-AF65-F5344CB8AC3E}">
        <p14:creationId xmlns:p14="http://schemas.microsoft.com/office/powerpoint/2010/main" val="8949605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05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3333" y="1752599"/>
            <a:ext cx="11133667" cy="4707467"/>
          </a:xfrm>
        </p:spPr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3000" dirty="0"/>
              <a:t>Crie uma solução para calcular a média aritmética de duas notas de um aluno.</a:t>
            </a:r>
            <a:br>
              <a:rPr lang="pt-BR" sz="3000" dirty="0"/>
            </a:br>
            <a:r>
              <a:rPr lang="pt-BR" sz="3000" dirty="0"/>
              <a:t>Caso a média seja igual a 10, escreva a mensagem que o </a:t>
            </a:r>
            <a:r>
              <a:rPr lang="pt-BR" sz="3000" i="1" dirty="0">
                <a:solidFill>
                  <a:srgbClr val="C00000"/>
                </a:solidFill>
              </a:rPr>
              <a:t>aluno foi aprovado com excelência</a:t>
            </a:r>
            <a:r>
              <a:rPr lang="pt-BR" sz="3000" dirty="0"/>
              <a:t>. Caso a média seja maior ou igual a 07, escreva que o </a:t>
            </a:r>
            <a:r>
              <a:rPr lang="pt-BR" sz="3000" i="1" dirty="0">
                <a:solidFill>
                  <a:srgbClr val="C00000"/>
                </a:solidFill>
              </a:rPr>
              <a:t>aluno foi aprovado</a:t>
            </a:r>
            <a:r>
              <a:rPr lang="pt-BR" sz="3000" dirty="0"/>
              <a:t>. Caso a média seja maior ou igual a 05, escreva que o </a:t>
            </a:r>
            <a:r>
              <a:rPr lang="pt-BR" sz="3000" i="1" dirty="0">
                <a:solidFill>
                  <a:srgbClr val="C00000"/>
                </a:solidFill>
              </a:rPr>
              <a:t>aluno está em recuperação</a:t>
            </a:r>
            <a:r>
              <a:rPr lang="pt-BR" sz="3000" dirty="0"/>
              <a:t>. Caso a média seja inferior a 05, escreva que o </a:t>
            </a:r>
            <a:r>
              <a:rPr lang="pt-BR" sz="3000" i="1" dirty="0">
                <a:solidFill>
                  <a:srgbClr val="C00000"/>
                </a:solidFill>
              </a:rPr>
              <a:t>aluno foi reprovado</a:t>
            </a:r>
            <a:r>
              <a:rPr lang="pt-BR" sz="3000" dirty="0"/>
              <a:t>.</a:t>
            </a:r>
          </a:p>
          <a:p>
            <a:pPr marL="0" indent="0" algn="ctr">
              <a:buNone/>
            </a:pPr>
            <a:r>
              <a:rPr lang="pt-BR" sz="3000" dirty="0"/>
              <a:t>Utilize uma </a:t>
            </a:r>
            <a:r>
              <a:rPr lang="pt-BR" sz="3000" b="1" dirty="0"/>
              <a:t>estrutura condicional encadeada </a:t>
            </a:r>
            <a:r>
              <a:rPr lang="pt-BR" sz="3000" dirty="0"/>
              <a:t>para realizar as instruções.</a:t>
            </a:r>
          </a:p>
        </p:txBody>
      </p:sp>
    </p:spTree>
    <p:extLst>
      <p:ext uri="{BB962C8B-B14F-4D97-AF65-F5344CB8AC3E}">
        <p14:creationId xmlns:p14="http://schemas.microsoft.com/office/powerpoint/2010/main" val="150390482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989778" y="110839"/>
            <a:ext cx="10212443" cy="6636322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08422685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Primeira Condição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517842" y="1949409"/>
            <a:ext cx="11156315" cy="3968790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35649802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segunda Condição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410743" y="1949410"/>
            <a:ext cx="11370514" cy="4044990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441495430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Terceira Condição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728592" y="2017143"/>
            <a:ext cx="11013516" cy="3917990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153232629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quarta Condição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9A43E562-5BCF-28A1-B731-A0F944DF24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/>
          <a:stretch/>
        </p:blipFill>
        <p:spPr>
          <a:xfrm>
            <a:off x="635459" y="1856276"/>
            <a:ext cx="11180116" cy="3977257"/>
          </a:xfr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476381694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B630E558-4C9B-ADF2-B405-9E61C14F9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Exercícios de fixação</a:t>
            </a:r>
          </a:p>
        </p:txBody>
      </p:sp>
      <p:pic>
        <p:nvPicPr>
          <p:cNvPr id="7" name="Espaço Reservado para Imagem 6">
            <a:extLst>
              <a:ext uri="{FF2B5EF4-FFF2-40B4-BE49-F238E27FC236}">
                <a16:creationId xmlns:a16="http://schemas.microsoft.com/office/drawing/2014/main" id="{954BFBBF-579A-D41C-9677-82673C9ABF45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21918" b="21918"/>
          <a:stretch/>
        </p:blipFill>
        <p:spPr>
          <a:prstGeom prst="rect">
            <a:avLst/>
          </a:prstGeom>
        </p:spPr>
      </p:pic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B858CFD6-06AF-61DF-3094-EED1660653D6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45212402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00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dirty="0"/>
              <a:t>Crie uma solução para calcular a média aritmética de duas notas de um aluno.</a:t>
            </a:r>
            <a:br>
              <a:rPr lang="pt-BR" sz="2400" dirty="0"/>
            </a:br>
            <a:r>
              <a:rPr lang="pt-BR" sz="2400" dirty="0"/>
              <a:t>Caso a média seja igual a 10, escreva a mensagem que o </a:t>
            </a:r>
            <a:r>
              <a:rPr lang="pt-BR" sz="2400" i="1" dirty="0"/>
              <a:t>aluno foi aprovado com </a:t>
            </a:r>
            <a:r>
              <a:rPr lang="pt-BR" sz="2400" i="1" dirty="0" err="1"/>
              <a:t>excelência</a:t>
            </a:r>
            <a:r>
              <a:rPr lang="pt-BR" sz="2400" dirty="0" err="1"/>
              <a:t>.Caso</a:t>
            </a:r>
            <a:r>
              <a:rPr lang="pt-BR" sz="2400" dirty="0"/>
              <a:t> a média seja maior ou igual a 07, escreva que o </a:t>
            </a:r>
            <a:r>
              <a:rPr lang="pt-BR" sz="2400" i="1" dirty="0"/>
              <a:t>aluno foi </a:t>
            </a:r>
            <a:r>
              <a:rPr lang="pt-BR" sz="2400" i="1" dirty="0" err="1"/>
              <a:t>aprovado</a:t>
            </a:r>
            <a:r>
              <a:rPr lang="pt-BR" sz="2400" dirty="0" err="1"/>
              <a:t>.Caso</a:t>
            </a:r>
            <a:r>
              <a:rPr lang="pt-BR" sz="2400" dirty="0"/>
              <a:t> a média seja maior ou igual a 05, escreva que o </a:t>
            </a:r>
            <a:r>
              <a:rPr lang="pt-BR" sz="2400" i="1" dirty="0"/>
              <a:t>aluno está em </a:t>
            </a:r>
            <a:r>
              <a:rPr lang="pt-BR" sz="2400" i="1" dirty="0" err="1"/>
              <a:t>recuperação</a:t>
            </a:r>
            <a:r>
              <a:rPr lang="pt-BR" sz="2400" dirty="0" err="1"/>
              <a:t>.Caso</a:t>
            </a:r>
            <a:r>
              <a:rPr lang="pt-BR" sz="2400" dirty="0"/>
              <a:t> a média seja inferior a 05, escreva que o </a:t>
            </a:r>
            <a:r>
              <a:rPr lang="pt-BR" sz="2400" i="1" dirty="0"/>
              <a:t>aluno foi reprovado</a:t>
            </a:r>
            <a:r>
              <a:rPr lang="pt-BR" sz="2400" dirty="0"/>
              <a:t>.</a:t>
            </a:r>
          </a:p>
          <a:p>
            <a:pPr marL="0" indent="0" algn="ctr">
              <a:buNone/>
            </a:pPr>
            <a:r>
              <a:rPr lang="pt-BR" sz="2400" dirty="0"/>
              <a:t>Peça também para informar a quantidade de faltas daquele aluno. </a:t>
            </a:r>
            <a:br>
              <a:rPr lang="pt-BR" sz="2400" dirty="0"/>
            </a:br>
            <a:r>
              <a:rPr lang="pt-BR" sz="2400" dirty="0"/>
              <a:t>Caso ele possua 10 ou acima de 10 faltas, ele está </a:t>
            </a:r>
            <a:r>
              <a:rPr lang="pt-BR" sz="2400" i="1" dirty="0"/>
              <a:t>reprovado independente das notas</a:t>
            </a:r>
            <a:r>
              <a:rPr lang="pt-B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20521282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01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500" dirty="0"/>
              <a:t>Escreva um algoritmo que leia 3 números a partir do teclado. O algoritmo deve apresentar:</a:t>
            </a:r>
          </a:p>
          <a:p>
            <a:pPr marL="0" indent="0" algn="ctr">
              <a:buNone/>
            </a:pPr>
            <a:r>
              <a:rPr lang="pt-BR" sz="3500" dirty="0"/>
              <a:t>a. O maior número.</a:t>
            </a:r>
          </a:p>
          <a:p>
            <a:pPr marL="0" indent="0" algn="ctr">
              <a:buNone/>
            </a:pPr>
            <a:r>
              <a:rPr lang="pt-BR" sz="3500" dirty="0"/>
              <a:t>b. O menor número.</a:t>
            </a:r>
          </a:p>
          <a:p>
            <a:pPr marL="0" indent="0" algn="ctr">
              <a:buNone/>
            </a:pPr>
            <a:r>
              <a:rPr lang="pt-BR" sz="3500" dirty="0"/>
              <a:t>c. A média aritmética dos três números.</a:t>
            </a:r>
          </a:p>
        </p:txBody>
      </p:sp>
    </p:spTree>
    <p:extLst>
      <p:ext uri="{BB962C8B-B14F-4D97-AF65-F5344CB8AC3E}">
        <p14:creationId xmlns:p14="http://schemas.microsoft.com/office/powerpoint/2010/main" val="427481991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02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000" dirty="0"/>
              <a:t>Crie um algoritmo que leia um número e alerte quando o mesmo for maior do que 100.</a:t>
            </a:r>
          </a:p>
        </p:txBody>
      </p:sp>
    </p:spTree>
    <p:extLst>
      <p:ext uri="{BB962C8B-B14F-4D97-AF65-F5344CB8AC3E}">
        <p14:creationId xmlns:p14="http://schemas.microsoft.com/office/powerpoint/2010/main" val="39696726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03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3500" dirty="0"/>
              <a:t>Crie um algoritmo que leia uma senha fornecida pelo usuário composta por caracteres para informar se a senha é válida ou inválida. </a:t>
            </a:r>
            <a:br>
              <a:rPr lang="pt-BR" sz="3500" dirty="0"/>
            </a:br>
            <a:r>
              <a:rPr lang="pt-BR" sz="3500" dirty="0"/>
              <a:t>A senha do sistema corresponde a palavra “PROGRAMACAO”. </a:t>
            </a:r>
            <a:br>
              <a:rPr lang="pt-BR" sz="3500" dirty="0"/>
            </a:br>
            <a:br>
              <a:rPr lang="pt-BR" sz="3500" dirty="0"/>
            </a:br>
            <a:r>
              <a:rPr lang="pt-BR" sz="3500" dirty="0"/>
              <a:t>Obs.: O algoritmo não faz distinção de letras maiúsculas e minúsculas.</a:t>
            </a:r>
          </a:p>
        </p:txBody>
      </p:sp>
    </p:spTree>
    <p:extLst>
      <p:ext uri="{BB962C8B-B14F-4D97-AF65-F5344CB8AC3E}">
        <p14:creationId xmlns:p14="http://schemas.microsoft.com/office/powerpoint/2010/main" val="3712634952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04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4500" dirty="0"/>
              <a:t>Crie um algoritmo que leia um número inteiro e informe se ele é par ou ímpar.</a:t>
            </a:r>
          </a:p>
        </p:txBody>
      </p:sp>
    </p:spTree>
    <p:extLst>
      <p:ext uri="{BB962C8B-B14F-4D97-AF65-F5344CB8AC3E}">
        <p14:creationId xmlns:p14="http://schemas.microsoft.com/office/powerpoint/2010/main" val="22507757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05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000" dirty="0"/>
              <a:t>Crie um algoritmo que leia dois valores diferentes e determine o maior valor.</a:t>
            </a:r>
          </a:p>
        </p:txBody>
      </p:sp>
    </p:spTree>
    <p:extLst>
      <p:ext uri="{BB962C8B-B14F-4D97-AF65-F5344CB8AC3E}">
        <p14:creationId xmlns:p14="http://schemas.microsoft.com/office/powerpoint/2010/main" val="432277348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06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000" dirty="0"/>
              <a:t>Crie um algoritmo que leia um número inteiro e informe se ele é ou não divisível por 5.</a:t>
            </a:r>
          </a:p>
        </p:txBody>
      </p:sp>
    </p:spTree>
    <p:extLst>
      <p:ext uri="{BB962C8B-B14F-4D97-AF65-F5344CB8AC3E}">
        <p14:creationId xmlns:p14="http://schemas.microsoft.com/office/powerpoint/2010/main" val="253668505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07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 algn="ctr">
              <a:buNone/>
            </a:pPr>
            <a:r>
              <a:rPr lang="pt-BR" sz="4000" dirty="0"/>
              <a:t>Crie um algoritmo que leia três lados de um triângulo e determine se ele é equilátero, isósceles ou escaleno. </a:t>
            </a:r>
            <a:br>
              <a:rPr lang="pt-BR" sz="4000" dirty="0"/>
            </a:br>
            <a:r>
              <a:rPr lang="pt-BR" sz="4000" dirty="0"/>
              <a:t>Quando os três lados forem iguais trata-se de um triângulo equilátero, dois lados iguais é um triângulo isósceles e os três lados diferentes é um triângulo escaleno.</a:t>
            </a:r>
          </a:p>
        </p:txBody>
      </p:sp>
    </p:spTree>
    <p:extLst>
      <p:ext uri="{BB962C8B-B14F-4D97-AF65-F5344CB8AC3E}">
        <p14:creationId xmlns:p14="http://schemas.microsoft.com/office/powerpoint/2010/main" val="156849500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95CD78A-8BE0-8AA0-16C3-8F95DD8488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exercício 08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A88D85-9BE2-79A0-0AC8-7E0121841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5000" dirty="0"/>
              <a:t>Crie um algoritmo que leia três números e exibe os números em ordem crescente.</a:t>
            </a:r>
          </a:p>
        </p:txBody>
      </p:sp>
    </p:spTree>
    <p:extLst>
      <p:ext uri="{BB962C8B-B14F-4D97-AF65-F5344CB8AC3E}">
        <p14:creationId xmlns:p14="http://schemas.microsoft.com/office/powerpoint/2010/main" val="42140395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úvida | Dragon Ball Oficial™ Amino">
            <a:extLst>
              <a:ext uri="{FF2B5EF4-FFF2-40B4-BE49-F238E27FC236}">
                <a16:creationId xmlns:a16="http://schemas.microsoft.com/office/drawing/2014/main" id="{711A5572-882B-1C34-B694-6470014C68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1819" y="33652"/>
            <a:ext cx="5668361" cy="6790696"/>
          </a:xfrm>
          <a:prstGeom prst="rect">
            <a:avLst/>
          </a:prstGeom>
          <a:noFill/>
          <a:effectLst>
            <a:softEdge rad="3175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75582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6EFE4D-83B8-2B4A-DD94-6078C7795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Dúvidas ou sugestões???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1D7B914-66F6-9C57-C927-B5FEE658A0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br>
              <a:rPr lang="pt-BR" sz="4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r>
              <a:rPr lang="pt-BR" sz="4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Email: </a:t>
            </a:r>
            <a:br>
              <a:rPr lang="pt-BR" sz="4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</a:br>
            <a:endParaRPr lang="pt-BR" sz="4300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r>
              <a:rPr lang="pt-BR" sz="4300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  <a:hlinkClick r:id="rId2"/>
              </a:rPr>
              <a:t>daniel.h.paiva@ulife.com.br</a:t>
            </a:r>
            <a:endParaRPr lang="pt-BR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pt-BR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endParaRPr lang="pt-BR" dirty="0">
              <a:latin typeface="JetBrains Mono" panose="02000009000000000000" pitchFamily="49" charset="0"/>
              <a:ea typeface="JetBrains Mono" panose="02000009000000000000" pitchFamily="49" charset="0"/>
              <a:cs typeface="JetBrains Mono" panose="02000009000000000000" pitchFamily="49" charset="0"/>
            </a:endParaRPr>
          </a:p>
          <a:p>
            <a:pPr algn="r"/>
            <a:r>
              <a:rPr lang="pt-BR" dirty="0">
                <a:latin typeface="JetBrains Mono" panose="02000009000000000000" pitchFamily="49" charset="0"/>
                <a:ea typeface="JetBrains Mono" panose="02000009000000000000" pitchFamily="49" charset="0"/>
                <a:cs typeface="JetBrains Mono" panose="02000009000000000000" pitchFamily="49" charset="0"/>
              </a:rPr>
              <a:t>Bons estudos!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F64E26C3-8210-A83B-688C-3A1FE90847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5067" y="486000"/>
            <a:ext cx="3200000" cy="1800000"/>
          </a:xfrm>
          <a:prstGeom prst="rect">
            <a:avLst/>
          </a:prstGeom>
          <a:effectLst>
            <a:softEdge rad="31750"/>
          </a:effectLst>
        </p:spPr>
      </p:pic>
    </p:spTree>
    <p:extLst>
      <p:ext uri="{BB962C8B-B14F-4D97-AF65-F5344CB8AC3E}">
        <p14:creationId xmlns:p14="http://schemas.microsoft.com/office/powerpoint/2010/main" val="254680816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803863_TF22378848.potx" id="{53269024-24FC-4B17-B3AE-3D7549CE191E}" vid="{01B4D491-F3F2-4E5D-94E6-F1FCB1EFD3D9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4F44C90D-2A62-4985-9618-3460247437B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61EAB5F-88FC-4FAE-AE3C-037A3C365EB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88A2F88-55C5-4ED1-9541-807C65424763}">
  <ds:schemaRefs>
    <ds:schemaRef ds:uri="http://schemas.microsoft.com/office/2006/metadata/properties"/>
    <ds:schemaRef ds:uri="http://www.w3.org/XML/1998/namespace"/>
    <ds:schemaRef ds:uri="http://schemas.microsoft.com/office/2006/documentManagement/types"/>
    <ds:schemaRef ds:uri="71af3243-3dd4-4a8d-8c0d-dd76da1f02a5"/>
    <ds:schemaRef ds:uri="http://purl.org/dc/elements/1.1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16c05727-aa75-4e4a-9b5f-8a80a1165891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Design integral</Template>
  <TotalTime>353</TotalTime>
  <Words>1915</Words>
  <Application>Microsoft Office PowerPoint</Application>
  <PresentationFormat>Widescreen</PresentationFormat>
  <Paragraphs>191</Paragraphs>
  <Slides>85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85</vt:i4>
      </vt:variant>
    </vt:vector>
  </HeadingPairs>
  <TitlesOfParts>
    <vt:vector size="94" baseType="lpstr">
      <vt:lpstr>Arial</vt:lpstr>
      <vt:lpstr>Calibri</vt:lpstr>
      <vt:lpstr>Cascadia Code</vt:lpstr>
      <vt:lpstr>JetBrains Mono</vt:lpstr>
      <vt:lpstr>Tw Cen MT</vt:lpstr>
      <vt:lpstr>Tw Cen MT Condensed</vt:lpstr>
      <vt:lpstr>Wingdings</vt:lpstr>
      <vt:lpstr>Wingdings 3</vt:lpstr>
      <vt:lpstr>Integral</vt:lpstr>
      <vt:lpstr>estrutura condicional</vt:lpstr>
      <vt:lpstr>Apresentação do PowerPoint</vt:lpstr>
      <vt:lpstr>Objetivo da aula</vt:lpstr>
      <vt:lpstr>requisitos</vt:lpstr>
      <vt:lpstr>Vamos começar</vt:lpstr>
      <vt:lpstr>O que é uma biblioteca???</vt:lpstr>
      <vt:lpstr>definição</vt:lpstr>
      <vt:lpstr>A biblioteca Pode possuir:</vt:lpstr>
      <vt:lpstr>Vantagens na utilização de bibliotecas</vt:lpstr>
      <vt:lpstr>Vantagens na utilização de bibliotecas</vt:lpstr>
      <vt:lpstr>Exemplo de como usar uma biblioteca</vt:lpstr>
      <vt:lpstr>Exemplo de como usar uma biblioteca</vt:lpstr>
      <vt:lpstr>Biblioteca Portugal studio</vt:lpstr>
      <vt:lpstr>exemplo 00</vt:lpstr>
      <vt:lpstr>Apresentação do PowerPoint</vt:lpstr>
      <vt:lpstr>Apresentação do PowerPoint</vt:lpstr>
      <vt:lpstr>Desvio condicional simples: SE</vt:lpstr>
      <vt:lpstr>Estrutura (Desvio) condicional se</vt:lpstr>
      <vt:lpstr>Desvio condicional - se</vt:lpstr>
      <vt:lpstr>Desvio condicional - se</vt:lpstr>
      <vt:lpstr>Desvio condicional</vt:lpstr>
      <vt:lpstr>Desvio condicional - se</vt:lpstr>
      <vt:lpstr>Apresentação do PowerPoint</vt:lpstr>
      <vt:lpstr>Apresentação do PowerPoint</vt:lpstr>
      <vt:lpstr>Apresentação do PowerPoint</vt:lpstr>
      <vt:lpstr>fluxograma</vt:lpstr>
      <vt:lpstr>fluxograma</vt:lpstr>
      <vt:lpstr>exemplo 01</vt:lpstr>
      <vt:lpstr>Apresentação do PowerPoint</vt:lpstr>
      <vt:lpstr>Condição verdadeira</vt:lpstr>
      <vt:lpstr>Condição falsa</vt:lpstr>
      <vt:lpstr>Apresentação do PowerPoint</vt:lpstr>
      <vt:lpstr>Condição verdadeira</vt:lpstr>
      <vt:lpstr>Condição falsa</vt:lpstr>
      <vt:lpstr>exemplo 02</vt:lpstr>
      <vt:lpstr>Apresentação do PowerPoint</vt:lpstr>
      <vt:lpstr>Condição falsa</vt:lpstr>
      <vt:lpstr>Apresentação do PowerPoint</vt:lpstr>
      <vt:lpstr>Apresentação do PowerPoint</vt:lpstr>
      <vt:lpstr>Apresentação do PowerPoint</vt:lpstr>
      <vt:lpstr>Desvio condicional composta: SE senão</vt:lpstr>
      <vt:lpstr>Estrutura condicional – Se SENãO</vt:lpstr>
      <vt:lpstr>Desvio condicional</vt:lpstr>
      <vt:lpstr>Desvio condicional</vt:lpstr>
      <vt:lpstr>Desvio condicional</vt:lpstr>
      <vt:lpstr>Desvio condicional – se senão</vt:lpstr>
      <vt:lpstr>Apresentação do PowerPoint</vt:lpstr>
      <vt:lpstr>Apresentação do PowerPoint</vt:lpstr>
      <vt:lpstr>Apresentação do PowerPoint</vt:lpstr>
      <vt:lpstr>Apresentação do PowerPoint</vt:lpstr>
      <vt:lpstr>exemplo 03</vt:lpstr>
      <vt:lpstr>Apresentação do PowerPoint</vt:lpstr>
      <vt:lpstr>Condição verdadeira</vt:lpstr>
      <vt:lpstr>Condição falsa</vt:lpstr>
      <vt:lpstr>exemplo 04</vt:lpstr>
      <vt:lpstr>Apresentação do PowerPoint</vt:lpstr>
      <vt:lpstr>Condição verdadeira</vt:lpstr>
      <vt:lpstr>Condição falsa</vt:lpstr>
      <vt:lpstr>Desvio condicional encadeado</vt:lpstr>
      <vt:lpstr>Desvio condicional encadeado (aninhado)</vt:lpstr>
      <vt:lpstr>Apresentação do PowerPoint</vt:lpstr>
      <vt:lpstr>Desvio condicional encadeado (aninhado)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exemplo 05</vt:lpstr>
      <vt:lpstr>Apresentação do PowerPoint</vt:lpstr>
      <vt:lpstr>Primeira Condição</vt:lpstr>
      <vt:lpstr>segunda Condição</vt:lpstr>
      <vt:lpstr>Terceira Condição</vt:lpstr>
      <vt:lpstr>quarta Condição</vt:lpstr>
      <vt:lpstr>Exercícios de fixação</vt:lpstr>
      <vt:lpstr>exercício 00</vt:lpstr>
      <vt:lpstr>exercício 01</vt:lpstr>
      <vt:lpstr>exercício 02</vt:lpstr>
      <vt:lpstr>exercício 03</vt:lpstr>
      <vt:lpstr>exercício 04</vt:lpstr>
      <vt:lpstr>exercício 05</vt:lpstr>
      <vt:lpstr>exercício 06</vt:lpstr>
      <vt:lpstr>exercício 07</vt:lpstr>
      <vt:lpstr>exercício 08</vt:lpstr>
      <vt:lpstr>Apresentação do PowerPoint</vt:lpstr>
      <vt:lpstr>Dúvidas ou sugestões???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Estrutura Condicional - Daniel Paiva</dc:title>
  <dc:creator>Admin</dc:creator>
  <cp:keywords>Daniel Paiva</cp:keywords>
  <cp:lastModifiedBy>daniel</cp:lastModifiedBy>
  <cp:revision>161</cp:revision>
  <dcterms:created xsi:type="dcterms:W3CDTF">2023-02-26T16:03:57Z</dcterms:created>
  <dcterms:modified xsi:type="dcterms:W3CDTF">2026-09-10T22:54:32Z</dcterms:modified>
  <cp:category>TI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