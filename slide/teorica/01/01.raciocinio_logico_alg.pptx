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32"/>
  </p:notesMasterIdLst>
  <p:handoutMasterIdLst>
    <p:handoutMasterId r:id="rId33"/>
  </p:handoutMasterIdLst>
  <p:sldIdLst>
    <p:sldId id="256" r:id="rId5"/>
    <p:sldId id="278" r:id="rId6"/>
    <p:sldId id="304" r:id="rId7"/>
    <p:sldId id="279" r:id="rId8"/>
    <p:sldId id="303" r:id="rId9"/>
    <p:sldId id="306" r:id="rId10"/>
    <p:sldId id="305" r:id="rId11"/>
    <p:sldId id="318" r:id="rId12"/>
    <p:sldId id="307" r:id="rId13"/>
    <p:sldId id="308" r:id="rId14"/>
    <p:sldId id="322" r:id="rId15"/>
    <p:sldId id="319" r:id="rId16"/>
    <p:sldId id="323" r:id="rId17"/>
    <p:sldId id="320" r:id="rId18"/>
    <p:sldId id="324" r:id="rId19"/>
    <p:sldId id="325" r:id="rId20"/>
    <p:sldId id="310" r:id="rId21"/>
    <p:sldId id="311" r:id="rId22"/>
    <p:sldId id="312" r:id="rId23"/>
    <p:sldId id="313" r:id="rId24"/>
    <p:sldId id="314" r:id="rId25"/>
    <p:sldId id="315" r:id="rId26"/>
    <p:sldId id="316" r:id="rId27"/>
    <p:sldId id="317" r:id="rId28"/>
    <p:sldId id="302" r:id="rId29"/>
    <p:sldId id="298" r:id="rId30"/>
    <p:sldId id="300" r:id="rId31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7777D35-62E0-4ADA-A544-0FF8CE93EFA3}" type="datetime1">
              <a:rPr lang="pt-BR" noProof="1" smtClean="0"/>
              <a:t>13/08/2026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0F727BD-530A-46F6-89AA-0169182CFF12}" type="datetime1">
              <a:rPr lang="pt-BR" noProof="1" smtClean="0"/>
              <a:t>13/08/2026</a:t>
            </a:fld>
            <a:endParaRPr lang="pt-BR" noProof="1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1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1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pt-BR" noProof="1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58BA592B-0EA4-40D4-A1E4-71971A215A20}" type="datetime1">
              <a:rPr lang="pt-BR" noProof="1" smtClean="0"/>
              <a:t>13/08/2026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AEA189-6A12-46BC-8D40-4AE493F46DA7}" type="datetime1">
              <a:rPr lang="pt-BR" noProof="1" smtClean="0"/>
              <a:t>13/08/2026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9CDA04-3929-4D47-933D-1E3D28969575}" type="datetime1">
              <a:rPr lang="pt-BR" noProof="1" smtClean="0"/>
              <a:t>13/08/2026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7F04DB-A7C8-4A03-A390-FF466E07A079}" type="datetime1">
              <a:rPr lang="pt-BR" noProof="1" smtClean="0"/>
              <a:t>13/08/2026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 noProof="1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B593EC-2F08-44C6-ABE6-DDD998346E60}" type="datetime1">
              <a:rPr lang="pt-BR" noProof="1" smtClean="0"/>
              <a:t>13/08/2026</a:t>
            </a:fld>
            <a:endParaRPr lang="pt-BR" noProof="1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5D5DED-087C-4044-A01E-71A37BA13494}" type="datetime1">
              <a:rPr lang="pt-BR" noProof="1" smtClean="0"/>
              <a:t>13/08/2026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8423E9-1DB6-4230-88B5-F7BE0B79B8DA}" type="datetime1">
              <a:rPr lang="pt-BR" noProof="1" smtClean="0"/>
              <a:t>13/08/2026</a:t>
            </a:fld>
            <a:endParaRPr lang="pt-BR" noProof="1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E18BF6-C54B-4774-B74E-64B13634CEBD}" type="datetime1">
              <a:rPr lang="pt-BR" noProof="1" smtClean="0"/>
              <a:t>13/08/2026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1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66459E-9F7E-4AD8-ABE1-A057363D4744}" type="datetime1">
              <a:rPr lang="pt-BR" noProof="1" smtClean="0"/>
              <a:t>13/08/2026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D014EE-1076-4685-AE78-7B1C143CD568}" type="datetime1">
              <a:rPr lang="pt-BR" noProof="1" smtClean="0"/>
              <a:t>13/08/2026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238825-B43B-4B14-B624-1C85BDF721B5}" type="datetime1">
              <a:rPr lang="pt-BR" noProof="1" smtClean="0"/>
              <a:t>13/08/2026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8071EC9B-CAF5-4D8C-962A-CE3A64DB1FC2}" type="datetime1">
              <a:rPr lang="pt-BR" noProof="1" smtClean="0"/>
              <a:t>13/08/2026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pt-BR" noProof="1" dirty="0" smtClean="0"/>
              <a:pPr rtl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mailto:daniel.h.paiva@ulife.com.br" TargetMode="External"/><Relationship Id="rId2" Type="http://schemas.openxmlformats.org/officeDocument/2006/relationships/hyperlink" Target="mailto:profdanhpaiva@gmail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l"/>
            <a:r>
              <a:rPr lang="pt-BR" noProof="0" dirty="0">
                <a:solidFill>
                  <a:srgbClr val="FFFFFF"/>
                </a:solidFill>
              </a:rPr>
              <a:t>Raciocínio Logico e Algoritmo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09349" y="4779313"/>
            <a:ext cx="7501650" cy="514816"/>
          </a:xfrm>
        </p:spPr>
        <p:txBody>
          <a:bodyPr rtlCol="0" anchor="t">
            <a:normAutofit fontScale="92500" lnSpcReduction="20000"/>
          </a:bodyPr>
          <a:lstStyle/>
          <a:p>
            <a:pPr rtl="0"/>
            <a:r>
              <a:rPr lang="pt-BR" noProof="0" dirty="0">
                <a:solidFill>
                  <a:srgbClr val="FFFFFF"/>
                </a:solidFill>
              </a:rPr>
              <a:t>Matemática Computacional Aplicada</a:t>
            </a:r>
            <a:br>
              <a:rPr lang="pt-BR" noProof="0" dirty="0">
                <a:solidFill>
                  <a:srgbClr val="FFFFFF"/>
                </a:solidFill>
              </a:rPr>
            </a:br>
            <a:r>
              <a:rPr lang="pt-BR" noProof="0" dirty="0">
                <a:solidFill>
                  <a:srgbClr val="FFFFFF"/>
                </a:solidFill>
              </a:rPr>
              <a:t>Daniel Henrique Matos de Paiva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D5D4B85A-CF2A-F3F1-A35F-75BEFCD98C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999" y="364444"/>
            <a:ext cx="3200000" cy="1800000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Objetivos da aula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000" noProof="0" dirty="0"/>
              <a:t>1 – O que é pseudocódigo</a:t>
            </a:r>
          </a:p>
          <a:p>
            <a:r>
              <a:rPr lang="pt-BR" sz="3000" noProof="0" dirty="0"/>
              <a:t>2 – O que são algoritmos</a:t>
            </a:r>
          </a:p>
          <a:p>
            <a:r>
              <a:rPr lang="pt-BR" sz="3000" noProof="0" dirty="0"/>
              <a:t>3 – Comandos básicos</a:t>
            </a:r>
          </a:p>
          <a:p>
            <a:r>
              <a:rPr lang="pt-BR" sz="3000" noProof="0" dirty="0"/>
              <a:t>4 – Tipos de Variáveis</a:t>
            </a:r>
          </a:p>
          <a:p>
            <a:r>
              <a:rPr lang="pt-BR" sz="3000" noProof="0" dirty="0"/>
              <a:t>5 – Dicas</a:t>
            </a:r>
          </a:p>
          <a:p>
            <a:r>
              <a:rPr lang="pt-BR" sz="3000" noProof="0" dirty="0"/>
              <a:t>6 – ...</a:t>
            </a:r>
          </a:p>
        </p:txBody>
      </p:sp>
    </p:spTree>
    <p:extLst>
      <p:ext uri="{BB962C8B-B14F-4D97-AF65-F5344CB8AC3E}">
        <p14:creationId xmlns:p14="http://schemas.microsoft.com/office/powerpoint/2010/main" val="329778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pseudocódigo | ProfPanda - Tecnologia e Informação">
            <a:extLst>
              <a:ext uri="{FF2B5EF4-FFF2-40B4-BE49-F238E27FC236}">
                <a16:creationId xmlns:a16="http://schemas.microsoft.com/office/drawing/2014/main" id="{5012FC32-2167-4CDD-D1C7-85A7D11D73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2575" y="0"/>
            <a:ext cx="90868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7595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Conceito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1E65D1-4A08-6C5B-257D-963544828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3000" noProof="0" dirty="0"/>
              <a:t> </a:t>
            </a:r>
            <a:r>
              <a:rPr lang="pt-BR" sz="3000" b="1" noProof="0" dirty="0">
                <a:solidFill>
                  <a:srgbClr val="0070C0"/>
                </a:solidFill>
              </a:rPr>
              <a:t>Pseudocódigo</a:t>
            </a:r>
            <a:r>
              <a:rPr lang="pt-BR" sz="3000" noProof="0" dirty="0"/>
              <a:t> é uma abordagem para descrever um procedimento ou criar código de programação e algoritmos utilizando uma linguagem natural, como o inglês.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000" noProof="0" dirty="0"/>
              <a:t> Em outras palavras, o pseudocódigo não constitui o código efetivo, mas sim uma </a:t>
            </a:r>
            <a:r>
              <a:rPr lang="pt-BR" sz="3000" b="1" noProof="0" dirty="0"/>
              <a:t>explicação</a:t>
            </a:r>
            <a:r>
              <a:rPr lang="pt-BR" sz="3000" noProof="0" dirty="0"/>
              <a:t> do que o código deveria realizar. </a:t>
            </a:r>
            <a:br>
              <a:rPr lang="pt-BR" sz="3000" noProof="0" dirty="0"/>
            </a:br>
            <a:r>
              <a:rPr lang="pt-BR" sz="3000" noProof="0" dirty="0"/>
              <a:t>Ele serve como um guia ou um conjunto detalhado e compreensível de </a:t>
            </a:r>
            <a:r>
              <a:rPr lang="pt-BR" sz="3000" b="1" noProof="0" dirty="0"/>
              <a:t>passos</a:t>
            </a:r>
            <a:r>
              <a:rPr lang="pt-BR" sz="3000" noProof="0" dirty="0"/>
              <a:t> a serem seguidos para a elaboração de um programa. </a:t>
            </a:r>
          </a:p>
        </p:txBody>
      </p:sp>
    </p:spTree>
    <p:extLst>
      <p:ext uri="{BB962C8B-B14F-4D97-AF65-F5344CB8AC3E}">
        <p14:creationId xmlns:p14="http://schemas.microsoft.com/office/powerpoint/2010/main" val="25330939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F054D-9A35-11AD-07F5-343DACF7E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5373E-519B-2892-D23E-3C41D5CF4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Conceito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4E6E283-E744-1EC0-7EA3-0692FAB69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3500" noProof="0" dirty="0"/>
              <a:t> A terminologia "pseudocódigo" é formada pela combinação das palavras "</a:t>
            </a:r>
            <a:r>
              <a:rPr lang="pt-BR" sz="3500" noProof="0" dirty="0" err="1"/>
              <a:t>pseudo</a:t>
            </a:r>
            <a:r>
              <a:rPr lang="pt-BR" sz="3500" noProof="0" dirty="0"/>
              <a:t>" e "código". O termo "</a:t>
            </a:r>
            <a:r>
              <a:rPr lang="pt-BR" sz="3500" noProof="0" dirty="0" err="1"/>
              <a:t>pseudo</a:t>
            </a:r>
            <a:r>
              <a:rPr lang="pt-BR" sz="3500" noProof="0" dirty="0"/>
              <a:t>" refere-se a algo cujo conteúdo não é genuíno ou real. </a:t>
            </a:r>
            <a:br>
              <a:rPr lang="pt-BR" sz="3500" noProof="0" dirty="0"/>
            </a:br>
            <a:r>
              <a:rPr lang="pt-BR" sz="3500" noProof="0" dirty="0"/>
              <a:t>Portanto, o pseudocódigo pode ser entendido como um esboço de um programa ou </a:t>
            </a:r>
            <a:r>
              <a:rPr lang="pt-BR" sz="3500" b="1" noProof="0" dirty="0"/>
              <a:t>algoritmo</a:t>
            </a:r>
            <a:r>
              <a:rPr lang="pt-BR" sz="3500" noProof="0" dirty="0"/>
              <a:t> antes de ser traduzido para uma linguagem de programação específica.</a:t>
            </a:r>
          </a:p>
          <a:p>
            <a:pPr>
              <a:buFont typeface="Arial" panose="020B0604020202020204" pitchFamily="34" charset="0"/>
              <a:buChar char="•"/>
            </a:pPr>
            <a:endParaRPr lang="pt-BR" sz="3000" noProof="0" dirty="0"/>
          </a:p>
        </p:txBody>
      </p:sp>
    </p:spTree>
    <p:extLst>
      <p:ext uri="{BB962C8B-B14F-4D97-AF65-F5344CB8AC3E}">
        <p14:creationId xmlns:p14="http://schemas.microsoft.com/office/powerpoint/2010/main" val="30138268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C0F23-D74B-26FE-329B-2FD5E2B57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C096566-055F-D149-F8F2-5C41F8A79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36831" y="1153445"/>
            <a:ext cx="12118338" cy="4551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1542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B51D0-815B-54D3-F866-C6D4882A2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4FB964-D639-1BB4-5F89-7032BC6D2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5B150F2-5642-B147-DE70-39B4EE6D44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3000" noProof="0" dirty="0"/>
              <a:t> Um algoritmo é um procedimento para </a:t>
            </a:r>
            <a:r>
              <a:rPr lang="pt-BR" sz="3000" b="1" noProof="0" dirty="0"/>
              <a:t>resolver um problema</a:t>
            </a:r>
            <a:r>
              <a:rPr lang="pt-BR" sz="3000" noProof="0" dirty="0"/>
              <a:t>. Em outras palavras, é uma sequência de passos para resolver um determinado problema. Pode conter sequências, iterações, seleção, etc.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000" noProof="0" dirty="0"/>
              <a:t> A principal diferença entre </a:t>
            </a:r>
            <a:r>
              <a:rPr lang="pt-BR" sz="3000" b="1" noProof="0" dirty="0"/>
              <a:t>algoritmo</a:t>
            </a:r>
            <a:r>
              <a:rPr lang="pt-BR" sz="3000" noProof="0" dirty="0"/>
              <a:t> e pseudocódigo é que um </a:t>
            </a:r>
            <a:r>
              <a:rPr lang="pt-BR" sz="3000" b="1" noProof="0" dirty="0"/>
              <a:t>algoritmo é um procedimento passo a passo </a:t>
            </a:r>
            <a:r>
              <a:rPr lang="pt-BR" sz="3000" noProof="0" dirty="0"/>
              <a:t>para resolver um determinado problema, enquanto um pseudocódigo é um método de escrever um algoritmo. Dessa forma, o </a:t>
            </a:r>
            <a:r>
              <a:rPr lang="pt-BR" sz="3000" noProof="0" dirty="0" err="1"/>
              <a:t>pseucódigo</a:t>
            </a:r>
            <a:r>
              <a:rPr lang="pt-BR" sz="3000" noProof="0" dirty="0"/>
              <a:t> é um tipo de algoritmo que pode ser escrito, para resolver um problema.</a:t>
            </a:r>
          </a:p>
        </p:txBody>
      </p:sp>
    </p:spTree>
    <p:extLst>
      <p:ext uri="{BB962C8B-B14F-4D97-AF65-F5344CB8AC3E}">
        <p14:creationId xmlns:p14="http://schemas.microsoft.com/office/powerpoint/2010/main" val="251731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odelo de Arte para Encarte com o tema Super Ofertas - Motopeças">
            <a:extLst>
              <a:ext uri="{FF2B5EF4-FFF2-40B4-BE49-F238E27FC236}">
                <a16:creationId xmlns:a16="http://schemas.microsoft.com/office/drawing/2014/main" id="{60BD455B-7A38-1606-DA94-47002507C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71888" y="0"/>
            <a:ext cx="48482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07311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802DB-9A96-70D2-6366-A0A10D765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BD9FB9-0E35-E6F2-F516-A301C8C28D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B5E73EB-82C1-B4AA-611E-70E93DDD0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30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1 Receba o código da peça</a:t>
            </a:r>
          </a:p>
          <a:p>
            <a:pPr marL="0" indent="0">
              <a:buNone/>
            </a:pPr>
            <a:r>
              <a:rPr lang="pt-BR" sz="30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2 Receba o valor da peça</a:t>
            </a:r>
          </a:p>
          <a:p>
            <a:pPr marL="0" indent="0">
              <a:buNone/>
            </a:pPr>
            <a:r>
              <a:rPr lang="pt-BR" sz="30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3 Receba a Quantidade de peças</a:t>
            </a:r>
          </a:p>
          <a:p>
            <a:pPr marL="0" indent="0">
              <a:buNone/>
            </a:pPr>
            <a:r>
              <a:rPr lang="pt-BR" sz="30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4 Calcule o valor total da peça </a:t>
            </a:r>
            <a:br>
              <a:rPr lang="pt-BR" sz="30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30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(Quantidade * Valor da peça)</a:t>
            </a:r>
          </a:p>
          <a:p>
            <a:pPr marL="0" indent="0">
              <a:buNone/>
            </a:pPr>
            <a:r>
              <a:rPr lang="pt-BR" sz="3000" noProof="0" dirty="0">
                <a:latin typeface="Cascadia Code" panose="020B0609020000020004" pitchFamily="49" charset="0"/>
                <a:cs typeface="Cascadia Code" panose="020B0609020000020004" pitchFamily="49" charset="0"/>
              </a:rPr>
              <a:t>5 Mostre o código da peça e seu valor total</a:t>
            </a:r>
          </a:p>
        </p:txBody>
      </p:sp>
    </p:spTree>
    <p:extLst>
      <p:ext uri="{BB962C8B-B14F-4D97-AF65-F5344CB8AC3E}">
        <p14:creationId xmlns:p14="http://schemas.microsoft.com/office/powerpoint/2010/main" val="28293165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E0875-6F69-C79C-7A13-CAB9244EA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9CAC08-1056-01C2-5625-36DE398DE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Algoritmos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1F2F65-B5C1-499F-162A-89E9F65399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3500" noProof="0" dirty="0"/>
              <a:t> O </a:t>
            </a:r>
            <a:r>
              <a:rPr lang="pt-BR" sz="3500" b="1" noProof="0" dirty="0">
                <a:solidFill>
                  <a:srgbClr val="00B050"/>
                </a:solidFill>
              </a:rPr>
              <a:t>raciocínio lógico </a:t>
            </a:r>
            <a:r>
              <a:rPr lang="pt-BR" sz="3500" noProof="0" dirty="0"/>
              <a:t>é fundamental para resolver problemas, especialmente na área de computação. Normalmente, podem haver </a:t>
            </a:r>
            <a:r>
              <a:rPr lang="pt-BR" sz="3500" b="1" noProof="0" dirty="0"/>
              <a:t>vários métodos para resolver um mesmo problema</a:t>
            </a:r>
            <a:r>
              <a:rPr lang="pt-BR" sz="3500" noProof="0" dirty="0"/>
              <a:t>. </a:t>
            </a:r>
            <a:br>
              <a:rPr lang="pt-BR" sz="3500" noProof="0" dirty="0"/>
            </a:br>
            <a:br>
              <a:rPr lang="pt-BR" sz="3500" noProof="0" dirty="0"/>
            </a:br>
            <a:r>
              <a:rPr lang="pt-BR" sz="3500" noProof="0" dirty="0"/>
              <a:t>Por isso, é importante </a:t>
            </a:r>
            <a:r>
              <a:rPr lang="pt-BR" sz="3500" b="1" noProof="0" dirty="0">
                <a:solidFill>
                  <a:srgbClr val="0070C0"/>
                </a:solidFill>
              </a:rPr>
              <a:t>analisar</a:t>
            </a:r>
            <a:r>
              <a:rPr lang="pt-BR" sz="3500" noProof="0" dirty="0"/>
              <a:t> </a:t>
            </a:r>
            <a:r>
              <a:rPr lang="pt-BR" sz="3500" b="1" noProof="0" dirty="0"/>
              <a:t>cada solução </a:t>
            </a:r>
            <a:r>
              <a:rPr lang="pt-BR" sz="3500" noProof="0" dirty="0"/>
              <a:t>e selecionar a melhor abordagem para resolvê-la. </a:t>
            </a:r>
          </a:p>
        </p:txBody>
      </p:sp>
    </p:spTree>
    <p:extLst>
      <p:ext uri="{BB962C8B-B14F-4D97-AF65-F5344CB8AC3E}">
        <p14:creationId xmlns:p14="http://schemas.microsoft.com/office/powerpoint/2010/main" val="2587813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Os Simpsons: Cabelo de Homer guarda um mistério; saiba o que é -  Observatório do Cinema">
            <a:extLst>
              <a:ext uri="{FF2B5EF4-FFF2-40B4-BE49-F238E27FC236}">
                <a16:creationId xmlns:a16="http://schemas.microsoft.com/office/drawing/2014/main" id="{8B18BCCF-4006-8116-F9DB-E7697A3B1F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81000"/>
            <a:ext cx="12192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0033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1F44EB-047F-ABE0-1636-07E44C9AD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Agora vamos praticar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00BC24-DE43-EB3E-1F16-8F39C358B6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500" noProof="0" dirty="0"/>
              <a:t>1. Descreva um algoritmo para pagar uma conta de agua via PIX.</a:t>
            </a:r>
          </a:p>
        </p:txBody>
      </p:sp>
      <p:pic>
        <p:nvPicPr>
          <p:cNvPr id="3074" name="Picture 2" descr="Pix Para Empresas: Como Funciona, Chaves, Taxas E Vantagens">
            <a:extLst>
              <a:ext uri="{FF2B5EF4-FFF2-40B4-BE49-F238E27FC236}">
                <a16:creationId xmlns:a16="http://schemas.microsoft.com/office/drawing/2014/main" id="{3351B9EC-2B22-9160-0C13-0FA4D76AA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3928" y="3614468"/>
            <a:ext cx="4684143" cy="3122762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7938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D2EFF-5881-71C2-FEDA-E0853689D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58FCBE-E82D-7B2B-1357-00F5B09D65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20770"/>
            <a:ext cx="10966589" cy="6599207"/>
          </a:xfrm>
        </p:spPr>
        <p:txBody>
          <a:bodyPr>
            <a:normAutofit fontScale="55000" lnSpcReduction="20000"/>
          </a:bodyPr>
          <a:lstStyle/>
          <a:p>
            <a:r>
              <a:rPr lang="pt-BR" sz="3500" noProof="0" dirty="0"/>
              <a:t> Pagar uma conta de água via PIX</a:t>
            </a:r>
          </a:p>
          <a:p>
            <a:r>
              <a:rPr lang="pt-BR" sz="3500" noProof="0" dirty="0"/>
              <a:t>1. </a:t>
            </a:r>
            <a:r>
              <a:rPr lang="pt-BR" sz="3500" b="1" noProof="0" dirty="0"/>
              <a:t>Receber</a:t>
            </a:r>
            <a:r>
              <a:rPr lang="pt-BR" sz="3500" noProof="0" dirty="0"/>
              <a:t> a conta de água: A conta de água pode ser recebida no formato impresso ou </a:t>
            </a:r>
            <a:r>
              <a:rPr lang="pt-BR" sz="3500" b="1" noProof="0" dirty="0"/>
              <a:t>digital</a:t>
            </a:r>
            <a:r>
              <a:rPr lang="pt-BR" sz="3500" noProof="0" dirty="0"/>
              <a:t> (via e-mail, aplicativo, etc.). A conta contém o </a:t>
            </a:r>
            <a:r>
              <a:rPr lang="pt-BR" sz="3500" b="1" noProof="0" dirty="0"/>
              <a:t>valor a ser pago </a:t>
            </a:r>
            <a:r>
              <a:rPr lang="pt-BR" sz="3500" noProof="0" dirty="0"/>
              <a:t>e, geralmente, um código QR e/ou um código de barras.</a:t>
            </a:r>
          </a:p>
          <a:p>
            <a:r>
              <a:rPr lang="pt-BR" sz="3500" noProof="0" dirty="0"/>
              <a:t>2. </a:t>
            </a:r>
            <a:r>
              <a:rPr lang="pt-BR" sz="3500" b="1" noProof="0" dirty="0"/>
              <a:t>Acessar</a:t>
            </a:r>
            <a:r>
              <a:rPr lang="pt-BR" sz="3500" noProof="0" dirty="0"/>
              <a:t> o aplicativo do banco: O usuário deve abrir o aplicativo do seu banco no smartphone.</a:t>
            </a:r>
          </a:p>
          <a:p>
            <a:r>
              <a:rPr lang="pt-BR" sz="3500" noProof="0" dirty="0"/>
              <a:t>3. </a:t>
            </a:r>
            <a:r>
              <a:rPr lang="pt-BR" sz="3500" b="1" noProof="0" dirty="0"/>
              <a:t>Localizar</a:t>
            </a:r>
            <a:r>
              <a:rPr lang="pt-BR" sz="3500" noProof="0" dirty="0"/>
              <a:t> a opção de pagamento via PIX: Dentro do aplicativo, o usuário deve navegar até a área de pagamentos e selecionar a opção PIX.</a:t>
            </a:r>
          </a:p>
          <a:p>
            <a:r>
              <a:rPr lang="pt-BR" sz="3500" noProof="0" dirty="0"/>
              <a:t>4. </a:t>
            </a:r>
            <a:r>
              <a:rPr lang="pt-BR" sz="3500" b="1" noProof="0" dirty="0"/>
              <a:t>Escolher</a:t>
            </a:r>
            <a:r>
              <a:rPr lang="pt-BR" sz="3500" noProof="0" dirty="0"/>
              <a:t> o método de pagamento: As contas de água costumam oferecer dois métodos principais de pagamento PIX:</a:t>
            </a:r>
          </a:p>
          <a:p>
            <a:pPr marL="0" indent="0">
              <a:buNone/>
            </a:pPr>
            <a:r>
              <a:rPr lang="pt-BR" sz="3500" noProof="0" dirty="0"/>
              <a:t>Leitura do Código QR: A maioria dos aplicativos bancários tem uma função de </a:t>
            </a:r>
            <a:r>
              <a:rPr lang="pt-BR" sz="3500" b="1" noProof="0" dirty="0"/>
              <a:t>leitor de QR </a:t>
            </a:r>
            <a:r>
              <a:rPr lang="pt-BR" sz="3500" b="1" noProof="0" dirty="0" err="1"/>
              <a:t>Code</a:t>
            </a:r>
            <a:r>
              <a:rPr lang="pt-BR" sz="3500" noProof="0" dirty="0"/>
              <a:t>. O usuário deve apontar a câmera do celular para o código QR impresso ou exibido na conta digital. O aplicativo irá automaticamente preencher os dados do pagamento (valor, beneficiário, etc.).</a:t>
            </a:r>
          </a:p>
          <a:p>
            <a:pPr marL="0" indent="0">
              <a:buNone/>
            </a:pPr>
            <a:r>
              <a:rPr lang="pt-BR" sz="3500" noProof="0" dirty="0"/>
              <a:t>Copia e Cola (PIX Copia e Cola): A conta digital geralmente vem com uma opção para copiar o código do PIX. O usuário deve copiar esse código e colá-lo na seção "PIX Copia e Cola" do aplicativo bancário.</a:t>
            </a:r>
          </a:p>
          <a:p>
            <a:r>
              <a:rPr lang="pt-BR" sz="3500" noProof="0" dirty="0"/>
              <a:t>5. </a:t>
            </a:r>
            <a:r>
              <a:rPr lang="pt-BR" sz="3500" b="1" noProof="0" dirty="0"/>
              <a:t>Confirmar</a:t>
            </a:r>
            <a:r>
              <a:rPr lang="pt-BR" sz="3500" noProof="0" dirty="0"/>
              <a:t> os dados: Após a leitura do QR </a:t>
            </a:r>
            <a:r>
              <a:rPr lang="pt-BR" sz="3500" noProof="0" dirty="0" err="1"/>
              <a:t>Code</a:t>
            </a:r>
            <a:r>
              <a:rPr lang="pt-BR" sz="3500" noProof="0" dirty="0"/>
              <a:t> ou a colagem do código, o aplicativo exibirá os detalhes do pagamento. É </a:t>
            </a:r>
            <a:r>
              <a:rPr lang="pt-BR" sz="3500" b="1" noProof="0" dirty="0">
                <a:solidFill>
                  <a:srgbClr val="FF0000"/>
                </a:solidFill>
              </a:rPr>
              <a:t>crucial conferir se o valor e o nome do beneficiário </a:t>
            </a:r>
            <a:r>
              <a:rPr lang="pt-BR" sz="3500" noProof="0" dirty="0"/>
              <a:t>(geralmente a empresa de saneamento local) estão corretos.</a:t>
            </a:r>
          </a:p>
          <a:p>
            <a:r>
              <a:rPr lang="pt-BR" sz="3500" noProof="0" dirty="0"/>
              <a:t>6. </a:t>
            </a:r>
            <a:r>
              <a:rPr lang="pt-BR" sz="3500" b="1" noProof="0" dirty="0"/>
              <a:t>Inserir</a:t>
            </a:r>
            <a:r>
              <a:rPr lang="pt-BR" sz="3500" noProof="0" dirty="0"/>
              <a:t> a senha ou autenticação: O usuário deve digitar sua senha, usar a biometria (impressão digital) ou o reconhecimento facial para autorizar o pagamento.</a:t>
            </a:r>
          </a:p>
          <a:p>
            <a:r>
              <a:rPr lang="pt-BR" sz="3500" noProof="0" dirty="0"/>
              <a:t>7. </a:t>
            </a:r>
            <a:r>
              <a:rPr lang="pt-BR" sz="3500" b="1" noProof="0" dirty="0"/>
              <a:t>Concluir</a:t>
            </a:r>
            <a:r>
              <a:rPr lang="pt-BR" sz="3500" noProof="0" dirty="0"/>
              <a:t> o pagamento: O aplicativo processará a transação. Uma tela de confirmação mostrará que o pagamento foi realizado com sucesso. O comprovante, que serve como prova de pagamento, pode ser salvo, compartilhado ou acessado posteriormente no histórico do aplicativo.</a:t>
            </a:r>
          </a:p>
        </p:txBody>
      </p:sp>
    </p:spTree>
    <p:extLst>
      <p:ext uri="{BB962C8B-B14F-4D97-AF65-F5344CB8AC3E}">
        <p14:creationId xmlns:p14="http://schemas.microsoft.com/office/powerpoint/2010/main" val="11699874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2E604-6C0D-C55D-AFD6-8E3DE4E1D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4FE13E-CB01-6324-7F32-D3BE305A7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Agora vamos praticar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3B8FC9-2C8A-B47E-B465-3F078E1BA4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500" noProof="0" dirty="0"/>
              <a:t>2. Descreva um algoritmo para ver o filme Quarteto Fantástico – Primeiros Passos.</a:t>
            </a:r>
          </a:p>
        </p:txBody>
      </p:sp>
      <p:pic>
        <p:nvPicPr>
          <p:cNvPr id="4098" name="Picture 2" descr="História do cinema: origem, evolução, resumo - Brasil Escola">
            <a:extLst>
              <a:ext uri="{FF2B5EF4-FFF2-40B4-BE49-F238E27FC236}">
                <a16:creationId xmlns:a16="http://schemas.microsoft.com/office/drawing/2014/main" id="{B05D3238-2FF4-0EDB-55B4-54C8770D88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0" y="3429000"/>
            <a:ext cx="5715000" cy="3095625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5043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24A94-52F9-8CB4-5180-DE392D575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39425B8-3CFC-91E2-3736-C7052F32E0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20770"/>
            <a:ext cx="11104612" cy="6599207"/>
          </a:xfrm>
        </p:spPr>
        <p:txBody>
          <a:bodyPr>
            <a:noAutofit/>
          </a:bodyPr>
          <a:lstStyle/>
          <a:p>
            <a:r>
              <a:rPr lang="pt-BR" sz="2100" noProof="0" dirty="0"/>
              <a:t>Ir ao cinema para ver 'Quarteto Fantástico – Primeiros Passos'</a:t>
            </a:r>
          </a:p>
          <a:p>
            <a:r>
              <a:rPr lang="pt-BR" sz="2100" noProof="0" dirty="0"/>
              <a:t>1. </a:t>
            </a:r>
            <a:r>
              <a:rPr lang="pt-BR" sz="2100" b="1" noProof="0" dirty="0"/>
              <a:t>Pesquisar</a:t>
            </a:r>
            <a:r>
              <a:rPr lang="pt-BR" sz="2100" noProof="0" dirty="0"/>
              <a:t> e </a:t>
            </a:r>
            <a:r>
              <a:rPr lang="pt-BR" sz="2100" b="1" noProof="0" dirty="0"/>
              <a:t>escolher</a:t>
            </a:r>
            <a:r>
              <a:rPr lang="pt-BR" sz="2100" noProof="0" dirty="0"/>
              <a:t> o cinema: Use um aplicativo ou site (como o Google, Ingresso.com, Cinemark, UCI, etc.) para pesquisar os cinemas próximos que estão exibindo o filme. Verifique os horários disponíveis e os tipos de sala (por exemplo, 2D, 3D, IMAX).</a:t>
            </a:r>
          </a:p>
          <a:p>
            <a:r>
              <a:rPr lang="pt-BR" sz="2100" noProof="0" dirty="0"/>
              <a:t>2. Selecionar o </a:t>
            </a:r>
            <a:r>
              <a:rPr lang="pt-BR" sz="2100" b="1" noProof="0" dirty="0"/>
              <a:t>horário</a:t>
            </a:r>
            <a:r>
              <a:rPr lang="pt-BR" sz="2100" noProof="0" dirty="0"/>
              <a:t> e os assentos: Escolha o horário de sessão que melhor se adapta à sua agenda e, em seguida, selecione os assentos de sua preferência no mapa da sala de cinema.</a:t>
            </a:r>
          </a:p>
          <a:p>
            <a:r>
              <a:rPr lang="pt-BR" sz="2100" noProof="0" dirty="0"/>
              <a:t>3. </a:t>
            </a:r>
            <a:r>
              <a:rPr lang="pt-BR" sz="2100" b="1" noProof="0" dirty="0"/>
              <a:t>Comprar</a:t>
            </a:r>
            <a:r>
              <a:rPr lang="pt-BR" sz="2100" noProof="0" dirty="0"/>
              <a:t> o ingresso: Adicione o ingresso ao carrinho virtual, prossiga para o pagamento e use um cartão de crédito, débito ou outra forma de pagamento aceita para concluir a compra. Após o pagamento, você receberá um e-mail ou notificação no aplicativo com o ingresso digital, geralmente contendo um código de barras ou um QR </a:t>
            </a:r>
            <a:r>
              <a:rPr lang="pt-BR" sz="2100" noProof="0" dirty="0" err="1"/>
              <a:t>Code</a:t>
            </a:r>
            <a:r>
              <a:rPr lang="pt-BR" sz="2100" noProof="0" dirty="0"/>
              <a:t>.</a:t>
            </a:r>
          </a:p>
          <a:p>
            <a:r>
              <a:rPr lang="pt-BR" sz="2100" noProof="0" dirty="0"/>
              <a:t>4. </a:t>
            </a:r>
            <a:r>
              <a:rPr lang="pt-BR" sz="2100" b="1" noProof="0" dirty="0"/>
              <a:t>Preparar-se</a:t>
            </a:r>
            <a:r>
              <a:rPr lang="pt-BR" sz="2100" noProof="0" dirty="0"/>
              <a:t> para a sessão: No dia do filme, considere a distância e o trânsito até o cinema. Chegue com antecedência para ter tempo de estacionar, retirar alimentos e bebidas (se desejar) e encontrar sua sala.</a:t>
            </a:r>
          </a:p>
          <a:p>
            <a:r>
              <a:rPr lang="pt-BR" sz="2100" noProof="0" dirty="0"/>
              <a:t>5. </a:t>
            </a:r>
            <a:r>
              <a:rPr lang="pt-BR" sz="2100" b="1" noProof="0" dirty="0"/>
              <a:t>Entrar</a:t>
            </a:r>
            <a:r>
              <a:rPr lang="pt-BR" sz="2100" noProof="0" dirty="0"/>
              <a:t> na sala: Ao chegar ao cinema, aproxime o ingresso digital do leitor automático na entrada da sala ou apresente-o a um funcionário. Eles validarão o ingresso e você poderá entrar.</a:t>
            </a:r>
          </a:p>
          <a:p>
            <a:r>
              <a:rPr lang="pt-BR" sz="2100" noProof="0" dirty="0"/>
              <a:t>6. </a:t>
            </a:r>
            <a:r>
              <a:rPr lang="pt-BR" sz="2100" b="1" noProof="0" dirty="0"/>
              <a:t>Encontrar</a:t>
            </a:r>
            <a:r>
              <a:rPr lang="pt-BR" sz="2100" noProof="0" dirty="0"/>
              <a:t> seu assento: Localize o número do seu assento e sente-se. É uma boa prática desligar ou colocar o celular no modo silencioso para não incomodar os outros espectadores.</a:t>
            </a:r>
          </a:p>
          <a:p>
            <a:r>
              <a:rPr lang="pt-BR" sz="2100" noProof="0" dirty="0"/>
              <a:t>7. </a:t>
            </a:r>
            <a:r>
              <a:rPr lang="pt-BR" sz="2100" b="1" noProof="0" dirty="0"/>
              <a:t>Assistir</a:t>
            </a:r>
            <a:r>
              <a:rPr lang="pt-BR" sz="2100" noProof="0" dirty="0"/>
              <a:t> ao filme: Aproveite a sessão!</a:t>
            </a:r>
          </a:p>
        </p:txBody>
      </p:sp>
    </p:spTree>
    <p:extLst>
      <p:ext uri="{BB962C8B-B14F-4D97-AF65-F5344CB8AC3E}">
        <p14:creationId xmlns:p14="http://schemas.microsoft.com/office/powerpoint/2010/main" val="1022810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42F39-49A8-0777-9555-1F8B3AF4A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75 ideias de Meme de programador | engraçado, memes engraçados, memes">
            <a:extLst>
              <a:ext uri="{FF2B5EF4-FFF2-40B4-BE49-F238E27FC236}">
                <a16:creationId xmlns:a16="http://schemas.microsoft.com/office/drawing/2014/main" id="{1EDF7B83-FB74-79FB-33F4-73D84274C9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0"/>
            <a:ext cx="63325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7324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BB2F742-26AC-AD7A-7D02-B62BB5C98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599" y="0"/>
            <a:ext cx="58808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10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0A173-7DB9-A30B-785F-E76A96986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3EFCB-B279-59C6-738C-2F69C0B67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Tipos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4968AF-CCD0-2715-93D4-23141C37E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3000" noProof="0" dirty="0"/>
              <a:t>Numérico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000" noProof="0" dirty="0"/>
              <a:t> Específicas para armazenamento de </a:t>
            </a:r>
            <a:r>
              <a:rPr lang="pt-BR" sz="3000" b="1" noProof="0" dirty="0"/>
              <a:t>números</a:t>
            </a:r>
            <a:r>
              <a:rPr lang="pt-BR" sz="3000" noProof="0" dirty="0"/>
              <a:t>, que posteriormente poderão ser utilizados para cálculos.</a:t>
            </a:r>
          </a:p>
          <a:p>
            <a:pPr marL="0" indent="0">
              <a:buNone/>
            </a:pPr>
            <a:r>
              <a:rPr lang="pt-BR" sz="3000" noProof="0" dirty="0"/>
              <a:t>Inteiro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000" noProof="0" dirty="0"/>
              <a:t> Números </a:t>
            </a:r>
            <a:r>
              <a:rPr lang="pt-BR" sz="3000" b="1" noProof="0" dirty="0"/>
              <a:t>inteiros</a:t>
            </a:r>
            <a:r>
              <a:rPr lang="pt-BR" sz="3000" noProof="0" dirty="0"/>
              <a:t>, que não possuam casas decimais, como 0, 1, </a:t>
            </a:r>
            <a:r>
              <a:rPr lang="pt-BR" sz="3000" b="1" noProof="0" dirty="0"/>
              <a:t>100</a:t>
            </a:r>
            <a:r>
              <a:rPr lang="pt-BR" sz="3000" noProof="0" dirty="0"/>
              <a:t>, 2000, </a:t>
            </a:r>
            <a:r>
              <a:rPr lang="pt-BR" sz="3000" b="1" noProof="0" dirty="0"/>
              <a:t>3054</a:t>
            </a:r>
            <a:r>
              <a:rPr lang="pt-BR" sz="3000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6454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7E660-FC91-89D7-CE41-9A24360A5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27C51E-B75A-E460-9D68-737594664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Tipos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1652412-FB70-2E89-6F0B-ACF5566D0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3000" noProof="0" dirty="0"/>
              <a:t>Real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000" noProof="0" dirty="0"/>
              <a:t> Números que possuem </a:t>
            </a:r>
            <a:r>
              <a:rPr lang="pt-BR" sz="3000" b="1" noProof="0" dirty="0"/>
              <a:t>casas decimais</a:t>
            </a:r>
            <a:r>
              <a:rPr lang="pt-BR" sz="3000" noProof="0" dirty="0"/>
              <a:t>, números negativos, fracionários, como </a:t>
            </a:r>
            <a:r>
              <a:rPr lang="pt-BR" sz="3000" b="1" noProof="0" dirty="0"/>
              <a:t>0.25</a:t>
            </a:r>
            <a:r>
              <a:rPr lang="pt-BR" sz="3000" noProof="0" dirty="0"/>
              <a:t>, 1.44, 3.22, </a:t>
            </a:r>
            <a:r>
              <a:rPr lang="pt-BR" sz="3000" b="1" noProof="0" dirty="0"/>
              <a:t>20.10</a:t>
            </a:r>
            <a:r>
              <a:rPr lang="pt-BR" sz="3000" noProof="0" dirty="0"/>
              <a:t>, </a:t>
            </a:r>
            <a:r>
              <a:rPr lang="pt-BR" sz="3000" b="1" noProof="0" dirty="0"/>
              <a:t>-30.54</a:t>
            </a:r>
            <a:r>
              <a:rPr lang="pt-BR" sz="3000" noProof="0" dirty="0"/>
              <a:t>, 1/3.</a:t>
            </a:r>
          </a:p>
          <a:p>
            <a:pPr marL="0" indent="0">
              <a:buNone/>
            </a:pPr>
            <a:r>
              <a:rPr lang="pt-BR" sz="3000" noProof="0" dirty="0"/>
              <a:t>Caractere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000" noProof="0" dirty="0"/>
              <a:t> Essas variáveis são utilizadas para armazenamento de </a:t>
            </a:r>
            <a:r>
              <a:rPr lang="pt-BR" sz="3000" b="1" noProof="0" dirty="0"/>
              <a:t>conjunto de caracteres </a:t>
            </a:r>
            <a:r>
              <a:rPr lang="pt-BR" sz="3000" noProof="0" dirty="0"/>
              <a:t>que não contenham números (literais). </a:t>
            </a:r>
            <a:r>
              <a:rPr lang="pt-BR" sz="3000" noProof="0" dirty="0" err="1"/>
              <a:t>Ex</a:t>
            </a:r>
            <a:r>
              <a:rPr lang="pt-BR" sz="3000" noProof="0" dirty="0"/>
              <a:t>: </a:t>
            </a:r>
            <a:r>
              <a:rPr lang="pt-BR" sz="3000" b="1" noProof="0" dirty="0"/>
              <a:t>nomes</a:t>
            </a:r>
            <a:r>
              <a:rPr lang="pt-BR" sz="3000" noProof="0" dirty="0"/>
              <a:t>, cargos, etc. </a:t>
            </a:r>
          </a:p>
          <a:p>
            <a:pPr marL="0" indent="0">
              <a:buNone/>
            </a:pPr>
            <a:endParaRPr lang="pt-BR" sz="3000" noProof="0" dirty="0"/>
          </a:p>
        </p:txBody>
      </p:sp>
    </p:spTree>
    <p:extLst>
      <p:ext uri="{BB962C8B-B14F-4D97-AF65-F5344CB8AC3E}">
        <p14:creationId xmlns:p14="http://schemas.microsoft.com/office/powerpoint/2010/main" val="328424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BE8CE-C896-2F44-FF9A-8A4469328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D3E20E-467A-253E-C812-078D2F176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Tipos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653D06-AC4F-6A22-9F7D-F783C97AA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3000" noProof="0" dirty="0"/>
              <a:t>Lógico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3000" noProof="0" dirty="0"/>
              <a:t> Armazenam somente dados lógicos que podem ser </a:t>
            </a:r>
            <a:r>
              <a:rPr lang="pt-BR" sz="3000" b="1" noProof="0" dirty="0"/>
              <a:t>Verdadeiro</a:t>
            </a:r>
            <a:r>
              <a:rPr lang="pt-BR" sz="3000" noProof="0" dirty="0"/>
              <a:t> ou Falso ou 0 e </a:t>
            </a:r>
            <a:r>
              <a:rPr lang="pt-BR" sz="3000" b="1" noProof="0" dirty="0"/>
              <a:t>1</a:t>
            </a:r>
            <a:r>
              <a:rPr lang="pt-BR" sz="3000" noProof="0" dirty="0"/>
              <a:t>.</a:t>
            </a:r>
          </a:p>
          <a:p>
            <a:pPr marL="0" indent="0">
              <a:buNone/>
            </a:pPr>
            <a:endParaRPr lang="pt-BR" sz="3000" noProof="0" dirty="0"/>
          </a:p>
        </p:txBody>
      </p:sp>
    </p:spTree>
    <p:extLst>
      <p:ext uri="{BB962C8B-B14F-4D97-AF65-F5344CB8AC3E}">
        <p14:creationId xmlns:p14="http://schemas.microsoft.com/office/powerpoint/2010/main" val="42433024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F3AF4-E130-3B36-C356-A8C9333E3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096BF97B-912B-18AA-CF33-8EB2BDFCC2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0835" y="120121"/>
            <a:ext cx="8710330" cy="6617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242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ISUALG 3.0 download | SourceForge.net">
            <a:extLst>
              <a:ext uri="{FF2B5EF4-FFF2-40B4-BE49-F238E27FC236}">
                <a16:creationId xmlns:a16="http://schemas.microsoft.com/office/drawing/2014/main" id="{3CAEF489-DC66-7131-32EB-1AAD658DE0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13" y="0"/>
            <a:ext cx="121443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7476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2EF4B-3381-4151-4E82-4C2015A19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32DADC5-4CA4-0D28-3B35-B7DDB5278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23813" y="255333"/>
            <a:ext cx="12144375" cy="6347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02399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8B259-9000-9D21-A8C9-E4BC75517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8C6AE9-4664-76DE-DD83-1AB22286D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680122-19EF-36F9-BA4E-858360572B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pt-BR" sz="3500" noProof="0" dirty="0"/>
              <a:t>Aprender pseudocódigo é uma excelente maneira de </a:t>
            </a:r>
            <a:r>
              <a:rPr lang="pt-BR" sz="3500" b="1" noProof="0" dirty="0"/>
              <a:t>iniciar no desenvolvimento de software</a:t>
            </a:r>
            <a:r>
              <a:rPr lang="pt-BR" sz="3500" noProof="0" dirty="0"/>
              <a:t>, já que possibilita uma transição mais suave para o mundo das linguagens de programação. </a:t>
            </a:r>
          </a:p>
          <a:p>
            <a:pPr marL="0" indent="0">
              <a:buNone/>
            </a:pPr>
            <a:r>
              <a:rPr lang="pt-BR" sz="3500" noProof="0" dirty="0"/>
              <a:t>Além disso, por meio de ferramentas como o </a:t>
            </a:r>
            <a:r>
              <a:rPr lang="pt-BR" sz="3500" noProof="0" dirty="0" err="1"/>
              <a:t>VisuAlg</a:t>
            </a:r>
            <a:r>
              <a:rPr lang="pt-BR" sz="3500" noProof="0" dirty="0"/>
              <a:t>, compreender o funcionamento do </a:t>
            </a:r>
            <a:r>
              <a:rPr lang="pt-BR" sz="3500" b="1" noProof="0" dirty="0" err="1"/>
              <a:t>Portugol</a:t>
            </a:r>
            <a:r>
              <a:rPr lang="pt-BR" sz="3500" noProof="0" dirty="0"/>
              <a:t> se torna muito mais fácil.</a:t>
            </a:r>
          </a:p>
        </p:txBody>
      </p:sp>
    </p:spTree>
    <p:extLst>
      <p:ext uri="{BB962C8B-B14F-4D97-AF65-F5344CB8AC3E}">
        <p14:creationId xmlns:p14="http://schemas.microsoft.com/office/powerpoint/2010/main" val="39690578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livros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A73754-A5DD-F130-2E7B-BAF64CCF00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089131" y="2333158"/>
            <a:ext cx="2166017" cy="324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BCF3F1E-2A73-274C-41FD-13E4EB7CBC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808468" y="2333158"/>
            <a:ext cx="2268000" cy="324000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7384570-D89D-0379-DED7-FCDF594D0B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15532" y="2333158"/>
            <a:ext cx="2420280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4242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Dúvidas???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BA73754-A5DD-F130-2E7B-BAF64CCF00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465369" y="1842351"/>
            <a:ext cx="7261262" cy="4843206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9760588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0" dirty="0"/>
              <a:t>contato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914AB4C-53BF-41D9-B4BA-498938A4F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sz="2000" noProof="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Sugestões ou dúvidas:</a:t>
            </a:r>
          </a:p>
          <a:p>
            <a:r>
              <a:rPr lang="pt-BR" sz="2000" noProof="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hlinkClick r:id="rId2"/>
              </a:rPr>
              <a:t>profdanhpaiva@gmail.com</a:t>
            </a:r>
            <a:endParaRPr lang="pt-BR" sz="2000" noProof="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pt-BR" sz="2000" noProof="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hlinkClick r:id="rId3"/>
              </a:rPr>
              <a:t>daniel.h.paiva@ulife.com.br</a:t>
            </a:r>
            <a:endParaRPr lang="pt-BR" sz="2000" noProof="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A01A6440-2D7E-5EB0-2825-9D47AD7823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7704" y="3851995"/>
            <a:ext cx="5296592" cy="2824849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5736578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3863_TF22378848.potx" id="{53269024-24FC-4B17-B3AE-3D7549CE191E}" vid="{01B4D491-F3F2-4E5D-94E6-F1FCB1EFD3D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8A2F88-55C5-4ED1-9541-807C65424763}">
  <ds:schemaRefs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16c05727-aa75-4e4a-9b5f-8a80a1165891"/>
    <ds:schemaRef ds:uri="71af3243-3dd4-4a8d-8c0d-dd76da1f02a5"/>
    <ds:schemaRef ds:uri="http://www.w3.org/XML/1998/namespace"/>
    <ds:schemaRef ds:uri="http://purl.org/dc/dcmitype/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integral</Template>
  <TotalTime>151</TotalTime>
  <Words>1240</Words>
  <Application>Microsoft Office PowerPoint</Application>
  <PresentationFormat>Widescreen</PresentationFormat>
  <Paragraphs>70</Paragraphs>
  <Slides>27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27</vt:i4>
      </vt:variant>
    </vt:vector>
  </HeadingPairs>
  <TitlesOfParts>
    <vt:vector size="35" baseType="lpstr">
      <vt:lpstr>Arial</vt:lpstr>
      <vt:lpstr>Calibri</vt:lpstr>
      <vt:lpstr>Cascadia Code</vt:lpstr>
      <vt:lpstr>JetBrains Mono</vt:lpstr>
      <vt:lpstr>Tw Cen MT</vt:lpstr>
      <vt:lpstr>Tw Cen MT Condensed</vt:lpstr>
      <vt:lpstr>Wingdings 3</vt:lpstr>
      <vt:lpstr>Integral</vt:lpstr>
      <vt:lpstr>Raciocínio Logico e Algoritmo</vt:lpstr>
      <vt:lpstr>Objetivos da aula</vt:lpstr>
      <vt:lpstr>Apresentação do PowerPoint</vt:lpstr>
      <vt:lpstr>Conceito</vt:lpstr>
      <vt:lpstr>Conceito</vt:lpstr>
      <vt:lpstr>Apresentação do PowerPoint</vt:lpstr>
      <vt:lpstr>Algoritmos</vt:lpstr>
      <vt:lpstr>Apresentação do PowerPoint</vt:lpstr>
      <vt:lpstr>Algoritmos</vt:lpstr>
      <vt:lpstr>Algoritmos</vt:lpstr>
      <vt:lpstr>Apresentação do PowerPoint</vt:lpstr>
      <vt:lpstr>Agora vamos praticar</vt:lpstr>
      <vt:lpstr>Apresentação do PowerPoint</vt:lpstr>
      <vt:lpstr>Agora vamos praticar</vt:lpstr>
      <vt:lpstr>Apresentação do PowerPoint</vt:lpstr>
      <vt:lpstr>Apresentação do PowerPoint</vt:lpstr>
      <vt:lpstr>Apresentação do PowerPoint</vt:lpstr>
      <vt:lpstr>Tipos variáveis</vt:lpstr>
      <vt:lpstr>Tipos variáveis</vt:lpstr>
      <vt:lpstr>Tipos variáveis</vt:lpstr>
      <vt:lpstr>Apresentação do PowerPoint</vt:lpstr>
      <vt:lpstr>Apresentação do PowerPoint</vt:lpstr>
      <vt:lpstr>Apresentação do PowerPoint</vt:lpstr>
      <vt:lpstr>Conclusão</vt:lpstr>
      <vt:lpstr>livros</vt:lpstr>
      <vt:lpstr>Dúvidas???</vt:lpstr>
      <vt:lpstr>contato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Pseudocodigo - Daniel Paiva</dc:title>
  <dc:creator>Admin</dc:creator>
  <cp:keywords>Daniel Paiva</cp:keywords>
  <cp:lastModifiedBy>daniel</cp:lastModifiedBy>
  <cp:revision>66</cp:revision>
  <dcterms:created xsi:type="dcterms:W3CDTF">2023-02-26T16:03:57Z</dcterms:created>
  <dcterms:modified xsi:type="dcterms:W3CDTF">2026-08-13T23:29:36Z</dcterms:modified>
  <cp:category>TI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