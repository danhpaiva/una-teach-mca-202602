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6" r:id="rId5"/>
    <p:sldId id="278" r:id="rId6"/>
    <p:sldId id="304" r:id="rId7"/>
    <p:sldId id="326" r:id="rId8"/>
    <p:sldId id="305" r:id="rId9"/>
    <p:sldId id="328" r:id="rId10"/>
    <p:sldId id="318" r:id="rId11"/>
    <p:sldId id="307" r:id="rId12"/>
    <p:sldId id="329" r:id="rId13"/>
    <p:sldId id="330" r:id="rId14"/>
    <p:sldId id="322" r:id="rId15"/>
    <p:sldId id="319" r:id="rId16"/>
    <p:sldId id="320" r:id="rId17"/>
    <p:sldId id="325" r:id="rId18"/>
    <p:sldId id="310" r:id="rId19"/>
    <p:sldId id="311" r:id="rId20"/>
    <p:sldId id="312" r:id="rId21"/>
    <p:sldId id="313" r:id="rId22"/>
    <p:sldId id="316" r:id="rId23"/>
    <p:sldId id="317" r:id="rId24"/>
    <p:sldId id="302" r:id="rId25"/>
    <p:sldId id="298" r:id="rId26"/>
    <p:sldId id="300" r:id="rId27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hyperlink" Target="mailto:daniel.h.paiva@ulife.com.b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pt-BR" noProof="0" dirty="0">
                <a:solidFill>
                  <a:srgbClr val="FFFFFF"/>
                </a:solidFill>
              </a:rPr>
              <a:t>Raciocínio Logico e Algoritmo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92500" lnSpcReduction="20000"/>
          </a:bodyPr>
          <a:lstStyle/>
          <a:p>
            <a:pPr rtl="0"/>
            <a:r>
              <a:rPr lang="pt-BR" noProof="0" dirty="0">
                <a:solidFill>
                  <a:srgbClr val="FFFFFF"/>
                </a:solidFill>
              </a:rPr>
              <a:t>Matemática Computacional Aplicada</a:t>
            </a:r>
            <a:br>
              <a:rPr lang="pt-BR" noProof="0" dirty="0">
                <a:solidFill>
                  <a:srgbClr val="FFFFFF"/>
                </a:solidFill>
              </a:rPr>
            </a:br>
            <a:r>
              <a:rPr lang="pt-BR" noProof="0" dirty="0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999" y="364444"/>
            <a:ext cx="1800000" cy="180000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000" noProof="0" dirty="0"/>
              <a:t>1 – O que é pseudocódigo</a:t>
            </a:r>
          </a:p>
          <a:p>
            <a:r>
              <a:rPr lang="pt-BR" sz="3000" noProof="0" dirty="0"/>
              <a:t>2 – O que são algoritmos</a:t>
            </a:r>
          </a:p>
          <a:p>
            <a:r>
              <a:rPr lang="pt-BR" sz="3000" noProof="0" dirty="0"/>
              <a:t>3 – Comandos básicos</a:t>
            </a:r>
          </a:p>
          <a:p>
            <a:r>
              <a:rPr lang="pt-BR" sz="3000" noProof="0" dirty="0"/>
              <a:t>4 – Tipos de Variáveis</a:t>
            </a:r>
          </a:p>
          <a:p>
            <a:r>
              <a:rPr lang="pt-BR" sz="3000" noProof="0" dirty="0"/>
              <a:t>5 – Dicas</a:t>
            </a:r>
          </a:p>
          <a:p>
            <a:r>
              <a:rPr lang="pt-BR" sz="3000" noProof="0" dirty="0"/>
              <a:t>6 – ...</a:t>
            </a:r>
          </a:p>
        </p:txBody>
      </p:sp>
    </p:spTree>
    <p:extLst>
      <p:ext uri="{BB962C8B-B14F-4D97-AF65-F5344CB8AC3E}">
        <p14:creationId xmlns:p14="http://schemas.microsoft.com/office/powerpoint/2010/main" val="329778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seudocódigo | ProfPanda - Tecnologia e Informação">
            <a:extLst>
              <a:ext uri="{FF2B5EF4-FFF2-40B4-BE49-F238E27FC236}">
                <a16:creationId xmlns:a16="http://schemas.microsoft.com/office/drawing/2014/main" id="{5012FC32-2167-4CDD-D1C7-85A7D11D7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5" y="0"/>
            <a:ext cx="90868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59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193B-7180-DF6E-B3D7-D26E1380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C4822-DCAE-8DC8-37F3-48CF68F1A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BD1A7-8D39-9A8B-3D23-B3CDA1546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500" noProof="0" dirty="0"/>
              <a:t> </a:t>
            </a:r>
            <a:r>
              <a:rPr lang="pt-BR" sz="4500" b="1" noProof="0" dirty="0">
                <a:solidFill>
                  <a:srgbClr val="7030A0"/>
                </a:solidFill>
              </a:rPr>
              <a:t>Pseudocódigo</a:t>
            </a:r>
            <a:r>
              <a:rPr lang="pt-BR" sz="4500" noProof="0" dirty="0"/>
              <a:t> é uma abordagem para descrever um procedimento ou criar código de programação e algoritmos utilizando uma linguagem natural, como o inglês/português.</a:t>
            </a:r>
          </a:p>
        </p:txBody>
      </p:sp>
    </p:spTree>
    <p:extLst>
      <p:ext uri="{BB962C8B-B14F-4D97-AF65-F5344CB8AC3E}">
        <p14:creationId xmlns:p14="http://schemas.microsoft.com/office/powerpoint/2010/main" val="59661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B51D0-815B-54D3-F866-C6D4882A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B964-D639-1BB4-5F89-7032BC6D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150F2-5642-B147-DE70-39B4EE6D4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 Um algoritmo é um procedimento para </a:t>
            </a:r>
            <a:r>
              <a:rPr lang="pt-BR" sz="4000" b="1" noProof="0" dirty="0"/>
              <a:t>resolver um problema</a:t>
            </a:r>
            <a:r>
              <a:rPr lang="pt-BR" sz="4000" noProof="0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Em outras palavras, é uma sequência de passos para resolver um determinado problema. Pode conter sequências, iterações, seleção, etc.</a:t>
            </a:r>
          </a:p>
        </p:txBody>
      </p:sp>
    </p:spTree>
    <p:extLst>
      <p:ext uri="{BB962C8B-B14F-4D97-AF65-F5344CB8AC3E}">
        <p14:creationId xmlns:p14="http://schemas.microsoft.com/office/powerpoint/2010/main" val="25173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4DCA7-9D9E-E79B-F60A-D15EAA6C7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9673C6-47E0-C8E8-3251-2F5BC7013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42D2AC-D0F6-F6AC-94B8-421F48561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Qual seria o passo a passo para comprar algo numa loja de ferramentas online?</a:t>
            </a:r>
          </a:p>
        </p:txBody>
      </p:sp>
    </p:spTree>
    <p:extLst>
      <p:ext uri="{BB962C8B-B14F-4D97-AF65-F5344CB8AC3E}">
        <p14:creationId xmlns:p14="http://schemas.microsoft.com/office/powerpoint/2010/main" val="3456933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odelo de Arte para Encarte com o tema Super Ofertas - Motopeças">
            <a:extLst>
              <a:ext uri="{FF2B5EF4-FFF2-40B4-BE49-F238E27FC236}">
                <a16:creationId xmlns:a16="http://schemas.microsoft.com/office/drawing/2014/main" id="{60BD455B-7A38-1606-DA94-47002507C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888" y="0"/>
            <a:ext cx="48482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731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802DB-9A96-70D2-6366-A0A10D76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BD9FB9-0E35-E6F2-F516-A301C8C2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5E73EB-82C1-B4AA-611E-70E93DDD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1 Receba o código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2 Receba o valor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3 Receba a Quantidade de peças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4 Calcule o valor total da peça </a:t>
            </a:r>
            <a:b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(Quantidade * Valor da peça)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5 Mostre o código da peça e seu valor total</a:t>
            </a:r>
          </a:p>
        </p:txBody>
      </p:sp>
    </p:spTree>
    <p:extLst>
      <p:ext uri="{BB962C8B-B14F-4D97-AF65-F5344CB8AC3E}">
        <p14:creationId xmlns:p14="http://schemas.microsoft.com/office/powerpoint/2010/main" val="2829316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93E65-DED0-36D2-4BA3-DD56EB85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CA5F3-99ED-737C-B642-528CF8456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9EFDED-836A-6A38-8250-6E857E0D3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500" noProof="0" dirty="0"/>
              <a:t> O </a:t>
            </a:r>
            <a:r>
              <a:rPr lang="pt-BR" sz="4500" b="1" noProof="0" dirty="0">
                <a:solidFill>
                  <a:srgbClr val="7030A0"/>
                </a:solidFill>
              </a:rPr>
              <a:t>raciocínio lógico </a:t>
            </a:r>
            <a:r>
              <a:rPr lang="pt-BR" sz="4500" noProof="0" dirty="0"/>
              <a:t>é fundamental para resolver problemas, especialmente na área de computação.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4500" dirty="0"/>
              <a:t> </a:t>
            </a:r>
            <a:r>
              <a:rPr lang="pt-BR" sz="4500" noProof="0" dirty="0"/>
              <a:t>Normalmente, podem haver </a:t>
            </a:r>
            <a:r>
              <a:rPr lang="pt-BR" sz="4500" b="1" noProof="0" dirty="0"/>
              <a:t>vários métodos para resolver um mesmo problema</a:t>
            </a:r>
            <a:r>
              <a:rPr lang="pt-BR" sz="4500" noProof="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522221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F6E2-2C40-5F42-375B-5C1C56CCF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287DE7-34D1-2FFC-351A-E170A00F3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D8E282-074A-69D3-2744-6E26B0818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noProof="0" dirty="0"/>
              <a:t>Por isso, é importante </a:t>
            </a:r>
            <a:r>
              <a:rPr lang="pt-BR" sz="4500" b="1" noProof="0" dirty="0">
                <a:solidFill>
                  <a:srgbClr val="0070C0"/>
                </a:solidFill>
              </a:rPr>
              <a:t>analisar</a:t>
            </a:r>
            <a:r>
              <a:rPr lang="pt-BR" sz="4500" noProof="0" dirty="0"/>
              <a:t> </a:t>
            </a:r>
            <a:r>
              <a:rPr lang="pt-BR" sz="4500" b="1" noProof="0" dirty="0"/>
              <a:t>cada solução </a:t>
            </a:r>
            <a:r>
              <a:rPr lang="pt-BR" sz="4500" noProof="0" dirty="0"/>
              <a:t>e selecionar a melhor abordagem para resolvê-la. </a:t>
            </a:r>
          </a:p>
        </p:txBody>
      </p:sp>
    </p:spTree>
    <p:extLst>
      <p:ext uri="{BB962C8B-B14F-4D97-AF65-F5344CB8AC3E}">
        <p14:creationId xmlns:p14="http://schemas.microsoft.com/office/powerpoint/2010/main" val="2493960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s Simpsons: Cabelo de Homer guarda um mistério; saiba o que é -  Observatório do Cinema">
            <a:extLst>
              <a:ext uri="{FF2B5EF4-FFF2-40B4-BE49-F238E27FC236}">
                <a16:creationId xmlns:a16="http://schemas.microsoft.com/office/drawing/2014/main" id="{8B18BCCF-4006-8116-F9DB-E7697A3B1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1000"/>
            <a:ext cx="12192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003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F44EB-047F-ABE0-1636-07E44C9AD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00BC24-DE43-EB3E-1F16-8F39C358B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1. Descreva um algoritmo para pagar </a:t>
            </a:r>
            <a:br>
              <a:rPr lang="pt-BR" sz="3500" noProof="0" dirty="0"/>
            </a:br>
            <a:r>
              <a:rPr lang="pt-BR" sz="3500" noProof="0" dirty="0"/>
              <a:t>uma </a:t>
            </a:r>
            <a:r>
              <a:rPr lang="pt-BR" sz="3500" dirty="0"/>
              <a:t>conta de celular</a:t>
            </a:r>
            <a:r>
              <a:rPr lang="pt-BR" sz="3500" noProof="0" dirty="0"/>
              <a:t>.</a:t>
            </a:r>
          </a:p>
        </p:txBody>
      </p:sp>
      <p:pic>
        <p:nvPicPr>
          <p:cNvPr id="3074" name="Picture 2" descr="Pix Para Empresas: Como Funciona, Chaves, Taxas E Vantagens">
            <a:extLst>
              <a:ext uri="{FF2B5EF4-FFF2-40B4-BE49-F238E27FC236}">
                <a16:creationId xmlns:a16="http://schemas.microsoft.com/office/drawing/2014/main" id="{3351B9EC-2B22-9160-0C13-0FA4D76AA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3928" y="3614468"/>
            <a:ext cx="4684143" cy="3122762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7938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E604-6C0D-C55D-AFD6-8E3DE4E1D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FE13E-CB01-6324-7F32-D3BE305A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3B8FC9-2C8A-B47E-B465-3F078E1BA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2. Descreva um algoritmo para ver </a:t>
            </a:r>
            <a:br>
              <a:rPr lang="pt-BR" sz="3500" noProof="0" dirty="0"/>
            </a:br>
            <a:r>
              <a:rPr lang="pt-BR" sz="3500" noProof="0" dirty="0"/>
              <a:t>o filme Homem Aranha : Um Novo Dia</a:t>
            </a:r>
            <a:r>
              <a:rPr lang="pt-BR" sz="3500" dirty="0"/>
              <a:t> </a:t>
            </a:r>
            <a:br>
              <a:rPr lang="pt-BR" sz="3500" dirty="0"/>
            </a:br>
            <a:r>
              <a:rPr lang="pt-BR" sz="3500" dirty="0"/>
              <a:t>no cinema.</a:t>
            </a:r>
            <a:endParaRPr lang="pt-BR" sz="3500" noProof="0" dirty="0"/>
          </a:p>
        </p:txBody>
      </p:sp>
      <p:pic>
        <p:nvPicPr>
          <p:cNvPr id="4098" name="Picture 2" descr="História do cinema: origem, evolução, resumo - Brasil Escola">
            <a:extLst>
              <a:ext uri="{FF2B5EF4-FFF2-40B4-BE49-F238E27FC236}">
                <a16:creationId xmlns:a16="http://schemas.microsoft.com/office/drawing/2014/main" id="{B05D3238-2FF4-0EDB-55B4-54C8770D8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762375"/>
            <a:ext cx="5715000" cy="3095625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 descr="🕷️ ELE VOLTOU! As gravações de &quot;Homem-Aranha: Um Novo Dia&quot; já começaram, e  Tom Holland (@tomholland2013) foi flagrado em açãõ com o novo traje do  herói! 📆 O filme tem previsão de">
            <a:extLst>
              <a:ext uri="{FF2B5EF4-FFF2-40B4-BE49-F238E27FC236}">
                <a16:creationId xmlns:a16="http://schemas.microsoft.com/office/drawing/2014/main" id="{D8A297E9-26E3-BE21-26D7-35510AB11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934" y="0"/>
            <a:ext cx="2867066" cy="3600000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353504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2F39-49A8-0777-9555-1F8B3AF4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75 ideias de Meme de programador | engraçado, memes engraçados, memes">
            <a:extLst>
              <a:ext uri="{FF2B5EF4-FFF2-40B4-BE49-F238E27FC236}">
                <a16:creationId xmlns:a16="http://schemas.microsoft.com/office/drawing/2014/main" id="{1EDF7B83-FB74-79FB-33F4-73D84274C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8938" y="0"/>
            <a:ext cx="63325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732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BB2F742-26AC-AD7A-7D02-B62BB5C98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599" y="0"/>
            <a:ext cx="58808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10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0A173-7DB9-A30B-785F-E76A96986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3EFCB-B279-59C6-738C-2F69C0B6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4968AF-CCD0-2715-93D4-23141C37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Numérico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Específicas para armazenamento de </a:t>
            </a:r>
            <a:r>
              <a:rPr lang="pt-BR" sz="3000" b="1" noProof="0" dirty="0"/>
              <a:t>números</a:t>
            </a:r>
            <a:r>
              <a:rPr lang="pt-BR" sz="3000" noProof="0" dirty="0"/>
              <a:t>, que posteriormente poderão ser utilizados para cálculos.</a:t>
            </a:r>
          </a:p>
          <a:p>
            <a:pPr marL="0" indent="0">
              <a:buNone/>
            </a:pPr>
            <a:r>
              <a:rPr lang="pt-BR" sz="3000" noProof="0" dirty="0"/>
              <a:t>Inteiro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</a:t>
            </a:r>
            <a:r>
              <a:rPr lang="pt-BR" sz="3000" b="1" noProof="0" dirty="0"/>
              <a:t>inteiros</a:t>
            </a:r>
            <a:r>
              <a:rPr lang="pt-BR" sz="3000" noProof="0" dirty="0"/>
              <a:t>, que não possuam casas decimais, como 0, 1, </a:t>
            </a:r>
            <a:r>
              <a:rPr lang="pt-BR" sz="3000" b="1" noProof="0" dirty="0"/>
              <a:t>100</a:t>
            </a:r>
            <a:r>
              <a:rPr lang="pt-BR" sz="3000" noProof="0" dirty="0"/>
              <a:t>, 2000, </a:t>
            </a:r>
            <a:r>
              <a:rPr lang="pt-BR" sz="3000" b="1" noProof="0" dirty="0"/>
              <a:t>3054</a:t>
            </a:r>
            <a:r>
              <a:rPr lang="pt-BR" sz="3000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6454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E660-FC91-89D7-CE41-9A24360A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7C51E-B75A-E460-9D68-737594664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652412-FB70-2E89-6F0B-ACF5566D0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Real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que possuem </a:t>
            </a:r>
            <a:r>
              <a:rPr lang="pt-BR" sz="3000" b="1" noProof="0" dirty="0"/>
              <a:t>casas decimais</a:t>
            </a:r>
            <a:r>
              <a:rPr lang="pt-BR" sz="3000" noProof="0" dirty="0"/>
              <a:t>, números negativos, fracionários, como </a:t>
            </a:r>
            <a:r>
              <a:rPr lang="pt-BR" sz="3000" b="1" noProof="0" dirty="0"/>
              <a:t>0.25</a:t>
            </a:r>
            <a:r>
              <a:rPr lang="pt-BR" sz="3000" noProof="0" dirty="0"/>
              <a:t>, 1.44, 3.22, </a:t>
            </a:r>
            <a:r>
              <a:rPr lang="pt-BR" sz="3000" b="1" noProof="0" dirty="0"/>
              <a:t>20.10</a:t>
            </a:r>
            <a:r>
              <a:rPr lang="pt-BR" sz="3000" noProof="0" dirty="0"/>
              <a:t>, </a:t>
            </a:r>
            <a:r>
              <a:rPr lang="pt-BR" sz="3000" b="1" noProof="0" dirty="0"/>
              <a:t>-30.54</a:t>
            </a:r>
            <a:r>
              <a:rPr lang="pt-BR" sz="3000" noProof="0" dirty="0"/>
              <a:t>, 1/3.</a:t>
            </a:r>
          </a:p>
          <a:p>
            <a:pPr marL="0" indent="0">
              <a:buNone/>
            </a:pPr>
            <a:r>
              <a:rPr lang="pt-BR" sz="3000" noProof="0" dirty="0"/>
              <a:t>Caractere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Essas variáveis são utilizadas para armazenamento de </a:t>
            </a:r>
            <a:r>
              <a:rPr lang="pt-BR" sz="3000" b="1" noProof="0" dirty="0"/>
              <a:t>conjunto de caracteres </a:t>
            </a:r>
            <a:r>
              <a:rPr lang="pt-BR" sz="3000" noProof="0" dirty="0"/>
              <a:t>que não contenham números (literais). </a:t>
            </a:r>
            <a:r>
              <a:rPr lang="pt-BR" sz="3000" noProof="0" dirty="0" err="1"/>
              <a:t>Ex</a:t>
            </a:r>
            <a:r>
              <a:rPr lang="pt-BR" sz="3000" noProof="0" dirty="0"/>
              <a:t>: </a:t>
            </a:r>
            <a:r>
              <a:rPr lang="pt-BR" sz="3000" b="1" noProof="0" dirty="0"/>
              <a:t>nomes</a:t>
            </a:r>
            <a:r>
              <a:rPr lang="pt-BR" sz="3000" noProof="0" dirty="0"/>
              <a:t>, cargos, etc. 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32842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BE8CE-C896-2F44-FF9A-8A446932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3E20E-467A-253E-C812-078D2F17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653D06-AC4F-6A22-9F7D-F783C97AA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Lógico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Armazenam somente dados lógicos que podem ser </a:t>
            </a:r>
            <a:r>
              <a:rPr lang="pt-BR" sz="3000" b="1" noProof="0" dirty="0"/>
              <a:t>Verdadeiro</a:t>
            </a:r>
            <a:r>
              <a:rPr lang="pt-BR" sz="3000" noProof="0" dirty="0"/>
              <a:t> ou Falso ou 0 e </a:t>
            </a:r>
            <a:r>
              <a:rPr lang="pt-BR" sz="3000" b="1" noProof="0" dirty="0"/>
              <a:t>1</a:t>
            </a:r>
            <a:r>
              <a:rPr lang="pt-BR" sz="3000" noProof="0" dirty="0"/>
              <a:t>.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4243302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2EF4B-3381-4151-4E82-4C2015A1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32DADC5-4CA4-0D28-3B35-B7DDB5278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23813" y="255333"/>
            <a:ext cx="12144375" cy="634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239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B259-9000-9D21-A8C9-E4BC75517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8C6AE9-4664-76DE-DD83-1AB22286D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680122-19EF-36F9-BA4E-858360572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Aprender pseudocódigo é uma excelente maneira de </a:t>
            </a:r>
            <a:r>
              <a:rPr lang="pt-BR" sz="3500" b="1" noProof="0" dirty="0"/>
              <a:t>iniciar no desenvolvimento de software</a:t>
            </a:r>
            <a:r>
              <a:rPr lang="pt-BR" sz="3500" noProof="0" dirty="0"/>
              <a:t>, já que possibilita uma transição mais suave para o mundo das linguagens de programação. </a:t>
            </a:r>
          </a:p>
          <a:p>
            <a:pPr marL="0" indent="0">
              <a:buNone/>
            </a:pPr>
            <a:r>
              <a:rPr lang="pt-BR" sz="3500" noProof="0" dirty="0"/>
              <a:t>Além disso, por meio de ferramentas como o </a:t>
            </a:r>
            <a:r>
              <a:rPr lang="pt-BR" sz="3500" noProof="0" dirty="0" err="1"/>
              <a:t>VisuAlg</a:t>
            </a:r>
            <a:r>
              <a:rPr lang="pt-BR" sz="3500" noProof="0" dirty="0"/>
              <a:t>, compreender o funcionamento do </a:t>
            </a:r>
            <a:r>
              <a:rPr lang="pt-BR" sz="3500" b="1" noProof="0" dirty="0" err="1"/>
              <a:t>Portugol</a:t>
            </a:r>
            <a:r>
              <a:rPr lang="pt-BR" sz="3500" noProof="0" dirty="0"/>
              <a:t> se torna muito mais fácil.</a:t>
            </a:r>
          </a:p>
        </p:txBody>
      </p:sp>
    </p:spTree>
    <p:extLst>
      <p:ext uri="{BB962C8B-B14F-4D97-AF65-F5344CB8AC3E}">
        <p14:creationId xmlns:p14="http://schemas.microsoft.com/office/powerpoint/2010/main" val="3969057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livros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89131" y="2333158"/>
            <a:ext cx="2166017" cy="324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BCF3F1E-2A73-274C-41FD-13E4EB7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08468" y="2333158"/>
            <a:ext cx="2268000" cy="324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384570-D89D-0379-DED7-FCDF594D0B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5532" y="2333158"/>
            <a:ext cx="242028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424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Dúvidas???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65369" y="1842351"/>
            <a:ext cx="7261262" cy="484320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9760588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contato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14AB4C-53BF-41D9-B4BA-498938A4F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Sugestões ou dúvidas:</a:t>
            </a:r>
          </a:p>
          <a:p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2"/>
              </a:rPr>
              <a:t>daniel.h.paiva@ulife.com.br</a:t>
            </a:r>
            <a:endParaRPr lang="pt-BR" sz="2000" noProof="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1A6440-2D7E-5EB0-2825-9D47AD782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704" y="3484511"/>
            <a:ext cx="5296592" cy="2824849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5736578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71af3243-3dd4-4a8d-8c0d-dd76da1f02a5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161</TotalTime>
  <Words>440</Words>
  <Application>Microsoft Office PowerPoint</Application>
  <PresentationFormat>Widescreen</PresentationFormat>
  <Paragraphs>53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1" baseType="lpstr">
      <vt:lpstr>Arial</vt:lpstr>
      <vt:lpstr>Calibri</vt:lpstr>
      <vt:lpstr>Cascadia Code</vt:lpstr>
      <vt:lpstr>JetBrains Mono</vt:lpstr>
      <vt:lpstr>Tw Cen MT</vt:lpstr>
      <vt:lpstr>Tw Cen MT Condensed</vt:lpstr>
      <vt:lpstr>Wingdings 3</vt:lpstr>
      <vt:lpstr>Integral</vt:lpstr>
      <vt:lpstr>Raciocínio Logico e Algoritmo</vt:lpstr>
      <vt:lpstr>Objetivos da aula</vt:lpstr>
      <vt:lpstr>Apresentação do PowerPoint</vt:lpstr>
      <vt:lpstr>Conceito</vt:lpstr>
      <vt:lpstr>Algoritmos</vt:lpstr>
      <vt:lpstr>Algoritmos</vt:lpstr>
      <vt:lpstr>Apresentação do PowerPoint</vt:lpstr>
      <vt:lpstr>Algoritmos</vt:lpstr>
      <vt:lpstr>Algoritmos</vt:lpstr>
      <vt:lpstr>Algoritmos</vt:lpstr>
      <vt:lpstr>Apresentação do PowerPoint</vt:lpstr>
      <vt:lpstr>Agora vamos praticar</vt:lpstr>
      <vt:lpstr>Agora vamos praticar</vt:lpstr>
      <vt:lpstr>Apresentação do PowerPoint</vt:lpstr>
      <vt:lpstr>Apresentação do PowerPoint</vt:lpstr>
      <vt:lpstr>Tipos variáveis</vt:lpstr>
      <vt:lpstr>Tipos variáveis</vt:lpstr>
      <vt:lpstr>Tipos variáveis</vt:lpstr>
      <vt:lpstr>Apresentação do PowerPoint</vt:lpstr>
      <vt:lpstr>Conclusão</vt:lpstr>
      <vt:lpstr>livros</vt:lpstr>
      <vt:lpstr>Dúvidas???</vt:lpstr>
      <vt:lpstr>contato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Pseudocodigo - Daniel Paiva</dc:title>
  <dc:creator>Admin</dc:creator>
  <cp:keywords>Daniel Paiva</cp:keywords>
  <cp:lastModifiedBy>daniel</cp:lastModifiedBy>
  <cp:revision>69</cp:revision>
  <dcterms:created xsi:type="dcterms:W3CDTF">2023-02-26T16:03:57Z</dcterms:created>
  <dcterms:modified xsi:type="dcterms:W3CDTF">2026-08-20T21:47:11Z</dcterms:modified>
  <cp:category>TI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